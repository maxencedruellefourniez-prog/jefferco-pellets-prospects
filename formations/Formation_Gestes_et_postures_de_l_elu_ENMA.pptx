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Lst>
  <p:notesMasterIdLst>
    <p:notesMasterId r:id="rId7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notesMaster" Target="notesMasters/notesMaster1.xml"/><Relationship Id="rId74" Type="http://schemas.openxmlformats.org/officeDocument/2006/relationships/presProps" Target="presProps.xml"/><Relationship Id="rId75" Type="http://schemas.openxmlformats.org/officeDocument/2006/relationships/viewProps" Target="viewProps.xml"/><Relationship Id="rId76" Type="http://schemas.openxmlformats.org/officeDocument/2006/relationships/theme" Target="theme/theme1.xml"/><Relationship Id="rId7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A032B"/>
                </a:solidFill>
                <a:latin typeface="Montserrat"/>
              </a:defRPr>
            </a:pPr>
            <a:r>
              <a:rPr sz="1300" b="0" i="0" u="none" strike="noStrike">
                <a:solidFill>
                  <a:srgbClr val="0A032B"/>
                </a:solidFill>
                <a:latin typeface="Montserrat"/>
              </a:rPr>
              <a:t>Pression sur le disque selon la posture (debout = 100)</a:t>
            </a:r>
          </a:p>
        </c:rich>
      </c:tx>
      <c:layout/>
      <c:overlay val="0"/>
    </c:title>
    <c:autoTitleDeleted val="0"/>
    <c:plotArea>
      <c:layout/>
      <c:barChart>
        <c:barDir val="bar"/>
        <c:grouping val="clustered"/>
        <c:varyColors val="0"/>
        <c:ser>
          <c:idx val="0"/>
          <c:order val="0"/>
          <c:tx>
            <c:strRef>
              <c:f>Sheet1!$B$1</c:f>
              <c:strCache>
                <c:ptCount val="1"/>
                <c:pt idx="0">
                  <c:v>Pression sur le disque L3 (base 100 = debout)</c:v>
                </c:pt>
              </c:strCache>
            </c:strRef>
          </c:tx>
          <c:spPr>
            <a:solidFill>
              <a:srgbClr val="0A032B"/>
            </a:solidFill>
            <a:effectLst/>
          </c:spPr>
          <c:invertIfNegative val="0"/>
          <c:dLbls>
            <c:numFmt formatCode="#,##0" sourceLinked="0"/>
            <c:txPr>
              <a:bodyPr/>
              <a:lstStyle/>
              <a:p>
                <a:pPr>
                  <a:defRPr b="0" i="0" strike="noStrike" sz="1100" u="none">
                    <a:solidFill>
                      <a:srgbClr val="0A032B"/>
                    </a:solidFill>
                    <a:latin typeface="Arial"/>
                  </a:defRPr>
                </a:pPr>
              </a:p>
            </c:txPr>
            <c:showLegendKey val="0"/>
            <c:showVal val="1"/>
            <c:showCatName val="0"/>
            <c:showSerName val="0"/>
            <c:showPercent val="0"/>
            <c:showBubbleSize val="0"/>
            <c:showLeaderLines val="0"/>
          </c:dLbls>
          <c:cat>
            <c:multiLvlStrRef>
              <c:f>Sheet1!$A$2:$A$8</c:f>
              <c:multiLvlStrCache>
                <c:ptCount val="7"/>
                <c:lvl>
                  <c:pt idx="0">
                    <c:v>Allongé sur le dos</c:v>
                  </c:pt>
                  <c:pt idx="1">
                    <c:v>Debout</c:v>
                  </c:pt>
                  <c:pt idx="2">
                    <c:v>Assis droit</c:v>
                  </c:pt>
                  <c:pt idx="3">
                    <c:v>Debout penché en avant</c:v>
                  </c:pt>
                  <c:pt idx="4">
                    <c:v>Assis penché en avant</c:v>
                  </c:pt>
                  <c:pt idx="5">
                    <c:v>Debout penché + charge</c:v>
                  </c:pt>
                  <c:pt idx="6">
                    <c:v>Assis penché + charge</c:v>
                  </c:pt>
                </c:lvl>
              </c:multiLvlStrCache>
            </c:multiLvlStrRef>
          </c:cat>
          <c:val>
            <c:numRef>
              <c:f>Sheet1!$B$2:$B$8</c:f>
              <c:numCache>
                <c:formatCode>General</c:formatCode>
                <c:ptCount val="7"/>
                <c:pt idx="0">
                  <c:v>25</c:v>
                </c:pt>
                <c:pt idx="1">
                  <c:v>100</c:v>
                </c:pt>
                <c:pt idx="2">
                  <c:v>140</c:v>
                </c:pt>
                <c:pt idx="3">
                  <c:v>150</c:v>
                </c:pt>
                <c:pt idx="4">
                  <c:v>185</c:v>
                </c:pt>
                <c:pt idx="5">
                  <c:v>220</c:v>
                </c:pt>
                <c:pt idx="6">
                  <c:v>275</c:v>
                </c:pt>
              </c:numCache>
            </c:numRef>
          </c:val>
        </c:ser>
        <c:dLbls>
          <c:numFmt formatCode="#,##0" sourceLinked="0"/>
          <c:txPr>
            <a:bodyPr/>
            <a:lstStyle/>
            <a:p>
              <a:pPr>
                <a:defRPr b="0" i="0" strike="noStrike" sz="1100" u="none">
                  <a:solidFill>
                    <a:srgbClr val="0A032B"/>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5305C"/>
                </a:solidFill>
                <a:latin typeface="Arial"/>
              </a:defRPr>
            </a:pPr>
            <a:endParaRPr lang="en-US"/>
          </a:p>
        </c:txPr>
        <c:crossAx val="2094734552"/>
        <c:crosses val="autoZero"/>
        <c:auto val="1"/>
        <c:lblAlgn val="ctr"/>
        <c:noMultiLvlLbl val="1"/>
      </c:catAx>
      <c:valAx>
        <c:axId val="2094734552"/>
        <c:scaling>
          <c:orientation val="minMax"/>
          <c:max val="31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Diapositive d'accueil à afficher pendant l'arrivée des stagiaires. Vérifier au préalable : émargement, livrets stagiaires, charges d'exercice, aides à la manutention (diable, chariot, sangles), mobilier pour les ateliers de l'après-midi.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Séquence de présentation : 15 minutes. Méthodes interrogatives et participatives.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l'organisation pratique (horaires, pauses, sanitaires, issues de secours) et le plateau technique.
Insister sur la sécurité : demander discrètement si un stagiaire a une contre-indication médicale (problème de dos, grossesse, opération récente…). Les exercices pratiques sont adaptés, jamais imposés.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créer le climat de confiance et recenser les attentes. Classer les post-it au paperboard en 3 colonnes : « Mon dos / ma santé », « Les bons gestes », « La prévention dans la collectivité ». Garder le paperboard affiché toute la journée ; il sert au bilan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les 6 compétences de l'offre de service. Chacune fait l'objet d'une séquence (C1 = séquence 1… C6 = séquence 6) ; la séquence 7 remobilise les compétences 2 à 5 en situation réelle.
Annoncer les modalités de validation : QCM théorique, évaluation pratique des gestes et postures, grille de compétences individuelle remise en fin de journée avec l'attestation.
Faire le lien avec les attentes exprimées sur les post-it.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Horaires indicatifs : 8h30 – 12h30 et 13h30 – 16h55, soit 7 heures de face-à-face hors pauses. Pause déjeuner de 12h30 à 13h30.
Insister sur l'alternance entre apports, échanges et mises en situation. Les durées seront adaptées au groupe.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le cadre réglementaire sans entrer dans le détail juridique (il sera repris en séquence 4).
- L.4121-1 : obligation générale de sécurité de l'employeur.
- R.4541-1 et suivants : dispositions spécifiques à la manutention manuelle de charges (évitement, évaluation, aides mécaniques, information et formation).
- Décret 85-603 : applique ces règles à la fonction publique territoriale et désigne l'autorité territoriale comme responsable.
Question au groupe : « Selon vous, qui est responsable de la santé des agents dans votre collectivité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Séquence 1 : 45 minutes. Compétence 1. Méthodes expositives et participatives, questionnement. Supports : diaporama, documentation INRS sur les TMS, livret stagiaire.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Lancer la séquence par un questionnement : main levée sur la question du bas. Rebondir sur les réponses pour montrer que le mandat (réunions longues, déplacements, installations de salles, cérémonies) expose aussi le corps.
Vérifier les derniers chiffres sur inrs.fr et ameli.fr avant la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toucher sa propre colonne (nuque, bas du dos) pour repérer les courbures.
Message clé : la colonne est solide quand elle garde ses 3 courbures naturelles (position « rectitude »). Les lombaires supportent le plus de poids : c'est là que se concentrent la majorité des lombalgies.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disque fonctionne comme un amortisseur. Les mesures de pression intradiscale (travaux de Nachemson, valeurs relatives, debout = 100) montrent que :
- la position assise penchée sollicite plus le disque que la position debout ;
- porter une charge dos penché multiplie la pression.
Conséquence pratique : garder le dos droit, fléchir les jambes, rapprocher la charge. Ces principes seront travaillés en séquence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Élargir la vision : le mal de dos n'est qu'une partie des TMS. Faire citer au groupe des situations du mandat pour chaque zone (ex. : signer des parapheurs, cérémonies debout, visites de chantier).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Insister sur le stade 1 : c'est le moment où l'on peut agir le plus facilement (pauses, changement de posture, aide technique). Beaucoup de personnes ignorent ce signal.
Faire le lien avec les agents : un agent qui se plaint d'une douleur au stade 1 doit être orienté (encadrement, assistant de prévention, médecine préventive), ce qui sera vu en séquence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les 4 facteurs biomécaniques du déroulé (port de charges, gestes répétitifs, postures contraignantes, station assise prolongée) puis les facteurs aggravants.
Message clé : le stress augmente la tension musculaire et diminue la récupération. C'est un facteur de risque de TMS, particulièrement présent dans le mandat.
Documentation : dossier INRS « Troubles musculosquelettiques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Exercice inspiré des questionnaires de type « nordique » utilisés en prévention des TMS. Il rend concrets les stades d'alerte vus précédemment.
La mise en commun reste anonyme : chaque stagiaire reporte ses gommettes sur la grande silhouette pendant la pause s'il le souhaite.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de la séquence 1 : faire reformuler chaque point par un stagiaire différent avant de l'afficher.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Séquence 2 : 40 minutes. Compétence 2. Méthodes interrogatives et participatives, travail en sous-groupes, analyse de situations (feu tricolore). Supports : cartes-situations, grille d'analyse, paperboard.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Lancer par une question : « Quand avez-vous porté quelque chose pour la dernière fois dans le cadre de votre mandat ? »
Message clé : ces manutentions sont occasionnelles, souvent faites dans l'urgence, avec des bénévoles et sans matériel adapté. C'est ce qui les rend risquées.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5 questions forment la grille d'analyse du livret.
Repères : article R.4541-9 du Code du travail (55 kg / 105 kg pour les hommes, 25 kg pour les femmes). La norme NF X35-109 propose des seuils recommandés bien plus bas ; en pratique, dès que la charge dépasse une quinzaine de kilos ou que la manutention est répétée, il faut chercher une aide technique ou une organisation différente.
Vérifier les textes en vigueur avant la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méthode du feu tricolore est un outil simple de hiérarchisation, facile à reproduire en mairie. Elle ne remplace pas l'évaluation des risques du document unique (séquence 6), mais permet à l'élu de repérer rapidement les situations sur lesquelles agir.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Exemples attendus : bureau de vote (urnes, isoloirs, tables), fête communale (tables, chaises, barnums), vœux et cérémonies (station debout prolongée), conseils municipaux (assis 3 h), permanences, trajets en voiture entre communes, portage de dossiers, visites de terrain.
Noter au paperboard les situations entourées par chaque groupe.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Proposition de correction (à discuter, plusieurs réponses sont défendables si elles sont argumentées) :
1. Orange à rouge : répétition, seul, fatigue du soir → chariot à chaises, à plusieurs.
2. Rouge : charge lourde, escalier étroit, répétition → fractionner, monte-charge ou déménagement organisé par les services.
3. Vert : à deux, avec une aide, sol plat.
4. Rouge : intempéries, pas d'organisation, pas de meneur → consignes, notice, responsable désigné.
5. Vert : bonne technique, charge modérée.
6. Orange à rouge : charge moyenne mais longue distance, seul → chariot ou diable.
7. Vert.
8. Rouge : cadence, délai, charges répétées → diable, renforts, délai réaliste.
Faire émerger les leviers : aide technique, organisation, nombre de personnes, délai.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de la séquence 2 : faire citer par le groupe les 5 questions d'analyse avant d'afficher la diapositive.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de 15 minutes. Proposer aux stagiaires de reporter leurs gommettes sur la grande silhouette.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Séquence 3 : 80 minutes. Compétence 3. Commence par le retour et l'évaluation collective de la matinée (10 min). Méthode démonstrative et ateliers pratiques de manutention. Supports : charges d'exercice, grille d'observation, livret stagiaire.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Retour et évaluation collective : 10 minutes.
Réponses :
1. VRAI (assis penché ≈ 185, debout = 100).
2. FAUX : c'est le stade 1, le moment d'agir.
3. FAUX : le travail de bureau et la station assise prolongée en provoquent aussi.
4. VRAI : tension musculaire, moindre récupération.
5. VRAI.
6. FAUX : ce sont les plus sollicitées.
Pour chaque question, faire justifier la réponse par un stagiaire. Clarifier les points mal compris avant de passer à la pratique.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les étapes d'une manutention. L'étape 1 (observer) est la plus souvent oubliée : on soulève sans avoir évalué le poids ni dégagé le trajet.
Démonstration rapide : soulever un carton qui paraît léger mais qui est lourd (effet de surprise) pour montrer l'intérêt de tester la charge.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chaque principe en le montrant physiquement devant le groupe.
Moyen mnémotechnique : « Pieds – Dos – Prise – Appui – Contrepoids », du bas vers le haut du corps puis vers la charge.
Faire répéter la position de base (pieds écartés, un pied en avant, dos droit, jambes fléchies) à tout le groupe, sans charge, 3 fois.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schéma du bras de levier est illustratif (proportions indicatives) : l'effort demandé au dos augmente fortement quand la charge s'éloigne.
Démonstration : tenir une bouteille d'eau bras tendu pendant 30 secondes, puis contre soi. Les stagiaires ressentent immédiatement la différence.
Choix de la trajectoire : faire repérer dans la salle le meilleur trajet entre deux points pour porter un carton (portes, marches, obstacles).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Méthode démonstrative classique en 4 temps (faire, faire en expliquant, faire expliquer, faire faire). Elle prépare les ateliers en binôme.
Valoriser les réussites avant de corriger.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Circuler entre les binômes et corriger individuellement. Erreurs fréquentes : pieds joints, dos arrondi, torsion au moment de poser, charge tenue loin du corps.
Faire tourner les charges : chacun commence par la plus légère.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Grille à imprimer dans le livret stagiaire. Elle est réutilisée pour les ateliers de la séquence 5 et pour l'évaluation pratique finale.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Situation très fréquente dans le mandat : tables, bancs, podiums, urnes. L'accident arrive souvent quand l'un pose alors que l'autre soulève encore. Le meneur donne le tempo.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le lien avec les situations entourées lors de l'exercice « Le mandat à la loupe » : installation de salle, bureau de vote, fête communale.
Débriefing collectif en 5 minutes : qu'est-ce qui a changé quand la communication était claire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citer les 5 principes de mémoire par le groupe avant d'afficher la synthèse.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Séquence 4 : 45 minutes. Compétence 4. Méthode expositive, démonstration, atelier pratique en rotation. Supports : diable, chariot, sangles, plan incliné, cartons.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hiérarchie des mesures découle des principes généraux de prévention : on supprime ou réduit d'abord le risque à la source, la formation vient en complément.
Question aux élus : quelles aides existent dans votre collectivité ? Sont-elles utilisées ? Accessibles ? Rangées près des lieux d'usage ?
C'est un levier budgétaire direct de l'élu : l'achat d'aides à la manutention.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Démontrer chaque aide avant l'atelier. Erreurs fréquentes : tirer un chariot en marchant à reculons, charger le diable avec le lourd en haut, se pencher au-dessus d'un chariot trop bas.
Question aux élus : vos aides à la manutention sont-elles rangées là où les manutentions ont lieu (salle des fêtes, école, bureaux de vote)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formateur démontre chaque aide en 1 minute avant la rotation. Observer que le dos reste droit aussi avec les aides (erreur fréquente : se pencher pour pousser un chariot trop 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de la séquence 4. Travail intersession pendant la pause déjeuner : relecture individuelle du livret et des principes de sécurité physique.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déjeuner. Travail intersession suggéré : relecture individuelle du livret et des principes de sécurité physique.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Séquence 5 : 60 minutes. Compétence 5. Échauffement, méthode expositive, échanges, atelier de réglage de poste, routine d'étirements. Supports : tables, chaises réglables, ordinateurs, fiches d'aménagement de poste, fiche d'étirements.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Échauffement court après le déjeuner : il remobilise le groupe et illustre l'intérêt de préparer le corps avant un effort (installation de salle, manutention).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les réglages en s'appuyant sur les fiches d'aménagement de poste (livret). Ces réglages seront appliqués dans l'atelier suivant.
Pour aller plus loin : brochure INRS « Le travail sur écran en 50 questions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Échanges : demander aux élus quel lieu du mandat leur pose le plus de difficulté et construire les réponses avec eux.
Message clé : l'élu est souvent tenté de « donner un coup de main » lors des événements. Le faire en sécurité, c'est aussi montrer l'exemple aux agents et aux bénévoles.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règle 20-20-20 est une recommandation courante de prévention de la fatigue visuelle. Les repères de durée sont des ordres de grandeur, pas des normes réglementaires.
Piste pour la collectivité : proposer une suspension de séance lors des conseils municipaux longs.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le matériel est limité, utiliser des ramettes de papier comme réhausseur d'écran et un classeur comme repose-pieds : cela montre que des solutions simples et peu coûteuses existent.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formateur réalise chaque étirement face au groupe, les stagiaires reproduisent. Laisser chacun adapter l'amplitude.
Remettre la fiche d'étirements du livret : proposer de la reproduire lors des suspensions de séance ou avant une installation de salle.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de la séquence 5 : demander à chacun le réglage qu'il fera en premier sur son propre poste.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Séquence 6 : 60 minutes. Compétence 6. Méthodes interrogatives et participatives. Apprentissage par l'étude de cas et le repérage des acteurs. Supports : études de cas, fiches acteurs, grille d'orientation.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Commencer par une question : « Selon vous, quelles sont les obligations de votre collectivité envers ses agents ? » Noter au paperboard, puis compléter avec la diapositive.
Références : décret n° 85-603 du 10 juin 1985 ; articles L.4121-1 et suivants du Code du travail (principes généraux de prévention). Pour la responsabilité pénale : article 121-3 du Code pénal (délits non intentionnels).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Demander : « Qui a déjà vu le document unique de sa collectivité ? » C'est souvent l'occasion de découvrir qu'il n'est pas à jour.
Rôle de l'élu : demander sa présentation, s'assurer de sa mise à jour, arbitrer le budget des actions de prévention.
Vérifier la périodicité de mise à jour applicable selon l'effectif de la collectivité.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chaque acteur à partir des fiches acteurs du livret :
- Assistant / conseiller de prévention : obligatoire, il assiste et conseille l'autorité territoriale.
- Service de médecine préventive : suivi médical des agents, propositions d'aménagement de postes.
- ACFI (agent chargé de la fonction d'inspection) : contrôle l'application des règles, souvent mis à disposition par le centre de gestion.
- F3SCT (formation spécialisée en santé, sécurité et conditions de travail) du Comité social territorial : consultée sur les questions de santé-sécurité (selon l'effectif, sinon le CST).
- Centre de gestion : appui technique, conventions, expertise.
- Encadrement et agents : acteurs au quotidien, signalements via le registre santé-sécurité.
Demander aux élus s'ils connaissent le nom de leur assistant de prévention.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Échanges : « Dans votre collectivité, qu'est-ce qui vous empêche aujourd'hui de jouer ce rôle ? » Noter les freins (budget, temps, méconnaissance, habitudes) : ils seront repris dans le plan d'action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Éléments attendus :
- Facteurs : charges nombreuses et répétées, délai serré, absence d'aides, pas de préparation, élus qui « aident » sans méthode.
- Mesures : chariots à chaises, diables, tables légères, livraison au plus près, renforts, étalement dans le temps, échauffement, manutention à deux.
- Suite : déclaration d'accident de service, analyse de l'accident avec l'assistant de prévention, mise à jour du document unique, information de la F3SCT.
- Rôle de l'élu : exemplarité, arbitrage budgétaire, planification.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Éléments attendus :
- Stade 2 à 3 (douleurs persistantes, arrêt).
- Facteurs : gestes répétitifs, charges, postures bras levés, cadence liée aux horaires de service.
- Actions : visite du service de médecine préventive, étude de poste, chariots à bacs, tables et chaises plus légères, organisation des rotations, formation gestes et postures des agents.
- Rôle de l'élu : prendre au sérieux le signalement, demander l'inscription au document unique et au programme de prévention, suivre la mise en œuvre.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1. Encadrement, puis service de médecine préventive (et assistant de prévention).
2. Assistant / conseiller de prévention, avec les agents et l'encadrement.
3. Consultation de la F3SCT ou du Comité social territorial.
4. ACFI (souvent via le centre de gestion).
5. Centre de gestion (service prévention).
6. Autorité territoriale immédiatement ; inscription au registre spécial de danger grave et imminent ; information de la F3SCT. L'agent peut exercer son droit de retrait.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le lien avec les freins notés au paperboard : quelles premières réponses le groupe peut-il y apporter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courte. Pendant ce temps, installer les 3 ateliers de la séquence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Séquence 7 : 40 minutes. Ateliers pratiques encadrés en rotation (3 × 10 min), évaluation pratique par le formateur, débriefing (10 min). Supports : charges et mobilier, aides à la manutention, grille d'évaluation pratique.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Adapter les ateliers aux situations entourées lors de l'exercice « Le mandat à la loupe » en séquence 2.
Organisation : 3 groupes, rotation toutes les 10 minutes. Dans chaque groupe, un observateur tournant remplit la grille d'évaluation pratique pour un camarade.
Le formateur circule entre les ateliers et évalue chaque stagiaire au moins une fois.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grille d'évaluation pratique reprend les critères de la grille d'observation (séquence 3) complétés par : choix de l'aide technique, organisation du travail, communication en binôme.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Animer le débriefing à partir des 3 questions, puis laisser 3 minutes pour que chacun rédige ses 3 engagements dans le livret. Inviter quelques volontaires à les partager.
Noter au paperboard les pistes d'amélioration pour la collectivité.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Distribuer le QCM papier (15 questions, 20 minutes). Ramasser les copies avant la correction collective des diapositives suivantes.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Correction collective : la bonne réponse est surlignée en jaune. Pour chaque question, faire expliquer la bonne réponse par un stagiaire avant de l'afficher, en renvoyant à la séquence concernée.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Correction collective : la bonne réponse est surlignée en jaune. Pour chaque question, faire expliquer la bonne réponse par un stagiaire avant de l'afficher, en renvoyant à la séquence concernée.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Correction collective : la bonne réponse est surlignée en jaune. Pour chaque question, faire expliquer la bonne réponse par un stagiaire avant de l'afficher, en renvoyant à la séquence concernée.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Bilan : 15 minutes. Évaluation théorique (QCM) et pratique des gestes et postures, échanges. Supports : QCM, diaporama, feuilles d'évaluation de l'organisme.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Débriefing final sur le vécu et l'après-formation. Reprendre le paperboard des attentes et cocher celles qui ont été traitées. Pour les attentes non couvertes, indiquer des ressources (INRS, centre de gestion, assistant de prévention).
Faire remplir la feuille d'évaluation de l'organisme avant la remise des attestations.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formateur complète la grille pour chaque stagiaire à partir du QCM, de la grille d'évaluation pratique remplie pendant les ateliers de la séquence 7 et de la participation aux études de cas.
Conformément à l'offre de service, la grille de compétences individuelle et l'attestation de fin de formation sont remises à chaque participant.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Clôture de la 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1-1.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1.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1.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slideLayout" Target="../slideLayouts/slideLayout1.xml"/><Relationship Id="rId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slideLayout" Target="../slideLayouts/slideLayout1.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slideLayout" Target="../slideLayouts/slideLayout1.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slideLayout" Target="../slideLayouts/slideLayout1.xml"/><Relationship Id="rId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slideLayout" Target="../slideLayouts/slideLayout1.xml"/><Relationship Id="rId7"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slideLayout" Target="../slideLayouts/slideLayout1.xml"/><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slideLayout" Target="../slideLayouts/slideLayout1.xml"/><Relationship Id="rId7"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slideLayout" Target="../slideLayouts/slideLayout1.xml"/><Relationship Id="rId7"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slideLayout" Target="../slideLayouts/slideLayout1.xml"/><Relationship Id="rId7"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image" Target="../media/image-35-6.png"/><Relationship Id="rId7" Type="http://schemas.openxmlformats.org/officeDocument/2006/relationships/image" Target="../media/image-35-7.png"/><Relationship Id="rId8" Type="http://schemas.openxmlformats.org/officeDocument/2006/relationships/slideLayout" Target="../slideLayouts/slideLayout1.xml"/><Relationship Id="rId9"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slideLayout" Target="../slideLayouts/slideLayout1.xml"/><Relationship Id="rId7"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image" Target="../media/image-38-7.png"/><Relationship Id="rId8" Type="http://schemas.openxmlformats.org/officeDocument/2006/relationships/slideLayout" Target="../slideLayouts/slideLayout1.xml"/><Relationship Id="rId9"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slideLayout" Target="../slideLayouts/slideLayout1.xml"/><Relationship Id="rId7"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image" Target="../media/image-40-6.png"/><Relationship Id="rId7" Type="http://schemas.openxmlformats.org/officeDocument/2006/relationships/image" Target="../media/image-40-7.png"/><Relationship Id="rId8" Type="http://schemas.openxmlformats.org/officeDocument/2006/relationships/slideLayout" Target="../slideLayouts/slideLayout1.xml"/><Relationship Id="rId9"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slideLayout" Target="../slideLayouts/slideLayout1.xml"/><Relationship Id="rId7"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image" Target="../media/image-44-6.png"/><Relationship Id="rId7" Type="http://schemas.openxmlformats.org/officeDocument/2006/relationships/image" Target="../media/image-44-7.png"/><Relationship Id="rId8" Type="http://schemas.openxmlformats.org/officeDocument/2006/relationships/image" Target="../media/image-44-8.png"/><Relationship Id="rId9" Type="http://schemas.openxmlformats.org/officeDocument/2006/relationships/image" Target="../media/image-44-9.png"/><Relationship Id="rId10" Type="http://schemas.openxmlformats.org/officeDocument/2006/relationships/slideLayout" Target="../slideLayouts/slideLayout1.xml"/><Relationship Id="rId11"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image" Target="../media/image-45-5.png"/><Relationship Id="rId6" Type="http://schemas.openxmlformats.org/officeDocument/2006/relationships/image" Target="../media/image-45-6.png"/><Relationship Id="rId7" Type="http://schemas.openxmlformats.org/officeDocument/2006/relationships/image" Target="../media/image-45-7.png"/><Relationship Id="rId8" Type="http://schemas.openxmlformats.org/officeDocument/2006/relationships/slideLayout" Target="../slideLayouts/slideLayout1.xml"/><Relationship Id="rId9"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image" Target="../media/image-46-5.png"/><Relationship Id="rId6" Type="http://schemas.openxmlformats.org/officeDocument/2006/relationships/slideLayout" Target="../slideLayouts/slideLayout1.xml"/><Relationship Id="rId7"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slideLayout" Target="../slideLayouts/slideLayout1.xml"/><Relationship Id="rId6"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image" Target="../media/image-48-4.png"/><Relationship Id="rId5" Type="http://schemas.openxmlformats.org/officeDocument/2006/relationships/image" Target="../media/image-48-5.png"/><Relationship Id="rId6" Type="http://schemas.openxmlformats.org/officeDocument/2006/relationships/image" Target="../media/image-48-6.png"/><Relationship Id="rId7" Type="http://schemas.openxmlformats.org/officeDocument/2006/relationships/image" Target="../media/image-48-7.png"/><Relationship Id="rId8" Type="http://schemas.openxmlformats.org/officeDocument/2006/relationships/slideLayout" Target="../slideLayouts/slideLayout1.xml"/><Relationship Id="rId9"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5" Type="http://schemas.openxmlformats.org/officeDocument/2006/relationships/image" Target="../media/image-49-5.png"/><Relationship Id="rId6" Type="http://schemas.openxmlformats.org/officeDocument/2006/relationships/image" Target="../media/image-49-6.png"/><Relationship Id="rId7" Type="http://schemas.openxmlformats.org/officeDocument/2006/relationships/image" Target="../media/image-49-7.png"/><Relationship Id="rId8" Type="http://schemas.openxmlformats.org/officeDocument/2006/relationships/slideLayout" Target="../slideLayouts/slideLayout1.xml"/><Relationship Id="rId9"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image" Target="../media/image-51-3.png"/><Relationship Id="rId4" Type="http://schemas.openxmlformats.org/officeDocument/2006/relationships/image" Target="../media/image-51-4.png"/><Relationship Id="rId5" Type="http://schemas.openxmlformats.org/officeDocument/2006/relationships/image" Target="../media/image-51-5.png"/><Relationship Id="rId6" Type="http://schemas.openxmlformats.org/officeDocument/2006/relationships/image" Target="../media/image-51-6.png"/><Relationship Id="rId7" Type="http://schemas.openxmlformats.org/officeDocument/2006/relationships/image" Target="../media/image-51-7.png"/><Relationship Id="rId8" Type="http://schemas.openxmlformats.org/officeDocument/2006/relationships/slideLayout" Target="../slideLayouts/slideLayout1.xml"/><Relationship Id="rId9"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image" Target="../media/image-52-3.png"/><Relationship Id="rId4" Type="http://schemas.openxmlformats.org/officeDocument/2006/relationships/image" Target="../media/image-52-4.png"/><Relationship Id="rId5" Type="http://schemas.openxmlformats.org/officeDocument/2006/relationships/image" Target="../media/image-52-5.png"/><Relationship Id="rId6" Type="http://schemas.openxmlformats.org/officeDocument/2006/relationships/slideLayout" Target="../slideLayouts/slideLayout1.xml"/><Relationship Id="rId7"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image" Target="../media/image-53-4.png"/><Relationship Id="rId5" Type="http://schemas.openxmlformats.org/officeDocument/2006/relationships/image" Target="../media/image-53-5.png"/><Relationship Id="rId6" Type="http://schemas.openxmlformats.org/officeDocument/2006/relationships/image" Target="../media/image-53-6.png"/><Relationship Id="rId7" Type="http://schemas.openxmlformats.org/officeDocument/2006/relationships/image" Target="../media/image-53-7.png"/><Relationship Id="rId8" Type="http://schemas.openxmlformats.org/officeDocument/2006/relationships/slideLayout" Target="../slideLayouts/slideLayout1.xml"/><Relationship Id="rId9"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image" Target="../media/image-54-4.png"/><Relationship Id="rId5" Type="http://schemas.openxmlformats.org/officeDocument/2006/relationships/image" Target="../media/image-54-5.png"/><Relationship Id="rId6" Type="http://schemas.openxmlformats.org/officeDocument/2006/relationships/image" Target="../media/image-54-6.png"/><Relationship Id="rId7" Type="http://schemas.openxmlformats.org/officeDocument/2006/relationships/image" Target="../media/image-54-7.png"/><Relationship Id="rId8" Type="http://schemas.openxmlformats.org/officeDocument/2006/relationships/slideLayout" Target="../slideLayouts/slideLayout1.xml"/><Relationship Id="rId9"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image" Target="../media/image-55-3.png"/><Relationship Id="rId4" Type="http://schemas.openxmlformats.org/officeDocument/2006/relationships/image" Target="../media/image-55-4.png"/><Relationship Id="rId5" Type="http://schemas.openxmlformats.org/officeDocument/2006/relationships/slideLayout" Target="../slideLayouts/slideLayout1.xml"/><Relationship Id="rId6"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image" Target="../media/image-56-4.png"/><Relationship Id="rId5" Type="http://schemas.openxmlformats.org/officeDocument/2006/relationships/slideLayout" Target="../slideLayouts/slideLayout1.xml"/><Relationship Id="rId6"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image" Target="../media/image-58-3.png"/><Relationship Id="rId4" Type="http://schemas.openxmlformats.org/officeDocument/2006/relationships/image" Target="../media/image-58-4.png"/><Relationship Id="rId5" Type="http://schemas.openxmlformats.org/officeDocument/2006/relationships/image" Target="../media/image-58-5.png"/><Relationship Id="rId6" Type="http://schemas.openxmlformats.org/officeDocument/2006/relationships/image" Target="../media/image-58-6.png"/><Relationship Id="rId7" Type="http://schemas.openxmlformats.org/officeDocument/2006/relationships/image" Target="../media/image-58-7.png"/><Relationship Id="rId8" Type="http://schemas.openxmlformats.org/officeDocument/2006/relationships/slideLayout" Target="../slideLayouts/slideLayout1.xml"/><Relationship Id="rId9"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image" Target="../media/image-61-3.png"/><Relationship Id="rId4" Type="http://schemas.openxmlformats.org/officeDocument/2006/relationships/image" Target="../media/image-61-4.png"/><Relationship Id="rId5" Type="http://schemas.openxmlformats.org/officeDocument/2006/relationships/slideLayout" Target="../slideLayouts/slideLayout1.xml"/><Relationship Id="rId6"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image" Target="../media/image-62-3.png"/><Relationship Id="rId4" Type="http://schemas.openxmlformats.org/officeDocument/2006/relationships/image" Target="../media/image-62-4.png"/><Relationship Id="rId5" Type="http://schemas.openxmlformats.org/officeDocument/2006/relationships/image" Target="../media/image-62-5.png"/><Relationship Id="rId6" Type="http://schemas.openxmlformats.org/officeDocument/2006/relationships/slideLayout" Target="../slideLayouts/slideLayout1.xml"/><Relationship Id="rId7"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image" Target="../media/image-63-3.png"/><Relationship Id="rId4" Type="http://schemas.openxmlformats.org/officeDocument/2006/relationships/image" Target="../media/image-63-4.png"/><Relationship Id="rId5" Type="http://schemas.openxmlformats.org/officeDocument/2006/relationships/slideLayout" Target="../slideLayouts/slideLayout1.xml"/><Relationship Id="rId6"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image" Target="../media/image-64-3.png"/><Relationship Id="rId4" Type="http://schemas.openxmlformats.org/officeDocument/2006/relationships/slideLayout" Target="../slideLayouts/slideLayout1.xml"/><Relationship Id="rId5"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image" Target="../media/image-69-2.png"/><Relationship Id="rId3" Type="http://schemas.openxmlformats.org/officeDocument/2006/relationships/image" Target="../media/image-69-3.png"/><Relationship Id="rId4" Type="http://schemas.openxmlformats.org/officeDocument/2006/relationships/image" Target="../media/image-69-4.png"/><Relationship Id="rId5" Type="http://schemas.openxmlformats.org/officeDocument/2006/relationships/image" Target="../media/image-69-5.png"/><Relationship Id="rId6" Type="http://schemas.openxmlformats.org/officeDocument/2006/relationships/slideLayout" Target="../slideLayouts/slideLayout1.xml"/><Relationship Id="rId7"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32B"/>
        </a:solidFill>
      </p:bgPr>
    </p:bg>
    <p:spTree>
      <p:nvGrpSpPr>
        <p:cNvPr id="1" name=""/>
        <p:cNvGrpSpPr/>
        <p:nvPr/>
      </p:nvGrpSpPr>
      <p:grpSpPr>
        <a:xfrm>
          <a:off x="0" y="0"/>
          <a:ext cx="0" cy="0"/>
          <a:chOff x="0" y="0"/>
          <a:chExt cx="0" cy="0"/>
        </a:xfrm>
      </p:grpSpPr>
      <p:pic>
        <p:nvPicPr>
          <p:cNvPr id="2" name="Image 0" descr="logo_dark.png">    </p:cNvPr>
          <p:cNvPicPr>
            <a:picLocks noChangeAspect="1"/>
          </p:cNvPicPr>
          <p:nvPr/>
        </p:nvPicPr>
        <p:blipFill>
          <a:blip r:embed="rId1"/>
          <a:stretch>
            <a:fillRect/>
          </a:stretch>
        </p:blipFill>
        <p:spPr>
          <a:xfrm>
            <a:off x="3992728" y="731520"/>
            <a:ext cx="4206240" cy="1745551"/>
          </a:xfrm>
          <a:prstGeom prst="rect">
            <a:avLst/>
          </a:prstGeom>
        </p:spPr>
      </p:pic>
      <p:sp>
        <p:nvSpPr>
          <p:cNvPr id="3" name="Text 0"/>
          <p:cNvSpPr txBox="1"/>
          <p:nvPr/>
        </p:nvSpPr>
        <p:spPr>
          <a:xfrm>
            <a:off x="548640" y="2788920"/>
            <a:ext cx="11094415" cy="822960"/>
          </a:xfrm>
          <a:prstGeom prst="rect">
            <a:avLst/>
          </a:prstGeom>
          <a:noFill/>
          <a:ln/>
        </p:spPr>
        <p:txBody>
          <a:bodyPr wrap="square" lIns="0" tIns="0" rIns="0" bIns="0" rtlCol="0" anchor="ctr"/>
          <a:lstStyle/>
          <a:p>
            <a:pPr algn="ctr" indent="0" marL="0">
              <a:buNone/>
            </a:pPr>
            <a:r>
              <a:rPr lang="en-US" sz="4000" b="1" dirty="0">
                <a:solidFill>
                  <a:srgbClr val="FFFFFF"/>
                </a:solidFill>
                <a:latin typeface="Montserrat" pitchFamily="34" charset="0"/>
                <a:ea typeface="Montserrat" pitchFamily="34" charset="-122"/>
                <a:cs typeface="Montserrat" pitchFamily="34" charset="-120"/>
              </a:rPr>
              <a:t>GESTES ET POSTURES DE L'ÉLU</a:t>
            </a:r>
            <a:endParaRPr lang="en-US" sz="4000" dirty="0"/>
          </a:p>
        </p:txBody>
      </p:sp>
      <p:sp>
        <p:nvSpPr>
          <p:cNvPr id="4" name="Text 1"/>
          <p:cNvSpPr txBox="1"/>
          <p:nvPr/>
        </p:nvSpPr>
        <p:spPr>
          <a:xfrm>
            <a:off x="1371600" y="3611880"/>
            <a:ext cx="9448495" cy="731520"/>
          </a:xfrm>
          <a:prstGeom prst="rect">
            <a:avLst/>
          </a:prstGeom>
          <a:noFill/>
          <a:ln/>
        </p:spPr>
        <p:txBody>
          <a:bodyPr wrap="square" lIns="0" tIns="0" rIns="0" bIns="0" rtlCol="0" anchor="ctr"/>
          <a:lstStyle/>
          <a:p>
            <a:pPr algn="ctr" indent="0" marL="0">
              <a:buNone/>
            </a:pPr>
            <a:r>
              <a:rPr lang="en-US" sz="1800" dirty="0">
                <a:solidFill>
                  <a:srgbClr val="DCDAEA"/>
                </a:solidFill>
                <a:latin typeface="Arial" pitchFamily="34" charset="0"/>
                <a:ea typeface="Arial" pitchFamily="34" charset="-122"/>
                <a:cs typeface="Arial" pitchFamily="34" charset="-120"/>
              </a:rPr>
              <a:t>Préserver sa santé dans l'exercice du mandat et porter la prévention dans sa collectivité</a:t>
            </a:r>
            <a:endParaRPr lang="en-US" sz="1800" dirty="0"/>
          </a:p>
        </p:txBody>
      </p:sp>
      <p:sp>
        <p:nvSpPr>
          <p:cNvPr id="5" name="Shape 2"/>
          <p:cNvSpPr/>
          <p:nvPr/>
        </p:nvSpPr>
        <p:spPr>
          <a:xfrm>
            <a:off x="1432408" y="4754880"/>
            <a:ext cx="2926080" cy="457200"/>
          </a:xfrm>
          <a:prstGeom prst="roundRect">
            <a:avLst>
              <a:gd name="adj" fmla="val 50000"/>
            </a:avLst>
          </a:prstGeom>
          <a:solidFill>
            <a:srgbClr val="F0EF96"/>
          </a:solidFill>
          <a:ln w="12700">
            <a:solidFill>
              <a:srgbClr val="F0EF96"/>
            </a:solidFill>
            <a:prstDash val="solid"/>
          </a:ln>
        </p:spPr>
      </p:sp>
      <p:sp>
        <p:nvSpPr>
          <p:cNvPr id="6" name="Text 3"/>
          <p:cNvSpPr txBox="1"/>
          <p:nvPr/>
        </p:nvSpPr>
        <p:spPr>
          <a:xfrm>
            <a:off x="1432408" y="4754880"/>
            <a:ext cx="2926080" cy="457200"/>
          </a:xfrm>
          <a:prstGeom prst="rect">
            <a:avLst/>
          </a:prstGeom>
          <a:noFill/>
          <a:ln/>
        </p:spPr>
        <p:txBody>
          <a:bodyPr wrap="square" lIns="0" tIns="0" rIns="0" bIns="0" rtlCol="0" anchor="ctr"/>
          <a:lstStyle/>
          <a:p>
            <a:pPr algn="ctr" indent="0" marL="0">
              <a:buNone/>
            </a:pPr>
            <a:r>
              <a:rPr lang="en-US" sz="1300" b="1" dirty="0">
                <a:solidFill>
                  <a:srgbClr val="0A032B"/>
                </a:solidFill>
                <a:latin typeface="Montserrat" pitchFamily="34" charset="0"/>
                <a:ea typeface="Montserrat" pitchFamily="34" charset="-122"/>
                <a:cs typeface="Montserrat" pitchFamily="34" charset="-120"/>
              </a:rPr>
              <a:t>1 journée · 7 heures</a:t>
            </a:r>
            <a:endParaRPr lang="en-US" sz="1300" dirty="0"/>
          </a:p>
        </p:txBody>
      </p:sp>
      <p:sp>
        <p:nvSpPr>
          <p:cNvPr id="7" name="Shape 4"/>
          <p:cNvSpPr/>
          <p:nvPr/>
        </p:nvSpPr>
        <p:spPr>
          <a:xfrm>
            <a:off x="4632808" y="4754880"/>
            <a:ext cx="2926080" cy="457200"/>
          </a:xfrm>
          <a:prstGeom prst="roundRect">
            <a:avLst>
              <a:gd name="adj" fmla="val 50000"/>
            </a:avLst>
          </a:prstGeom>
          <a:solidFill>
            <a:srgbClr val="F0EF96"/>
          </a:solidFill>
          <a:ln w="12700">
            <a:solidFill>
              <a:srgbClr val="F0EF96"/>
            </a:solidFill>
            <a:prstDash val="solid"/>
          </a:ln>
        </p:spPr>
      </p:sp>
      <p:sp>
        <p:nvSpPr>
          <p:cNvPr id="8" name="Text 5"/>
          <p:cNvSpPr txBox="1"/>
          <p:nvPr/>
        </p:nvSpPr>
        <p:spPr>
          <a:xfrm>
            <a:off x="4632808" y="4754880"/>
            <a:ext cx="2926080" cy="457200"/>
          </a:xfrm>
          <a:prstGeom prst="rect">
            <a:avLst/>
          </a:prstGeom>
          <a:noFill/>
          <a:ln/>
        </p:spPr>
        <p:txBody>
          <a:bodyPr wrap="square" lIns="0" tIns="0" rIns="0" bIns="0" rtlCol="0" anchor="ctr"/>
          <a:lstStyle/>
          <a:p>
            <a:pPr algn="ctr" indent="0" marL="0">
              <a:buNone/>
            </a:pPr>
            <a:r>
              <a:rPr lang="en-US" sz="1300" b="1" dirty="0">
                <a:solidFill>
                  <a:srgbClr val="0A032B"/>
                </a:solidFill>
                <a:latin typeface="Montserrat" pitchFamily="34" charset="0"/>
                <a:ea typeface="Montserrat" pitchFamily="34" charset="-122"/>
                <a:cs typeface="Montserrat" pitchFamily="34" charset="-120"/>
              </a:rPr>
              <a:t>Théorie &amp; mises en situation</a:t>
            </a:r>
            <a:endParaRPr lang="en-US" sz="1300" dirty="0"/>
          </a:p>
        </p:txBody>
      </p:sp>
      <p:sp>
        <p:nvSpPr>
          <p:cNvPr id="9" name="Shape 6"/>
          <p:cNvSpPr/>
          <p:nvPr/>
        </p:nvSpPr>
        <p:spPr>
          <a:xfrm>
            <a:off x="7833208" y="4754880"/>
            <a:ext cx="2926080" cy="457200"/>
          </a:xfrm>
          <a:prstGeom prst="roundRect">
            <a:avLst>
              <a:gd name="adj" fmla="val 50000"/>
            </a:avLst>
          </a:prstGeom>
          <a:solidFill>
            <a:srgbClr val="F0EF96"/>
          </a:solidFill>
          <a:ln w="12700">
            <a:solidFill>
              <a:srgbClr val="F0EF96"/>
            </a:solidFill>
            <a:prstDash val="solid"/>
          </a:ln>
        </p:spPr>
      </p:sp>
      <p:sp>
        <p:nvSpPr>
          <p:cNvPr id="10" name="Text 7"/>
          <p:cNvSpPr txBox="1"/>
          <p:nvPr/>
        </p:nvSpPr>
        <p:spPr>
          <a:xfrm>
            <a:off x="7833208" y="4754880"/>
            <a:ext cx="2926080" cy="457200"/>
          </a:xfrm>
          <a:prstGeom prst="rect">
            <a:avLst/>
          </a:prstGeom>
          <a:noFill/>
          <a:ln/>
        </p:spPr>
        <p:txBody>
          <a:bodyPr wrap="square" lIns="0" tIns="0" rIns="0" bIns="0" rtlCol="0" anchor="ctr"/>
          <a:lstStyle/>
          <a:p>
            <a:pPr algn="ctr" indent="0" marL="0">
              <a:buNone/>
            </a:pPr>
            <a:r>
              <a:rPr lang="en-US" sz="1300" b="1" dirty="0">
                <a:solidFill>
                  <a:srgbClr val="0A032B"/>
                </a:solidFill>
                <a:latin typeface="Montserrat" pitchFamily="34" charset="0"/>
                <a:ea typeface="Montserrat" pitchFamily="34" charset="-122"/>
                <a:cs typeface="Montserrat" pitchFamily="34" charset="-120"/>
              </a:rPr>
              <a:t>6 compétences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32B"/>
        </a:solidFill>
      </p:bgPr>
    </p:bg>
    <p:spTree>
      <p:nvGrpSpPr>
        <p:cNvPr id="1" name=""/>
        <p:cNvGrpSpPr/>
        <p:nvPr/>
      </p:nvGrpSpPr>
      <p:grpSpPr>
        <a:xfrm>
          <a:off x="0" y="0"/>
          <a:ext cx="0" cy="0"/>
          <a:chOff x="0" y="0"/>
          <a:chExt cx="0" cy="0"/>
        </a:xfrm>
      </p:grpSpPr>
      <p:sp>
        <p:nvSpPr>
          <p:cNvPr id="2" name="Text 0"/>
          <p:cNvSpPr txBox="1"/>
          <p:nvPr/>
        </p:nvSpPr>
        <p:spPr>
          <a:xfrm>
            <a:off x="548640" y="1371600"/>
            <a:ext cx="3657600" cy="2926080"/>
          </a:xfrm>
          <a:prstGeom prst="rect">
            <a:avLst/>
          </a:prstGeom>
          <a:noFill/>
          <a:ln/>
        </p:spPr>
        <p:txBody>
          <a:bodyPr wrap="square" lIns="0" tIns="0" rIns="0" bIns="0" rtlCol="0" anchor="ctr"/>
          <a:lstStyle/>
          <a:p>
            <a:pPr indent="0" marL="0">
              <a:buNone/>
            </a:pPr>
            <a:r>
              <a:rPr lang="en-US" sz="18000" b="1" dirty="0">
                <a:solidFill>
                  <a:srgbClr val="F0EF96"/>
                </a:solidFill>
                <a:latin typeface="Montserrat" pitchFamily="34" charset="0"/>
                <a:ea typeface="Montserrat" pitchFamily="34" charset="-122"/>
                <a:cs typeface="Montserrat" pitchFamily="34" charset="-120"/>
              </a:rPr>
              <a:t>00</a:t>
            </a:r>
            <a:endParaRPr lang="en-US" sz="18000" dirty="0"/>
          </a:p>
        </p:txBody>
      </p:sp>
      <p:sp>
        <p:nvSpPr>
          <p:cNvPr id="3" name="Text 1"/>
          <p:cNvSpPr txBox="1"/>
          <p:nvPr/>
        </p:nvSpPr>
        <p:spPr>
          <a:xfrm>
            <a:off x="4572000" y="1463040"/>
            <a:ext cx="7040880" cy="411480"/>
          </a:xfrm>
          <a:prstGeom prst="rect">
            <a:avLst/>
          </a:prstGeom>
          <a:noFill/>
          <a:ln/>
        </p:spPr>
        <p:txBody>
          <a:bodyPr wrap="square" lIns="0" tIns="0" rIns="0" bIns="0" rtlCol="0" anchor="ctr"/>
          <a:lstStyle/>
          <a:p>
            <a:pPr indent="0" marL="0">
              <a:buNone/>
            </a:pPr>
            <a:r>
              <a:rPr lang="en-US" sz="1600" b="1" spc="300" kern="0" dirty="0">
                <a:solidFill>
                  <a:srgbClr val="F0EF96"/>
                </a:solidFill>
                <a:latin typeface="Montserrat" pitchFamily="34" charset="0"/>
                <a:ea typeface="Montserrat" pitchFamily="34" charset="-122"/>
                <a:cs typeface="Montserrat" pitchFamily="34" charset="-120"/>
              </a:rPr>
              <a:t>OUVERTURE</a:t>
            </a:r>
            <a:endParaRPr lang="en-US" sz="1600" dirty="0"/>
          </a:p>
        </p:txBody>
      </p:sp>
      <p:sp>
        <p:nvSpPr>
          <p:cNvPr id="4" name="Text 2"/>
          <p:cNvSpPr txBox="1"/>
          <p:nvPr/>
        </p:nvSpPr>
        <p:spPr>
          <a:xfrm>
            <a:off x="4572000" y="1920240"/>
            <a:ext cx="7040880" cy="1645920"/>
          </a:xfrm>
          <a:prstGeom prst="rect">
            <a:avLst/>
          </a:prstGeom>
          <a:noFill/>
          <a:ln/>
        </p:spPr>
        <p:txBody>
          <a:bodyPr wrap="square" lIns="0" tIns="0" rIns="0" bIns="0" rtlCol="0" anchor="t"/>
          <a:lstStyle/>
          <a:p>
            <a:pPr indent="0" marL="0">
              <a:buNone/>
            </a:pPr>
            <a:r>
              <a:rPr lang="en-US" sz="3400" b="1" dirty="0">
                <a:solidFill>
                  <a:srgbClr val="FFFFFF"/>
                </a:solidFill>
                <a:latin typeface="Montserrat" pitchFamily="34" charset="0"/>
                <a:ea typeface="Montserrat" pitchFamily="34" charset="-122"/>
                <a:cs typeface="Montserrat" pitchFamily="34" charset="-120"/>
              </a:rPr>
              <a:t>Présentation du formateur, des stagiaires et de la formation</a:t>
            </a:r>
            <a:endParaRPr lang="en-US" sz="3400" dirty="0"/>
          </a:p>
        </p:txBody>
      </p:sp>
      <p:sp>
        <p:nvSpPr>
          <p:cNvPr id="5" name="Text 3"/>
          <p:cNvSpPr txBox="1"/>
          <p:nvPr/>
        </p:nvSpPr>
        <p:spPr>
          <a:xfrm>
            <a:off x="4572000" y="3657600"/>
            <a:ext cx="7040880" cy="914400"/>
          </a:xfrm>
          <a:prstGeom prst="rect">
            <a:avLst/>
          </a:prstGeom>
          <a:noFill/>
          <a:ln/>
        </p:spPr>
        <p:txBody>
          <a:bodyPr wrap="square" lIns="0" tIns="0" rIns="0" bIns="0" rtlCol="0" anchor="t"/>
          <a:lstStyle/>
          <a:p>
            <a:pPr indent="0" marL="0">
              <a:buNone/>
            </a:pPr>
            <a:r>
              <a:rPr lang="en-US" sz="1500" b="1" dirty="0">
                <a:solidFill>
                  <a:srgbClr val="F0EF96"/>
                </a:solidFill>
                <a:latin typeface="Arial" pitchFamily="34" charset="0"/>
                <a:ea typeface="Arial" pitchFamily="34" charset="-122"/>
                <a:cs typeface="Arial" pitchFamily="34" charset="-120"/>
              </a:rPr>
              <a:t>Objectif  </a:t>
            </a:r>
            <a:pPr indent="0" marL="0">
              <a:buNone/>
            </a:pPr>
            <a:r>
              <a:rPr lang="en-US" sz="1500" dirty="0">
                <a:solidFill>
                  <a:srgbClr val="FFFFFF"/>
                </a:solidFill>
                <a:latin typeface="Arial" pitchFamily="34" charset="0"/>
                <a:ea typeface="Arial" pitchFamily="34" charset="-122"/>
                <a:cs typeface="Arial" pitchFamily="34" charset="-120"/>
              </a:rPr>
              <a:t>Créer un climat de confiance, recenser les attentes et présenter le cadre de la journée.</a:t>
            </a:r>
            <a:endParaRPr lang="en-US" sz="1500" dirty="0"/>
          </a:p>
        </p:txBody>
      </p:sp>
      <p:sp>
        <p:nvSpPr>
          <p:cNvPr id="6" name="Shape 4"/>
          <p:cNvSpPr/>
          <p:nvPr/>
        </p:nvSpPr>
        <p:spPr>
          <a:xfrm>
            <a:off x="4572000" y="4754880"/>
            <a:ext cx="1463040" cy="411480"/>
          </a:xfrm>
          <a:prstGeom prst="roundRect">
            <a:avLst>
              <a:gd name="adj" fmla="val 48889"/>
            </a:avLst>
          </a:prstGeom>
          <a:solidFill>
            <a:srgbClr val="F0EF96"/>
          </a:solidFill>
          <a:ln w="12700">
            <a:solidFill>
              <a:srgbClr val="F0EF96"/>
            </a:solidFill>
            <a:prstDash val="solid"/>
          </a:ln>
        </p:spPr>
      </p:sp>
      <p:sp>
        <p:nvSpPr>
          <p:cNvPr id="7" name="Text 5"/>
          <p:cNvSpPr txBox="1"/>
          <p:nvPr/>
        </p:nvSpPr>
        <p:spPr>
          <a:xfrm>
            <a:off x="4572000" y="4754880"/>
            <a:ext cx="1463040" cy="411480"/>
          </a:xfrm>
          <a:prstGeom prst="rect">
            <a:avLst/>
          </a:prstGeom>
          <a:noFill/>
          <a:ln/>
        </p:spPr>
        <p:txBody>
          <a:bodyPr wrap="square" lIns="0" tIns="0" rIns="0" bIns="0" rtlCol="0" anchor="ctr"/>
          <a:lstStyle/>
          <a:p>
            <a:pPr algn="ctr" indent="0" marL="0">
              <a:buNone/>
            </a:pPr>
            <a:r>
              <a:rPr lang="en-US" sz="1400" b="1" dirty="0">
                <a:solidFill>
                  <a:srgbClr val="0A032B"/>
                </a:solidFill>
                <a:latin typeface="Montserrat" pitchFamily="34" charset="0"/>
                <a:ea typeface="Montserrat" pitchFamily="34" charset="-122"/>
                <a:cs typeface="Montserrat" pitchFamily="34" charset="-120"/>
              </a:rPr>
              <a:t>15 min</a:t>
            </a:r>
            <a:endParaRPr lang="en-US" sz="1400" dirty="0"/>
          </a:p>
        </p:txBody>
      </p:sp>
      <p:sp>
        <p:nvSpPr>
          <p:cNvPr id="8" name="Text 6"/>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DCDAEA"/>
                </a:solidFill>
                <a:latin typeface="Arial" pitchFamily="34" charset="0"/>
                <a:ea typeface="Arial" pitchFamily="34" charset="-122"/>
                <a:cs typeface="Arial" pitchFamily="34" charset="-120"/>
              </a:rPr>
              <a:t>Gestes et postures de l'élu</a:t>
            </a:r>
            <a:endParaRPr lang="en-US" sz="900" dirty="0"/>
          </a:p>
        </p:txBody>
      </p:sp>
      <p:pic>
        <p:nvPicPr>
          <p:cNvPr id="9" name="Image 0" descr="logo_dark.png">    </p:cNvPr>
          <p:cNvPicPr>
            <a:picLocks noChangeAspect="1"/>
          </p:cNvPicPr>
          <p:nvPr/>
        </p:nvPicPr>
        <p:blipFill>
          <a:blip r:embed="rId1"/>
          <a:stretch>
            <a:fillRect/>
          </a:stretch>
        </p:blipFill>
        <p:spPr>
          <a:xfrm>
            <a:off x="10682935" y="6236208"/>
            <a:ext cx="960120" cy="398441"/>
          </a:xfrm>
          <a:prstGeom prst="rect">
            <a:avLst/>
          </a:prstGeom>
        </p:spPr>
      </p:pic>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DCDAEA"/>
                </a:solidFill>
                <a:latin typeface="Arial"/>
                <a:ea typeface="Arial"/>
                <a:cs typeface="Aria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235440" cy="685800"/>
          </a:xfrm>
          <a:prstGeom prst="rect">
            <a:avLst/>
          </a:prstGeom>
          <a:noFill/>
          <a:ln/>
        </p:spPr>
        <p:txBody>
          <a:bodyPr wrap="square" lIns="0" tIns="0" rIns="0" bIns="0" rtlCol="0" anchor="ctr"/>
          <a:lstStyle/>
          <a:p>
            <a:pPr indent="0" marL="0">
              <a:buNone/>
            </a:pPr>
            <a:r>
              <a:rPr lang="en-US" sz="2800" b="1" dirty="0">
                <a:solidFill>
                  <a:srgbClr val="0A032B"/>
                </a:solidFill>
                <a:latin typeface="Montserrat" pitchFamily="34" charset="0"/>
                <a:ea typeface="Montserrat" pitchFamily="34" charset="-122"/>
                <a:cs typeface="Montserrat" pitchFamily="34" charset="-120"/>
              </a:rPr>
              <a:t>Organisation de la journée</a:t>
            </a:r>
            <a:endParaRPr lang="en-US" sz="2800" dirty="0"/>
          </a:p>
        </p:txBody>
      </p:sp>
      <p:sp>
        <p:nvSpPr>
          <p:cNvPr id="3" name="Shape 1"/>
          <p:cNvSpPr/>
          <p:nvPr/>
        </p:nvSpPr>
        <p:spPr>
          <a:xfrm>
            <a:off x="10042855" y="530352"/>
            <a:ext cx="1600200" cy="347472"/>
          </a:xfrm>
          <a:prstGeom prst="roundRect">
            <a:avLst>
              <a:gd name="adj" fmla="val 50000"/>
            </a:avLst>
          </a:prstGeom>
          <a:solidFill>
            <a:srgbClr val="DCDAEA"/>
          </a:solidFill>
          <a:ln w="12700">
            <a:solidFill>
              <a:srgbClr val="DCDAEA"/>
            </a:solidFill>
            <a:prstDash val="solid"/>
          </a:ln>
        </p:spPr>
      </p:sp>
      <p:sp>
        <p:nvSpPr>
          <p:cNvPr id="4" name="Text 2"/>
          <p:cNvSpPr txBox="1"/>
          <p:nvPr/>
        </p:nvSpPr>
        <p:spPr>
          <a:xfrm>
            <a:off x="10042855" y="530352"/>
            <a:ext cx="1600200" cy="347472"/>
          </a:xfrm>
          <a:prstGeom prst="rect">
            <a:avLst/>
          </a:prstGeom>
          <a:noFill/>
          <a:ln/>
        </p:spPr>
        <p:txBody>
          <a:bodyPr wrap="square" lIns="0" tIns="0" rIns="0" bIns="0" rtlCol="0" anchor="ctr"/>
          <a:lstStyle/>
          <a:p>
            <a:pPr algn="ctr" indent="0" marL="0">
              <a:buNone/>
            </a:pPr>
            <a:r>
              <a:rPr lang="en-US" sz="1100" b="1" spc="200" kern="0" dirty="0">
                <a:solidFill>
                  <a:srgbClr val="0A032B"/>
                </a:solidFill>
                <a:latin typeface="Montserrat" pitchFamily="34" charset="0"/>
                <a:ea typeface="Montserrat" pitchFamily="34" charset="-122"/>
                <a:cs typeface="Montserrat" pitchFamily="34" charset="-120"/>
              </a:rPr>
              <a:t>ÉCHANGES</a:t>
            </a:r>
            <a:endParaRPr lang="en-US" sz="1100" dirty="0"/>
          </a:p>
        </p:txBody>
      </p:sp>
      <p:sp>
        <p:nvSpPr>
          <p:cNvPr id="5" name="Text 3"/>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5E5A78"/>
                </a:solidFill>
                <a:latin typeface="Arial" pitchFamily="34" charset="0"/>
                <a:ea typeface="Arial" pitchFamily="34" charset="-122"/>
                <a:cs typeface="Arial" pitchFamily="34" charset="-120"/>
              </a:rPr>
              <a:t>Gestes et postures de l'élu  ·  Ouverture</a:t>
            </a:r>
            <a:endParaRPr lang="en-US" sz="900" dirty="0"/>
          </a:p>
        </p:txBody>
      </p:sp>
      <p:pic>
        <p:nvPicPr>
          <p:cNvPr id="6" name="Image 0" descr="logo_light.png">    </p:cNvPr>
          <p:cNvPicPr>
            <a:picLocks noChangeAspect="1"/>
          </p:cNvPicPr>
          <p:nvPr/>
        </p:nvPicPr>
        <p:blipFill>
          <a:blip r:embed="rId1"/>
          <a:stretch>
            <a:fillRect/>
          </a:stretch>
        </p:blipFill>
        <p:spPr>
          <a:xfrm>
            <a:off x="10682935" y="6236208"/>
            <a:ext cx="960120" cy="398441"/>
          </a:xfrm>
          <a:prstGeom prst="rect">
            <a:avLst/>
          </a:prstGeom>
        </p:spPr>
      </p:pic>
      <p:sp>
        <p:nvSpPr>
          <p:cNvPr id="7" name="Shape 4"/>
          <p:cNvSpPr/>
          <p:nvPr/>
        </p:nvSpPr>
        <p:spPr>
          <a:xfrm>
            <a:off x="548640" y="1417320"/>
            <a:ext cx="3515258" cy="2171700"/>
          </a:xfrm>
          <a:prstGeom prst="roundRect">
            <a:avLst>
              <a:gd name="adj" fmla="val 3368"/>
            </a:avLst>
          </a:prstGeom>
          <a:solidFill>
            <a:srgbClr val="EEEDF5"/>
          </a:solidFill>
          <a:ln w="12700">
            <a:solidFill>
              <a:srgbClr val="EEEDF5"/>
            </a:solidFill>
            <a:prstDash val="solid"/>
          </a:ln>
        </p:spPr>
      </p:sp>
      <p:sp>
        <p:nvSpPr>
          <p:cNvPr id="8" name="Shape 5"/>
          <p:cNvSpPr/>
          <p:nvPr/>
        </p:nvSpPr>
        <p:spPr>
          <a:xfrm>
            <a:off x="777240" y="1645920"/>
            <a:ext cx="548640" cy="548640"/>
          </a:xfrm>
          <a:prstGeom prst="ellipse">
            <a:avLst/>
          </a:prstGeom>
          <a:solidFill>
            <a:srgbClr val="0A032B"/>
          </a:solidFill>
          <a:ln w="12700">
            <a:solidFill>
              <a:srgbClr val="0A032B"/>
            </a:solidFill>
            <a:prstDash val="solid"/>
          </a:ln>
        </p:spPr>
      </p:sp>
      <p:pic>
        <p:nvPicPr>
          <p:cNvPr id="9" name="Image 1" descr="preencoded.png">    </p:cNvPr>
          <p:cNvPicPr>
            <a:picLocks noChangeAspect="1"/>
          </p:cNvPicPr>
          <p:nvPr/>
        </p:nvPicPr>
        <p:blipFill>
          <a:blip r:embed="rId2"/>
          <a:stretch>
            <a:fillRect/>
          </a:stretch>
        </p:blipFill>
        <p:spPr>
          <a:xfrm>
            <a:off x="914400" y="1783080"/>
            <a:ext cx="274320" cy="274320"/>
          </a:xfrm>
          <a:prstGeom prst="rect">
            <a:avLst/>
          </a:prstGeom>
        </p:spPr>
      </p:pic>
      <p:sp>
        <p:nvSpPr>
          <p:cNvPr id="10" name="Text 6"/>
          <p:cNvSpPr txBox="1"/>
          <p:nvPr/>
        </p:nvSpPr>
        <p:spPr>
          <a:xfrm>
            <a:off x="1508760" y="1645920"/>
            <a:ext cx="2326538" cy="5486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Horaires</a:t>
            </a:r>
            <a:endParaRPr lang="en-US" sz="1500" dirty="0"/>
          </a:p>
        </p:txBody>
      </p:sp>
      <p:sp>
        <p:nvSpPr>
          <p:cNvPr id="11" name="Text 7"/>
          <p:cNvSpPr txBox="1"/>
          <p:nvPr/>
        </p:nvSpPr>
        <p:spPr>
          <a:xfrm>
            <a:off x="777240" y="2331720"/>
            <a:ext cx="3058058" cy="1120140"/>
          </a:xfrm>
          <a:prstGeom prst="rect">
            <a:avLst/>
          </a:prstGeom>
          <a:noFill/>
          <a:ln/>
        </p:spPr>
        <p:txBody>
          <a:bodyPr wrap="square" lIns="0" tIns="0" rIns="0" bIns="0" rtlCol="0" anchor="t"/>
          <a:lstStyle/>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7 heures de face-à-face</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Une pause le matin, une l'après-midi</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Pause déjeuner d'une heure</a:t>
            </a:r>
            <a:endParaRPr lang="en-US" sz="1250" dirty="0"/>
          </a:p>
        </p:txBody>
      </p:sp>
      <p:sp>
        <p:nvSpPr>
          <p:cNvPr id="12" name="Shape 8"/>
          <p:cNvSpPr/>
          <p:nvPr/>
        </p:nvSpPr>
        <p:spPr>
          <a:xfrm>
            <a:off x="4338218" y="1417320"/>
            <a:ext cx="3515258" cy="2171700"/>
          </a:xfrm>
          <a:prstGeom prst="roundRect">
            <a:avLst>
              <a:gd name="adj" fmla="val 3368"/>
            </a:avLst>
          </a:prstGeom>
          <a:solidFill>
            <a:srgbClr val="EEEDF5"/>
          </a:solidFill>
          <a:ln w="12700">
            <a:solidFill>
              <a:srgbClr val="EEEDF5"/>
            </a:solidFill>
            <a:prstDash val="solid"/>
          </a:ln>
        </p:spPr>
      </p:sp>
      <p:sp>
        <p:nvSpPr>
          <p:cNvPr id="13" name="Shape 9"/>
          <p:cNvSpPr/>
          <p:nvPr/>
        </p:nvSpPr>
        <p:spPr>
          <a:xfrm>
            <a:off x="4566818" y="1645920"/>
            <a:ext cx="548640" cy="548640"/>
          </a:xfrm>
          <a:prstGeom prst="ellipse">
            <a:avLst/>
          </a:prstGeom>
          <a:solidFill>
            <a:srgbClr val="0A032B"/>
          </a:solidFill>
          <a:ln w="12700">
            <a:solidFill>
              <a:srgbClr val="0A032B"/>
            </a:solidFill>
            <a:prstDash val="solid"/>
          </a:ln>
        </p:spPr>
      </p:sp>
      <p:pic>
        <p:nvPicPr>
          <p:cNvPr id="14" name="Image 2" descr="preencoded.png">    </p:cNvPr>
          <p:cNvPicPr>
            <a:picLocks noChangeAspect="1"/>
          </p:cNvPicPr>
          <p:nvPr/>
        </p:nvPicPr>
        <p:blipFill>
          <a:blip r:embed="rId3"/>
          <a:stretch>
            <a:fillRect/>
          </a:stretch>
        </p:blipFill>
        <p:spPr>
          <a:xfrm>
            <a:off x="4703978" y="1783080"/>
            <a:ext cx="274320" cy="274320"/>
          </a:xfrm>
          <a:prstGeom prst="rect">
            <a:avLst/>
          </a:prstGeom>
        </p:spPr>
      </p:pic>
      <p:sp>
        <p:nvSpPr>
          <p:cNvPr id="15" name="Text 10"/>
          <p:cNvSpPr txBox="1"/>
          <p:nvPr/>
        </p:nvSpPr>
        <p:spPr>
          <a:xfrm>
            <a:off x="5298338" y="1645920"/>
            <a:ext cx="2326538" cy="5486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Plateau technique</a:t>
            </a:r>
            <a:endParaRPr lang="en-US" sz="1500" dirty="0"/>
          </a:p>
        </p:txBody>
      </p:sp>
      <p:sp>
        <p:nvSpPr>
          <p:cNvPr id="16" name="Text 11"/>
          <p:cNvSpPr txBox="1"/>
          <p:nvPr/>
        </p:nvSpPr>
        <p:spPr>
          <a:xfrm>
            <a:off x="4566818" y="2331720"/>
            <a:ext cx="3058058" cy="1120140"/>
          </a:xfrm>
          <a:prstGeom prst="rect">
            <a:avLst/>
          </a:prstGeom>
          <a:noFill/>
          <a:ln/>
        </p:spPr>
        <p:txBody>
          <a:bodyPr wrap="square" lIns="0" tIns="0" rIns="0" bIns="0" rtlCol="0" anchor="t"/>
          <a:lstStyle/>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Charges d'exercice</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Aides à la manutention</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Mobilier pour les ateliers</a:t>
            </a:r>
            <a:endParaRPr lang="en-US" sz="1250" dirty="0"/>
          </a:p>
        </p:txBody>
      </p:sp>
      <p:sp>
        <p:nvSpPr>
          <p:cNvPr id="17" name="Shape 12"/>
          <p:cNvSpPr/>
          <p:nvPr/>
        </p:nvSpPr>
        <p:spPr>
          <a:xfrm>
            <a:off x="8127797" y="1417320"/>
            <a:ext cx="3515258" cy="2171700"/>
          </a:xfrm>
          <a:prstGeom prst="roundRect">
            <a:avLst>
              <a:gd name="adj" fmla="val 3368"/>
            </a:avLst>
          </a:prstGeom>
          <a:solidFill>
            <a:srgbClr val="EEEDF5"/>
          </a:solidFill>
          <a:ln w="12700">
            <a:solidFill>
              <a:srgbClr val="EEEDF5"/>
            </a:solidFill>
            <a:prstDash val="solid"/>
          </a:ln>
        </p:spPr>
      </p:sp>
      <p:sp>
        <p:nvSpPr>
          <p:cNvPr id="18" name="Shape 13"/>
          <p:cNvSpPr/>
          <p:nvPr/>
        </p:nvSpPr>
        <p:spPr>
          <a:xfrm>
            <a:off x="8356397" y="1645920"/>
            <a:ext cx="548640" cy="548640"/>
          </a:xfrm>
          <a:prstGeom prst="ellipse">
            <a:avLst/>
          </a:prstGeom>
          <a:solidFill>
            <a:srgbClr val="0A032B"/>
          </a:solidFill>
          <a:ln w="12700">
            <a:solidFill>
              <a:srgbClr val="0A032B"/>
            </a:solidFill>
            <a:prstDash val="solid"/>
          </a:ln>
        </p:spPr>
      </p:sp>
      <p:pic>
        <p:nvPicPr>
          <p:cNvPr id="19" name="Image 3" descr="preencoded.png">    </p:cNvPr>
          <p:cNvPicPr>
            <a:picLocks noChangeAspect="1"/>
          </p:cNvPicPr>
          <p:nvPr/>
        </p:nvPicPr>
        <p:blipFill>
          <a:blip r:embed="rId4"/>
          <a:stretch>
            <a:fillRect/>
          </a:stretch>
        </p:blipFill>
        <p:spPr>
          <a:xfrm>
            <a:off x="8493557" y="1783080"/>
            <a:ext cx="274320" cy="274320"/>
          </a:xfrm>
          <a:prstGeom prst="rect">
            <a:avLst/>
          </a:prstGeom>
        </p:spPr>
      </p:pic>
      <p:sp>
        <p:nvSpPr>
          <p:cNvPr id="20" name="Text 14"/>
          <p:cNvSpPr txBox="1"/>
          <p:nvPr/>
        </p:nvSpPr>
        <p:spPr>
          <a:xfrm>
            <a:off x="9087917" y="1645920"/>
            <a:ext cx="2326538" cy="5486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Supports</a:t>
            </a:r>
            <a:endParaRPr lang="en-US" sz="1500" dirty="0"/>
          </a:p>
        </p:txBody>
      </p:sp>
      <p:sp>
        <p:nvSpPr>
          <p:cNvPr id="21" name="Text 15"/>
          <p:cNvSpPr txBox="1"/>
          <p:nvPr/>
        </p:nvSpPr>
        <p:spPr>
          <a:xfrm>
            <a:off x="8356397" y="2331720"/>
            <a:ext cx="3058058" cy="1120140"/>
          </a:xfrm>
          <a:prstGeom prst="rect">
            <a:avLst/>
          </a:prstGeom>
          <a:noFill/>
          <a:ln/>
        </p:spPr>
        <p:txBody>
          <a:bodyPr wrap="square" lIns="0" tIns="0" rIns="0" bIns="0" rtlCol="0" anchor="t"/>
          <a:lstStyle/>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Diaporama</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Livret stagiaire</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Grilles d'observation et d'évaluation</a:t>
            </a:r>
            <a:endParaRPr lang="en-US" sz="1250" dirty="0"/>
          </a:p>
        </p:txBody>
      </p:sp>
      <p:sp>
        <p:nvSpPr>
          <p:cNvPr id="22" name="Shape 16"/>
          <p:cNvSpPr/>
          <p:nvPr/>
        </p:nvSpPr>
        <p:spPr>
          <a:xfrm>
            <a:off x="548640" y="3863340"/>
            <a:ext cx="3515258" cy="2171700"/>
          </a:xfrm>
          <a:prstGeom prst="roundRect">
            <a:avLst>
              <a:gd name="adj" fmla="val 3368"/>
            </a:avLst>
          </a:prstGeom>
          <a:solidFill>
            <a:srgbClr val="EEEDF5"/>
          </a:solidFill>
          <a:ln w="12700">
            <a:solidFill>
              <a:srgbClr val="EEEDF5"/>
            </a:solidFill>
            <a:prstDash val="solid"/>
          </a:ln>
        </p:spPr>
      </p:sp>
      <p:sp>
        <p:nvSpPr>
          <p:cNvPr id="23" name="Shape 17"/>
          <p:cNvSpPr/>
          <p:nvPr/>
        </p:nvSpPr>
        <p:spPr>
          <a:xfrm>
            <a:off x="777240" y="4091940"/>
            <a:ext cx="548640" cy="548640"/>
          </a:xfrm>
          <a:prstGeom prst="ellipse">
            <a:avLst/>
          </a:prstGeom>
          <a:solidFill>
            <a:srgbClr val="0A032B"/>
          </a:solidFill>
          <a:ln w="12700">
            <a:solidFill>
              <a:srgbClr val="0A032B"/>
            </a:solidFill>
            <a:prstDash val="solid"/>
          </a:ln>
        </p:spPr>
      </p:sp>
      <p:pic>
        <p:nvPicPr>
          <p:cNvPr id="24" name="Image 4" descr="preencoded.png">    </p:cNvPr>
          <p:cNvPicPr>
            <a:picLocks noChangeAspect="1"/>
          </p:cNvPicPr>
          <p:nvPr/>
        </p:nvPicPr>
        <p:blipFill>
          <a:blip r:embed="rId5"/>
          <a:stretch>
            <a:fillRect/>
          </a:stretch>
        </p:blipFill>
        <p:spPr>
          <a:xfrm>
            <a:off x="914400" y="4229100"/>
            <a:ext cx="274320" cy="274320"/>
          </a:xfrm>
          <a:prstGeom prst="rect">
            <a:avLst/>
          </a:prstGeom>
        </p:spPr>
      </p:pic>
      <p:sp>
        <p:nvSpPr>
          <p:cNvPr id="25" name="Text 18"/>
          <p:cNvSpPr txBox="1"/>
          <p:nvPr/>
        </p:nvSpPr>
        <p:spPr>
          <a:xfrm>
            <a:off x="1508760" y="4091940"/>
            <a:ext cx="2326538" cy="5486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Règles du groupe</a:t>
            </a:r>
            <a:endParaRPr lang="en-US" sz="1500" dirty="0"/>
          </a:p>
        </p:txBody>
      </p:sp>
      <p:sp>
        <p:nvSpPr>
          <p:cNvPr id="26" name="Text 19"/>
          <p:cNvSpPr txBox="1"/>
          <p:nvPr/>
        </p:nvSpPr>
        <p:spPr>
          <a:xfrm>
            <a:off x="777240" y="4777740"/>
            <a:ext cx="3058058" cy="1120140"/>
          </a:xfrm>
          <a:prstGeom prst="rect">
            <a:avLst/>
          </a:prstGeom>
          <a:noFill/>
          <a:ln/>
        </p:spPr>
        <p:txBody>
          <a:bodyPr wrap="square" lIns="0" tIns="0" rIns="0" bIns="0" rtlCol="0" anchor="t"/>
          <a:lstStyle/>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Bienveillance et écoute</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Téléphones en silencieux</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Chacun participe à son rythme</a:t>
            </a:r>
            <a:endParaRPr lang="en-US" sz="1250" dirty="0"/>
          </a:p>
        </p:txBody>
      </p:sp>
      <p:sp>
        <p:nvSpPr>
          <p:cNvPr id="27" name="Shape 20"/>
          <p:cNvSpPr/>
          <p:nvPr/>
        </p:nvSpPr>
        <p:spPr>
          <a:xfrm>
            <a:off x="4338218" y="3863340"/>
            <a:ext cx="3515258" cy="2171700"/>
          </a:xfrm>
          <a:prstGeom prst="roundRect">
            <a:avLst>
              <a:gd name="adj" fmla="val 3368"/>
            </a:avLst>
          </a:prstGeom>
          <a:solidFill>
            <a:srgbClr val="EEEDF5"/>
          </a:solidFill>
          <a:ln w="12700">
            <a:solidFill>
              <a:srgbClr val="EEEDF5"/>
            </a:solidFill>
            <a:prstDash val="solid"/>
          </a:ln>
        </p:spPr>
      </p:sp>
      <p:sp>
        <p:nvSpPr>
          <p:cNvPr id="28" name="Shape 21"/>
          <p:cNvSpPr/>
          <p:nvPr/>
        </p:nvSpPr>
        <p:spPr>
          <a:xfrm>
            <a:off x="4566818" y="4091940"/>
            <a:ext cx="548640" cy="548640"/>
          </a:xfrm>
          <a:prstGeom prst="ellipse">
            <a:avLst/>
          </a:prstGeom>
          <a:solidFill>
            <a:srgbClr val="0A032B"/>
          </a:solidFill>
          <a:ln w="12700">
            <a:solidFill>
              <a:srgbClr val="0A032B"/>
            </a:solidFill>
            <a:prstDash val="solid"/>
          </a:ln>
        </p:spPr>
      </p:sp>
      <p:pic>
        <p:nvPicPr>
          <p:cNvPr id="29" name="Image 5" descr="preencoded.png">    </p:cNvPr>
          <p:cNvPicPr>
            <a:picLocks noChangeAspect="1"/>
          </p:cNvPicPr>
          <p:nvPr/>
        </p:nvPicPr>
        <p:blipFill>
          <a:blip r:embed="rId6"/>
          <a:stretch>
            <a:fillRect/>
          </a:stretch>
        </p:blipFill>
        <p:spPr>
          <a:xfrm>
            <a:off x="4703978" y="4229100"/>
            <a:ext cx="274320" cy="274320"/>
          </a:xfrm>
          <a:prstGeom prst="rect">
            <a:avLst/>
          </a:prstGeom>
        </p:spPr>
      </p:pic>
      <p:sp>
        <p:nvSpPr>
          <p:cNvPr id="30" name="Text 22"/>
          <p:cNvSpPr txBox="1"/>
          <p:nvPr/>
        </p:nvSpPr>
        <p:spPr>
          <a:xfrm>
            <a:off x="5298338" y="4091940"/>
            <a:ext cx="2326538" cy="5486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Tenue &amp; sécurité</a:t>
            </a:r>
            <a:endParaRPr lang="en-US" sz="1500" dirty="0"/>
          </a:p>
        </p:txBody>
      </p:sp>
      <p:sp>
        <p:nvSpPr>
          <p:cNvPr id="31" name="Text 23"/>
          <p:cNvSpPr txBox="1"/>
          <p:nvPr/>
        </p:nvSpPr>
        <p:spPr>
          <a:xfrm>
            <a:off x="4566818" y="4777740"/>
            <a:ext cx="3058058" cy="1120140"/>
          </a:xfrm>
          <a:prstGeom prst="rect">
            <a:avLst/>
          </a:prstGeom>
          <a:noFill/>
          <a:ln/>
        </p:spPr>
        <p:txBody>
          <a:bodyPr wrap="square" lIns="0" tIns="0" rIns="0" bIns="0" rtlCol="0" anchor="t"/>
          <a:lstStyle/>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Chaussures stables et fermées</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Signaler toute douleur ou contre-indication</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Aucun exercice n'est forcé</a:t>
            </a:r>
            <a:endParaRPr lang="en-US" sz="1250" dirty="0"/>
          </a:p>
        </p:txBody>
      </p:sp>
      <p:sp>
        <p:nvSpPr>
          <p:cNvPr id="32" name="Shape 24"/>
          <p:cNvSpPr/>
          <p:nvPr/>
        </p:nvSpPr>
        <p:spPr>
          <a:xfrm>
            <a:off x="8127797" y="3863340"/>
            <a:ext cx="3515258" cy="2171700"/>
          </a:xfrm>
          <a:prstGeom prst="roundRect">
            <a:avLst>
              <a:gd name="adj" fmla="val 3368"/>
            </a:avLst>
          </a:prstGeom>
          <a:solidFill>
            <a:srgbClr val="EEEDF5"/>
          </a:solidFill>
          <a:ln w="12700">
            <a:solidFill>
              <a:srgbClr val="EEEDF5"/>
            </a:solidFill>
            <a:prstDash val="solid"/>
          </a:ln>
        </p:spPr>
      </p:sp>
      <p:sp>
        <p:nvSpPr>
          <p:cNvPr id="33" name="Shape 25"/>
          <p:cNvSpPr/>
          <p:nvPr/>
        </p:nvSpPr>
        <p:spPr>
          <a:xfrm>
            <a:off x="8356397" y="4091940"/>
            <a:ext cx="548640" cy="548640"/>
          </a:xfrm>
          <a:prstGeom prst="ellipse">
            <a:avLst/>
          </a:prstGeom>
          <a:solidFill>
            <a:srgbClr val="0A032B"/>
          </a:solidFill>
          <a:ln w="12700">
            <a:solidFill>
              <a:srgbClr val="0A032B"/>
            </a:solidFill>
            <a:prstDash val="solid"/>
          </a:ln>
        </p:spPr>
      </p:sp>
      <p:pic>
        <p:nvPicPr>
          <p:cNvPr id="34" name="Image 6" descr="preencoded.png">    </p:cNvPr>
          <p:cNvPicPr>
            <a:picLocks noChangeAspect="1"/>
          </p:cNvPicPr>
          <p:nvPr/>
        </p:nvPicPr>
        <p:blipFill>
          <a:blip r:embed="rId7"/>
          <a:stretch>
            <a:fillRect/>
          </a:stretch>
        </p:blipFill>
        <p:spPr>
          <a:xfrm>
            <a:off x="8493557" y="4229100"/>
            <a:ext cx="274320" cy="274320"/>
          </a:xfrm>
          <a:prstGeom prst="rect">
            <a:avLst/>
          </a:prstGeom>
        </p:spPr>
      </p:pic>
      <p:sp>
        <p:nvSpPr>
          <p:cNvPr id="35" name="Text 26"/>
          <p:cNvSpPr txBox="1"/>
          <p:nvPr/>
        </p:nvSpPr>
        <p:spPr>
          <a:xfrm>
            <a:off x="9087917" y="4091940"/>
            <a:ext cx="2326538" cy="5486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Pédagogie</a:t>
            </a:r>
            <a:endParaRPr lang="en-US" sz="1500" dirty="0"/>
          </a:p>
        </p:txBody>
      </p:sp>
      <p:sp>
        <p:nvSpPr>
          <p:cNvPr id="36" name="Text 27"/>
          <p:cNvSpPr txBox="1"/>
          <p:nvPr/>
        </p:nvSpPr>
        <p:spPr>
          <a:xfrm>
            <a:off x="8356397" y="4777740"/>
            <a:ext cx="3058058" cy="1120140"/>
          </a:xfrm>
          <a:prstGeom prst="rect">
            <a:avLst/>
          </a:prstGeom>
          <a:noFill/>
          <a:ln/>
        </p:spPr>
        <p:txBody>
          <a:bodyPr wrap="square" lIns="0" tIns="0" rIns="0" bIns="0" rtlCol="0" anchor="t"/>
          <a:lstStyle/>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Alternance théorie / pratique</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Mises en situation issues du mandat</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Évaluation théorique et pratique</a:t>
            </a:r>
            <a:endParaRPr lang="en-US" sz="1250" dirty="0"/>
          </a:p>
        </p:txBody>
      </p:sp>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14800" cy="6858000"/>
          </a:xfrm>
          <a:prstGeom prst="rect">
            <a:avLst/>
          </a:prstGeom>
          <a:solidFill>
            <a:srgbClr val="F0EF96"/>
          </a:solidFill>
          <a:ln w="12700">
            <a:solidFill>
              <a:srgbClr val="F0EF96"/>
            </a:solidFill>
            <a:prstDash val="solid"/>
          </a:ln>
        </p:spPr>
      </p:sp>
      <p:sp>
        <p:nvSpPr>
          <p:cNvPr id="3" name="Shape 1"/>
          <p:cNvSpPr/>
          <p:nvPr/>
        </p:nvSpPr>
        <p:spPr>
          <a:xfrm>
            <a:off x="548640" y="502920"/>
            <a:ext cx="1600200" cy="347472"/>
          </a:xfrm>
          <a:prstGeom prst="roundRect">
            <a:avLst>
              <a:gd name="adj" fmla="val 50000"/>
            </a:avLst>
          </a:prstGeom>
          <a:solidFill>
            <a:srgbClr val="F0EF96"/>
          </a:solidFill>
          <a:ln w="12700">
            <a:solidFill>
              <a:srgbClr val="F0EF96"/>
            </a:solidFill>
            <a:prstDash val="solid"/>
          </a:ln>
        </p:spPr>
      </p:sp>
      <p:sp>
        <p:nvSpPr>
          <p:cNvPr id="4" name="Text 2"/>
          <p:cNvSpPr txBox="1"/>
          <p:nvPr/>
        </p:nvSpPr>
        <p:spPr>
          <a:xfrm>
            <a:off x="548640" y="502920"/>
            <a:ext cx="1600200" cy="347472"/>
          </a:xfrm>
          <a:prstGeom prst="rect">
            <a:avLst/>
          </a:prstGeom>
          <a:noFill/>
          <a:ln/>
        </p:spPr>
        <p:txBody>
          <a:bodyPr wrap="square" lIns="0" tIns="0" rIns="0" bIns="0" rtlCol="0" anchor="ctr"/>
          <a:lstStyle/>
          <a:p>
            <a:pPr algn="ctr" indent="0" marL="0">
              <a:buNone/>
            </a:pPr>
            <a:r>
              <a:rPr lang="en-US" sz="1100" b="1" spc="200" kern="0" dirty="0">
                <a:solidFill>
                  <a:srgbClr val="0A032B"/>
                </a:solidFill>
                <a:latin typeface="Montserrat" pitchFamily="34" charset="0"/>
                <a:ea typeface="Montserrat" pitchFamily="34" charset="-122"/>
                <a:cs typeface="Montserrat" pitchFamily="34" charset="-120"/>
              </a:rPr>
              <a:t>PRATIQUE</a:t>
            </a:r>
            <a:endParaRPr lang="en-US" sz="1100" dirty="0"/>
          </a:p>
        </p:txBody>
      </p:sp>
      <p:sp>
        <p:nvSpPr>
          <p:cNvPr id="5" name="Text 3"/>
          <p:cNvSpPr txBox="1"/>
          <p:nvPr/>
        </p:nvSpPr>
        <p:spPr>
          <a:xfrm>
            <a:off x="548640" y="1005840"/>
            <a:ext cx="3108960" cy="365760"/>
          </a:xfrm>
          <a:prstGeom prst="rect">
            <a:avLst/>
          </a:prstGeom>
          <a:noFill/>
          <a:ln/>
        </p:spPr>
        <p:txBody>
          <a:bodyPr wrap="square" lIns="0" tIns="0" rIns="0" bIns="0" rtlCol="0" anchor="ctr"/>
          <a:lstStyle/>
          <a:p>
            <a:pPr indent="0" marL="0">
              <a:buNone/>
            </a:pPr>
            <a:r>
              <a:rPr lang="en-US" sz="1300" b="1" spc="100" kern="0" dirty="0">
                <a:solidFill>
                  <a:srgbClr val="35305C"/>
                </a:solidFill>
                <a:latin typeface="Montserrat" pitchFamily="34" charset="0"/>
                <a:ea typeface="Montserrat" pitchFamily="34" charset="-122"/>
                <a:cs typeface="Montserrat" pitchFamily="34" charset="-120"/>
              </a:rPr>
              <a:t>BRISE-GLACE</a:t>
            </a:r>
            <a:endParaRPr lang="en-US" sz="1300" dirty="0"/>
          </a:p>
        </p:txBody>
      </p:sp>
      <p:sp>
        <p:nvSpPr>
          <p:cNvPr id="6" name="Text 4"/>
          <p:cNvSpPr txBox="1"/>
          <p:nvPr/>
        </p:nvSpPr>
        <p:spPr>
          <a:xfrm>
            <a:off x="548640" y="1371600"/>
            <a:ext cx="3200400" cy="1371600"/>
          </a:xfrm>
          <a:prstGeom prst="rect">
            <a:avLst/>
          </a:prstGeom>
          <a:noFill/>
          <a:ln/>
        </p:spPr>
        <p:txBody>
          <a:bodyPr wrap="square" lIns="0" tIns="0" rIns="0" bIns="0" rtlCol="0" anchor="t"/>
          <a:lstStyle/>
          <a:p>
            <a:pPr indent="0" marL="0">
              <a:buNone/>
            </a:pPr>
            <a:r>
              <a:rPr lang="en-US" sz="2400" b="1" dirty="0">
                <a:solidFill>
                  <a:srgbClr val="0A032B"/>
                </a:solidFill>
                <a:latin typeface="Montserrat" pitchFamily="34" charset="0"/>
                <a:ea typeface="Montserrat" pitchFamily="34" charset="-122"/>
                <a:cs typeface="Montserrat" pitchFamily="34" charset="-120"/>
              </a:rPr>
              <a:t>Tour de table : « Mon mandat en mouvement »</a:t>
            </a:r>
            <a:endParaRPr lang="en-US" sz="2400" dirty="0"/>
          </a:p>
        </p:txBody>
      </p:sp>
      <p:sp>
        <p:nvSpPr>
          <p:cNvPr id="7" name="Shape 5"/>
          <p:cNvSpPr/>
          <p:nvPr/>
        </p:nvSpPr>
        <p:spPr>
          <a:xfrm>
            <a:off x="548640" y="2971800"/>
            <a:ext cx="457200" cy="457200"/>
          </a:xfrm>
          <a:prstGeom prst="ellipse">
            <a:avLst/>
          </a:prstGeom>
          <a:solidFill>
            <a:srgbClr val="0A032B"/>
          </a:solidFill>
          <a:ln w="12700">
            <a:solidFill>
              <a:srgbClr val="0A032B"/>
            </a:solidFill>
            <a:prstDash val="solid"/>
          </a:ln>
        </p:spPr>
      </p:sp>
      <p:pic>
        <p:nvPicPr>
          <p:cNvPr id="8" name="Image 0" descr="preencoded.png">    </p:cNvPr>
          <p:cNvPicPr>
            <a:picLocks noChangeAspect="1"/>
          </p:cNvPicPr>
          <p:nvPr/>
        </p:nvPicPr>
        <p:blipFill>
          <a:blip r:embed="rId1"/>
          <a:stretch>
            <a:fillRect/>
          </a:stretch>
        </p:blipFill>
        <p:spPr>
          <a:xfrm>
            <a:off x="662940" y="3086100"/>
            <a:ext cx="228600" cy="228600"/>
          </a:xfrm>
          <a:prstGeom prst="rect">
            <a:avLst/>
          </a:prstGeom>
        </p:spPr>
      </p:pic>
      <p:sp>
        <p:nvSpPr>
          <p:cNvPr id="9" name="Text 6"/>
          <p:cNvSpPr txBox="1"/>
          <p:nvPr/>
        </p:nvSpPr>
        <p:spPr>
          <a:xfrm>
            <a:off x="1188720" y="2926080"/>
            <a:ext cx="2468880" cy="868680"/>
          </a:xfrm>
          <a:prstGeom prst="rect">
            <a:avLst/>
          </a:prstGeom>
          <a:noFill/>
          <a:ln/>
        </p:spPr>
        <p:txBody>
          <a:bodyPr wrap="square" lIns="0" tIns="0" rIns="0" bIns="0" rtlCol="0" anchor="t"/>
          <a:lstStyle/>
          <a:p>
            <a:pPr indent="0" marL="0">
              <a:buNone/>
            </a:pPr>
            <a:r>
              <a:rPr lang="en-US" sz="1000" b="1" spc="100" kern="0" dirty="0">
                <a:solidFill>
                  <a:srgbClr val="35305C"/>
                </a:solidFill>
                <a:latin typeface="Montserrat" pitchFamily="34" charset="0"/>
                <a:ea typeface="Montserrat" pitchFamily="34" charset="-122"/>
                <a:cs typeface="Montserrat" pitchFamily="34" charset="-120"/>
              </a:rPr>
              <a:t>DURÉE</a:t>
            </a:r>
            <a:endParaRPr lang="en-US" sz="1000" dirty="0"/>
          </a:p>
          <a:p>
            <a:pPr indent="0" marL="0">
              <a:buNone/>
            </a:pPr>
            <a:r>
              <a:rPr lang="en-US" sz="1250" dirty="0">
                <a:solidFill>
                  <a:srgbClr val="0A032B"/>
                </a:solidFill>
                <a:latin typeface="Arial" pitchFamily="34" charset="0"/>
                <a:ea typeface="Arial" pitchFamily="34" charset="-122"/>
                <a:cs typeface="Arial" pitchFamily="34" charset="-120"/>
              </a:rPr>
              <a:t>10 minutes</a:t>
            </a:r>
            <a:endParaRPr lang="en-US" sz="1000" dirty="0"/>
          </a:p>
        </p:txBody>
      </p:sp>
      <p:sp>
        <p:nvSpPr>
          <p:cNvPr id="10" name="Shape 7"/>
          <p:cNvSpPr/>
          <p:nvPr/>
        </p:nvSpPr>
        <p:spPr>
          <a:xfrm>
            <a:off x="548640" y="3931920"/>
            <a:ext cx="457200" cy="457200"/>
          </a:xfrm>
          <a:prstGeom prst="ellipse">
            <a:avLst/>
          </a:prstGeom>
          <a:solidFill>
            <a:srgbClr val="0A032B"/>
          </a:solidFill>
          <a:ln w="12700">
            <a:solidFill>
              <a:srgbClr val="0A032B"/>
            </a:solidFill>
            <a:prstDash val="solid"/>
          </a:ln>
        </p:spPr>
      </p:sp>
      <p:pic>
        <p:nvPicPr>
          <p:cNvPr id="11" name="Image 1" descr="preencoded.png">    </p:cNvPr>
          <p:cNvPicPr>
            <a:picLocks noChangeAspect="1"/>
          </p:cNvPicPr>
          <p:nvPr/>
        </p:nvPicPr>
        <p:blipFill>
          <a:blip r:embed="rId2"/>
          <a:stretch>
            <a:fillRect/>
          </a:stretch>
        </p:blipFill>
        <p:spPr>
          <a:xfrm>
            <a:off x="662940" y="4046220"/>
            <a:ext cx="228600" cy="228600"/>
          </a:xfrm>
          <a:prstGeom prst="rect">
            <a:avLst/>
          </a:prstGeom>
        </p:spPr>
      </p:pic>
      <p:sp>
        <p:nvSpPr>
          <p:cNvPr id="12" name="Text 8"/>
          <p:cNvSpPr txBox="1"/>
          <p:nvPr/>
        </p:nvSpPr>
        <p:spPr>
          <a:xfrm>
            <a:off x="1188720" y="3886200"/>
            <a:ext cx="2468880" cy="868680"/>
          </a:xfrm>
          <a:prstGeom prst="rect">
            <a:avLst/>
          </a:prstGeom>
          <a:noFill/>
          <a:ln/>
        </p:spPr>
        <p:txBody>
          <a:bodyPr wrap="square" lIns="0" tIns="0" rIns="0" bIns="0" rtlCol="0" anchor="t"/>
          <a:lstStyle/>
          <a:p>
            <a:pPr indent="0" marL="0">
              <a:buNone/>
            </a:pPr>
            <a:r>
              <a:rPr lang="en-US" sz="1000" b="1" spc="100" kern="0" dirty="0">
                <a:solidFill>
                  <a:srgbClr val="35305C"/>
                </a:solidFill>
                <a:latin typeface="Montserrat" pitchFamily="34" charset="0"/>
                <a:ea typeface="Montserrat" pitchFamily="34" charset="-122"/>
                <a:cs typeface="Montserrat" pitchFamily="34" charset="-120"/>
              </a:rPr>
              <a:t>FORMAT</a:t>
            </a:r>
            <a:endParaRPr lang="en-US" sz="1000" dirty="0"/>
          </a:p>
          <a:p>
            <a:pPr indent="0" marL="0">
              <a:buNone/>
            </a:pPr>
            <a:r>
              <a:rPr lang="en-US" sz="1250" dirty="0">
                <a:solidFill>
                  <a:srgbClr val="0A032B"/>
                </a:solidFill>
                <a:latin typeface="Arial" pitchFamily="34" charset="0"/>
                <a:ea typeface="Arial" pitchFamily="34" charset="-122"/>
                <a:cs typeface="Arial" pitchFamily="34" charset="-120"/>
              </a:rPr>
              <a:t>Individuel, en grand groupe</a:t>
            </a:r>
            <a:endParaRPr lang="en-US" sz="1000" dirty="0"/>
          </a:p>
        </p:txBody>
      </p:sp>
      <p:sp>
        <p:nvSpPr>
          <p:cNvPr id="13" name="Shape 9"/>
          <p:cNvSpPr/>
          <p:nvPr/>
        </p:nvSpPr>
        <p:spPr>
          <a:xfrm>
            <a:off x="548640" y="4892040"/>
            <a:ext cx="457200" cy="457200"/>
          </a:xfrm>
          <a:prstGeom prst="ellipse">
            <a:avLst/>
          </a:prstGeom>
          <a:solidFill>
            <a:srgbClr val="0A032B"/>
          </a:solidFill>
          <a:ln w="12700">
            <a:solidFill>
              <a:srgbClr val="0A032B"/>
            </a:solidFill>
            <a:prstDash val="solid"/>
          </a:ln>
        </p:spPr>
      </p:sp>
      <p:pic>
        <p:nvPicPr>
          <p:cNvPr id="14" name="Image 2" descr="preencoded.png">    </p:cNvPr>
          <p:cNvPicPr>
            <a:picLocks noChangeAspect="1"/>
          </p:cNvPicPr>
          <p:nvPr/>
        </p:nvPicPr>
        <p:blipFill>
          <a:blip r:embed="rId3"/>
          <a:stretch>
            <a:fillRect/>
          </a:stretch>
        </p:blipFill>
        <p:spPr>
          <a:xfrm>
            <a:off x="662940" y="5006340"/>
            <a:ext cx="228600" cy="228600"/>
          </a:xfrm>
          <a:prstGeom prst="rect">
            <a:avLst/>
          </a:prstGeom>
        </p:spPr>
      </p:pic>
      <p:sp>
        <p:nvSpPr>
          <p:cNvPr id="15" name="Text 10"/>
          <p:cNvSpPr txBox="1"/>
          <p:nvPr/>
        </p:nvSpPr>
        <p:spPr>
          <a:xfrm>
            <a:off x="1188720" y="4846320"/>
            <a:ext cx="2468880" cy="868680"/>
          </a:xfrm>
          <a:prstGeom prst="rect">
            <a:avLst/>
          </a:prstGeom>
          <a:noFill/>
          <a:ln/>
        </p:spPr>
        <p:txBody>
          <a:bodyPr wrap="square" lIns="0" tIns="0" rIns="0" bIns="0" rtlCol="0" anchor="t"/>
          <a:lstStyle/>
          <a:p>
            <a:pPr indent="0" marL="0">
              <a:buNone/>
            </a:pPr>
            <a:r>
              <a:rPr lang="en-US" sz="1000" b="1" spc="100" kern="0" dirty="0">
                <a:solidFill>
                  <a:srgbClr val="35305C"/>
                </a:solidFill>
                <a:latin typeface="Montserrat" pitchFamily="34" charset="0"/>
                <a:ea typeface="Montserrat" pitchFamily="34" charset="-122"/>
                <a:cs typeface="Montserrat" pitchFamily="34" charset="-120"/>
              </a:rPr>
              <a:t>MATÉRIEL</a:t>
            </a:r>
            <a:endParaRPr lang="en-US" sz="1000" dirty="0"/>
          </a:p>
          <a:p>
            <a:pPr indent="0" marL="0">
              <a:buNone/>
            </a:pPr>
            <a:r>
              <a:rPr lang="en-US" sz="1250" dirty="0">
                <a:solidFill>
                  <a:srgbClr val="0A032B"/>
                </a:solidFill>
                <a:latin typeface="Arial" pitchFamily="34" charset="0"/>
                <a:ea typeface="Arial" pitchFamily="34" charset="-122"/>
                <a:cs typeface="Arial" pitchFamily="34" charset="-120"/>
              </a:rPr>
              <a:t>Post-it, paperboard</a:t>
            </a:r>
            <a:endParaRPr lang="en-US" sz="1000" dirty="0"/>
          </a:p>
        </p:txBody>
      </p:sp>
      <p:sp>
        <p:nvSpPr>
          <p:cNvPr id="16" name="Text 11"/>
          <p:cNvSpPr txBox="1"/>
          <p:nvPr/>
        </p:nvSpPr>
        <p:spPr>
          <a:xfrm>
            <a:off x="4663440" y="457200"/>
            <a:ext cx="6979615" cy="502920"/>
          </a:xfrm>
          <a:prstGeom prst="rect">
            <a:avLst/>
          </a:prstGeom>
          <a:noFill/>
          <a:ln/>
        </p:spPr>
        <p:txBody>
          <a:bodyPr wrap="square" lIns="0" tIns="0" rIns="0" bIns="0" rtlCol="0" anchor="ctr"/>
          <a:lstStyle/>
          <a:p>
            <a:pPr indent="0" marL="0">
              <a:buNone/>
            </a:pPr>
            <a:r>
              <a:rPr lang="en-US" sz="2200" b="1" dirty="0">
                <a:solidFill>
                  <a:srgbClr val="0A032B"/>
                </a:solidFill>
                <a:latin typeface="Montserrat" pitchFamily="34" charset="0"/>
                <a:ea typeface="Montserrat" pitchFamily="34" charset="-122"/>
                <a:cs typeface="Montserrat" pitchFamily="34" charset="-120"/>
              </a:rPr>
              <a:t>Consignes</a:t>
            </a:r>
            <a:endParaRPr lang="en-US" sz="2200" dirty="0"/>
          </a:p>
        </p:txBody>
      </p:sp>
      <p:sp>
        <p:nvSpPr>
          <p:cNvPr id="17" name="Shape 12"/>
          <p:cNvSpPr/>
          <p:nvPr/>
        </p:nvSpPr>
        <p:spPr>
          <a:xfrm>
            <a:off x="4663440" y="1234440"/>
            <a:ext cx="457200" cy="457200"/>
          </a:xfrm>
          <a:prstGeom prst="ellipse">
            <a:avLst/>
          </a:prstGeom>
          <a:solidFill>
            <a:srgbClr val="0A032B"/>
          </a:solidFill>
          <a:ln w="12700">
            <a:solidFill>
              <a:srgbClr val="0A032B"/>
            </a:solidFill>
            <a:prstDash val="solid"/>
          </a:ln>
        </p:spPr>
      </p:sp>
      <p:sp>
        <p:nvSpPr>
          <p:cNvPr id="18" name="Text 13"/>
          <p:cNvSpPr txBox="1"/>
          <p:nvPr/>
        </p:nvSpPr>
        <p:spPr>
          <a:xfrm>
            <a:off x="4663440" y="12344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1</a:t>
            </a:r>
            <a:endParaRPr lang="en-US" sz="1300" dirty="0"/>
          </a:p>
        </p:txBody>
      </p:sp>
      <p:sp>
        <p:nvSpPr>
          <p:cNvPr id="19" name="Text 14"/>
          <p:cNvSpPr txBox="1"/>
          <p:nvPr/>
        </p:nvSpPr>
        <p:spPr>
          <a:xfrm>
            <a:off x="5349240" y="1216152"/>
            <a:ext cx="6293815" cy="1008126"/>
          </a:xfrm>
          <a:prstGeom prst="rect">
            <a:avLst/>
          </a:prstGeom>
          <a:noFill/>
          <a:ln/>
        </p:spPr>
        <p:txBody>
          <a:bodyPr wrap="square" lIns="0" tIns="0" rIns="0" bIns="0" rtlCol="0" anchor="t"/>
          <a:lstStyle/>
          <a:p>
            <a:pPr indent="0" marL="0">
              <a:spcAft>
                <a:spcPts val="300"/>
              </a:spcAft>
              <a:buNone/>
            </a:pPr>
            <a:r>
              <a:rPr lang="en-US" sz="1500" b="1" dirty="0">
                <a:solidFill>
                  <a:srgbClr val="0A032B"/>
                </a:solidFill>
                <a:latin typeface="Montserrat" pitchFamily="34" charset="0"/>
                <a:ea typeface="Montserrat" pitchFamily="34" charset="-122"/>
                <a:cs typeface="Montserrat" pitchFamily="34" charset="-120"/>
              </a:rPr>
              <a:t>Je me présente</a:t>
            </a:r>
            <a:endParaRPr lang="en-US" sz="1500" dirty="0"/>
          </a:p>
          <a:p>
            <a:pPr indent="0" marL="0">
              <a:spcAft>
                <a:spcPts val="300"/>
              </a:spcAft>
              <a:buNone/>
            </a:pPr>
            <a:r>
              <a:rPr lang="en-US" sz="1300" dirty="0">
                <a:solidFill>
                  <a:srgbClr val="35305C"/>
                </a:solidFill>
                <a:latin typeface="Arial" pitchFamily="34" charset="0"/>
                <a:ea typeface="Arial" pitchFamily="34" charset="-122"/>
                <a:cs typeface="Arial" pitchFamily="34" charset="-120"/>
              </a:rPr>
              <a:t>Prénom, collectivité, fonction ou délégation dans le mandat.</a:t>
            </a:r>
            <a:endParaRPr lang="en-US" sz="1500" dirty="0"/>
          </a:p>
        </p:txBody>
      </p:sp>
      <p:sp>
        <p:nvSpPr>
          <p:cNvPr id="20" name="Shape 15"/>
          <p:cNvSpPr/>
          <p:nvPr/>
        </p:nvSpPr>
        <p:spPr>
          <a:xfrm>
            <a:off x="4663440" y="2407158"/>
            <a:ext cx="457200" cy="457200"/>
          </a:xfrm>
          <a:prstGeom prst="ellipse">
            <a:avLst/>
          </a:prstGeom>
          <a:solidFill>
            <a:srgbClr val="0A032B"/>
          </a:solidFill>
          <a:ln w="12700">
            <a:solidFill>
              <a:srgbClr val="0A032B"/>
            </a:solidFill>
            <a:prstDash val="solid"/>
          </a:ln>
        </p:spPr>
      </p:sp>
      <p:sp>
        <p:nvSpPr>
          <p:cNvPr id="21" name="Text 16"/>
          <p:cNvSpPr txBox="1"/>
          <p:nvPr/>
        </p:nvSpPr>
        <p:spPr>
          <a:xfrm>
            <a:off x="4663440" y="240715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2</a:t>
            </a:r>
            <a:endParaRPr lang="en-US" sz="1300" dirty="0"/>
          </a:p>
        </p:txBody>
      </p:sp>
      <p:sp>
        <p:nvSpPr>
          <p:cNvPr id="22" name="Text 17"/>
          <p:cNvSpPr txBox="1"/>
          <p:nvPr/>
        </p:nvSpPr>
        <p:spPr>
          <a:xfrm>
            <a:off x="5349240" y="2388870"/>
            <a:ext cx="6293815" cy="1008126"/>
          </a:xfrm>
          <a:prstGeom prst="rect">
            <a:avLst/>
          </a:prstGeom>
          <a:noFill/>
          <a:ln/>
        </p:spPr>
        <p:txBody>
          <a:bodyPr wrap="square" lIns="0" tIns="0" rIns="0" bIns="0" rtlCol="0" anchor="t"/>
          <a:lstStyle/>
          <a:p>
            <a:pPr indent="0" marL="0">
              <a:spcAft>
                <a:spcPts val="300"/>
              </a:spcAft>
              <a:buNone/>
            </a:pPr>
            <a:r>
              <a:rPr lang="en-US" sz="1500" b="1" dirty="0">
                <a:solidFill>
                  <a:srgbClr val="0A032B"/>
                </a:solidFill>
                <a:latin typeface="Montserrat" pitchFamily="34" charset="0"/>
                <a:ea typeface="Montserrat" pitchFamily="34" charset="-122"/>
                <a:cs typeface="Montserrat" pitchFamily="34" charset="-120"/>
              </a:rPr>
              <a:t>Mon geste du mandat</a:t>
            </a:r>
            <a:endParaRPr lang="en-US" sz="1500" dirty="0"/>
          </a:p>
          <a:p>
            <a:pPr indent="0" marL="0">
              <a:spcAft>
                <a:spcPts val="300"/>
              </a:spcAft>
              <a:buNone/>
            </a:pPr>
            <a:r>
              <a:rPr lang="en-US" sz="1300" dirty="0">
                <a:solidFill>
                  <a:srgbClr val="35305C"/>
                </a:solidFill>
                <a:latin typeface="Arial" pitchFamily="34" charset="0"/>
                <a:ea typeface="Arial" pitchFamily="34" charset="-122"/>
                <a:cs typeface="Arial" pitchFamily="34" charset="-120"/>
              </a:rPr>
              <a:t>Une situation où mon corps est sollicité : installer une salle, porter des dossiers, conduire, rester assis en conseil…</a:t>
            </a:r>
            <a:endParaRPr lang="en-US" sz="1500" dirty="0"/>
          </a:p>
        </p:txBody>
      </p:sp>
      <p:sp>
        <p:nvSpPr>
          <p:cNvPr id="23" name="Shape 18"/>
          <p:cNvSpPr/>
          <p:nvPr/>
        </p:nvSpPr>
        <p:spPr>
          <a:xfrm>
            <a:off x="4663440" y="3579876"/>
            <a:ext cx="457200" cy="457200"/>
          </a:xfrm>
          <a:prstGeom prst="ellipse">
            <a:avLst/>
          </a:prstGeom>
          <a:solidFill>
            <a:srgbClr val="0A032B"/>
          </a:solidFill>
          <a:ln w="12700">
            <a:solidFill>
              <a:srgbClr val="0A032B"/>
            </a:solidFill>
            <a:prstDash val="solid"/>
          </a:ln>
        </p:spPr>
      </p:sp>
      <p:sp>
        <p:nvSpPr>
          <p:cNvPr id="24" name="Text 19"/>
          <p:cNvSpPr txBox="1"/>
          <p:nvPr/>
        </p:nvSpPr>
        <p:spPr>
          <a:xfrm>
            <a:off x="4663440" y="357987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3</a:t>
            </a:r>
            <a:endParaRPr lang="en-US" sz="1300" dirty="0"/>
          </a:p>
        </p:txBody>
      </p:sp>
      <p:sp>
        <p:nvSpPr>
          <p:cNvPr id="25" name="Text 20"/>
          <p:cNvSpPr txBox="1"/>
          <p:nvPr/>
        </p:nvSpPr>
        <p:spPr>
          <a:xfrm>
            <a:off x="5349240" y="3561588"/>
            <a:ext cx="6293815" cy="1008126"/>
          </a:xfrm>
          <a:prstGeom prst="rect">
            <a:avLst/>
          </a:prstGeom>
          <a:noFill/>
          <a:ln/>
        </p:spPr>
        <p:txBody>
          <a:bodyPr wrap="square" lIns="0" tIns="0" rIns="0" bIns="0" rtlCol="0" anchor="t"/>
          <a:lstStyle/>
          <a:p>
            <a:pPr indent="0" marL="0">
              <a:spcAft>
                <a:spcPts val="300"/>
              </a:spcAft>
              <a:buNone/>
            </a:pPr>
            <a:r>
              <a:rPr lang="en-US" sz="1500" b="1" dirty="0">
                <a:solidFill>
                  <a:srgbClr val="0A032B"/>
                </a:solidFill>
                <a:latin typeface="Montserrat" pitchFamily="34" charset="0"/>
                <a:ea typeface="Montserrat" pitchFamily="34" charset="-122"/>
                <a:cs typeface="Montserrat" pitchFamily="34" charset="-120"/>
              </a:rPr>
              <a:t>Mon attente</a:t>
            </a:r>
            <a:endParaRPr lang="en-US" sz="1500" dirty="0"/>
          </a:p>
          <a:p>
            <a:pPr indent="0" marL="0">
              <a:spcAft>
                <a:spcPts val="300"/>
              </a:spcAft>
              <a:buNone/>
            </a:pPr>
            <a:r>
              <a:rPr lang="en-US" sz="1300" dirty="0">
                <a:solidFill>
                  <a:srgbClr val="35305C"/>
                </a:solidFill>
                <a:latin typeface="Arial" pitchFamily="34" charset="0"/>
                <a:ea typeface="Arial" pitchFamily="34" charset="-122"/>
                <a:cs typeface="Arial" pitchFamily="34" charset="-120"/>
              </a:rPr>
              <a:t>J'écris sur un post-it ce que je veux repartir avec ce soir.</a:t>
            </a:r>
            <a:endParaRPr lang="en-US" sz="1500" dirty="0"/>
          </a:p>
        </p:txBody>
      </p:sp>
      <p:sp>
        <p:nvSpPr>
          <p:cNvPr id="26" name="Shape 21"/>
          <p:cNvSpPr/>
          <p:nvPr/>
        </p:nvSpPr>
        <p:spPr>
          <a:xfrm>
            <a:off x="4663440" y="4752594"/>
            <a:ext cx="457200" cy="457200"/>
          </a:xfrm>
          <a:prstGeom prst="ellipse">
            <a:avLst/>
          </a:prstGeom>
          <a:solidFill>
            <a:srgbClr val="0A032B"/>
          </a:solidFill>
          <a:ln w="12700">
            <a:solidFill>
              <a:srgbClr val="0A032B"/>
            </a:solidFill>
            <a:prstDash val="solid"/>
          </a:ln>
        </p:spPr>
      </p:sp>
      <p:sp>
        <p:nvSpPr>
          <p:cNvPr id="27" name="Text 22"/>
          <p:cNvSpPr txBox="1"/>
          <p:nvPr/>
        </p:nvSpPr>
        <p:spPr>
          <a:xfrm>
            <a:off x="4663440" y="475259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4</a:t>
            </a:r>
            <a:endParaRPr lang="en-US" sz="1300" dirty="0"/>
          </a:p>
        </p:txBody>
      </p:sp>
      <p:sp>
        <p:nvSpPr>
          <p:cNvPr id="28" name="Text 23"/>
          <p:cNvSpPr txBox="1"/>
          <p:nvPr/>
        </p:nvSpPr>
        <p:spPr>
          <a:xfrm>
            <a:off x="5349240" y="4734306"/>
            <a:ext cx="6293815" cy="1008126"/>
          </a:xfrm>
          <a:prstGeom prst="rect">
            <a:avLst/>
          </a:prstGeom>
          <a:noFill/>
          <a:ln/>
        </p:spPr>
        <p:txBody>
          <a:bodyPr wrap="square" lIns="0" tIns="0" rIns="0" bIns="0" rtlCol="0" anchor="t"/>
          <a:lstStyle/>
          <a:p>
            <a:pPr indent="0" marL="0">
              <a:spcAft>
                <a:spcPts val="300"/>
              </a:spcAft>
              <a:buNone/>
            </a:pPr>
            <a:r>
              <a:rPr lang="en-US" sz="1500" b="1" dirty="0">
                <a:solidFill>
                  <a:srgbClr val="0A032B"/>
                </a:solidFill>
                <a:latin typeface="Montserrat" pitchFamily="34" charset="0"/>
                <a:ea typeface="Montserrat" pitchFamily="34" charset="-122"/>
                <a:cs typeface="Montserrat" pitchFamily="34" charset="-120"/>
              </a:rPr>
              <a:t>Affichage</a:t>
            </a:r>
            <a:endParaRPr lang="en-US" sz="1500" dirty="0"/>
          </a:p>
          <a:p>
            <a:pPr indent="0" marL="0">
              <a:spcAft>
                <a:spcPts val="300"/>
              </a:spcAft>
              <a:buNone/>
            </a:pPr>
            <a:r>
              <a:rPr lang="en-US" sz="1300" dirty="0">
                <a:solidFill>
                  <a:srgbClr val="35305C"/>
                </a:solidFill>
                <a:latin typeface="Arial" pitchFamily="34" charset="0"/>
                <a:ea typeface="Arial" pitchFamily="34" charset="-122"/>
                <a:cs typeface="Arial" pitchFamily="34" charset="-120"/>
              </a:rPr>
              <a:t>Le formateur regroupe les post-it au paperboard : ils seront relus au bilan final.</a:t>
            </a:r>
            <a:endParaRPr lang="en-US" sz="1500" dirty="0"/>
          </a:p>
        </p:txBody>
      </p:sp>
      <p:sp>
        <p:nvSpPr>
          <p:cNvPr id="29" name="Text 24"/>
          <p:cNvSpPr txBox="1"/>
          <p:nvPr/>
        </p:nvSpPr>
        <p:spPr>
          <a:xfrm>
            <a:off x="548640" y="6355080"/>
            <a:ext cx="3291840" cy="274320"/>
          </a:xfrm>
          <a:prstGeom prst="rect">
            <a:avLst/>
          </a:prstGeom>
          <a:noFill/>
          <a:ln/>
        </p:spPr>
        <p:txBody>
          <a:bodyPr wrap="square" lIns="0" tIns="0" rIns="0" bIns="0" rtlCol="0" anchor="ctr"/>
          <a:lstStyle/>
          <a:p>
            <a:pPr indent="0" marL="0">
              <a:buNone/>
            </a:pPr>
            <a:r>
              <a:rPr lang="en-US" sz="900" dirty="0">
                <a:solidFill>
                  <a:srgbClr val="35305C"/>
                </a:solidFill>
                <a:latin typeface="Arial" pitchFamily="34" charset="0"/>
                <a:ea typeface="Arial" pitchFamily="34" charset="-122"/>
                <a:cs typeface="Arial" pitchFamily="34" charset="-120"/>
              </a:rPr>
              <a:t>Gestes et postures de l'élu  ·  Ouverture</a:t>
            </a:r>
            <a:endParaRPr lang="en-US" sz="900" dirty="0"/>
          </a:p>
        </p:txBody>
      </p:sp>
      <p:pic>
        <p:nvPicPr>
          <p:cNvPr id="30" name="Image 3" descr="logo_light.png">    </p:cNvPr>
          <p:cNvPicPr>
            <a:picLocks noChangeAspect="1"/>
          </p:cNvPicPr>
          <p:nvPr/>
        </p:nvPicPr>
        <p:blipFill>
          <a:blip r:embed="rId4"/>
          <a:stretch>
            <a:fillRect/>
          </a:stretch>
        </p:blipFill>
        <p:spPr>
          <a:xfrm>
            <a:off x="10682935" y="6236208"/>
            <a:ext cx="960120" cy="398441"/>
          </a:xfrm>
          <a:prstGeom prst="rect">
            <a:avLst/>
          </a:prstGeom>
        </p:spPr>
      </p:pic>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235440" cy="685800"/>
          </a:xfrm>
          <a:prstGeom prst="rect">
            <a:avLst/>
          </a:prstGeom>
          <a:noFill/>
          <a:ln/>
        </p:spPr>
        <p:txBody>
          <a:bodyPr wrap="square" lIns="0" tIns="0" rIns="0" bIns="0" rtlCol="0" anchor="ctr"/>
          <a:lstStyle/>
          <a:p>
            <a:pPr indent="0" marL="0">
              <a:buNone/>
            </a:pPr>
            <a:r>
              <a:rPr lang="en-US" sz="2800" b="1" dirty="0">
                <a:solidFill>
                  <a:srgbClr val="0A032B"/>
                </a:solidFill>
                <a:latin typeface="Montserrat" pitchFamily="34" charset="0"/>
                <a:ea typeface="Montserrat" pitchFamily="34" charset="-122"/>
                <a:cs typeface="Montserrat" pitchFamily="34" charset="-120"/>
              </a:rPr>
              <a:t>Les 6 compétences visées</a:t>
            </a:r>
            <a:endParaRPr lang="en-US" sz="2800" dirty="0"/>
          </a:p>
        </p:txBody>
      </p:sp>
      <p:sp>
        <p:nvSpPr>
          <p:cNvPr id="3" name="Text 1"/>
          <p:cNvSpPr txBox="1"/>
          <p:nvPr/>
        </p:nvSpPr>
        <p:spPr>
          <a:xfrm>
            <a:off x="548640" y="1024128"/>
            <a:ext cx="9235440" cy="365760"/>
          </a:xfrm>
          <a:prstGeom prst="rect">
            <a:avLst/>
          </a:prstGeom>
          <a:noFill/>
          <a:ln/>
        </p:spPr>
        <p:txBody>
          <a:bodyPr wrap="square" lIns="0" tIns="0" rIns="0" bIns="0" rtlCol="0" anchor="ctr"/>
          <a:lstStyle/>
          <a:p>
            <a:pPr indent="0" marL="0">
              <a:buNone/>
            </a:pPr>
            <a:r>
              <a:rPr lang="en-US" sz="1400" i="1" dirty="0">
                <a:solidFill>
                  <a:srgbClr val="5E5A78"/>
                </a:solidFill>
                <a:latin typeface="Arial" pitchFamily="34" charset="0"/>
                <a:ea typeface="Arial" pitchFamily="34" charset="-122"/>
                <a:cs typeface="Arial" pitchFamily="34" charset="-120"/>
              </a:rPr>
              <a:t>À l'issue de la journée, vous serez capable de…</a:t>
            </a:r>
            <a:endParaRPr lang="en-US" sz="1400" dirty="0"/>
          </a:p>
        </p:txBody>
      </p:sp>
      <p:sp>
        <p:nvSpPr>
          <p:cNvPr id="4" name="Shape 2"/>
          <p:cNvSpPr/>
          <p:nvPr/>
        </p:nvSpPr>
        <p:spPr>
          <a:xfrm>
            <a:off x="10042855" y="530352"/>
            <a:ext cx="1600200" cy="347472"/>
          </a:xfrm>
          <a:prstGeom prst="roundRect">
            <a:avLst>
              <a:gd name="adj" fmla="val 50000"/>
            </a:avLst>
          </a:prstGeom>
          <a:solidFill>
            <a:srgbClr val="0A032B"/>
          </a:solidFill>
          <a:ln w="12700">
            <a:solidFill>
              <a:srgbClr val="0A032B"/>
            </a:solidFill>
            <a:prstDash val="solid"/>
          </a:ln>
        </p:spPr>
      </p:sp>
      <p:sp>
        <p:nvSpPr>
          <p:cNvPr id="5" name="Text 3"/>
          <p:cNvSpPr txBox="1"/>
          <p:nvPr/>
        </p:nvSpPr>
        <p:spPr>
          <a:xfrm>
            <a:off x="10042855" y="530352"/>
            <a:ext cx="1600200" cy="347472"/>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Montserrat" pitchFamily="34" charset="0"/>
                <a:ea typeface="Montserrat" pitchFamily="34" charset="-122"/>
                <a:cs typeface="Montserrat" pitchFamily="34" charset="-120"/>
              </a:rPr>
              <a:t>THÉORIE</a:t>
            </a:r>
            <a:endParaRPr lang="en-US" sz="1100" dirty="0"/>
          </a:p>
        </p:txBody>
      </p:sp>
      <p:sp>
        <p:nvSpPr>
          <p:cNvPr id="6" name="Text 4"/>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5E5A78"/>
                </a:solidFill>
                <a:latin typeface="Arial" pitchFamily="34" charset="0"/>
                <a:ea typeface="Arial" pitchFamily="34" charset="-122"/>
                <a:cs typeface="Arial" pitchFamily="34" charset="-120"/>
              </a:rPr>
              <a:t>Gestes et postures de l'élu  ·  Ouverture</a:t>
            </a:r>
            <a:endParaRPr lang="en-US" sz="900" dirty="0"/>
          </a:p>
        </p:txBody>
      </p:sp>
      <p:pic>
        <p:nvPicPr>
          <p:cNvPr id="7" name="Image 0" descr="logo_light.png">    </p:cNvPr>
          <p:cNvPicPr>
            <a:picLocks noChangeAspect="1"/>
          </p:cNvPicPr>
          <p:nvPr/>
        </p:nvPicPr>
        <p:blipFill>
          <a:blip r:embed="rId1"/>
          <a:stretch>
            <a:fillRect/>
          </a:stretch>
        </p:blipFill>
        <p:spPr>
          <a:xfrm>
            <a:off x="10682935" y="6236208"/>
            <a:ext cx="960120" cy="398441"/>
          </a:xfrm>
          <a:prstGeom prst="rect">
            <a:avLst/>
          </a:prstGeom>
        </p:spPr>
      </p:pic>
      <p:sp>
        <p:nvSpPr>
          <p:cNvPr id="8" name="Shape 5"/>
          <p:cNvSpPr/>
          <p:nvPr/>
        </p:nvSpPr>
        <p:spPr>
          <a:xfrm>
            <a:off x="548640" y="1554480"/>
            <a:ext cx="3515258" cy="2148840"/>
          </a:xfrm>
          <a:prstGeom prst="roundRect">
            <a:avLst>
              <a:gd name="adj" fmla="val 3404"/>
            </a:avLst>
          </a:prstGeom>
          <a:solidFill>
            <a:srgbClr val="0A032B"/>
          </a:solidFill>
          <a:ln w="12700">
            <a:solidFill>
              <a:srgbClr val="0A032B"/>
            </a:solidFill>
            <a:prstDash val="solid"/>
          </a:ln>
        </p:spPr>
      </p:sp>
      <p:sp>
        <p:nvSpPr>
          <p:cNvPr id="9" name="Shape 6"/>
          <p:cNvSpPr/>
          <p:nvPr/>
        </p:nvSpPr>
        <p:spPr>
          <a:xfrm>
            <a:off x="777240" y="1783080"/>
            <a:ext cx="548640" cy="548640"/>
          </a:xfrm>
          <a:prstGeom prst="ellipse">
            <a:avLst/>
          </a:prstGeom>
          <a:solidFill>
            <a:srgbClr val="F0EF96"/>
          </a:solidFill>
          <a:ln w="12700">
            <a:solidFill>
              <a:srgbClr val="F0EF96"/>
            </a:solidFill>
            <a:prstDash val="solid"/>
          </a:ln>
        </p:spPr>
      </p:sp>
      <p:sp>
        <p:nvSpPr>
          <p:cNvPr id="10" name="Text 7"/>
          <p:cNvSpPr txBox="1"/>
          <p:nvPr/>
        </p:nvSpPr>
        <p:spPr>
          <a:xfrm>
            <a:off x="777240" y="1783080"/>
            <a:ext cx="548640" cy="548640"/>
          </a:xfrm>
          <a:prstGeom prst="rect">
            <a:avLst/>
          </a:prstGeom>
          <a:noFill/>
          <a:ln/>
        </p:spPr>
        <p:txBody>
          <a:bodyPr wrap="square" lIns="0" tIns="0" rIns="0" bIns="0" rtlCol="0" anchor="ctr"/>
          <a:lstStyle/>
          <a:p>
            <a:pPr algn="ctr" indent="0" marL="0">
              <a:buNone/>
            </a:pPr>
            <a:r>
              <a:rPr lang="en-US" sz="1800" b="1" dirty="0">
                <a:solidFill>
                  <a:srgbClr val="0A032B"/>
                </a:solidFill>
                <a:latin typeface="Montserrat" pitchFamily="34" charset="0"/>
                <a:ea typeface="Montserrat" pitchFamily="34" charset="-122"/>
                <a:cs typeface="Montserrat" pitchFamily="34" charset="-120"/>
              </a:rPr>
              <a:t>C1</a:t>
            </a:r>
            <a:endParaRPr lang="en-US" sz="1800" dirty="0"/>
          </a:p>
        </p:txBody>
      </p:sp>
      <p:sp>
        <p:nvSpPr>
          <p:cNvPr id="11" name="Shape 8"/>
          <p:cNvSpPr/>
          <p:nvPr/>
        </p:nvSpPr>
        <p:spPr>
          <a:xfrm>
            <a:off x="3286658" y="1783080"/>
            <a:ext cx="548640" cy="548640"/>
          </a:xfrm>
          <a:prstGeom prst="ellipse">
            <a:avLst/>
          </a:prstGeom>
          <a:solidFill>
            <a:srgbClr val="35305C"/>
          </a:solidFill>
          <a:ln w="12700">
            <a:solidFill>
              <a:srgbClr val="35305C"/>
            </a:solidFill>
            <a:prstDash val="solid"/>
          </a:ln>
        </p:spPr>
      </p:sp>
      <p:pic>
        <p:nvPicPr>
          <p:cNvPr id="12" name="Image 1" descr="preencoded.png">    </p:cNvPr>
          <p:cNvPicPr>
            <a:picLocks noChangeAspect="1"/>
          </p:cNvPicPr>
          <p:nvPr/>
        </p:nvPicPr>
        <p:blipFill>
          <a:blip r:embed="rId2"/>
          <a:stretch>
            <a:fillRect/>
          </a:stretch>
        </p:blipFill>
        <p:spPr>
          <a:xfrm>
            <a:off x="3423818" y="1920240"/>
            <a:ext cx="274320" cy="274320"/>
          </a:xfrm>
          <a:prstGeom prst="rect">
            <a:avLst/>
          </a:prstGeom>
        </p:spPr>
      </p:pic>
      <p:sp>
        <p:nvSpPr>
          <p:cNvPr id="13" name="Text 9"/>
          <p:cNvSpPr txBox="1"/>
          <p:nvPr/>
        </p:nvSpPr>
        <p:spPr>
          <a:xfrm>
            <a:off x="777240" y="2423160"/>
            <a:ext cx="3058058" cy="411480"/>
          </a:xfrm>
          <a:prstGeom prst="rect">
            <a:avLst/>
          </a:prstGeom>
          <a:noFill/>
          <a:ln/>
        </p:spPr>
        <p:txBody>
          <a:bodyPr wrap="square" lIns="0" tIns="0" rIns="0" bIns="0" rtlCol="0" anchor="ctr"/>
          <a:lstStyle/>
          <a:p>
            <a:pPr indent="0" marL="0">
              <a:buNone/>
            </a:pPr>
            <a:r>
              <a:rPr lang="en-US" sz="1900" b="1" dirty="0">
                <a:solidFill>
                  <a:srgbClr val="F0EF96"/>
                </a:solidFill>
                <a:latin typeface="Montserrat" pitchFamily="34" charset="0"/>
                <a:ea typeface="Montserrat" pitchFamily="34" charset="-122"/>
                <a:cs typeface="Montserrat" pitchFamily="34" charset="-120"/>
              </a:rPr>
              <a:t>Identifier</a:t>
            </a:r>
            <a:endParaRPr lang="en-US" sz="1900" dirty="0"/>
          </a:p>
        </p:txBody>
      </p:sp>
      <p:sp>
        <p:nvSpPr>
          <p:cNvPr id="14" name="Text 10"/>
          <p:cNvSpPr txBox="1"/>
          <p:nvPr/>
        </p:nvSpPr>
        <p:spPr>
          <a:xfrm>
            <a:off x="777240" y="2852928"/>
            <a:ext cx="3058058" cy="77724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les atteintes de l'appareil locomoteur et leurs facteurs de risque</a:t>
            </a:r>
            <a:endParaRPr lang="en-US" sz="1400" dirty="0"/>
          </a:p>
        </p:txBody>
      </p:sp>
      <p:sp>
        <p:nvSpPr>
          <p:cNvPr id="15" name="Shape 11"/>
          <p:cNvSpPr/>
          <p:nvPr/>
        </p:nvSpPr>
        <p:spPr>
          <a:xfrm>
            <a:off x="4338218" y="1554480"/>
            <a:ext cx="3515258" cy="2148840"/>
          </a:xfrm>
          <a:prstGeom prst="roundRect">
            <a:avLst>
              <a:gd name="adj" fmla="val 3404"/>
            </a:avLst>
          </a:prstGeom>
          <a:solidFill>
            <a:srgbClr val="EEEDF5"/>
          </a:solidFill>
          <a:ln w="12700">
            <a:solidFill>
              <a:srgbClr val="EEEDF5"/>
            </a:solidFill>
            <a:prstDash val="solid"/>
          </a:ln>
        </p:spPr>
      </p:sp>
      <p:sp>
        <p:nvSpPr>
          <p:cNvPr id="16" name="Shape 12"/>
          <p:cNvSpPr/>
          <p:nvPr/>
        </p:nvSpPr>
        <p:spPr>
          <a:xfrm>
            <a:off x="4566818" y="1783080"/>
            <a:ext cx="548640" cy="548640"/>
          </a:xfrm>
          <a:prstGeom prst="ellipse">
            <a:avLst/>
          </a:prstGeom>
          <a:solidFill>
            <a:srgbClr val="F0EF96"/>
          </a:solidFill>
          <a:ln w="12700">
            <a:solidFill>
              <a:srgbClr val="F0EF96"/>
            </a:solidFill>
            <a:prstDash val="solid"/>
          </a:ln>
        </p:spPr>
      </p:sp>
      <p:sp>
        <p:nvSpPr>
          <p:cNvPr id="17" name="Text 13"/>
          <p:cNvSpPr txBox="1"/>
          <p:nvPr/>
        </p:nvSpPr>
        <p:spPr>
          <a:xfrm>
            <a:off x="4566818" y="1783080"/>
            <a:ext cx="548640" cy="548640"/>
          </a:xfrm>
          <a:prstGeom prst="rect">
            <a:avLst/>
          </a:prstGeom>
          <a:noFill/>
          <a:ln/>
        </p:spPr>
        <p:txBody>
          <a:bodyPr wrap="square" lIns="0" tIns="0" rIns="0" bIns="0" rtlCol="0" anchor="ctr"/>
          <a:lstStyle/>
          <a:p>
            <a:pPr algn="ctr" indent="0" marL="0">
              <a:buNone/>
            </a:pPr>
            <a:r>
              <a:rPr lang="en-US" sz="1800" b="1" dirty="0">
                <a:solidFill>
                  <a:srgbClr val="0A032B"/>
                </a:solidFill>
                <a:latin typeface="Montserrat" pitchFamily="34" charset="0"/>
                <a:ea typeface="Montserrat" pitchFamily="34" charset="-122"/>
                <a:cs typeface="Montserrat" pitchFamily="34" charset="-120"/>
              </a:rPr>
              <a:t>C2</a:t>
            </a:r>
            <a:endParaRPr lang="en-US" sz="1800" dirty="0"/>
          </a:p>
        </p:txBody>
      </p:sp>
      <p:sp>
        <p:nvSpPr>
          <p:cNvPr id="18" name="Shape 14"/>
          <p:cNvSpPr/>
          <p:nvPr/>
        </p:nvSpPr>
        <p:spPr>
          <a:xfrm>
            <a:off x="7076237" y="1783080"/>
            <a:ext cx="548640" cy="548640"/>
          </a:xfrm>
          <a:prstGeom prst="ellipse">
            <a:avLst/>
          </a:prstGeom>
          <a:solidFill>
            <a:srgbClr val="0A032B"/>
          </a:solidFill>
          <a:ln w="12700">
            <a:solidFill>
              <a:srgbClr val="0A032B"/>
            </a:solidFill>
            <a:prstDash val="solid"/>
          </a:ln>
        </p:spPr>
      </p:sp>
      <p:pic>
        <p:nvPicPr>
          <p:cNvPr id="19" name="Image 2" descr="preencoded.png">    </p:cNvPr>
          <p:cNvPicPr>
            <a:picLocks noChangeAspect="1"/>
          </p:cNvPicPr>
          <p:nvPr/>
        </p:nvPicPr>
        <p:blipFill>
          <a:blip r:embed="rId3"/>
          <a:stretch>
            <a:fillRect/>
          </a:stretch>
        </p:blipFill>
        <p:spPr>
          <a:xfrm>
            <a:off x="7213397" y="1920240"/>
            <a:ext cx="274320" cy="274320"/>
          </a:xfrm>
          <a:prstGeom prst="rect">
            <a:avLst/>
          </a:prstGeom>
        </p:spPr>
      </p:pic>
      <p:sp>
        <p:nvSpPr>
          <p:cNvPr id="20" name="Text 15"/>
          <p:cNvSpPr txBox="1"/>
          <p:nvPr/>
        </p:nvSpPr>
        <p:spPr>
          <a:xfrm>
            <a:off x="4566818" y="2423160"/>
            <a:ext cx="3058058" cy="411480"/>
          </a:xfrm>
          <a:prstGeom prst="rect">
            <a:avLst/>
          </a:prstGeom>
          <a:noFill/>
          <a:ln/>
        </p:spPr>
        <p:txBody>
          <a:bodyPr wrap="square" lIns="0" tIns="0" rIns="0" bIns="0" rtlCol="0" anchor="ctr"/>
          <a:lstStyle/>
          <a:p>
            <a:pPr indent="0" marL="0">
              <a:buNone/>
            </a:pPr>
            <a:r>
              <a:rPr lang="en-US" sz="1900" b="1" dirty="0">
                <a:solidFill>
                  <a:srgbClr val="0A032B"/>
                </a:solidFill>
                <a:latin typeface="Montserrat" pitchFamily="34" charset="0"/>
                <a:ea typeface="Montserrat" pitchFamily="34" charset="-122"/>
                <a:cs typeface="Montserrat" pitchFamily="34" charset="-120"/>
              </a:rPr>
              <a:t>Repérer</a:t>
            </a:r>
            <a:endParaRPr lang="en-US" sz="1900" dirty="0"/>
          </a:p>
        </p:txBody>
      </p:sp>
      <p:sp>
        <p:nvSpPr>
          <p:cNvPr id="21" name="Text 16"/>
          <p:cNvSpPr txBox="1"/>
          <p:nvPr/>
        </p:nvSpPr>
        <p:spPr>
          <a:xfrm>
            <a:off x="4566818" y="2852928"/>
            <a:ext cx="3058058" cy="777240"/>
          </a:xfrm>
          <a:prstGeom prst="rect">
            <a:avLst/>
          </a:prstGeom>
          <a:noFill/>
          <a:ln/>
        </p:spPr>
        <p:txBody>
          <a:bodyPr wrap="square" lIns="0" tIns="0" rIns="0" bIns="0" rtlCol="0" anchor="t"/>
          <a:lstStyle/>
          <a:p>
            <a:pPr indent="0" marL="0">
              <a:buNone/>
            </a:pPr>
            <a:r>
              <a:rPr lang="en-US" sz="1400" dirty="0">
                <a:solidFill>
                  <a:srgbClr val="35305C"/>
                </a:solidFill>
                <a:latin typeface="Arial" pitchFamily="34" charset="0"/>
                <a:ea typeface="Arial" pitchFamily="34" charset="-122"/>
                <a:cs typeface="Arial" pitchFamily="34" charset="-120"/>
              </a:rPr>
              <a:t>les situations de manutention à risque dans l'exercice du mandat</a:t>
            </a:r>
            <a:endParaRPr lang="en-US" sz="1400" dirty="0"/>
          </a:p>
        </p:txBody>
      </p:sp>
      <p:sp>
        <p:nvSpPr>
          <p:cNvPr id="22" name="Shape 17"/>
          <p:cNvSpPr/>
          <p:nvPr/>
        </p:nvSpPr>
        <p:spPr>
          <a:xfrm>
            <a:off x="8127797" y="1554480"/>
            <a:ext cx="3515258" cy="2148840"/>
          </a:xfrm>
          <a:prstGeom prst="roundRect">
            <a:avLst>
              <a:gd name="adj" fmla="val 3404"/>
            </a:avLst>
          </a:prstGeom>
          <a:solidFill>
            <a:srgbClr val="0A032B"/>
          </a:solidFill>
          <a:ln w="12700">
            <a:solidFill>
              <a:srgbClr val="0A032B"/>
            </a:solidFill>
            <a:prstDash val="solid"/>
          </a:ln>
        </p:spPr>
      </p:sp>
      <p:sp>
        <p:nvSpPr>
          <p:cNvPr id="23" name="Shape 18"/>
          <p:cNvSpPr/>
          <p:nvPr/>
        </p:nvSpPr>
        <p:spPr>
          <a:xfrm>
            <a:off x="8356397" y="1783080"/>
            <a:ext cx="548640" cy="548640"/>
          </a:xfrm>
          <a:prstGeom prst="ellipse">
            <a:avLst/>
          </a:prstGeom>
          <a:solidFill>
            <a:srgbClr val="F0EF96"/>
          </a:solidFill>
          <a:ln w="12700">
            <a:solidFill>
              <a:srgbClr val="F0EF96"/>
            </a:solidFill>
            <a:prstDash val="solid"/>
          </a:ln>
        </p:spPr>
      </p:sp>
      <p:sp>
        <p:nvSpPr>
          <p:cNvPr id="24" name="Text 19"/>
          <p:cNvSpPr txBox="1"/>
          <p:nvPr/>
        </p:nvSpPr>
        <p:spPr>
          <a:xfrm>
            <a:off x="8356397" y="1783080"/>
            <a:ext cx="548640" cy="548640"/>
          </a:xfrm>
          <a:prstGeom prst="rect">
            <a:avLst/>
          </a:prstGeom>
          <a:noFill/>
          <a:ln/>
        </p:spPr>
        <p:txBody>
          <a:bodyPr wrap="square" lIns="0" tIns="0" rIns="0" bIns="0" rtlCol="0" anchor="ctr"/>
          <a:lstStyle/>
          <a:p>
            <a:pPr algn="ctr" indent="0" marL="0">
              <a:buNone/>
            </a:pPr>
            <a:r>
              <a:rPr lang="en-US" sz="1800" b="1" dirty="0">
                <a:solidFill>
                  <a:srgbClr val="0A032B"/>
                </a:solidFill>
                <a:latin typeface="Montserrat" pitchFamily="34" charset="0"/>
                <a:ea typeface="Montserrat" pitchFamily="34" charset="-122"/>
                <a:cs typeface="Montserrat" pitchFamily="34" charset="-120"/>
              </a:rPr>
              <a:t>C3</a:t>
            </a:r>
            <a:endParaRPr lang="en-US" sz="1800" dirty="0"/>
          </a:p>
        </p:txBody>
      </p:sp>
      <p:sp>
        <p:nvSpPr>
          <p:cNvPr id="25" name="Shape 20"/>
          <p:cNvSpPr/>
          <p:nvPr/>
        </p:nvSpPr>
        <p:spPr>
          <a:xfrm>
            <a:off x="10865815" y="1783080"/>
            <a:ext cx="548640" cy="548640"/>
          </a:xfrm>
          <a:prstGeom prst="ellipse">
            <a:avLst/>
          </a:prstGeom>
          <a:solidFill>
            <a:srgbClr val="35305C"/>
          </a:solidFill>
          <a:ln w="12700">
            <a:solidFill>
              <a:srgbClr val="35305C"/>
            </a:solidFill>
            <a:prstDash val="solid"/>
          </a:ln>
        </p:spPr>
      </p:sp>
      <p:pic>
        <p:nvPicPr>
          <p:cNvPr id="26" name="Image 3" descr="preencoded.png">    </p:cNvPr>
          <p:cNvPicPr>
            <a:picLocks noChangeAspect="1"/>
          </p:cNvPicPr>
          <p:nvPr/>
        </p:nvPicPr>
        <p:blipFill>
          <a:blip r:embed="rId4"/>
          <a:stretch>
            <a:fillRect/>
          </a:stretch>
        </p:blipFill>
        <p:spPr>
          <a:xfrm>
            <a:off x="11002975" y="1920240"/>
            <a:ext cx="274320" cy="274320"/>
          </a:xfrm>
          <a:prstGeom prst="rect">
            <a:avLst/>
          </a:prstGeom>
        </p:spPr>
      </p:pic>
      <p:sp>
        <p:nvSpPr>
          <p:cNvPr id="27" name="Text 21"/>
          <p:cNvSpPr txBox="1"/>
          <p:nvPr/>
        </p:nvSpPr>
        <p:spPr>
          <a:xfrm>
            <a:off x="8356397" y="2423160"/>
            <a:ext cx="3058058" cy="411480"/>
          </a:xfrm>
          <a:prstGeom prst="rect">
            <a:avLst/>
          </a:prstGeom>
          <a:noFill/>
          <a:ln/>
        </p:spPr>
        <p:txBody>
          <a:bodyPr wrap="square" lIns="0" tIns="0" rIns="0" bIns="0" rtlCol="0" anchor="ctr"/>
          <a:lstStyle/>
          <a:p>
            <a:pPr indent="0" marL="0">
              <a:buNone/>
            </a:pPr>
            <a:r>
              <a:rPr lang="en-US" sz="1900" b="1" dirty="0">
                <a:solidFill>
                  <a:srgbClr val="F0EF96"/>
                </a:solidFill>
                <a:latin typeface="Montserrat" pitchFamily="34" charset="0"/>
                <a:ea typeface="Montserrat" pitchFamily="34" charset="-122"/>
                <a:cs typeface="Montserrat" pitchFamily="34" charset="-120"/>
              </a:rPr>
              <a:t>Appliquer</a:t>
            </a:r>
            <a:endParaRPr lang="en-US" sz="1900" dirty="0"/>
          </a:p>
        </p:txBody>
      </p:sp>
      <p:sp>
        <p:nvSpPr>
          <p:cNvPr id="28" name="Text 22"/>
          <p:cNvSpPr txBox="1"/>
          <p:nvPr/>
        </p:nvSpPr>
        <p:spPr>
          <a:xfrm>
            <a:off x="8356397" y="2852928"/>
            <a:ext cx="3058058" cy="77724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les principes de sécurité physique et d'économie d'effort</a:t>
            </a:r>
            <a:endParaRPr lang="en-US" sz="1400" dirty="0"/>
          </a:p>
        </p:txBody>
      </p:sp>
      <p:sp>
        <p:nvSpPr>
          <p:cNvPr id="29" name="Shape 23"/>
          <p:cNvSpPr/>
          <p:nvPr/>
        </p:nvSpPr>
        <p:spPr>
          <a:xfrm>
            <a:off x="548640" y="3931920"/>
            <a:ext cx="3515258" cy="2148840"/>
          </a:xfrm>
          <a:prstGeom prst="roundRect">
            <a:avLst>
              <a:gd name="adj" fmla="val 3404"/>
            </a:avLst>
          </a:prstGeom>
          <a:solidFill>
            <a:srgbClr val="EEEDF5"/>
          </a:solidFill>
          <a:ln w="12700">
            <a:solidFill>
              <a:srgbClr val="EEEDF5"/>
            </a:solidFill>
            <a:prstDash val="solid"/>
          </a:ln>
        </p:spPr>
      </p:sp>
      <p:sp>
        <p:nvSpPr>
          <p:cNvPr id="30" name="Shape 24"/>
          <p:cNvSpPr/>
          <p:nvPr/>
        </p:nvSpPr>
        <p:spPr>
          <a:xfrm>
            <a:off x="777240" y="4160520"/>
            <a:ext cx="548640" cy="548640"/>
          </a:xfrm>
          <a:prstGeom prst="ellipse">
            <a:avLst/>
          </a:prstGeom>
          <a:solidFill>
            <a:srgbClr val="F0EF96"/>
          </a:solidFill>
          <a:ln w="12700">
            <a:solidFill>
              <a:srgbClr val="F0EF96"/>
            </a:solidFill>
            <a:prstDash val="solid"/>
          </a:ln>
        </p:spPr>
      </p:sp>
      <p:sp>
        <p:nvSpPr>
          <p:cNvPr id="31" name="Text 25"/>
          <p:cNvSpPr txBox="1"/>
          <p:nvPr/>
        </p:nvSpPr>
        <p:spPr>
          <a:xfrm>
            <a:off x="777240" y="4160520"/>
            <a:ext cx="548640" cy="548640"/>
          </a:xfrm>
          <a:prstGeom prst="rect">
            <a:avLst/>
          </a:prstGeom>
          <a:noFill/>
          <a:ln/>
        </p:spPr>
        <p:txBody>
          <a:bodyPr wrap="square" lIns="0" tIns="0" rIns="0" bIns="0" rtlCol="0" anchor="ctr"/>
          <a:lstStyle/>
          <a:p>
            <a:pPr algn="ctr" indent="0" marL="0">
              <a:buNone/>
            </a:pPr>
            <a:r>
              <a:rPr lang="en-US" sz="1800" b="1" dirty="0">
                <a:solidFill>
                  <a:srgbClr val="0A032B"/>
                </a:solidFill>
                <a:latin typeface="Montserrat" pitchFamily="34" charset="0"/>
                <a:ea typeface="Montserrat" pitchFamily="34" charset="-122"/>
                <a:cs typeface="Montserrat" pitchFamily="34" charset="-120"/>
              </a:rPr>
              <a:t>C4</a:t>
            </a:r>
            <a:endParaRPr lang="en-US" sz="1800" dirty="0"/>
          </a:p>
        </p:txBody>
      </p:sp>
      <p:sp>
        <p:nvSpPr>
          <p:cNvPr id="32" name="Shape 26"/>
          <p:cNvSpPr/>
          <p:nvPr/>
        </p:nvSpPr>
        <p:spPr>
          <a:xfrm>
            <a:off x="3286658" y="4160520"/>
            <a:ext cx="548640" cy="548640"/>
          </a:xfrm>
          <a:prstGeom prst="ellipse">
            <a:avLst/>
          </a:prstGeom>
          <a:solidFill>
            <a:srgbClr val="0A032B"/>
          </a:solidFill>
          <a:ln w="12700">
            <a:solidFill>
              <a:srgbClr val="0A032B"/>
            </a:solidFill>
            <a:prstDash val="solid"/>
          </a:ln>
        </p:spPr>
      </p:sp>
      <p:pic>
        <p:nvPicPr>
          <p:cNvPr id="33" name="Image 4" descr="preencoded.png">    </p:cNvPr>
          <p:cNvPicPr>
            <a:picLocks noChangeAspect="1"/>
          </p:cNvPicPr>
          <p:nvPr/>
        </p:nvPicPr>
        <p:blipFill>
          <a:blip r:embed="rId5"/>
          <a:stretch>
            <a:fillRect/>
          </a:stretch>
        </p:blipFill>
        <p:spPr>
          <a:xfrm>
            <a:off x="3423818" y="4297680"/>
            <a:ext cx="274320" cy="274320"/>
          </a:xfrm>
          <a:prstGeom prst="rect">
            <a:avLst/>
          </a:prstGeom>
        </p:spPr>
      </p:pic>
      <p:sp>
        <p:nvSpPr>
          <p:cNvPr id="34" name="Text 27"/>
          <p:cNvSpPr txBox="1"/>
          <p:nvPr/>
        </p:nvSpPr>
        <p:spPr>
          <a:xfrm>
            <a:off x="777240" y="4800600"/>
            <a:ext cx="3058058" cy="411480"/>
          </a:xfrm>
          <a:prstGeom prst="rect">
            <a:avLst/>
          </a:prstGeom>
          <a:noFill/>
          <a:ln/>
        </p:spPr>
        <p:txBody>
          <a:bodyPr wrap="square" lIns="0" tIns="0" rIns="0" bIns="0" rtlCol="0" anchor="ctr"/>
          <a:lstStyle/>
          <a:p>
            <a:pPr indent="0" marL="0">
              <a:buNone/>
            </a:pPr>
            <a:r>
              <a:rPr lang="en-US" sz="1900" b="1" dirty="0">
                <a:solidFill>
                  <a:srgbClr val="0A032B"/>
                </a:solidFill>
                <a:latin typeface="Montserrat" pitchFamily="34" charset="0"/>
                <a:ea typeface="Montserrat" pitchFamily="34" charset="-122"/>
                <a:cs typeface="Montserrat" pitchFamily="34" charset="-120"/>
              </a:rPr>
              <a:t>Utiliser</a:t>
            </a:r>
            <a:endParaRPr lang="en-US" sz="1900" dirty="0"/>
          </a:p>
        </p:txBody>
      </p:sp>
      <p:sp>
        <p:nvSpPr>
          <p:cNvPr id="35" name="Text 28"/>
          <p:cNvSpPr txBox="1"/>
          <p:nvPr/>
        </p:nvSpPr>
        <p:spPr>
          <a:xfrm>
            <a:off x="777240" y="5230368"/>
            <a:ext cx="3058058" cy="777240"/>
          </a:xfrm>
          <a:prstGeom prst="rect">
            <a:avLst/>
          </a:prstGeom>
          <a:noFill/>
          <a:ln/>
        </p:spPr>
        <p:txBody>
          <a:bodyPr wrap="square" lIns="0" tIns="0" rIns="0" bIns="0" rtlCol="0" anchor="t"/>
          <a:lstStyle/>
          <a:p>
            <a:pPr indent="0" marL="0">
              <a:buNone/>
            </a:pPr>
            <a:r>
              <a:rPr lang="en-US" sz="1400" dirty="0">
                <a:solidFill>
                  <a:srgbClr val="35305C"/>
                </a:solidFill>
                <a:latin typeface="Arial" pitchFamily="34" charset="0"/>
                <a:ea typeface="Arial" pitchFamily="34" charset="-122"/>
                <a:cs typeface="Arial" pitchFamily="34" charset="-120"/>
              </a:rPr>
              <a:t>les aides à la manutention disponibles</a:t>
            </a:r>
            <a:endParaRPr lang="en-US" sz="1400" dirty="0"/>
          </a:p>
        </p:txBody>
      </p:sp>
      <p:sp>
        <p:nvSpPr>
          <p:cNvPr id="36" name="Shape 29"/>
          <p:cNvSpPr/>
          <p:nvPr/>
        </p:nvSpPr>
        <p:spPr>
          <a:xfrm>
            <a:off x="4338218" y="3931920"/>
            <a:ext cx="3515258" cy="2148840"/>
          </a:xfrm>
          <a:prstGeom prst="roundRect">
            <a:avLst>
              <a:gd name="adj" fmla="val 3404"/>
            </a:avLst>
          </a:prstGeom>
          <a:solidFill>
            <a:srgbClr val="0A032B"/>
          </a:solidFill>
          <a:ln w="12700">
            <a:solidFill>
              <a:srgbClr val="0A032B"/>
            </a:solidFill>
            <a:prstDash val="solid"/>
          </a:ln>
        </p:spPr>
      </p:sp>
      <p:sp>
        <p:nvSpPr>
          <p:cNvPr id="37" name="Shape 30"/>
          <p:cNvSpPr/>
          <p:nvPr/>
        </p:nvSpPr>
        <p:spPr>
          <a:xfrm>
            <a:off x="4566818" y="4160520"/>
            <a:ext cx="548640" cy="548640"/>
          </a:xfrm>
          <a:prstGeom prst="ellipse">
            <a:avLst/>
          </a:prstGeom>
          <a:solidFill>
            <a:srgbClr val="F0EF96"/>
          </a:solidFill>
          <a:ln w="12700">
            <a:solidFill>
              <a:srgbClr val="F0EF96"/>
            </a:solidFill>
            <a:prstDash val="solid"/>
          </a:ln>
        </p:spPr>
      </p:sp>
      <p:sp>
        <p:nvSpPr>
          <p:cNvPr id="38" name="Text 31"/>
          <p:cNvSpPr txBox="1"/>
          <p:nvPr/>
        </p:nvSpPr>
        <p:spPr>
          <a:xfrm>
            <a:off x="4566818" y="4160520"/>
            <a:ext cx="548640" cy="548640"/>
          </a:xfrm>
          <a:prstGeom prst="rect">
            <a:avLst/>
          </a:prstGeom>
          <a:noFill/>
          <a:ln/>
        </p:spPr>
        <p:txBody>
          <a:bodyPr wrap="square" lIns="0" tIns="0" rIns="0" bIns="0" rtlCol="0" anchor="ctr"/>
          <a:lstStyle/>
          <a:p>
            <a:pPr algn="ctr" indent="0" marL="0">
              <a:buNone/>
            </a:pPr>
            <a:r>
              <a:rPr lang="en-US" sz="1800" b="1" dirty="0">
                <a:solidFill>
                  <a:srgbClr val="0A032B"/>
                </a:solidFill>
                <a:latin typeface="Montserrat" pitchFamily="34" charset="0"/>
                <a:ea typeface="Montserrat" pitchFamily="34" charset="-122"/>
                <a:cs typeface="Montserrat" pitchFamily="34" charset="-120"/>
              </a:rPr>
              <a:t>C5</a:t>
            </a:r>
            <a:endParaRPr lang="en-US" sz="1800" dirty="0"/>
          </a:p>
        </p:txBody>
      </p:sp>
      <p:sp>
        <p:nvSpPr>
          <p:cNvPr id="39" name="Shape 32"/>
          <p:cNvSpPr/>
          <p:nvPr/>
        </p:nvSpPr>
        <p:spPr>
          <a:xfrm>
            <a:off x="7076237" y="4160520"/>
            <a:ext cx="548640" cy="548640"/>
          </a:xfrm>
          <a:prstGeom prst="ellipse">
            <a:avLst/>
          </a:prstGeom>
          <a:solidFill>
            <a:srgbClr val="35305C"/>
          </a:solidFill>
          <a:ln w="12700">
            <a:solidFill>
              <a:srgbClr val="35305C"/>
            </a:solidFill>
            <a:prstDash val="solid"/>
          </a:ln>
        </p:spPr>
      </p:sp>
      <p:pic>
        <p:nvPicPr>
          <p:cNvPr id="40" name="Image 5" descr="preencoded.png">    </p:cNvPr>
          <p:cNvPicPr>
            <a:picLocks noChangeAspect="1"/>
          </p:cNvPicPr>
          <p:nvPr/>
        </p:nvPicPr>
        <p:blipFill>
          <a:blip r:embed="rId6"/>
          <a:stretch>
            <a:fillRect/>
          </a:stretch>
        </p:blipFill>
        <p:spPr>
          <a:xfrm>
            <a:off x="7213397" y="4297680"/>
            <a:ext cx="274320" cy="274320"/>
          </a:xfrm>
          <a:prstGeom prst="rect">
            <a:avLst/>
          </a:prstGeom>
        </p:spPr>
      </p:pic>
      <p:sp>
        <p:nvSpPr>
          <p:cNvPr id="41" name="Text 33"/>
          <p:cNvSpPr txBox="1"/>
          <p:nvPr/>
        </p:nvSpPr>
        <p:spPr>
          <a:xfrm>
            <a:off x="4566818" y="4800600"/>
            <a:ext cx="3058058" cy="411480"/>
          </a:xfrm>
          <a:prstGeom prst="rect">
            <a:avLst/>
          </a:prstGeom>
          <a:noFill/>
          <a:ln/>
        </p:spPr>
        <p:txBody>
          <a:bodyPr wrap="square" lIns="0" tIns="0" rIns="0" bIns="0" rtlCol="0" anchor="ctr"/>
          <a:lstStyle/>
          <a:p>
            <a:pPr indent="0" marL="0">
              <a:buNone/>
            </a:pPr>
            <a:r>
              <a:rPr lang="en-US" sz="1900" b="1" dirty="0">
                <a:solidFill>
                  <a:srgbClr val="F0EF96"/>
                </a:solidFill>
                <a:latin typeface="Montserrat" pitchFamily="34" charset="0"/>
                <a:ea typeface="Montserrat" pitchFamily="34" charset="-122"/>
                <a:cs typeface="Montserrat" pitchFamily="34" charset="-120"/>
              </a:rPr>
              <a:t>Adapter</a:t>
            </a:r>
            <a:endParaRPr lang="en-US" sz="1900" dirty="0"/>
          </a:p>
        </p:txBody>
      </p:sp>
      <p:sp>
        <p:nvSpPr>
          <p:cNvPr id="42" name="Text 34"/>
          <p:cNvSpPr txBox="1"/>
          <p:nvPr/>
        </p:nvSpPr>
        <p:spPr>
          <a:xfrm>
            <a:off x="4566818" y="5230368"/>
            <a:ext cx="3058058" cy="77724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son poste de travail, ses déplacements et sa posture assise prolongée</a:t>
            </a:r>
            <a:endParaRPr lang="en-US" sz="1400" dirty="0"/>
          </a:p>
        </p:txBody>
      </p:sp>
      <p:sp>
        <p:nvSpPr>
          <p:cNvPr id="43" name="Shape 35"/>
          <p:cNvSpPr/>
          <p:nvPr/>
        </p:nvSpPr>
        <p:spPr>
          <a:xfrm>
            <a:off x="8127797" y="3931920"/>
            <a:ext cx="3515258" cy="2148840"/>
          </a:xfrm>
          <a:prstGeom prst="roundRect">
            <a:avLst>
              <a:gd name="adj" fmla="val 3404"/>
            </a:avLst>
          </a:prstGeom>
          <a:solidFill>
            <a:srgbClr val="EEEDF5"/>
          </a:solidFill>
          <a:ln w="12700">
            <a:solidFill>
              <a:srgbClr val="EEEDF5"/>
            </a:solidFill>
            <a:prstDash val="solid"/>
          </a:ln>
        </p:spPr>
      </p:sp>
      <p:sp>
        <p:nvSpPr>
          <p:cNvPr id="44" name="Shape 36"/>
          <p:cNvSpPr/>
          <p:nvPr/>
        </p:nvSpPr>
        <p:spPr>
          <a:xfrm>
            <a:off x="8356397" y="4160520"/>
            <a:ext cx="548640" cy="548640"/>
          </a:xfrm>
          <a:prstGeom prst="ellipse">
            <a:avLst/>
          </a:prstGeom>
          <a:solidFill>
            <a:srgbClr val="F0EF96"/>
          </a:solidFill>
          <a:ln w="12700">
            <a:solidFill>
              <a:srgbClr val="F0EF96"/>
            </a:solidFill>
            <a:prstDash val="solid"/>
          </a:ln>
        </p:spPr>
      </p:sp>
      <p:sp>
        <p:nvSpPr>
          <p:cNvPr id="45" name="Text 37"/>
          <p:cNvSpPr txBox="1"/>
          <p:nvPr/>
        </p:nvSpPr>
        <p:spPr>
          <a:xfrm>
            <a:off x="8356397" y="4160520"/>
            <a:ext cx="548640" cy="548640"/>
          </a:xfrm>
          <a:prstGeom prst="rect">
            <a:avLst/>
          </a:prstGeom>
          <a:noFill/>
          <a:ln/>
        </p:spPr>
        <p:txBody>
          <a:bodyPr wrap="square" lIns="0" tIns="0" rIns="0" bIns="0" rtlCol="0" anchor="ctr"/>
          <a:lstStyle/>
          <a:p>
            <a:pPr algn="ctr" indent="0" marL="0">
              <a:buNone/>
            </a:pPr>
            <a:r>
              <a:rPr lang="en-US" sz="1800" b="1" dirty="0">
                <a:solidFill>
                  <a:srgbClr val="0A032B"/>
                </a:solidFill>
                <a:latin typeface="Montserrat" pitchFamily="34" charset="0"/>
                <a:ea typeface="Montserrat" pitchFamily="34" charset="-122"/>
                <a:cs typeface="Montserrat" pitchFamily="34" charset="-120"/>
              </a:rPr>
              <a:t>C6</a:t>
            </a:r>
            <a:endParaRPr lang="en-US" sz="1800" dirty="0"/>
          </a:p>
        </p:txBody>
      </p:sp>
      <p:sp>
        <p:nvSpPr>
          <p:cNvPr id="46" name="Shape 38"/>
          <p:cNvSpPr/>
          <p:nvPr/>
        </p:nvSpPr>
        <p:spPr>
          <a:xfrm>
            <a:off x="10865815" y="4160520"/>
            <a:ext cx="548640" cy="548640"/>
          </a:xfrm>
          <a:prstGeom prst="ellipse">
            <a:avLst/>
          </a:prstGeom>
          <a:solidFill>
            <a:srgbClr val="0A032B"/>
          </a:solidFill>
          <a:ln w="12700">
            <a:solidFill>
              <a:srgbClr val="0A032B"/>
            </a:solidFill>
            <a:prstDash val="solid"/>
          </a:ln>
        </p:spPr>
      </p:sp>
      <p:pic>
        <p:nvPicPr>
          <p:cNvPr id="47" name="Image 6" descr="preencoded.png">    </p:cNvPr>
          <p:cNvPicPr>
            <a:picLocks noChangeAspect="1"/>
          </p:cNvPicPr>
          <p:nvPr/>
        </p:nvPicPr>
        <p:blipFill>
          <a:blip r:embed="rId7"/>
          <a:stretch>
            <a:fillRect/>
          </a:stretch>
        </p:blipFill>
        <p:spPr>
          <a:xfrm>
            <a:off x="11002975" y="4297680"/>
            <a:ext cx="274320" cy="274320"/>
          </a:xfrm>
          <a:prstGeom prst="rect">
            <a:avLst/>
          </a:prstGeom>
        </p:spPr>
      </p:pic>
      <p:sp>
        <p:nvSpPr>
          <p:cNvPr id="48" name="Text 39"/>
          <p:cNvSpPr txBox="1"/>
          <p:nvPr/>
        </p:nvSpPr>
        <p:spPr>
          <a:xfrm>
            <a:off x="8356397" y="4800600"/>
            <a:ext cx="3058058" cy="411480"/>
          </a:xfrm>
          <a:prstGeom prst="rect">
            <a:avLst/>
          </a:prstGeom>
          <a:noFill/>
          <a:ln/>
        </p:spPr>
        <p:txBody>
          <a:bodyPr wrap="square" lIns="0" tIns="0" rIns="0" bIns="0" rtlCol="0" anchor="ctr"/>
          <a:lstStyle/>
          <a:p>
            <a:pPr indent="0" marL="0">
              <a:buNone/>
            </a:pPr>
            <a:r>
              <a:rPr lang="en-US" sz="1900" b="1" dirty="0">
                <a:solidFill>
                  <a:srgbClr val="0A032B"/>
                </a:solidFill>
                <a:latin typeface="Montserrat" pitchFamily="34" charset="0"/>
                <a:ea typeface="Montserrat" pitchFamily="34" charset="-122"/>
                <a:cs typeface="Montserrat" pitchFamily="34" charset="-120"/>
              </a:rPr>
              <a:t>Situer</a:t>
            </a:r>
            <a:endParaRPr lang="en-US" sz="1900" dirty="0"/>
          </a:p>
        </p:txBody>
      </p:sp>
      <p:sp>
        <p:nvSpPr>
          <p:cNvPr id="49" name="Text 40"/>
          <p:cNvSpPr txBox="1"/>
          <p:nvPr/>
        </p:nvSpPr>
        <p:spPr>
          <a:xfrm>
            <a:off x="8356397" y="5230368"/>
            <a:ext cx="3058058" cy="777240"/>
          </a:xfrm>
          <a:prstGeom prst="rect">
            <a:avLst/>
          </a:prstGeom>
          <a:noFill/>
          <a:ln/>
        </p:spPr>
        <p:txBody>
          <a:bodyPr wrap="square" lIns="0" tIns="0" rIns="0" bIns="0" rtlCol="0" anchor="t"/>
          <a:lstStyle/>
          <a:p>
            <a:pPr indent="0" marL="0">
              <a:buNone/>
            </a:pPr>
            <a:r>
              <a:rPr lang="en-US" sz="1400" dirty="0">
                <a:solidFill>
                  <a:srgbClr val="35305C"/>
                </a:solidFill>
                <a:latin typeface="Arial" pitchFamily="34" charset="0"/>
                <a:ea typeface="Arial" pitchFamily="34" charset="-122"/>
                <a:cs typeface="Arial" pitchFamily="34" charset="-120"/>
              </a:rPr>
              <a:t>le rôle de l'autorité territoriale dans la prévention des risques des agents</a:t>
            </a:r>
            <a:endParaRPr lang="en-US" sz="1400" dirty="0"/>
          </a:p>
        </p:txBody>
      </p:sp>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235440" cy="685800"/>
          </a:xfrm>
          <a:prstGeom prst="rect">
            <a:avLst/>
          </a:prstGeom>
          <a:noFill/>
          <a:ln/>
        </p:spPr>
        <p:txBody>
          <a:bodyPr wrap="square" lIns="0" tIns="0" rIns="0" bIns="0" rtlCol="0" anchor="ctr"/>
          <a:lstStyle/>
          <a:p>
            <a:pPr indent="0" marL="0">
              <a:buNone/>
            </a:pPr>
            <a:r>
              <a:rPr lang="en-US" sz="2800" b="1" dirty="0">
                <a:solidFill>
                  <a:srgbClr val="0A032B"/>
                </a:solidFill>
                <a:latin typeface="Montserrat" pitchFamily="34" charset="0"/>
                <a:ea typeface="Montserrat" pitchFamily="34" charset="-122"/>
                <a:cs typeface="Montserrat" pitchFamily="34" charset="-120"/>
              </a:rPr>
              <a:t>Le programme de la journée</a:t>
            </a:r>
            <a:endParaRPr lang="en-US" sz="2800" dirty="0"/>
          </a:p>
        </p:txBody>
      </p:sp>
      <p:sp>
        <p:nvSpPr>
          <p:cNvPr id="3" name="Text 1"/>
          <p:cNvSpPr txBox="1"/>
          <p:nvPr/>
        </p:nvSpPr>
        <p:spPr>
          <a:xfrm>
            <a:off x="548640" y="1024128"/>
            <a:ext cx="9235440" cy="365760"/>
          </a:xfrm>
          <a:prstGeom prst="rect">
            <a:avLst/>
          </a:prstGeom>
          <a:noFill/>
          <a:ln/>
        </p:spPr>
        <p:txBody>
          <a:bodyPr wrap="square" lIns="0" tIns="0" rIns="0" bIns="0" rtlCol="0" anchor="ctr"/>
          <a:lstStyle/>
          <a:p>
            <a:pPr indent="0" marL="0">
              <a:buNone/>
            </a:pPr>
            <a:r>
              <a:rPr lang="en-US" sz="1400" i="1" dirty="0">
                <a:solidFill>
                  <a:srgbClr val="5E5A78"/>
                </a:solidFill>
                <a:latin typeface="Arial" pitchFamily="34" charset="0"/>
                <a:ea typeface="Arial" pitchFamily="34" charset="-122"/>
                <a:cs typeface="Arial" pitchFamily="34" charset="-120"/>
              </a:rPr>
              <a:t>7 heures de face-à-face · horaires indicatifs</a:t>
            </a:r>
            <a:endParaRPr lang="en-US" sz="1400" dirty="0"/>
          </a:p>
        </p:txBody>
      </p:sp>
      <p:sp>
        <p:nvSpPr>
          <p:cNvPr id="4" name="Text 2"/>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5E5A78"/>
                </a:solidFill>
                <a:latin typeface="Arial" pitchFamily="34" charset="0"/>
                <a:ea typeface="Arial" pitchFamily="34" charset="-122"/>
                <a:cs typeface="Arial" pitchFamily="34" charset="-120"/>
              </a:rPr>
              <a:t>Gestes et postures de l'élu  ·  Ouverture</a:t>
            </a:r>
            <a:endParaRPr lang="en-US" sz="900" dirty="0"/>
          </a:p>
        </p:txBody>
      </p:sp>
      <p:pic>
        <p:nvPicPr>
          <p:cNvPr id="5" name="Image 0" descr="logo_light.png">    </p:cNvPr>
          <p:cNvPicPr>
            <a:picLocks noChangeAspect="1"/>
          </p:cNvPicPr>
          <p:nvPr/>
        </p:nvPicPr>
        <p:blipFill>
          <a:blip r:embed="rId1"/>
          <a:stretch>
            <a:fillRect/>
          </a:stretch>
        </p:blipFill>
        <p:spPr>
          <a:xfrm>
            <a:off x="10682935" y="6236208"/>
            <a:ext cx="960120" cy="398441"/>
          </a:xfrm>
          <a:prstGeom prst="rect">
            <a:avLst/>
          </a:prstGeom>
        </p:spPr>
      </p:pic>
      <p:sp>
        <p:nvSpPr>
          <p:cNvPr id="6" name="Text 3"/>
          <p:cNvSpPr txBox="1"/>
          <p:nvPr/>
        </p:nvSpPr>
        <p:spPr>
          <a:xfrm>
            <a:off x="548640" y="1508760"/>
            <a:ext cx="2659304" cy="365760"/>
          </a:xfrm>
          <a:prstGeom prst="rect">
            <a:avLst/>
          </a:prstGeom>
          <a:noFill/>
          <a:ln/>
        </p:spPr>
        <p:txBody>
          <a:bodyPr wrap="square" lIns="0" tIns="0" rIns="0" bIns="0" rtlCol="0" anchor="ctr"/>
          <a:lstStyle/>
          <a:p>
            <a:pPr indent="0" marL="0">
              <a:buNone/>
            </a:pPr>
            <a:r>
              <a:rPr lang="en-US" sz="1600" b="1" spc="300" kern="0" dirty="0">
                <a:solidFill>
                  <a:srgbClr val="0A032B"/>
                </a:solidFill>
                <a:latin typeface="Montserrat" pitchFamily="34" charset="0"/>
                <a:ea typeface="Montserrat" pitchFamily="34" charset="-122"/>
                <a:cs typeface="Montserrat" pitchFamily="34" charset="-120"/>
              </a:rPr>
              <a:t>MATIN</a:t>
            </a:r>
            <a:endParaRPr lang="en-US" sz="1600" dirty="0"/>
          </a:p>
        </p:txBody>
      </p:sp>
      <p:sp>
        <p:nvSpPr>
          <p:cNvPr id="7" name="Text 4"/>
          <p:cNvSpPr txBox="1"/>
          <p:nvPr/>
        </p:nvSpPr>
        <p:spPr>
          <a:xfrm>
            <a:off x="3207944" y="1508760"/>
            <a:ext cx="2659304" cy="365760"/>
          </a:xfrm>
          <a:prstGeom prst="rect">
            <a:avLst/>
          </a:prstGeom>
          <a:noFill/>
          <a:ln/>
        </p:spPr>
        <p:txBody>
          <a:bodyPr wrap="square" lIns="0" tIns="0" rIns="0" bIns="0" rtlCol="0" anchor="ctr"/>
          <a:lstStyle/>
          <a:p>
            <a:pPr algn="r" indent="0" marL="0">
              <a:buNone/>
            </a:pPr>
            <a:r>
              <a:rPr lang="en-US" sz="1150" i="1" dirty="0">
                <a:solidFill>
                  <a:srgbClr val="5E5A78"/>
                </a:solidFill>
                <a:latin typeface="Arial" pitchFamily="34" charset="0"/>
                <a:ea typeface="Arial" pitchFamily="34" charset="-122"/>
                <a:cs typeface="Arial" pitchFamily="34" charset="-120"/>
              </a:rPr>
              <a:t>Pause 10h10 – 10h25</a:t>
            </a:r>
            <a:endParaRPr lang="en-US" sz="1150" dirty="0"/>
          </a:p>
        </p:txBody>
      </p:sp>
      <p:sp>
        <p:nvSpPr>
          <p:cNvPr id="8" name="Shape 5"/>
          <p:cNvSpPr/>
          <p:nvPr/>
        </p:nvSpPr>
        <p:spPr>
          <a:xfrm>
            <a:off x="548640" y="2011680"/>
            <a:ext cx="5318608" cy="658368"/>
          </a:xfrm>
          <a:prstGeom prst="roundRect">
            <a:avLst>
              <a:gd name="adj" fmla="val 11111"/>
            </a:avLst>
          </a:prstGeom>
          <a:solidFill>
            <a:srgbClr val="EEEDF5"/>
          </a:solidFill>
          <a:ln w="12700">
            <a:solidFill>
              <a:srgbClr val="EEEDF5"/>
            </a:solidFill>
            <a:prstDash val="solid"/>
          </a:ln>
        </p:spPr>
      </p:sp>
      <p:sp>
        <p:nvSpPr>
          <p:cNvPr id="9" name="Text 6"/>
          <p:cNvSpPr txBox="1"/>
          <p:nvPr/>
        </p:nvSpPr>
        <p:spPr>
          <a:xfrm>
            <a:off x="685800" y="2011680"/>
            <a:ext cx="868680" cy="658368"/>
          </a:xfrm>
          <a:prstGeom prst="rect">
            <a:avLst/>
          </a:prstGeom>
          <a:noFill/>
          <a:ln/>
        </p:spPr>
        <p:txBody>
          <a:bodyPr wrap="square" lIns="0" tIns="0" rIns="0" bIns="0" rtlCol="0" anchor="ctr"/>
          <a:lstStyle/>
          <a:p>
            <a:pPr indent="0" marL="0">
              <a:buNone/>
            </a:pPr>
            <a:r>
              <a:rPr lang="en-US" sz="1300" b="1" dirty="0">
                <a:solidFill>
                  <a:srgbClr val="0A032B"/>
                </a:solidFill>
                <a:latin typeface="Montserrat" pitchFamily="34" charset="0"/>
                <a:ea typeface="Montserrat" pitchFamily="34" charset="-122"/>
                <a:cs typeface="Montserrat" pitchFamily="34" charset="-120"/>
              </a:rPr>
              <a:t>8h30</a:t>
            </a:r>
            <a:endParaRPr lang="en-US" sz="1300" dirty="0"/>
          </a:p>
          <a:p>
            <a:pPr indent="0" marL="0">
              <a:buNone/>
            </a:pPr>
            <a:r>
              <a:rPr lang="en-US" sz="1050" dirty="0">
                <a:solidFill>
                  <a:srgbClr val="5E5A78"/>
                </a:solidFill>
                <a:latin typeface="Arial" pitchFamily="34" charset="0"/>
                <a:ea typeface="Arial" pitchFamily="34" charset="-122"/>
                <a:cs typeface="Arial" pitchFamily="34" charset="-120"/>
              </a:rPr>
              <a:t>15 min</a:t>
            </a:r>
            <a:endParaRPr lang="en-US" sz="1300" dirty="0"/>
          </a:p>
        </p:txBody>
      </p:sp>
      <p:sp>
        <p:nvSpPr>
          <p:cNvPr id="10" name="Text 7"/>
          <p:cNvSpPr txBox="1"/>
          <p:nvPr/>
        </p:nvSpPr>
        <p:spPr>
          <a:xfrm>
            <a:off x="1600200" y="2011680"/>
            <a:ext cx="2483968" cy="658368"/>
          </a:xfrm>
          <a:prstGeom prst="rect">
            <a:avLst/>
          </a:prstGeom>
          <a:noFill/>
          <a:ln/>
        </p:spPr>
        <p:txBody>
          <a:bodyPr wrap="square" lIns="0" tIns="0" rIns="0" bIns="0" rtlCol="0" anchor="ctr"/>
          <a:lstStyle/>
          <a:p>
            <a:pPr indent="0" marL="0">
              <a:buNone/>
            </a:pPr>
            <a:r>
              <a:rPr lang="en-US" sz="1300" dirty="0">
                <a:solidFill>
                  <a:srgbClr val="0A032B"/>
                </a:solidFill>
                <a:latin typeface="Arial" pitchFamily="34" charset="0"/>
                <a:ea typeface="Arial" pitchFamily="34" charset="-122"/>
                <a:cs typeface="Arial" pitchFamily="34" charset="-120"/>
              </a:rPr>
              <a:t>Ouverture : présentations et cadre</a:t>
            </a:r>
            <a:endParaRPr lang="en-US" sz="1300" dirty="0"/>
          </a:p>
        </p:txBody>
      </p:sp>
      <p:sp>
        <p:nvSpPr>
          <p:cNvPr id="11" name="Shape 8"/>
          <p:cNvSpPr/>
          <p:nvPr/>
        </p:nvSpPr>
        <p:spPr>
          <a:xfrm>
            <a:off x="4175608" y="2167128"/>
            <a:ext cx="1554480" cy="347472"/>
          </a:xfrm>
          <a:prstGeom prst="roundRect">
            <a:avLst>
              <a:gd name="adj" fmla="val 50000"/>
            </a:avLst>
          </a:prstGeom>
          <a:solidFill>
            <a:srgbClr val="DCDAEA"/>
          </a:solidFill>
          <a:ln w="12700">
            <a:solidFill>
              <a:srgbClr val="DCDAEA"/>
            </a:solidFill>
            <a:prstDash val="solid"/>
          </a:ln>
        </p:spPr>
      </p:sp>
      <p:sp>
        <p:nvSpPr>
          <p:cNvPr id="12" name="Text 9"/>
          <p:cNvSpPr txBox="1"/>
          <p:nvPr/>
        </p:nvSpPr>
        <p:spPr>
          <a:xfrm>
            <a:off x="4175608" y="2167128"/>
            <a:ext cx="1554480" cy="347472"/>
          </a:xfrm>
          <a:prstGeom prst="rect">
            <a:avLst/>
          </a:prstGeom>
          <a:noFill/>
          <a:ln/>
        </p:spPr>
        <p:txBody>
          <a:bodyPr wrap="square" lIns="0" tIns="0" rIns="0" bIns="0" rtlCol="0" anchor="ctr"/>
          <a:lstStyle/>
          <a:p>
            <a:pPr algn="ctr" indent="0" marL="0">
              <a:buNone/>
            </a:pPr>
            <a:r>
              <a:rPr lang="en-US" sz="1100" b="1" spc="200" kern="0" dirty="0">
                <a:solidFill>
                  <a:srgbClr val="0A032B"/>
                </a:solidFill>
                <a:latin typeface="Montserrat" pitchFamily="34" charset="0"/>
                <a:ea typeface="Montserrat" pitchFamily="34" charset="-122"/>
                <a:cs typeface="Montserrat" pitchFamily="34" charset="-120"/>
              </a:rPr>
              <a:t>ÉCHANGES</a:t>
            </a:r>
            <a:endParaRPr lang="en-US" sz="1100" dirty="0"/>
          </a:p>
        </p:txBody>
      </p:sp>
      <p:sp>
        <p:nvSpPr>
          <p:cNvPr id="13" name="Shape 10"/>
          <p:cNvSpPr/>
          <p:nvPr/>
        </p:nvSpPr>
        <p:spPr>
          <a:xfrm>
            <a:off x="548640" y="2798064"/>
            <a:ext cx="5318608" cy="658368"/>
          </a:xfrm>
          <a:prstGeom prst="roundRect">
            <a:avLst>
              <a:gd name="adj" fmla="val 11111"/>
            </a:avLst>
          </a:prstGeom>
          <a:solidFill>
            <a:srgbClr val="EEEDF5"/>
          </a:solidFill>
          <a:ln w="12700">
            <a:solidFill>
              <a:srgbClr val="EEEDF5"/>
            </a:solidFill>
            <a:prstDash val="solid"/>
          </a:ln>
        </p:spPr>
      </p:sp>
      <p:sp>
        <p:nvSpPr>
          <p:cNvPr id="14" name="Text 11"/>
          <p:cNvSpPr txBox="1"/>
          <p:nvPr/>
        </p:nvSpPr>
        <p:spPr>
          <a:xfrm>
            <a:off x="685800" y="2798064"/>
            <a:ext cx="868680" cy="658368"/>
          </a:xfrm>
          <a:prstGeom prst="rect">
            <a:avLst/>
          </a:prstGeom>
          <a:noFill/>
          <a:ln/>
        </p:spPr>
        <p:txBody>
          <a:bodyPr wrap="square" lIns="0" tIns="0" rIns="0" bIns="0" rtlCol="0" anchor="ctr"/>
          <a:lstStyle/>
          <a:p>
            <a:pPr indent="0" marL="0">
              <a:buNone/>
            </a:pPr>
            <a:r>
              <a:rPr lang="en-US" sz="1300" b="1" dirty="0">
                <a:solidFill>
                  <a:srgbClr val="0A032B"/>
                </a:solidFill>
                <a:latin typeface="Montserrat" pitchFamily="34" charset="0"/>
                <a:ea typeface="Montserrat" pitchFamily="34" charset="-122"/>
                <a:cs typeface="Montserrat" pitchFamily="34" charset="-120"/>
              </a:rPr>
              <a:t>8h45</a:t>
            </a:r>
            <a:endParaRPr lang="en-US" sz="1300" dirty="0"/>
          </a:p>
          <a:p>
            <a:pPr indent="0" marL="0">
              <a:buNone/>
            </a:pPr>
            <a:r>
              <a:rPr lang="en-US" sz="1050" dirty="0">
                <a:solidFill>
                  <a:srgbClr val="5E5A78"/>
                </a:solidFill>
                <a:latin typeface="Arial" pitchFamily="34" charset="0"/>
                <a:ea typeface="Arial" pitchFamily="34" charset="-122"/>
                <a:cs typeface="Arial" pitchFamily="34" charset="-120"/>
              </a:rPr>
              <a:t>45 min</a:t>
            </a:r>
            <a:endParaRPr lang="en-US" sz="1300" dirty="0"/>
          </a:p>
        </p:txBody>
      </p:sp>
      <p:sp>
        <p:nvSpPr>
          <p:cNvPr id="15" name="Text 12"/>
          <p:cNvSpPr txBox="1"/>
          <p:nvPr/>
        </p:nvSpPr>
        <p:spPr>
          <a:xfrm>
            <a:off x="1600200" y="2798064"/>
            <a:ext cx="2483968" cy="658368"/>
          </a:xfrm>
          <a:prstGeom prst="rect">
            <a:avLst/>
          </a:prstGeom>
          <a:noFill/>
          <a:ln/>
        </p:spPr>
        <p:txBody>
          <a:bodyPr wrap="square" lIns="0" tIns="0" rIns="0" bIns="0" rtlCol="0" anchor="ctr"/>
          <a:lstStyle/>
          <a:p>
            <a:pPr indent="0" marL="0">
              <a:buNone/>
            </a:pPr>
            <a:r>
              <a:rPr lang="en-US" sz="1300" dirty="0">
                <a:solidFill>
                  <a:srgbClr val="0A032B"/>
                </a:solidFill>
                <a:latin typeface="Arial" pitchFamily="34" charset="0"/>
                <a:ea typeface="Arial" pitchFamily="34" charset="-122"/>
                <a:cs typeface="Arial" pitchFamily="34" charset="-120"/>
              </a:rPr>
              <a:t>S1 · Appareil locomoteur et TMS</a:t>
            </a:r>
            <a:endParaRPr lang="en-US" sz="1300" dirty="0"/>
          </a:p>
        </p:txBody>
      </p:sp>
      <p:sp>
        <p:nvSpPr>
          <p:cNvPr id="16" name="Shape 13"/>
          <p:cNvSpPr/>
          <p:nvPr/>
        </p:nvSpPr>
        <p:spPr>
          <a:xfrm>
            <a:off x="4175608" y="2953512"/>
            <a:ext cx="1554480" cy="347472"/>
          </a:xfrm>
          <a:prstGeom prst="roundRect">
            <a:avLst>
              <a:gd name="adj" fmla="val 50000"/>
            </a:avLst>
          </a:prstGeom>
          <a:solidFill>
            <a:srgbClr val="0A032B"/>
          </a:solidFill>
          <a:ln w="12700">
            <a:solidFill>
              <a:srgbClr val="0A032B"/>
            </a:solidFill>
            <a:prstDash val="solid"/>
          </a:ln>
        </p:spPr>
      </p:sp>
      <p:sp>
        <p:nvSpPr>
          <p:cNvPr id="17" name="Text 14"/>
          <p:cNvSpPr txBox="1"/>
          <p:nvPr/>
        </p:nvSpPr>
        <p:spPr>
          <a:xfrm>
            <a:off x="4175608" y="2953512"/>
            <a:ext cx="1554480" cy="347472"/>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Montserrat" pitchFamily="34" charset="0"/>
                <a:ea typeface="Montserrat" pitchFamily="34" charset="-122"/>
                <a:cs typeface="Montserrat" pitchFamily="34" charset="-120"/>
              </a:rPr>
              <a:t>THÉORIE</a:t>
            </a:r>
            <a:endParaRPr lang="en-US" sz="1100" dirty="0"/>
          </a:p>
        </p:txBody>
      </p:sp>
      <p:sp>
        <p:nvSpPr>
          <p:cNvPr id="18" name="Shape 15"/>
          <p:cNvSpPr/>
          <p:nvPr/>
        </p:nvSpPr>
        <p:spPr>
          <a:xfrm>
            <a:off x="548640" y="3584448"/>
            <a:ext cx="5318608" cy="658368"/>
          </a:xfrm>
          <a:prstGeom prst="roundRect">
            <a:avLst>
              <a:gd name="adj" fmla="val 11111"/>
            </a:avLst>
          </a:prstGeom>
          <a:solidFill>
            <a:srgbClr val="EEEDF5"/>
          </a:solidFill>
          <a:ln w="12700">
            <a:solidFill>
              <a:srgbClr val="EEEDF5"/>
            </a:solidFill>
            <a:prstDash val="solid"/>
          </a:ln>
        </p:spPr>
      </p:sp>
      <p:sp>
        <p:nvSpPr>
          <p:cNvPr id="19" name="Text 16"/>
          <p:cNvSpPr txBox="1"/>
          <p:nvPr/>
        </p:nvSpPr>
        <p:spPr>
          <a:xfrm>
            <a:off x="685800" y="3584448"/>
            <a:ext cx="868680" cy="658368"/>
          </a:xfrm>
          <a:prstGeom prst="rect">
            <a:avLst/>
          </a:prstGeom>
          <a:noFill/>
          <a:ln/>
        </p:spPr>
        <p:txBody>
          <a:bodyPr wrap="square" lIns="0" tIns="0" rIns="0" bIns="0" rtlCol="0" anchor="ctr"/>
          <a:lstStyle/>
          <a:p>
            <a:pPr indent="0" marL="0">
              <a:buNone/>
            </a:pPr>
            <a:r>
              <a:rPr lang="en-US" sz="1300" b="1" dirty="0">
                <a:solidFill>
                  <a:srgbClr val="0A032B"/>
                </a:solidFill>
                <a:latin typeface="Montserrat" pitchFamily="34" charset="0"/>
                <a:ea typeface="Montserrat" pitchFamily="34" charset="-122"/>
                <a:cs typeface="Montserrat" pitchFamily="34" charset="-120"/>
              </a:rPr>
              <a:t>9h30</a:t>
            </a:r>
            <a:endParaRPr lang="en-US" sz="1300" dirty="0"/>
          </a:p>
          <a:p>
            <a:pPr indent="0" marL="0">
              <a:buNone/>
            </a:pPr>
            <a:r>
              <a:rPr lang="en-US" sz="1050" dirty="0">
                <a:solidFill>
                  <a:srgbClr val="5E5A78"/>
                </a:solidFill>
                <a:latin typeface="Arial" pitchFamily="34" charset="0"/>
                <a:ea typeface="Arial" pitchFamily="34" charset="-122"/>
                <a:cs typeface="Arial" pitchFamily="34" charset="-120"/>
              </a:rPr>
              <a:t>40 min</a:t>
            </a:r>
            <a:endParaRPr lang="en-US" sz="1300" dirty="0"/>
          </a:p>
        </p:txBody>
      </p:sp>
      <p:sp>
        <p:nvSpPr>
          <p:cNvPr id="20" name="Text 17"/>
          <p:cNvSpPr txBox="1"/>
          <p:nvPr/>
        </p:nvSpPr>
        <p:spPr>
          <a:xfrm>
            <a:off x="1600200" y="3584448"/>
            <a:ext cx="2483968" cy="658368"/>
          </a:xfrm>
          <a:prstGeom prst="rect">
            <a:avLst/>
          </a:prstGeom>
          <a:noFill/>
          <a:ln/>
        </p:spPr>
        <p:txBody>
          <a:bodyPr wrap="square" lIns="0" tIns="0" rIns="0" bIns="0" rtlCol="0" anchor="ctr"/>
          <a:lstStyle/>
          <a:p>
            <a:pPr indent="0" marL="0">
              <a:buNone/>
            </a:pPr>
            <a:r>
              <a:rPr lang="en-US" sz="1300" dirty="0">
                <a:solidFill>
                  <a:srgbClr val="0A032B"/>
                </a:solidFill>
                <a:latin typeface="Arial" pitchFamily="34" charset="0"/>
                <a:ea typeface="Arial" pitchFamily="34" charset="-122"/>
                <a:cs typeface="Arial" pitchFamily="34" charset="-120"/>
              </a:rPr>
              <a:t>S2 · Repérer les situations à risque</a:t>
            </a:r>
            <a:endParaRPr lang="en-US" sz="1300" dirty="0"/>
          </a:p>
        </p:txBody>
      </p:sp>
      <p:sp>
        <p:nvSpPr>
          <p:cNvPr id="21" name="Shape 18"/>
          <p:cNvSpPr/>
          <p:nvPr/>
        </p:nvSpPr>
        <p:spPr>
          <a:xfrm>
            <a:off x="4175608" y="3739896"/>
            <a:ext cx="1554480" cy="347472"/>
          </a:xfrm>
          <a:prstGeom prst="roundRect">
            <a:avLst>
              <a:gd name="adj" fmla="val 50000"/>
            </a:avLst>
          </a:prstGeom>
          <a:solidFill>
            <a:srgbClr val="F0EF96"/>
          </a:solidFill>
          <a:ln w="12700">
            <a:solidFill>
              <a:srgbClr val="F0EF96"/>
            </a:solidFill>
            <a:prstDash val="solid"/>
          </a:ln>
        </p:spPr>
      </p:sp>
      <p:sp>
        <p:nvSpPr>
          <p:cNvPr id="22" name="Text 19"/>
          <p:cNvSpPr txBox="1"/>
          <p:nvPr/>
        </p:nvSpPr>
        <p:spPr>
          <a:xfrm>
            <a:off x="4175608" y="3739896"/>
            <a:ext cx="1554480" cy="347472"/>
          </a:xfrm>
          <a:prstGeom prst="rect">
            <a:avLst/>
          </a:prstGeom>
          <a:noFill/>
          <a:ln/>
        </p:spPr>
        <p:txBody>
          <a:bodyPr wrap="square" lIns="0" tIns="0" rIns="0" bIns="0" rtlCol="0" anchor="ctr"/>
          <a:lstStyle/>
          <a:p>
            <a:pPr algn="ctr" indent="0" marL="0">
              <a:buNone/>
            </a:pPr>
            <a:r>
              <a:rPr lang="en-US" sz="1100" b="1" spc="200" kern="0" dirty="0">
                <a:solidFill>
                  <a:srgbClr val="0A032B"/>
                </a:solidFill>
                <a:latin typeface="Montserrat" pitchFamily="34" charset="0"/>
                <a:ea typeface="Montserrat" pitchFamily="34" charset="-122"/>
                <a:cs typeface="Montserrat" pitchFamily="34" charset="-120"/>
              </a:rPr>
              <a:t>PRATIQUE</a:t>
            </a:r>
            <a:endParaRPr lang="en-US" sz="1100" dirty="0"/>
          </a:p>
        </p:txBody>
      </p:sp>
      <p:sp>
        <p:nvSpPr>
          <p:cNvPr id="23" name="Shape 20"/>
          <p:cNvSpPr/>
          <p:nvPr/>
        </p:nvSpPr>
        <p:spPr>
          <a:xfrm>
            <a:off x="548640" y="4370832"/>
            <a:ext cx="5318608" cy="658368"/>
          </a:xfrm>
          <a:prstGeom prst="roundRect">
            <a:avLst>
              <a:gd name="adj" fmla="val 11111"/>
            </a:avLst>
          </a:prstGeom>
          <a:solidFill>
            <a:srgbClr val="EEEDF5"/>
          </a:solidFill>
          <a:ln w="12700">
            <a:solidFill>
              <a:srgbClr val="EEEDF5"/>
            </a:solidFill>
            <a:prstDash val="solid"/>
          </a:ln>
        </p:spPr>
      </p:sp>
      <p:sp>
        <p:nvSpPr>
          <p:cNvPr id="24" name="Text 21"/>
          <p:cNvSpPr txBox="1"/>
          <p:nvPr/>
        </p:nvSpPr>
        <p:spPr>
          <a:xfrm>
            <a:off x="685800" y="4370832"/>
            <a:ext cx="868680" cy="658368"/>
          </a:xfrm>
          <a:prstGeom prst="rect">
            <a:avLst/>
          </a:prstGeom>
          <a:noFill/>
          <a:ln/>
        </p:spPr>
        <p:txBody>
          <a:bodyPr wrap="square" lIns="0" tIns="0" rIns="0" bIns="0" rtlCol="0" anchor="ctr"/>
          <a:lstStyle/>
          <a:p>
            <a:pPr indent="0" marL="0">
              <a:buNone/>
            </a:pPr>
            <a:r>
              <a:rPr lang="en-US" sz="1300" b="1" dirty="0">
                <a:solidFill>
                  <a:srgbClr val="0A032B"/>
                </a:solidFill>
                <a:latin typeface="Montserrat" pitchFamily="34" charset="0"/>
                <a:ea typeface="Montserrat" pitchFamily="34" charset="-122"/>
                <a:cs typeface="Montserrat" pitchFamily="34" charset="-120"/>
              </a:rPr>
              <a:t>10h25</a:t>
            </a:r>
            <a:endParaRPr lang="en-US" sz="1300" dirty="0"/>
          </a:p>
          <a:p>
            <a:pPr indent="0" marL="0">
              <a:buNone/>
            </a:pPr>
            <a:r>
              <a:rPr lang="en-US" sz="1050" dirty="0">
                <a:solidFill>
                  <a:srgbClr val="5E5A78"/>
                </a:solidFill>
                <a:latin typeface="Arial" pitchFamily="34" charset="0"/>
                <a:ea typeface="Arial" pitchFamily="34" charset="-122"/>
                <a:cs typeface="Arial" pitchFamily="34" charset="-120"/>
              </a:rPr>
              <a:t>80 min</a:t>
            </a:r>
            <a:endParaRPr lang="en-US" sz="1300" dirty="0"/>
          </a:p>
        </p:txBody>
      </p:sp>
      <p:sp>
        <p:nvSpPr>
          <p:cNvPr id="25" name="Text 22"/>
          <p:cNvSpPr txBox="1"/>
          <p:nvPr/>
        </p:nvSpPr>
        <p:spPr>
          <a:xfrm>
            <a:off x="1600200" y="4370832"/>
            <a:ext cx="2483968" cy="658368"/>
          </a:xfrm>
          <a:prstGeom prst="rect">
            <a:avLst/>
          </a:prstGeom>
          <a:noFill/>
          <a:ln/>
        </p:spPr>
        <p:txBody>
          <a:bodyPr wrap="square" lIns="0" tIns="0" rIns="0" bIns="0" rtlCol="0" anchor="ctr"/>
          <a:lstStyle/>
          <a:p>
            <a:pPr indent="0" marL="0">
              <a:buNone/>
            </a:pPr>
            <a:r>
              <a:rPr lang="en-US" sz="1300" dirty="0">
                <a:solidFill>
                  <a:srgbClr val="0A032B"/>
                </a:solidFill>
                <a:latin typeface="Arial" pitchFamily="34" charset="0"/>
                <a:ea typeface="Arial" pitchFamily="34" charset="-122"/>
                <a:cs typeface="Arial" pitchFamily="34" charset="-120"/>
              </a:rPr>
              <a:t>S3 · Sécurité physique, économie d'effort</a:t>
            </a:r>
            <a:endParaRPr lang="en-US" sz="1300" dirty="0"/>
          </a:p>
        </p:txBody>
      </p:sp>
      <p:sp>
        <p:nvSpPr>
          <p:cNvPr id="26" name="Shape 23"/>
          <p:cNvSpPr/>
          <p:nvPr/>
        </p:nvSpPr>
        <p:spPr>
          <a:xfrm>
            <a:off x="4175608" y="4526280"/>
            <a:ext cx="1554480" cy="347472"/>
          </a:xfrm>
          <a:prstGeom prst="roundRect">
            <a:avLst>
              <a:gd name="adj" fmla="val 50000"/>
            </a:avLst>
          </a:prstGeom>
          <a:solidFill>
            <a:srgbClr val="F0EF96"/>
          </a:solidFill>
          <a:ln w="12700">
            <a:solidFill>
              <a:srgbClr val="F0EF96"/>
            </a:solidFill>
            <a:prstDash val="solid"/>
          </a:ln>
        </p:spPr>
      </p:sp>
      <p:sp>
        <p:nvSpPr>
          <p:cNvPr id="27" name="Text 24"/>
          <p:cNvSpPr txBox="1"/>
          <p:nvPr/>
        </p:nvSpPr>
        <p:spPr>
          <a:xfrm>
            <a:off x="4175608" y="4526280"/>
            <a:ext cx="1554480" cy="347472"/>
          </a:xfrm>
          <a:prstGeom prst="rect">
            <a:avLst/>
          </a:prstGeom>
          <a:noFill/>
          <a:ln/>
        </p:spPr>
        <p:txBody>
          <a:bodyPr wrap="square" lIns="0" tIns="0" rIns="0" bIns="0" rtlCol="0" anchor="ctr"/>
          <a:lstStyle/>
          <a:p>
            <a:pPr algn="ctr" indent="0" marL="0">
              <a:buNone/>
            </a:pPr>
            <a:r>
              <a:rPr lang="en-US" sz="1100" b="1" spc="200" kern="0" dirty="0">
                <a:solidFill>
                  <a:srgbClr val="0A032B"/>
                </a:solidFill>
                <a:latin typeface="Montserrat" pitchFamily="34" charset="0"/>
                <a:ea typeface="Montserrat" pitchFamily="34" charset="-122"/>
                <a:cs typeface="Montserrat" pitchFamily="34" charset="-120"/>
              </a:rPr>
              <a:t>PRATIQUE</a:t>
            </a:r>
            <a:endParaRPr lang="en-US" sz="1100" dirty="0"/>
          </a:p>
        </p:txBody>
      </p:sp>
      <p:sp>
        <p:nvSpPr>
          <p:cNvPr id="28" name="Shape 25"/>
          <p:cNvSpPr/>
          <p:nvPr/>
        </p:nvSpPr>
        <p:spPr>
          <a:xfrm>
            <a:off x="548640" y="5157216"/>
            <a:ext cx="5318608" cy="658368"/>
          </a:xfrm>
          <a:prstGeom prst="roundRect">
            <a:avLst>
              <a:gd name="adj" fmla="val 11111"/>
            </a:avLst>
          </a:prstGeom>
          <a:solidFill>
            <a:srgbClr val="EEEDF5"/>
          </a:solidFill>
          <a:ln w="12700">
            <a:solidFill>
              <a:srgbClr val="EEEDF5"/>
            </a:solidFill>
            <a:prstDash val="solid"/>
          </a:ln>
        </p:spPr>
      </p:sp>
      <p:sp>
        <p:nvSpPr>
          <p:cNvPr id="29" name="Text 26"/>
          <p:cNvSpPr txBox="1"/>
          <p:nvPr/>
        </p:nvSpPr>
        <p:spPr>
          <a:xfrm>
            <a:off x="685800" y="5157216"/>
            <a:ext cx="868680" cy="658368"/>
          </a:xfrm>
          <a:prstGeom prst="rect">
            <a:avLst/>
          </a:prstGeom>
          <a:noFill/>
          <a:ln/>
        </p:spPr>
        <p:txBody>
          <a:bodyPr wrap="square" lIns="0" tIns="0" rIns="0" bIns="0" rtlCol="0" anchor="ctr"/>
          <a:lstStyle/>
          <a:p>
            <a:pPr indent="0" marL="0">
              <a:buNone/>
            </a:pPr>
            <a:r>
              <a:rPr lang="en-US" sz="1300" b="1" dirty="0">
                <a:solidFill>
                  <a:srgbClr val="0A032B"/>
                </a:solidFill>
                <a:latin typeface="Montserrat" pitchFamily="34" charset="0"/>
                <a:ea typeface="Montserrat" pitchFamily="34" charset="-122"/>
                <a:cs typeface="Montserrat" pitchFamily="34" charset="-120"/>
              </a:rPr>
              <a:t>11h45</a:t>
            </a:r>
            <a:endParaRPr lang="en-US" sz="1300" dirty="0"/>
          </a:p>
          <a:p>
            <a:pPr indent="0" marL="0">
              <a:buNone/>
            </a:pPr>
            <a:r>
              <a:rPr lang="en-US" sz="1050" dirty="0">
                <a:solidFill>
                  <a:srgbClr val="5E5A78"/>
                </a:solidFill>
                <a:latin typeface="Arial" pitchFamily="34" charset="0"/>
                <a:ea typeface="Arial" pitchFamily="34" charset="-122"/>
                <a:cs typeface="Arial" pitchFamily="34" charset="-120"/>
              </a:rPr>
              <a:t>45 min</a:t>
            </a:r>
            <a:endParaRPr lang="en-US" sz="1300" dirty="0"/>
          </a:p>
        </p:txBody>
      </p:sp>
      <p:sp>
        <p:nvSpPr>
          <p:cNvPr id="30" name="Text 27"/>
          <p:cNvSpPr txBox="1"/>
          <p:nvPr/>
        </p:nvSpPr>
        <p:spPr>
          <a:xfrm>
            <a:off x="1600200" y="5157216"/>
            <a:ext cx="2483968" cy="658368"/>
          </a:xfrm>
          <a:prstGeom prst="rect">
            <a:avLst/>
          </a:prstGeom>
          <a:noFill/>
          <a:ln/>
        </p:spPr>
        <p:txBody>
          <a:bodyPr wrap="square" lIns="0" tIns="0" rIns="0" bIns="0" rtlCol="0" anchor="ctr"/>
          <a:lstStyle/>
          <a:p>
            <a:pPr indent="0" marL="0">
              <a:buNone/>
            </a:pPr>
            <a:r>
              <a:rPr lang="en-US" sz="1300" dirty="0">
                <a:solidFill>
                  <a:srgbClr val="0A032B"/>
                </a:solidFill>
                <a:latin typeface="Arial" pitchFamily="34" charset="0"/>
                <a:ea typeface="Arial" pitchFamily="34" charset="-122"/>
                <a:cs typeface="Arial" pitchFamily="34" charset="-120"/>
              </a:rPr>
              <a:t>S4 · Les aides à la manutention</a:t>
            </a:r>
            <a:endParaRPr lang="en-US" sz="1300" dirty="0"/>
          </a:p>
        </p:txBody>
      </p:sp>
      <p:sp>
        <p:nvSpPr>
          <p:cNvPr id="31" name="Shape 28"/>
          <p:cNvSpPr/>
          <p:nvPr/>
        </p:nvSpPr>
        <p:spPr>
          <a:xfrm>
            <a:off x="4175608" y="5312664"/>
            <a:ext cx="1554480" cy="347472"/>
          </a:xfrm>
          <a:prstGeom prst="roundRect">
            <a:avLst>
              <a:gd name="adj" fmla="val 50000"/>
            </a:avLst>
          </a:prstGeom>
          <a:solidFill>
            <a:srgbClr val="F0EF96"/>
          </a:solidFill>
          <a:ln w="12700">
            <a:solidFill>
              <a:srgbClr val="F0EF96"/>
            </a:solidFill>
            <a:prstDash val="solid"/>
          </a:ln>
        </p:spPr>
      </p:sp>
      <p:sp>
        <p:nvSpPr>
          <p:cNvPr id="32" name="Text 29"/>
          <p:cNvSpPr txBox="1"/>
          <p:nvPr/>
        </p:nvSpPr>
        <p:spPr>
          <a:xfrm>
            <a:off x="4175608" y="5312664"/>
            <a:ext cx="1554480" cy="347472"/>
          </a:xfrm>
          <a:prstGeom prst="rect">
            <a:avLst/>
          </a:prstGeom>
          <a:noFill/>
          <a:ln/>
        </p:spPr>
        <p:txBody>
          <a:bodyPr wrap="square" lIns="0" tIns="0" rIns="0" bIns="0" rtlCol="0" anchor="ctr"/>
          <a:lstStyle/>
          <a:p>
            <a:pPr algn="ctr" indent="0" marL="0">
              <a:buNone/>
            </a:pPr>
            <a:r>
              <a:rPr lang="en-US" sz="1100" b="1" spc="200" kern="0" dirty="0">
                <a:solidFill>
                  <a:srgbClr val="0A032B"/>
                </a:solidFill>
                <a:latin typeface="Montserrat" pitchFamily="34" charset="0"/>
                <a:ea typeface="Montserrat" pitchFamily="34" charset="-122"/>
                <a:cs typeface="Montserrat" pitchFamily="34" charset="-120"/>
              </a:rPr>
              <a:t>PRATIQUE</a:t>
            </a:r>
            <a:endParaRPr lang="en-US" sz="1100" dirty="0"/>
          </a:p>
        </p:txBody>
      </p:sp>
      <p:sp>
        <p:nvSpPr>
          <p:cNvPr id="33" name="Text 30"/>
          <p:cNvSpPr txBox="1"/>
          <p:nvPr/>
        </p:nvSpPr>
        <p:spPr>
          <a:xfrm>
            <a:off x="6324448" y="1508760"/>
            <a:ext cx="2659304" cy="365760"/>
          </a:xfrm>
          <a:prstGeom prst="rect">
            <a:avLst/>
          </a:prstGeom>
          <a:noFill/>
          <a:ln/>
        </p:spPr>
        <p:txBody>
          <a:bodyPr wrap="square" lIns="0" tIns="0" rIns="0" bIns="0" rtlCol="0" anchor="ctr"/>
          <a:lstStyle/>
          <a:p>
            <a:pPr indent="0" marL="0">
              <a:buNone/>
            </a:pPr>
            <a:r>
              <a:rPr lang="en-US" sz="1600" b="1" spc="300" kern="0" dirty="0">
                <a:solidFill>
                  <a:srgbClr val="0A032B"/>
                </a:solidFill>
                <a:latin typeface="Montserrat" pitchFamily="34" charset="0"/>
                <a:ea typeface="Montserrat" pitchFamily="34" charset="-122"/>
                <a:cs typeface="Montserrat" pitchFamily="34" charset="-120"/>
              </a:rPr>
              <a:t>APRÈS-MIDI</a:t>
            </a:r>
            <a:endParaRPr lang="en-US" sz="1600" dirty="0"/>
          </a:p>
        </p:txBody>
      </p:sp>
      <p:sp>
        <p:nvSpPr>
          <p:cNvPr id="34" name="Text 31"/>
          <p:cNvSpPr txBox="1"/>
          <p:nvPr/>
        </p:nvSpPr>
        <p:spPr>
          <a:xfrm>
            <a:off x="8983751" y="1508760"/>
            <a:ext cx="2659304" cy="365760"/>
          </a:xfrm>
          <a:prstGeom prst="rect">
            <a:avLst/>
          </a:prstGeom>
          <a:noFill/>
          <a:ln/>
        </p:spPr>
        <p:txBody>
          <a:bodyPr wrap="square" lIns="0" tIns="0" rIns="0" bIns="0" rtlCol="0" anchor="ctr"/>
          <a:lstStyle/>
          <a:p>
            <a:pPr algn="r" indent="0" marL="0">
              <a:buNone/>
            </a:pPr>
            <a:r>
              <a:rPr lang="en-US" sz="1150" i="1" dirty="0">
                <a:solidFill>
                  <a:srgbClr val="5E5A78"/>
                </a:solidFill>
                <a:latin typeface="Arial" pitchFamily="34" charset="0"/>
                <a:ea typeface="Arial" pitchFamily="34" charset="-122"/>
                <a:cs typeface="Arial" pitchFamily="34" charset="-120"/>
              </a:rPr>
              <a:t>Pause 15h30 – 15h40</a:t>
            </a:r>
            <a:endParaRPr lang="en-US" sz="1150" dirty="0"/>
          </a:p>
        </p:txBody>
      </p:sp>
      <p:sp>
        <p:nvSpPr>
          <p:cNvPr id="35" name="Shape 32"/>
          <p:cNvSpPr/>
          <p:nvPr/>
        </p:nvSpPr>
        <p:spPr>
          <a:xfrm>
            <a:off x="6324448" y="2011680"/>
            <a:ext cx="5318608" cy="658368"/>
          </a:xfrm>
          <a:prstGeom prst="roundRect">
            <a:avLst>
              <a:gd name="adj" fmla="val 11111"/>
            </a:avLst>
          </a:prstGeom>
          <a:solidFill>
            <a:srgbClr val="EEEDF5"/>
          </a:solidFill>
          <a:ln w="12700">
            <a:solidFill>
              <a:srgbClr val="EEEDF5"/>
            </a:solidFill>
            <a:prstDash val="solid"/>
          </a:ln>
        </p:spPr>
      </p:sp>
      <p:sp>
        <p:nvSpPr>
          <p:cNvPr id="36" name="Text 33"/>
          <p:cNvSpPr txBox="1"/>
          <p:nvPr/>
        </p:nvSpPr>
        <p:spPr>
          <a:xfrm>
            <a:off x="6461608" y="2011680"/>
            <a:ext cx="868680" cy="658368"/>
          </a:xfrm>
          <a:prstGeom prst="rect">
            <a:avLst/>
          </a:prstGeom>
          <a:noFill/>
          <a:ln/>
        </p:spPr>
        <p:txBody>
          <a:bodyPr wrap="square" lIns="0" tIns="0" rIns="0" bIns="0" rtlCol="0" anchor="ctr"/>
          <a:lstStyle/>
          <a:p>
            <a:pPr indent="0" marL="0">
              <a:buNone/>
            </a:pPr>
            <a:r>
              <a:rPr lang="en-US" sz="1300" b="1" dirty="0">
                <a:solidFill>
                  <a:srgbClr val="0A032B"/>
                </a:solidFill>
                <a:latin typeface="Montserrat" pitchFamily="34" charset="0"/>
                <a:ea typeface="Montserrat" pitchFamily="34" charset="-122"/>
                <a:cs typeface="Montserrat" pitchFamily="34" charset="-120"/>
              </a:rPr>
              <a:t>13h30</a:t>
            </a:r>
            <a:endParaRPr lang="en-US" sz="1300" dirty="0"/>
          </a:p>
          <a:p>
            <a:pPr indent="0" marL="0">
              <a:buNone/>
            </a:pPr>
            <a:r>
              <a:rPr lang="en-US" sz="1050" dirty="0">
                <a:solidFill>
                  <a:srgbClr val="5E5A78"/>
                </a:solidFill>
                <a:latin typeface="Arial" pitchFamily="34" charset="0"/>
                <a:ea typeface="Arial" pitchFamily="34" charset="-122"/>
                <a:cs typeface="Arial" pitchFamily="34" charset="-120"/>
              </a:rPr>
              <a:t>60 min</a:t>
            </a:r>
            <a:endParaRPr lang="en-US" sz="1300" dirty="0"/>
          </a:p>
        </p:txBody>
      </p:sp>
      <p:sp>
        <p:nvSpPr>
          <p:cNvPr id="37" name="Text 34"/>
          <p:cNvSpPr txBox="1"/>
          <p:nvPr/>
        </p:nvSpPr>
        <p:spPr>
          <a:xfrm>
            <a:off x="7376008" y="2011680"/>
            <a:ext cx="2483968" cy="658368"/>
          </a:xfrm>
          <a:prstGeom prst="rect">
            <a:avLst/>
          </a:prstGeom>
          <a:noFill/>
          <a:ln/>
        </p:spPr>
        <p:txBody>
          <a:bodyPr wrap="square" lIns="0" tIns="0" rIns="0" bIns="0" rtlCol="0" anchor="ctr"/>
          <a:lstStyle/>
          <a:p>
            <a:pPr indent="0" marL="0">
              <a:buNone/>
            </a:pPr>
            <a:r>
              <a:rPr lang="en-US" sz="1300" dirty="0">
                <a:solidFill>
                  <a:srgbClr val="0A032B"/>
                </a:solidFill>
                <a:latin typeface="Arial" pitchFamily="34" charset="0"/>
                <a:ea typeface="Arial" pitchFamily="34" charset="-122"/>
                <a:cs typeface="Arial" pitchFamily="34" charset="-120"/>
              </a:rPr>
              <a:t>S5 · Poste, déplacements, posture assise</a:t>
            </a:r>
            <a:endParaRPr lang="en-US" sz="1300" dirty="0"/>
          </a:p>
        </p:txBody>
      </p:sp>
      <p:sp>
        <p:nvSpPr>
          <p:cNvPr id="38" name="Shape 35"/>
          <p:cNvSpPr/>
          <p:nvPr/>
        </p:nvSpPr>
        <p:spPr>
          <a:xfrm>
            <a:off x="9951415" y="2167128"/>
            <a:ext cx="1554480" cy="347472"/>
          </a:xfrm>
          <a:prstGeom prst="roundRect">
            <a:avLst>
              <a:gd name="adj" fmla="val 50000"/>
            </a:avLst>
          </a:prstGeom>
          <a:solidFill>
            <a:srgbClr val="F0EF96"/>
          </a:solidFill>
          <a:ln w="12700">
            <a:solidFill>
              <a:srgbClr val="F0EF96"/>
            </a:solidFill>
            <a:prstDash val="solid"/>
          </a:ln>
        </p:spPr>
      </p:sp>
      <p:sp>
        <p:nvSpPr>
          <p:cNvPr id="39" name="Text 36"/>
          <p:cNvSpPr txBox="1"/>
          <p:nvPr/>
        </p:nvSpPr>
        <p:spPr>
          <a:xfrm>
            <a:off x="9951415" y="2167128"/>
            <a:ext cx="1554480" cy="347472"/>
          </a:xfrm>
          <a:prstGeom prst="rect">
            <a:avLst/>
          </a:prstGeom>
          <a:noFill/>
          <a:ln/>
        </p:spPr>
        <p:txBody>
          <a:bodyPr wrap="square" lIns="0" tIns="0" rIns="0" bIns="0" rtlCol="0" anchor="ctr"/>
          <a:lstStyle/>
          <a:p>
            <a:pPr algn="ctr" indent="0" marL="0">
              <a:buNone/>
            </a:pPr>
            <a:r>
              <a:rPr lang="en-US" sz="1100" b="1" spc="200" kern="0" dirty="0">
                <a:solidFill>
                  <a:srgbClr val="0A032B"/>
                </a:solidFill>
                <a:latin typeface="Montserrat" pitchFamily="34" charset="0"/>
                <a:ea typeface="Montserrat" pitchFamily="34" charset="-122"/>
                <a:cs typeface="Montserrat" pitchFamily="34" charset="-120"/>
              </a:rPr>
              <a:t>PRATIQUE</a:t>
            </a:r>
            <a:endParaRPr lang="en-US" sz="1100" dirty="0"/>
          </a:p>
        </p:txBody>
      </p:sp>
      <p:sp>
        <p:nvSpPr>
          <p:cNvPr id="40" name="Shape 37"/>
          <p:cNvSpPr/>
          <p:nvPr/>
        </p:nvSpPr>
        <p:spPr>
          <a:xfrm>
            <a:off x="6324448" y="2798064"/>
            <a:ext cx="5318608" cy="658368"/>
          </a:xfrm>
          <a:prstGeom prst="roundRect">
            <a:avLst>
              <a:gd name="adj" fmla="val 11111"/>
            </a:avLst>
          </a:prstGeom>
          <a:solidFill>
            <a:srgbClr val="EEEDF5"/>
          </a:solidFill>
          <a:ln w="12700">
            <a:solidFill>
              <a:srgbClr val="EEEDF5"/>
            </a:solidFill>
            <a:prstDash val="solid"/>
          </a:ln>
        </p:spPr>
      </p:sp>
      <p:sp>
        <p:nvSpPr>
          <p:cNvPr id="41" name="Text 38"/>
          <p:cNvSpPr txBox="1"/>
          <p:nvPr/>
        </p:nvSpPr>
        <p:spPr>
          <a:xfrm>
            <a:off x="6461608" y="2798064"/>
            <a:ext cx="868680" cy="658368"/>
          </a:xfrm>
          <a:prstGeom prst="rect">
            <a:avLst/>
          </a:prstGeom>
          <a:noFill/>
          <a:ln/>
        </p:spPr>
        <p:txBody>
          <a:bodyPr wrap="square" lIns="0" tIns="0" rIns="0" bIns="0" rtlCol="0" anchor="ctr"/>
          <a:lstStyle/>
          <a:p>
            <a:pPr indent="0" marL="0">
              <a:buNone/>
            </a:pPr>
            <a:r>
              <a:rPr lang="en-US" sz="1300" b="1" dirty="0">
                <a:solidFill>
                  <a:srgbClr val="0A032B"/>
                </a:solidFill>
                <a:latin typeface="Montserrat" pitchFamily="34" charset="0"/>
                <a:ea typeface="Montserrat" pitchFamily="34" charset="-122"/>
                <a:cs typeface="Montserrat" pitchFamily="34" charset="-120"/>
              </a:rPr>
              <a:t>14h30</a:t>
            </a:r>
            <a:endParaRPr lang="en-US" sz="1300" dirty="0"/>
          </a:p>
          <a:p>
            <a:pPr indent="0" marL="0">
              <a:buNone/>
            </a:pPr>
            <a:r>
              <a:rPr lang="en-US" sz="1050" dirty="0">
                <a:solidFill>
                  <a:srgbClr val="5E5A78"/>
                </a:solidFill>
                <a:latin typeface="Arial" pitchFamily="34" charset="0"/>
                <a:ea typeface="Arial" pitchFamily="34" charset="-122"/>
                <a:cs typeface="Arial" pitchFamily="34" charset="-120"/>
              </a:rPr>
              <a:t>60 min</a:t>
            </a:r>
            <a:endParaRPr lang="en-US" sz="1300" dirty="0"/>
          </a:p>
        </p:txBody>
      </p:sp>
      <p:sp>
        <p:nvSpPr>
          <p:cNvPr id="42" name="Text 39"/>
          <p:cNvSpPr txBox="1"/>
          <p:nvPr/>
        </p:nvSpPr>
        <p:spPr>
          <a:xfrm>
            <a:off x="7376008" y="2798064"/>
            <a:ext cx="2483968" cy="658368"/>
          </a:xfrm>
          <a:prstGeom prst="rect">
            <a:avLst/>
          </a:prstGeom>
          <a:noFill/>
          <a:ln/>
        </p:spPr>
        <p:txBody>
          <a:bodyPr wrap="square" lIns="0" tIns="0" rIns="0" bIns="0" rtlCol="0" anchor="ctr"/>
          <a:lstStyle/>
          <a:p>
            <a:pPr indent="0" marL="0">
              <a:buNone/>
            </a:pPr>
            <a:r>
              <a:rPr lang="en-US" sz="1300" dirty="0">
                <a:solidFill>
                  <a:srgbClr val="0A032B"/>
                </a:solidFill>
                <a:latin typeface="Arial" pitchFamily="34" charset="0"/>
                <a:ea typeface="Arial" pitchFamily="34" charset="-122"/>
                <a:cs typeface="Arial" pitchFamily="34" charset="-120"/>
              </a:rPr>
              <a:t>S6 · Rôle de l'autorité territoriale</a:t>
            </a:r>
            <a:endParaRPr lang="en-US" sz="1300" dirty="0"/>
          </a:p>
        </p:txBody>
      </p:sp>
      <p:sp>
        <p:nvSpPr>
          <p:cNvPr id="43" name="Shape 40"/>
          <p:cNvSpPr/>
          <p:nvPr/>
        </p:nvSpPr>
        <p:spPr>
          <a:xfrm>
            <a:off x="9951415" y="2953512"/>
            <a:ext cx="1554480" cy="347472"/>
          </a:xfrm>
          <a:prstGeom prst="roundRect">
            <a:avLst>
              <a:gd name="adj" fmla="val 50000"/>
            </a:avLst>
          </a:prstGeom>
          <a:solidFill>
            <a:srgbClr val="DCDAEA"/>
          </a:solidFill>
          <a:ln w="12700">
            <a:solidFill>
              <a:srgbClr val="DCDAEA"/>
            </a:solidFill>
            <a:prstDash val="solid"/>
          </a:ln>
        </p:spPr>
      </p:sp>
      <p:sp>
        <p:nvSpPr>
          <p:cNvPr id="44" name="Text 41"/>
          <p:cNvSpPr txBox="1"/>
          <p:nvPr/>
        </p:nvSpPr>
        <p:spPr>
          <a:xfrm>
            <a:off x="9951415" y="2953512"/>
            <a:ext cx="1554480" cy="347472"/>
          </a:xfrm>
          <a:prstGeom prst="rect">
            <a:avLst/>
          </a:prstGeom>
          <a:noFill/>
          <a:ln/>
        </p:spPr>
        <p:txBody>
          <a:bodyPr wrap="square" lIns="0" tIns="0" rIns="0" bIns="0" rtlCol="0" anchor="ctr"/>
          <a:lstStyle/>
          <a:p>
            <a:pPr algn="ctr" indent="0" marL="0">
              <a:buNone/>
            </a:pPr>
            <a:r>
              <a:rPr lang="en-US" sz="1100" b="1" spc="200" kern="0" dirty="0">
                <a:solidFill>
                  <a:srgbClr val="0A032B"/>
                </a:solidFill>
                <a:latin typeface="Montserrat" pitchFamily="34" charset="0"/>
                <a:ea typeface="Montserrat" pitchFamily="34" charset="-122"/>
                <a:cs typeface="Montserrat" pitchFamily="34" charset="-120"/>
              </a:rPr>
              <a:t>ÉCHANGES</a:t>
            </a:r>
            <a:endParaRPr lang="en-US" sz="1100" dirty="0"/>
          </a:p>
        </p:txBody>
      </p:sp>
      <p:sp>
        <p:nvSpPr>
          <p:cNvPr id="45" name="Shape 42"/>
          <p:cNvSpPr/>
          <p:nvPr/>
        </p:nvSpPr>
        <p:spPr>
          <a:xfrm>
            <a:off x="6324448" y="3584448"/>
            <a:ext cx="5318608" cy="658368"/>
          </a:xfrm>
          <a:prstGeom prst="roundRect">
            <a:avLst>
              <a:gd name="adj" fmla="val 11111"/>
            </a:avLst>
          </a:prstGeom>
          <a:solidFill>
            <a:srgbClr val="EEEDF5"/>
          </a:solidFill>
          <a:ln w="12700">
            <a:solidFill>
              <a:srgbClr val="EEEDF5"/>
            </a:solidFill>
            <a:prstDash val="solid"/>
          </a:ln>
        </p:spPr>
      </p:sp>
      <p:sp>
        <p:nvSpPr>
          <p:cNvPr id="46" name="Text 43"/>
          <p:cNvSpPr txBox="1"/>
          <p:nvPr/>
        </p:nvSpPr>
        <p:spPr>
          <a:xfrm>
            <a:off x="6461608" y="3584448"/>
            <a:ext cx="868680" cy="658368"/>
          </a:xfrm>
          <a:prstGeom prst="rect">
            <a:avLst/>
          </a:prstGeom>
          <a:noFill/>
          <a:ln/>
        </p:spPr>
        <p:txBody>
          <a:bodyPr wrap="square" lIns="0" tIns="0" rIns="0" bIns="0" rtlCol="0" anchor="ctr"/>
          <a:lstStyle/>
          <a:p>
            <a:pPr indent="0" marL="0">
              <a:buNone/>
            </a:pPr>
            <a:r>
              <a:rPr lang="en-US" sz="1300" b="1" dirty="0">
                <a:solidFill>
                  <a:srgbClr val="0A032B"/>
                </a:solidFill>
                <a:latin typeface="Montserrat" pitchFamily="34" charset="0"/>
                <a:ea typeface="Montserrat" pitchFamily="34" charset="-122"/>
                <a:cs typeface="Montserrat" pitchFamily="34" charset="-120"/>
              </a:rPr>
              <a:t>15h40</a:t>
            </a:r>
            <a:endParaRPr lang="en-US" sz="1300" dirty="0"/>
          </a:p>
          <a:p>
            <a:pPr indent="0" marL="0">
              <a:buNone/>
            </a:pPr>
            <a:r>
              <a:rPr lang="en-US" sz="1050" dirty="0">
                <a:solidFill>
                  <a:srgbClr val="5E5A78"/>
                </a:solidFill>
                <a:latin typeface="Arial" pitchFamily="34" charset="0"/>
                <a:ea typeface="Arial" pitchFamily="34" charset="-122"/>
                <a:cs typeface="Arial" pitchFamily="34" charset="-120"/>
              </a:rPr>
              <a:t>40 min</a:t>
            </a:r>
            <a:endParaRPr lang="en-US" sz="1300" dirty="0"/>
          </a:p>
        </p:txBody>
      </p:sp>
      <p:sp>
        <p:nvSpPr>
          <p:cNvPr id="47" name="Text 44"/>
          <p:cNvSpPr txBox="1"/>
          <p:nvPr/>
        </p:nvSpPr>
        <p:spPr>
          <a:xfrm>
            <a:off x="7376008" y="3584448"/>
            <a:ext cx="2483968" cy="658368"/>
          </a:xfrm>
          <a:prstGeom prst="rect">
            <a:avLst/>
          </a:prstGeom>
          <a:noFill/>
          <a:ln/>
        </p:spPr>
        <p:txBody>
          <a:bodyPr wrap="square" lIns="0" tIns="0" rIns="0" bIns="0" rtlCol="0" anchor="ctr"/>
          <a:lstStyle/>
          <a:p>
            <a:pPr indent="0" marL="0">
              <a:buNone/>
            </a:pPr>
            <a:r>
              <a:rPr lang="en-US" sz="1300" dirty="0">
                <a:solidFill>
                  <a:srgbClr val="0A032B"/>
                </a:solidFill>
                <a:latin typeface="Arial" pitchFamily="34" charset="0"/>
                <a:ea typeface="Arial" pitchFamily="34" charset="-122"/>
                <a:cs typeface="Arial" pitchFamily="34" charset="-120"/>
              </a:rPr>
              <a:t>S7 · Mises en situation réelle</a:t>
            </a:r>
            <a:endParaRPr lang="en-US" sz="1300" dirty="0"/>
          </a:p>
        </p:txBody>
      </p:sp>
      <p:sp>
        <p:nvSpPr>
          <p:cNvPr id="48" name="Shape 45"/>
          <p:cNvSpPr/>
          <p:nvPr/>
        </p:nvSpPr>
        <p:spPr>
          <a:xfrm>
            <a:off x="9951415" y="3739896"/>
            <a:ext cx="1554480" cy="347472"/>
          </a:xfrm>
          <a:prstGeom prst="roundRect">
            <a:avLst>
              <a:gd name="adj" fmla="val 50000"/>
            </a:avLst>
          </a:prstGeom>
          <a:solidFill>
            <a:srgbClr val="F0EF96"/>
          </a:solidFill>
          <a:ln w="12700">
            <a:solidFill>
              <a:srgbClr val="F0EF96"/>
            </a:solidFill>
            <a:prstDash val="solid"/>
          </a:ln>
        </p:spPr>
      </p:sp>
      <p:sp>
        <p:nvSpPr>
          <p:cNvPr id="49" name="Text 46"/>
          <p:cNvSpPr txBox="1"/>
          <p:nvPr/>
        </p:nvSpPr>
        <p:spPr>
          <a:xfrm>
            <a:off x="9951415" y="3739896"/>
            <a:ext cx="1554480" cy="347472"/>
          </a:xfrm>
          <a:prstGeom prst="rect">
            <a:avLst/>
          </a:prstGeom>
          <a:noFill/>
          <a:ln/>
        </p:spPr>
        <p:txBody>
          <a:bodyPr wrap="square" lIns="0" tIns="0" rIns="0" bIns="0" rtlCol="0" anchor="ctr"/>
          <a:lstStyle/>
          <a:p>
            <a:pPr algn="ctr" indent="0" marL="0">
              <a:buNone/>
            </a:pPr>
            <a:r>
              <a:rPr lang="en-US" sz="1100" b="1" spc="200" kern="0" dirty="0">
                <a:solidFill>
                  <a:srgbClr val="0A032B"/>
                </a:solidFill>
                <a:latin typeface="Montserrat" pitchFamily="34" charset="0"/>
                <a:ea typeface="Montserrat" pitchFamily="34" charset="-122"/>
                <a:cs typeface="Montserrat" pitchFamily="34" charset="-120"/>
              </a:rPr>
              <a:t>PRATIQUE</a:t>
            </a:r>
            <a:endParaRPr lang="en-US" sz="1100" dirty="0"/>
          </a:p>
        </p:txBody>
      </p:sp>
      <p:sp>
        <p:nvSpPr>
          <p:cNvPr id="50" name="Shape 47"/>
          <p:cNvSpPr/>
          <p:nvPr/>
        </p:nvSpPr>
        <p:spPr>
          <a:xfrm>
            <a:off x="6324448" y="4370832"/>
            <a:ext cx="5318608" cy="658368"/>
          </a:xfrm>
          <a:prstGeom prst="roundRect">
            <a:avLst>
              <a:gd name="adj" fmla="val 11111"/>
            </a:avLst>
          </a:prstGeom>
          <a:solidFill>
            <a:srgbClr val="EEEDF5"/>
          </a:solidFill>
          <a:ln w="12700">
            <a:solidFill>
              <a:srgbClr val="EEEDF5"/>
            </a:solidFill>
            <a:prstDash val="solid"/>
          </a:ln>
        </p:spPr>
      </p:sp>
      <p:sp>
        <p:nvSpPr>
          <p:cNvPr id="51" name="Text 48"/>
          <p:cNvSpPr txBox="1"/>
          <p:nvPr/>
        </p:nvSpPr>
        <p:spPr>
          <a:xfrm>
            <a:off x="6461608" y="4370832"/>
            <a:ext cx="868680" cy="658368"/>
          </a:xfrm>
          <a:prstGeom prst="rect">
            <a:avLst/>
          </a:prstGeom>
          <a:noFill/>
          <a:ln/>
        </p:spPr>
        <p:txBody>
          <a:bodyPr wrap="square" lIns="0" tIns="0" rIns="0" bIns="0" rtlCol="0" anchor="ctr"/>
          <a:lstStyle/>
          <a:p>
            <a:pPr indent="0" marL="0">
              <a:buNone/>
            </a:pPr>
            <a:r>
              <a:rPr lang="en-US" sz="1300" b="1" dirty="0">
                <a:solidFill>
                  <a:srgbClr val="0A032B"/>
                </a:solidFill>
                <a:latin typeface="Montserrat" pitchFamily="34" charset="0"/>
                <a:ea typeface="Montserrat" pitchFamily="34" charset="-122"/>
                <a:cs typeface="Montserrat" pitchFamily="34" charset="-120"/>
              </a:rPr>
              <a:t>16h20</a:t>
            </a:r>
            <a:endParaRPr lang="en-US" sz="1300" dirty="0"/>
          </a:p>
          <a:p>
            <a:pPr indent="0" marL="0">
              <a:buNone/>
            </a:pPr>
            <a:r>
              <a:rPr lang="en-US" sz="1050" dirty="0">
                <a:solidFill>
                  <a:srgbClr val="5E5A78"/>
                </a:solidFill>
                <a:latin typeface="Arial" pitchFamily="34" charset="0"/>
                <a:ea typeface="Arial" pitchFamily="34" charset="-122"/>
                <a:cs typeface="Arial" pitchFamily="34" charset="-120"/>
              </a:rPr>
              <a:t>20 min</a:t>
            </a:r>
            <a:endParaRPr lang="en-US" sz="1300" dirty="0"/>
          </a:p>
        </p:txBody>
      </p:sp>
      <p:sp>
        <p:nvSpPr>
          <p:cNvPr id="52" name="Text 49"/>
          <p:cNvSpPr txBox="1"/>
          <p:nvPr/>
        </p:nvSpPr>
        <p:spPr>
          <a:xfrm>
            <a:off x="7376008" y="4370832"/>
            <a:ext cx="2483968" cy="658368"/>
          </a:xfrm>
          <a:prstGeom prst="rect">
            <a:avLst/>
          </a:prstGeom>
          <a:noFill/>
          <a:ln/>
        </p:spPr>
        <p:txBody>
          <a:bodyPr wrap="square" lIns="0" tIns="0" rIns="0" bIns="0" rtlCol="0" anchor="ctr"/>
          <a:lstStyle/>
          <a:p>
            <a:pPr indent="0" marL="0">
              <a:buNone/>
            </a:pPr>
            <a:r>
              <a:rPr lang="en-US" sz="1300" dirty="0">
                <a:solidFill>
                  <a:srgbClr val="0A032B"/>
                </a:solidFill>
                <a:latin typeface="Arial" pitchFamily="34" charset="0"/>
                <a:ea typeface="Arial" pitchFamily="34" charset="-122"/>
                <a:cs typeface="Arial" pitchFamily="34" charset="-120"/>
              </a:rPr>
              <a:t>QCM d'évaluation</a:t>
            </a:r>
            <a:endParaRPr lang="en-US" sz="1300" dirty="0"/>
          </a:p>
        </p:txBody>
      </p:sp>
      <p:sp>
        <p:nvSpPr>
          <p:cNvPr id="53" name="Shape 50"/>
          <p:cNvSpPr/>
          <p:nvPr/>
        </p:nvSpPr>
        <p:spPr>
          <a:xfrm>
            <a:off x="9951415" y="4526280"/>
            <a:ext cx="1554480" cy="347472"/>
          </a:xfrm>
          <a:prstGeom prst="roundRect">
            <a:avLst>
              <a:gd name="adj" fmla="val 50000"/>
            </a:avLst>
          </a:prstGeom>
          <a:solidFill>
            <a:srgbClr val="35305C"/>
          </a:solidFill>
          <a:ln w="12700">
            <a:solidFill>
              <a:srgbClr val="35305C"/>
            </a:solidFill>
            <a:prstDash val="solid"/>
          </a:ln>
        </p:spPr>
      </p:sp>
      <p:sp>
        <p:nvSpPr>
          <p:cNvPr id="54" name="Text 51"/>
          <p:cNvSpPr txBox="1"/>
          <p:nvPr/>
        </p:nvSpPr>
        <p:spPr>
          <a:xfrm>
            <a:off x="9951415" y="4526280"/>
            <a:ext cx="1554480" cy="347472"/>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Montserrat" pitchFamily="34" charset="0"/>
                <a:ea typeface="Montserrat" pitchFamily="34" charset="-122"/>
                <a:cs typeface="Montserrat" pitchFamily="34" charset="-120"/>
              </a:rPr>
              <a:t>ÉVALUATION</a:t>
            </a:r>
            <a:endParaRPr lang="en-US" sz="1100" dirty="0"/>
          </a:p>
        </p:txBody>
      </p:sp>
      <p:sp>
        <p:nvSpPr>
          <p:cNvPr id="55" name="Shape 52"/>
          <p:cNvSpPr/>
          <p:nvPr/>
        </p:nvSpPr>
        <p:spPr>
          <a:xfrm>
            <a:off x="6324448" y="5157216"/>
            <a:ext cx="5318608" cy="658368"/>
          </a:xfrm>
          <a:prstGeom prst="roundRect">
            <a:avLst>
              <a:gd name="adj" fmla="val 11111"/>
            </a:avLst>
          </a:prstGeom>
          <a:solidFill>
            <a:srgbClr val="EEEDF5"/>
          </a:solidFill>
          <a:ln w="12700">
            <a:solidFill>
              <a:srgbClr val="EEEDF5"/>
            </a:solidFill>
            <a:prstDash val="solid"/>
          </a:ln>
        </p:spPr>
      </p:sp>
      <p:sp>
        <p:nvSpPr>
          <p:cNvPr id="56" name="Text 53"/>
          <p:cNvSpPr txBox="1"/>
          <p:nvPr/>
        </p:nvSpPr>
        <p:spPr>
          <a:xfrm>
            <a:off x="6461608" y="5157216"/>
            <a:ext cx="868680" cy="658368"/>
          </a:xfrm>
          <a:prstGeom prst="rect">
            <a:avLst/>
          </a:prstGeom>
          <a:noFill/>
          <a:ln/>
        </p:spPr>
        <p:txBody>
          <a:bodyPr wrap="square" lIns="0" tIns="0" rIns="0" bIns="0" rtlCol="0" anchor="ctr"/>
          <a:lstStyle/>
          <a:p>
            <a:pPr indent="0" marL="0">
              <a:buNone/>
            </a:pPr>
            <a:r>
              <a:rPr lang="en-US" sz="1300" b="1" dirty="0">
                <a:solidFill>
                  <a:srgbClr val="0A032B"/>
                </a:solidFill>
                <a:latin typeface="Montserrat" pitchFamily="34" charset="0"/>
                <a:ea typeface="Montserrat" pitchFamily="34" charset="-122"/>
                <a:cs typeface="Montserrat" pitchFamily="34" charset="-120"/>
              </a:rPr>
              <a:t>16h40</a:t>
            </a:r>
            <a:endParaRPr lang="en-US" sz="1300" dirty="0"/>
          </a:p>
          <a:p>
            <a:pPr indent="0" marL="0">
              <a:buNone/>
            </a:pPr>
            <a:r>
              <a:rPr lang="en-US" sz="1050" dirty="0">
                <a:solidFill>
                  <a:srgbClr val="5E5A78"/>
                </a:solidFill>
                <a:latin typeface="Arial" pitchFamily="34" charset="0"/>
                <a:ea typeface="Arial" pitchFamily="34" charset="-122"/>
                <a:cs typeface="Arial" pitchFamily="34" charset="-120"/>
              </a:rPr>
              <a:t>15 min</a:t>
            </a:r>
            <a:endParaRPr lang="en-US" sz="1300" dirty="0"/>
          </a:p>
        </p:txBody>
      </p:sp>
      <p:sp>
        <p:nvSpPr>
          <p:cNvPr id="57" name="Text 54"/>
          <p:cNvSpPr txBox="1"/>
          <p:nvPr/>
        </p:nvSpPr>
        <p:spPr>
          <a:xfrm>
            <a:off x="7376008" y="5157216"/>
            <a:ext cx="2483968" cy="658368"/>
          </a:xfrm>
          <a:prstGeom prst="rect">
            <a:avLst/>
          </a:prstGeom>
          <a:noFill/>
          <a:ln/>
        </p:spPr>
        <p:txBody>
          <a:bodyPr wrap="square" lIns="0" tIns="0" rIns="0" bIns="0" rtlCol="0" anchor="ctr"/>
          <a:lstStyle/>
          <a:p>
            <a:pPr indent="0" marL="0">
              <a:buNone/>
            </a:pPr>
            <a:r>
              <a:rPr lang="en-US" sz="1300" dirty="0">
                <a:solidFill>
                  <a:srgbClr val="0A032B"/>
                </a:solidFill>
                <a:latin typeface="Arial" pitchFamily="34" charset="0"/>
                <a:ea typeface="Arial" pitchFamily="34" charset="-122"/>
                <a:cs typeface="Arial" pitchFamily="34" charset="-120"/>
              </a:rPr>
              <a:t>Bilan et grille de compétences</a:t>
            </a:r>
            <a:endParaRPr lang="en-US" sz="1300" dirty="0"/>
          </a:p>
        </p:txBody>
      </p:sp>
      <p:sp>
        <p:nvSpPr>
          <p:cNvPr id="58" name="Shape 55"/>
          <p:cNvSpPr/>
          <p:nvPr/>
        </p:nvSpPr>
        <p:spPr>
          <a:xfrm>
            <a:off x="9951415" y="5312664"/>
            <a:ext cx="1554480" cy="347472"/>
          </a:xfrm>
          <a:prstGeom prst="roundRect">
            <a:avLst>
              <a:gd name="adj" fmla="val 50000"/>
            </a:avLst>
          </a:prstGeom>
          <a:solidFill>
            <a:srgbClr val="35305C"/>
          </a:solidFill>
          <a:ln w="12700">
            <a:solidFill>
              <a:srgbClr val="35305C"/>
            </a:solidFill>
            <a:prstDash val="solid"/>
          </a:ln>
        </p:spPr>
      </p:sp>
      <p:sp>
        <p:nvSpPr>
          <p:cNvPr id="59" name="Text 56"/>
          <p:cNvSpPr txBox="1"/>
          <p:nvPr/>
        </p:nvSpPr>
        <p:spPr>
          <a:xfrm>
            <a:off x="9951415" y="5312664"/>
            <a:ext cx="1554480" cy="347472"/>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Montserrat" pitchFamily="34" charset="0"/>
                <a:ea typeface="Montserrat" pitchFamily="34" charset="-122"/>
                <a:cs typeface="Montserrat" pitchFamily="34" charset="-120"/>
              </a:rPr>
              <a:t>ÉVALUATION</a:t>
            </a:r>
            <a:endParaRPr lang="en-US" sz="1100" dirty="0"/>
          </a:p>
        </p:txBody>
      </p:sp>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235440" cy="685800"/>
          </a:xfrm>
          <a:prstGeom prst="rect">
            <a:avLst/>
          </a:prstGeom>
          <a:noFill/>
          <a:ln/>
        </p:spPr>
        <p:txBody>
          <a:bodyPr wrap="square" lIns="0" tIns="0" rIns="0" bIns="0" rtlCol="0" anchor="ctr"/>
          <a:lstStyle/>
          <a:p>
            <a:pPr indent="0" marL="0">
              <a:buNone/>
            </a:pPr>
            <a:r>
              <a:rPr lang="en-US" sz="2800" b="1" dirty="0">
                <a:solidFill>
                  <a:srgbClr val="0A032B"/>
                </a:solidFill>
                <a:latin typeface="Montserrat" pitchFamily="34" charset="0"/>
                <a:ea typeface="Montserrat" pitchFamily="34" charset="-122"/>
                <a:cs typeface="Montserrat" pitchFamily="34" charset="-120"/>
              </a:rPr>
              <a:t>Le cadre réglementaire</a:t>
            </a:r>
            <a:endParaRPr lang="en-US" sz="2800" dirty="0"/>
          </a:p>
        </p:txBody>
      </p:sp>
      <p:sp>
        <p:nvSpPr>
          <p:cNvPr id="3" name="Shape 1"/>
          <p:cNvSpPr/>
          <p:nvPr/>
        </p:nvSpPr>
        <p:spPr>
          <a:xfrm>
            <a:off x="10042855" y="530352"/>
            <a:ext cx="1600200" cy="347472"/>
          </a:xfrm>
          <a:prstGeom prst="roundRect">
            <a:avLst>
              <a:gd name="adj" fmla="val 50000"/>
            </a:avLst>
          </a:prstGeom>
          <a:solidFill>
            <a:srgbClr val="0A032B"/>
          </a:solidFill>
          <a:ln w="12700">
            <a:solidFill>
              <a:srgbClr val="0A032B"/>
            </a:solidFill>
            <a:prstDash val="solid"/>
          </a:ln>
        </p:spPr>
      </p:sp>
      <p:sp>
        <p:nvSpPr>
          <p:cNvPr id="4" name="Text 2"/>
          <p:cNvSpPr txBox="1"/>
          <p:nvPr/>
        </p:nvSpPr>
        <p:spPr>
          <a:xfrm>
            <a:off x="10042855" y="530352"/>
            <a:ext cx="1600200" cy="347472"/>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Montserrat" pitchFamily="34" charset="0"/>
                <a:ea typeface="Montserrat" pitchFamily="34" charset="-122"/>
                <a:cs typeface="Montserrat" pitchFamily="34" charset="-120"/>
              </a:rPr>
              <a:t>THÉORIE</a:t>
            </a:r>
            <a:endParaRPr lang="en-US" sz="1100" dirty="0"/>
          </a:p>
        </p:txBody>
      </p:sp>
      <p:sp>
        <p:nvSpPr>
          <p:cNvPr id="5" name="Text 3"/>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5E5A78"/>
                </a:solidFill>
                <a:latin typeface="Arial" pitchFamily="34" charset="0"/>
                <a:ea typeface="Arial" pitchFamily="34" charset="-122"/>
                <a:cs typeface="Arial" pitchFamily="34" charset="-120"/>
              </a:rPr>
              <a:t>Gestes et postures de l'élu  ·  Ouverture</a:t>
            </a:r>
            <a:endParaRPr lang="en-US" sz="900" dirty="0"/>
          </a:p>
        </p:txBody>
      </p:sp>
      <p:pic>
        <p:nvPicPr>
          <p:cNvPr id="6" name="Image 0" descr="logo_light.png">    </p:cNvPr>
          <p:cNvPicPr>
            <a:picLocks noChangeAspect="1"/>
          </p:cNvPicPr>
          <p:nvPr/>
        </p:nvPicPr>
        <p:blipFill>
          <a:blip r:embed="rId1"/>
          <a:stretch>
            <a:fillRect/>
          </a:stretch>
        </p:blipFill>
        <p:spPr>
          <a:xfrm>
            <a:off x="10682935" y="6236208"/>
            <a:ext cx="960120" cy="398441"/>
          </a:xfrm>
          <a:prstGeom prst="rect">
            <a:avLst/>
          </a:prstGeom>
        </p:spPr>
      </p:pic>
      <p:sp>
        <p:nvSpPr>
          <p:cNvPr id="7" name="Shape 4"/>
          <p:cNvSpPr/>
          <p:nvPr/>
        </p:nvSpPr>
        <p:spPr>
          <a:xfrm>
            <a:off x="548640" y="1463040"/>
            <a:ext cx="3515258" cy="3566160"/>
          </a:xfrm>
          <a:prstGeom prst="roundRect">
            <a:avLst>
              <a:gd name="adj" fmla="val 2081"/>
            </a:avLst>
          </a:prstGeom>
          <a:solidFill>
            <a:srgbClr val="EEEDF5"/>
          </a:solidFill>
          <a:ln w="12700">
            <a:solidFill>
              <a:srgbClr val="EEEDF5"/>
            </a:solidFill>
            <a:prstDash val="solid"/>
          </a:ln>
        </p:spPr>
      </p:sp>
      <p:sp>
        <p:nvSpPr>
          <p:cNvPr id="8" name="Shape 5"/>
          <p:cNvSpPr/>
          <p:nvPr/>
        </p:nvSpPr>
        <p:spPr>
          <a:xfrm>
            <a:off x="822960" y="1737360"/>
            <a:ext cx="548640" cy="548640"/>
          </a:xfrm>
          <a:prstGeom prst="ellipse">
            <a:avLst/>
          </a:prstGeom>
          <a:solidFill>
            <a:srgbClr val="0A032B"/>
          </a:solidFill>
          <a:ln w="12700">
            <a:solidFill>
              <a:srgbClr val="0A032B"/>
            </a:solidFill>
            <a:prstDash val="solid"/>
          </a:ln>
        </p:spPr>
      </p:sp>
      <p:pic>
        <p:nvPicPr>
          <p:cNvPr id="9" name="Image 1" descr="preencoded.png">    </p:cNvPr>
          <p:cNvPicPr>
            <a:picLocks noChangeAspect="1"/>
          </p:cNvPicPr>
          <p:nvPr/>
        </p:nvPicPr>
        <p:blipFill>
          <a:blip r:embed="rId2"/>
          <a:stretch>
            <a:fillRect/>
          </a:stretch>
        </p:blipFill>
        <p:spPr>
          <a:xfrm>
            <a:off x="960120" y="1874520"/>
            <a:ext cx="274320" cy="274320"/>
          </a:xfrm>
          <a:prstGeom prst="rect">
            <a:avLst/>
          </a:prstGeom>
        </p:spPr>
      </p:pic>
      <p:sp>
        <p:nvSpPr>
          <p:cNvPr id="10" name="Text 6"/>
          <p:cNvSpPr txBox="1"/>
          <p:nvPr/>
        </p:nvSpPr>
        <p:spPr>
          <a:xfrm>
            <a:off x="1554480" y="1691640"/>
            <a:ext cx="2326538" cy="685800"/>
          </a:xfrm>
          <a:prstGeom prst="rect">
            <a:avLst/>
          </a:prstGeom>
          <a:noFill/>
          <a:ln/>
        </p:spPr>
        <p:txBody>
          <a:bodyPr wrap="square" lIns="0" tIns="0" rIns="0" bIns="0" rtlCol="0" anchor="ctr"/>
          <a:lstStyle/>
          <a:p>
            <a:pPr indent="0" marL="0">
              <a:buNone/>
            </a:pPr>
            <a:r>
              <a:rPr lang="en-US" sz="1700" b="1" dirty="0">
                <a:solidFill>
                  <a:srgbClr val="0A032B"/>
                </a:solidFill>
                <a:latin typeface="Montserrat" pitchFamily="34" charset="0"/>
                <a:ea typeface="Montserrat" pitchFamily="34" charset="-122"/>
                <a:cs typeface="Montserrat" pitchFamily="34" charset="-120"/>
              </a:rPr>
              <a:t>Art. L.4121-1</a:t>
            </a:r>
            <a:endParaRPr lang="en-US" sz="1700" dirty="0"/>
          </a:p>
          <a:p>
            <a:pPr indent="0" marL="0">
              <a:buNone/>
            </a:pPr>
            <a:r>
              <a:rPr lang="en-US" sz="1200" dirty="0">
                <a:solidFill>
                  <a:srgbClr val="5E5A78"/>
                </a:solidFill>
                <a:latin typeface="Arial" pitchFamily="34" charset="0"/>
                <a:ea typeface="Arial" pitchFamily="34" charset="-122"/>
                <a:cs typeface="Arial" pitchFamily="34" charset="-120"/>
              </a:rPr>
              <a:t>Code du travail</a:t>
            </a:r>
            <a:endParaRPr lang="en-US" sz="1700" dirty="0"/>
          </a:p>
        </p:txBody>
      </p:sp>
      <p:sp>
        <p:nvSpPr>
          <p:cNvPr id="11" name="Text 7"/>
          <p:cNvSpPr txBox="1"/>
          <p:nvPr/>
        </p:nvSpPr>
        <p:spPr>
          <a:xfrm>
            <a:off x="822960" y="2560320"/>
            <a:ext cx="2966618" cy="2286000"/>
          </a:xfrm>
          <a:prstGeom prst="rect">
            <a:avLst/>
          </a:prstGeom>
          <a:noFill/>
          <a:ln/>
        </p:spPr>
        <p:txBody>
          <a:bodyPr wrap="square" lIns="0" tIns="0" rIns="0" bIns="0" rtlCol="0" anchor="t"/>
          <a:lstStyle/>
          <a:p>
            <a:pPr indent="0" marL="0">
              <a:buNone/>
            </a:pPr>
            <a:r>
              <a:rPr lang="en-US" sz="1550" dirty="0">
                <a:solidFill>
                  <a:srgbClr val="35305C"/>
                </a:solidFill>
                <a:latin typeface="Arial" pitchFamily="34" charset="0"/>
                <a:ea typeface="Arial" pitchFamily="34" charset="-122"/>
                <a:cs typeface="Arial" pitchFamily="34" charset="-120"/>
              </a:rPr>
              <a:t>L'employeur prend les mesures nécessaires pour assurer la sécurité et protéger la santé physique et mentale des travailleurs : prévention, information, formation, organisation et moyens adaptés.</a:t>
            </a:r>
            <a:endParaRPr lang="en-US" sz="1550" dirty="0"/>
          </a:p>
        </p:txBody>
      </p:sp>
      <p:sp>
        <p:nvSpPr>
          <p:cNvPr id="12" name="Shape 8"/>
          <p:cNvSpPr/>
          <p:nvPr/>
        </p:nvSpPr>
        <p:spPr>
          <a:xfrm>
            <a:off x="4338218" y="1463040"/>
            <a:ext cx="3515258" cy="3566160"/>
          </a:xfrm>
          <a:prstGeom prst="roundRect">
            <a:avLst>
              <a:gd name="adj" fmla="val 2081"/>
            </a:avLst>
          </a:prstGeom>
          <a:solidFill>
            <a:srgbClr val="EEEDF5"/>
          </a:solidFill>
          <a:ln w="12700">
            <a:solidFill>
              <a:srgbClr val="EEEDF5"/>
            </a:solidFill>
            <a:prstDash val="solid"/>
          </a:ln>
        </p:spPr>
      </p:sp>
      <p:sp>
        <p:nvSpPr>
          <p:cNvPr id="13" name="Shape 9"/>
          <p:cNvSpPr/>
          <p:nvPr/>
        </p:nvSpPr>
        <p:spPr>
          <a:xfrm>
            <a:off x="4612538" y="1737360"/>
            <a:ext cx="548640" cy="548640"/>
          </a:xfrm>
          <a:prstGeom prst="ellipse">
            <a:avLst/>
          </a:prstGeom>
          <a:solidFill>
            <a:srgbClr val="0A032B"/>
          </a:solidFill>
          <a:ln w="12700">
            <a:solidFill>
              <a:srgbClr val="0A032B"/>
            </a:solidFill>
            <a:prstDash val="solid"/>
          </a:ln>
        </p:spPr>
      </p:sp>
      <p:pic>
        <p:nvPicPr>
          <p:cNvPr id="14" name="Image 2" descr="preencoded.png">    </p:cNvPr>
          <p:cNvPicPr>
            <a:picLocks noChangeAspect="1"/>
          </p:cNvPicPr>
          <p:nvPr/>
        </p:nvPicPr>
        <p:blipFill>
          <a:blip r:embed="rId3"/>
          <a:stretch>
            <a:fillRect/>
          </a:stretch>
        </p:blipFill>
        <p:spPr>
          <a:xfrm>
            <a:off x="4749698" y="1874520"/>
            <a:ext cx="274320" cy="274320"/>
          </a:xfrm>
          <a:prstGeom prst="rect">
            <a:avLst/>
          </a:prstGeom>
        </p:spPr>
      </p:pic>
      <p:sp>
        <p:nvSpPr>
          <p:cNvPr id="15" name="Text 10"/>
          <p:cNvSpPr txBox="1"/>
          <p:nvPr/>
        </p:nvSpPr>
        <p:spPr>
          <a:xfrm>
            <a:off x="5344058" y="1691640"/>
            <a:ext cx="2326538" cy="685800"/>
          </a:xfrm>
          <a:prstGeom prst="rect">
            <a:avLst/>
          </a:prstGeom>
          <a:noFill/>
          <a:ln/>
        </p:spPr>
        <p:txBody>
          <a:bodyPr wrap="square" lIns="0" tIns="0" rIns="0" bIns="0" rtlCol="0" anchor="ctr"/>
          <a:lstStyle/>
          <a:p>
            <a:pPr indent="0" marL="0">
              <a:buNone/>
            </a:pPr>
            <a:r>
              <a:rPr lang="en-US" sz="1700" b="1" dirty="0">
                <a:solidFill>
                  <a:srgbClr val="0A032B"/>
                </a:solidFill>
                <a:latin typeface="Montserrat" pitchFamily="34" charset="0"/>
                <a:ea typeface="Montserrat" pitchFamily="34" charset="-122"/>
                <a:cs typeface="Montserrat" pitchFamily="34" charset="-120"/>
              </a:rPr>
              <a:t>Art. R.4541-1 et s.</a:t>
            </a:r>
            <a:endParaRPr lang="en-US" sz="1700" dirty="0"/>
          </a:p>
          <a:p>
            <a:pPr indent="0" marL="0">
              <a:buNone/>
            </a:pPr>
            <a:r>
              <a:rPr lang="en-US" sz="1200" dirty="0">
                <a:solidFill>
                  <a:srgbClr val="5E5A78"/>
                </a:solidFill>
                <a:latin typeface="Arial" pitchFamily="34" charset="0"/>
                <a:ea typeface="Arial" pitchFamily="34" charset="-122"/>
                <a:cs typeface="Arial" pitchFamily="34" charset="-120"/>
              </a:rPr>
              <a:t>Code du travail</a:t>
            </a:r>
            <a:endParaRPr lang="en-US" sz="1700" dirty="0"/>
          </a:p>
        </p:txBody>
      </p:sp>
      <p:sp>
        <p:nvSpPr>
          <p:cNvPr id="16" name="Text 11"/>
          <p:cNvSpPr txBox="1"/>
          <p:nvPr/>
        </p:nvSpPr>
        <p:spPr>
          <a:xfrm>
            <a:off x="4612538" y="2560320"/>
            <a:ext cx="2966618" cy="2286000"/>
          </a:xfrm>
          <a:prstGeom prst="rect">
            <a:avLst/>
          </a:prstGeom>
          <a:noFill/>
          <a:ln/>
        </p:spPr>
        <p:txBody>
          <a:bodyPr wrap="square" lIns="0" tIns="0" rIns="0" bIns="0" rtlCol="0" anchor="t"/>
          <a:lstStyle/>
          <a:p>
            <a:pPr indent="0" marL="0">
              <a:buNone/>
            </a:pPr>
            <a:r>
              <a:rPr lang="en-US" sz="1550" dirty="0">
                <a:solidFill>
                  <a:srgbClr val="35305C"/>
                </a:solidFill>
                <a:latin typeface="Arial" pitchFamily="34" charset="0"/>
                <a:ea typeface="Arial" pitchFamily="34" charset="-122"/>
                <a:cs typeface="Arial" pitchFamily="34" charset="-120"/>
              </a:rPr>
              <a:t>Manutention manuelle des charges : éviter le recours à la manutention manuelle, sinon évaluer les risques, fournir les aides mécaniques, informer et former les travailleurs aux gestes et postures.</a:t>
            </a:r>
            <a:endParaRPr lang="en-US" sz="1550" dirty="0"/>
          </a:p>
        </p:txBody>
      </p:sp>
      <p:sp>
        <p:nvSpPr>
          <p:cNvPr id="17" name="Shape 12"/>
          <p:cNvSpPr/>
          <p:nvPr/>
        </p:nvSpPr>
        <p:spPr>
          <a:xfrm>
            <a:off x="8127797" y="1463040"/>
            <a:ext cx="3515258" cy="3566160"/>
          </a:xfrm>
          <a:prstGeom prst="roundRect">
            <a:avLst>
              <a:gd name="adj" fmla="val 2081"/>
            </a:avLst>
          </a:prstGeom>
          <a:solidFill>
            <a:srgbClr val="EEEDF5"/>
          </a:solidFill>
          <a:ln w="12700">
            <a:solidFill>
              <a:srgbClr val="EEEDF5"/>
            </a:solidFill>
            <a:prstDash val="solid"/>
          </a:ln>
        </p:spPr>
      </p:sp>
      <p:sp>
        <p:nvSpPr>
          <p:cNvPr id="18" name="Shape 13"/>
          <p:cNvSpPr/>
          <p:nvPr/>
        </p:nvSpPr>
        <p:spPr>
          <a:xfrm>
            <a:off x="8402117" y="1737360"/>
            <a:ext cx="548640" cy="548640"/>
          </a:xfrm>
          <a:prstGeom prst="ellipse">
            <a:avLst/>
          </a:prstGeom>
          <a:solidFill>
            <a:srgbClr val="0A032B"/>
          </a:solidFill>
          <a:ln w="12700">
            <a:solidFill>
              <a:srgbClr val="0A032B"/>
            </a:solidFill>
            <a:prstDash val="solid"/>
          </a:ln>
        </p:spPr>
      </p:sp>
      <p:pic>
        <p:nvPicPr>
          <p:cNvPr id="19" name="Image 3" descr="preencoded.png">    </p:cNvPr>
          <p:cNvPicPr>
            <a:picLocks noChangeAspect="1"/>
          </p:cNvPicPr>
          <p:nvPr/>
        </p:nvPicPr>
        <p:blipFill>
          <a:blip r:embed="rId4"/>
          <a:stretch>
            <a:fillRect/>
          </a:stretch>
        </p:blipFill>
        <p:spPr>
          <a:xfrm>
            <a:off x="8539277" y="1874520"/>
            <a:ext cx="274320" cy="274320"/>
          </a:xfrm>
          <a:prstGeom prst="rect">
            <a:avLst/>
          </a:prstGeom>
        </p:spPr>
      </p:pic>
      <p:sp>
        <p:nvSpPr>
          <p:cNvPr id="20" name="Text 14"/>
          <p:cNvSpPr txBox="1"/>
          <p:nvPr/>
        </p:nvSpPr>
        <p:spPr>
          <a:xfrm>
            <a:off x="9133637" y="1691640"/>
            <a:ext cx="2326538" cy="685800"/>
          </a:xfrm>
          <a:prstGeom prst="rect">
            <a:avLst/>
          </a:prstGeom>
          <a:noFill/>
          <a:ln/>
        </p:spPr>
        <p:txBody>
          <a:bodyPr wrap="square" lIns="0" tIns="0" rIns="0" bIns="0" rtlCol="0" anchor="ctr"/>
          <a:lstStyle/>
          <a:p>
            <a:pPr indent="0" marL="0">
              <a:buNone/>
            </a:pPr>
            <a:r>
              <a:rPr lang="en-US" sz="1700" b="1" dirty="0">
                <a:solidFill>
                  <a:srgbClr val="0A032B"/>
                </a:solidFill>
                <a:latin typeface="Montserrat" pitchFamily="34" charset="0"/>
                <a:ea typeface="Montserrat" pitchFamily="34" charset="-122"/>
                <a:cs typeface="Montserrat" pitchFamily="34" charset="-120"/>
              </a:rPr>
              <a:t>Décret n° 85-603</a:t>
            </a:r>
            <a:endParaRPr lang="en-US" sz="1700" dirty="0"/>
          </a:p>
          <a:p>
            <a:pPr indent="0" marL="0">
              <a:buNone/>
            </a:pPr>
            <a:r>
              <a:rPr lang="en-US" sz="1200" dirty="0">
                <a:solidFill>
                  <a:srgbClr val="5E5A78"/>
                </a:solidFill>
                <a:latin typeface="Arial" pitchFamily="34" charset="0"/>
                <a:ea typeface="Arial" pitchFamily="34" charset="-122"/>
                <a:cs typeface="Arial" pitchFamily="34" charset="-120"/>
              </a:rPr>
              <a:t>du 10 juin 1985</a:t>
            </a:r>
            <a:endParaRPr lang="en-US" sz="1700" dirty="0"/>
          </a:p>
        </p:txBody>
      </p:sp>
      <p:sp>
        <p:nvSpPr>
          <p:cNvPr id="21" name="Text 15"/>
          <p:cNvSpPr txBox="1"/>
          <p:nvPr/>
        </p:nvSpPr>
        <p:spPr>
          <a:xfrm>
            <a:off x="8402117" y="2560320"/>
            <a:ext cx="2966618" cy="2286000"/>
          </a:xfrm>
          <a:prstGeom prst="rect">
            <a:avLst/>
          </a:prstGeom>
          <a:noFill/>
          <a:ln/>
        </p:spPr>
        <p:txBody>
          <a:bodyPr wrap="square" lIns="0" tIns="0" rIns="0" bIns="0" rtlCol="0" anchor="t"/>
          <a:lstStyle/>
          <a:p>
            <a:pPr indent="0" marL="0">
              <a:buNone/>
            </a:pPr>
            <a:r>
              <a:rPr lang="en-US" sz="1550" dirty="0">
                <a:solidFill>
                  <a:srgbClr val="35305C"/>
                </a:solidFill>
                <a:latin typeface="Arial" pitchFamily="34" charset="0"/>
                <a:ea typeface="Arial" pitchFamily="34" charset="-122"/>
                <a:cs typeface="Arial" pitchFamily="34" charset="-120"/>
              </a:rPr>
              <a:t>Dans la fonction publique territoriale, les autorités territoriales sont chargées de veiller à la sécurité et à la protection de la santé des agents placés sous leur autorité.</a:t>
            </a:r>
            <a:endParaRPr lang="en-US" sz="1550" dirty="0"/>
          </a:p>
        </p:txBody>
      </p:sp>
      <p:sp>
        <p:nvSpPr>
          <p:cNvPr id="22" name="Shape 16"/>
          <p:cNvSpPr/>
          <p:nvPr/>
        </p:nvSpPr>
        <p:spPr>
          <a:xfrm>
            <a:off x="548640" y="5257800"/>
            <a:ext cx="11094415" cy="777240"/>
          </a:xfrm>
          <a:prstGeom prst="roundRect">
            <a:avLst>
              <a:gd name="adj" fmla="val 9412"/>
            </a:avLst>
          </a:prstGeom>
          <a:solidFill>
            <a:srgbClr val="F0EF96"/>
          </a:solidFill>
          <a:ln w="12700">
            <a:solidFill>
              <a:srgbClr val="F0EF96"/>
            </a:solidFill>
            <a:prstDash val="solid"/>
          </a:ln>
        </p:spPr>
      </p:sp>
      <p:sp>
        <p:nvSpPr>
          <p:cNvPr id="23" name="Text 17"/>
          <p:cNvSpPr txBox="1"/>
          <p:nvPr/>
        </p:nvSpPr>
        <p:spPr>
          <a:xfrm>
            <a:off x="777240" y="5257800"/>
            <a:ext cx="10637215" cy="777240"/>
          </a:xfrm>
          <a:prstGeom prst="rect">
            <a:avLst/>
          </a:prstGeom>
          <a:noFill/>
          <a:ln/>
        </p:spPr>
        <p:txBody>
          <a:bodyPr wrap="square" lIns="0" tIns="0" rIns="0" bIns="0" rtlCol="0" anchor="ctr"/>
          <a:lstStyle/>
          <a:p>
            <a:pPr indent="0" marL="0">
              <a:buNone/>
            </a:pPr>
            <a:r>
              <a:rPr lang="en-US" sz="1400" b="1" dirty="0">
                <a:solidFill>
                  <a:srgbClr val="0A032B"/>
                </a:solidFill>
                <a:latin typeface="Montserrat" pitchFamily="34" charset="0"/>
                <a:ea typeface="Montserrat" pitchFamily="34" charset="-122"/>
                <a:cs typeface="Montserrat" pitchFamily="34" charset="-120"/>
              </a:rPr>
              <a:t>Pourquoi l'élu est concerné ?  </a:t>
            </a:r>
            <a:pPr indent="0" marL="0">
              <a:buNone/>
            </a:pPr>
            <a:r>
              <a:rPr lang="en-US" sz="1400" dirty="0">
                <a:solidFill>
                  <a:srgbClr val="0A032B"/>
                </a:solidFill>
                <a:latin typeface="Arial" pitchFamily="34" charset="0"/>
                <a:ea typeface="Arial" pitchFamily="34" charset="-122"/>
                <a:cs typeface="Arial" pitchFamily="34" charset="-120"/>
              </a:rPr>
              <a:t>comme personne exposée dans son mandat, et comme représentant de l'autorité territoriale, responsable de la santé et de la sécurité des agents.</a:t>
            </a:r>
            <a:endParaRPr lang="en-US" sz="1400" dirty="0"/>
          </a:p>
        </p:txBody>
      </p:sp>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32B"/>
        </a:solidFill>
      </p:bgPr>
    </p:bg>
    <p:spTree>
      <p:nvGrpSpPr>
        <p:cNvPr id="1" name=""/>
        <p:cNvGrpSpPr/>
        <p:nvPr/>
      </p:nvGrpSpPr>
      <p:grpSpPr>
        <a:xfrm>
          <a:off x="0" y="0"/>
          <a:ext cx="0" cy="0"/>
          <a:chOff x="0" y="0"/>
          <a:chExt cx="0" cy="0"/>
        </a:xfrm>
      </p:grpSpPr>
      <p:sp>
        <p:nvSpPr>
          <p:cNvPr id="2" name="Text 0"/>
          <p:cNvSpPr txBox="1"/>
          <p:nvPr/>
        </p:nvSpPr>
        <p:spPr>
          <a:xfrm>
            <a:off x="548640" y="1371600"/>
            <a:ext cx="3657600" cy="2926080"/>
          </a:xfrm>
          <a:prstGeom prst="rect">
            <a:avLst/>
          </a:prstGeom>
          <a:noFill/>
          <a:ln/>
        </p:spPr>
        <p:txBody>
          <a:bodyPr wrap="square" lIns="0" tIns="0" rIns="0" bIns="0" rtlCol="0" anchor="ctr"/>
          <a:lstStyle/>
          <a:p>
            <a:pPr indent="0" marL="0">
              <a:buNone/>
            </a:pPr>
            <a:r>
              <a:rPr lang="en-US" sz="18000" b="1" dirty="0">
                <a:solidFill>
                  <a:srgbClr val="F0EF96"/>
                </a:solidFill>
                <a:latin typeface="Montserrat" pitchFamily="34" charset="0"/>
                <a:ea typeface="Montserrat" pitchFamily="34" charset="-122"/>
                <a:cs typeface="Montserrat" pitchFamily="34" charset="-120"/>
              </a:rPr>
              <a:t>01</a:t>
            </a:r>
            <a:endParaRPr lang="en-US" sz="18000" dirty="0"/>
          </a:p>
        </p:txBody>
      </p:sp>
      <p:sp>
        <p:nvSpPr>
          <p:cNvPr id="3" name="Text 1"/>
          <p:cNvSpPr txBox="1"/>
          <p:nvPr/>
        </p:nvSpPr>
        <p:spPr>
          <a:xfrm>
            <a:off x="4572000" y="1463040"/>
            <a:ext cx="7040880" cy="411480"/>
          </a:xfrm>
          <a:prstGeom prst="rect">
            <a:avLst/>
          </a:prstGeom>
          <a:noFill/>
          <a:ln/>
        </p:spPr>
        <p:txBody>
          <a:bodyPr wrap="square" lIns="0" tIns="0" rIns="0" bIns="0" rtlCol="0" anchor="ctr"/>
          <a:lstStyle/>
          <a:p>
            <a:pPr indent="0" marL="0">
              <a:buNone/>
            </a:pPr>
            <a:r>
              <a:rPr lang="en-US" sz="1600" b="1" spc="300" kern="0" dirty="0">
                <a:solidFill>
                  <a:srgbClr val="F0EF96"/>
                </a:solidFill>
                <a:latin typeface="Montserrat" pitchFamily="34" charset="0"/>
                <a:ea typeface="Montserrat" pitchFamily="34" charset="-122"/>
                <a:cs typeface="Montserrat" pitchFamily="34" charset="-120"/>
              </a:rPr>
              <a:t>SÉQUENCE 1</a:t>
            </a:r>
            <a:endParaRPr lang="en-US" sz="1600" dirty="0"/>
          </a:p>
        </p:txBody>
      </p:sp>
      <p:sp>
        <p:nvSpPr>
          <p:cNvPr id="4" name="Text 2"/>
          <p:cNvSpPr txBox="1"/>
          <p:nvPr/>
        </p:nvSpPr>
        <p:spPr>
          <a:xfrm>
            <a:off x="4572000" y="1920240"/>
            <a:ext cx="7040880" cy="1645920"/>
          </a:xfrm>
          <a:prstGeom prst="rect">
            <a:avLst/>
          </a:prstGeom>
          <a:noFill/>
          <a:ln/>
        </p:spPr>
        <p:txBody>
          <a:bodyPr wrap="square" lIns="0" tIns="0" rIns="0" bIns="0" rtlCol="0" anchor="t"/>
          <a:lstStyle/>
          <a:p>
            <a:pPr indent="0" marL="0">
              <a:buNone/>
            </a:pPr>
            <a:r>
              <a:rPr lang="en-US" sz="3400" b="1" dirty="0">
                <a:solidFill>
                  <a:srgbClr val="FFFFFF"/>
                </a:solidFill>
                <a:latin typeface="Montserrat" pitchFamily="34" charset="0"/>
                <a:ea typeface="Montserrat" pitchFamily="34" charset="-122"/>
                <a:cs typeface="Montserrat" pitchFamily="34" charset="-120"/>
              </a:rPr>
              <a:t>Comprendre son dos et les troubles musculo-squelettiques</a:t>
            </a:r>
            <a:endParaRPr lang="en-US" sz="3400" dirty="0"/>
          </a:p>
        </p:txBody>
      </p:sp>
      <p:sp>
        <p:nvSpPr>
          <p:cNvPr id="5" name="Text 3"/>
          <p:cNvSpPr txBox="1"/>
          <p:nvPr/>
        </p:nvSpPr>
        <p:spPr>
          <a:xfrm>
            <a:off x="4572000" y="3657600"/>
            <a:ext cx="7040880" cy="914400"/>
          </a:xfrm>
          <a:prstGeom prst="rect">
            <a:avLst/>
          </a:prstGeom>
          <a:noFill/>
          <a:ln/>
        </p:spPr>
        <p:txBody>
          <a:bodyPr wrap="square" lIns="0" tIns="0" rIns="0" bIns="0" rtlCol="0" anchor="t"/>
          <a:lstStyle/>
          <a:p>
            <a:pPr indent="0" marL="0">
              <a:buNone/>
            </a:pPr>
            <a:r>
              <a:rPr lang="en-US" sz="1500" b="1" dirty="0">
                <a:solidFill>
                  <a:srgbClr val="F0EF96"/>
                </a:solidFill>
                <a:latin typeface="Arial" pitchFamily="34" charset="0"/>
                <a:ea typeface="Arial" pitchFamily="34" charset="-122"/>
                <a:cs typeface="Arial" pitchFamily="34" charset="-120"/>
              </a:rPr>
              <a:t>Objectif  </a:t>
            </a:r>
            <a:pPr indent="0" marL="0">
              <a:buNone/>
            </a:pPr>
            <a:r>
              <a:rPr lang="en-US" sz="1500" dirty="0">
                <a:solidFill>
                  <a:srgbClr val="FFFFFF"/>
                </a:solidFill>
                <a:latin typeface="Arial" pitchFamily="34" charset="0"/>
                <a:ea typeface="Arial" pitchFamily="34" charset="-122"/>
                <a:cs typeface="Arial" pitchFamily="34" charset="-120"/>
              </a:rPr>
              <a:t>Identifier les atteintes de l'appareil locomoteur et leurs facteurs de risque, notamment dans l'exercice du mandat.</a:t>
            </a:r>
            <a:endParaRPr lang="en-US" sz="1500" dirty="0"/>
          </a:p>
        </p:txBody>
      </p:sp>
      <p:sp>
        <p:nvSpPr>
          <p:cNvPr id="6" name="Shape 4"/>
          <p:cNvSpPr/>
          <p:nvPr/>
        </p:nvSpPr>
        <p:spPr>
          <a:xfrm>
            <a:off x="4572000" y="4754880"/>
            <a:ext cx="1463040" cy="411480"/>
          </a:xfrm>
          <a:prstGeom prst="roundRect">
            <a:avLst>
              <a:gd name="adj" fmla="val 48889"/>
            </a:avLst>
          </a:prstGeom>
          <a:solidFill>
            <a:srgbClr val="F0EF96"/>
          </a:solidFill>
          <a:ln w="12700">
            <a:solidFill>
              <a:srgbClr val="F0EF96"/>
            </a:solidFill>
            <a:prstDash val="solid"/>
          </a:ln>
        </p:spPr>
      </p:sp>
      <p:sp>
        <p:nvSpPr>
          <p:cNvPr id="7" name="Text 5"/>
          <p:cNvSpPr txBox="1"/>
          <p:nvPr/>
        </p:nvSpPr>
        <p:spPr>
          <a:xfrm>
            <a:off x="4572000" y="4754880"/>
            <a:ext cx="1463040" cy="411480"/>
          </a:xfrm>
          <a:prstGeom prst="rect">
            <a:avLst/>
          </a:prstGeom>
          <a:noFill/>
          <a:ln/>
        </p:spPr>
        <p:txBody>
          <a:bodyPr wrap="square" lIns="0" tIns="0" rIns="0" bIns="0" rtlCol="0" anchor="ctr"/>
          <a:lstStyle/>
          <a:p>
            <a:pPr algn="ctr" indent="0" marL="0">
              <a:buNone/>
            </a:pPr>
            <a:r>
              <a:rPr lang="en-US" sz="1400" b="1" dirty="0">
                <a:solidFill>
                  <a:srgbClr val="0A032B"/>
                </a:solidFill>
                <a:latin typeface="Montserrat" pitchFamily="34" charset="0"/>
                <a:ea typeface="Montserrat" pitchFamily="34" charset="-122"/>
                <a:cs typeface="Montserrat" pitchFamily="34" charset="-120"/>
              </a:rPr>
              <a:t>45 min</a:t>
            </a:r>
            <a:endParaRPr lang="en-US" sz="1400" dirty="0"/>
          </a:p>
        </p:txBody>
      </p:sp>
      <p:sp>
        <p:nvSpPr>
          <p:cNvPr id="8" name="Text 6"/>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DCDAEA"/>
                </a:solidFill>
                <a:latin typeface="Arial" pitchFamily="34" charset="0"/>
                <a:ea typeface="Arial" pitchFamily="34" charset="-122"/>
                <a:cs typeface="Arial" pitchFamily="34" charset="-120"/>
              </a:rPr>
              <a:t>Gestes et postures de l'élu</a:t>
            </a:r>
            <a:endParaRPr lang="en-US" sz="900" dirty="0"/>
          </a:p>
        </p:txBody>
      </p:sp>
      <p:pic>
        <p:nvPicPr>
          <p:cNvPr id="9" name="Image 0" descr="logo_dark.png">    </p:cNvPr>
          <p:cNvPicPr>
            <a:picLocks noChangeAspect="1"/>
          </p:cNvPicPr>
          <p:nvPr/>
        </p:nvPicPr>
        <p:blipFill>
          <a:blip r:embed="rId1"/>
          <a:stretch>
            <a:fillRect/>
          </a:stretch>
        </p:blipFill>
        <p:spPr>
          <a:xfrm>
            <a:off x="10682935" y="6236208"/>
            <a:ext cx="960120" cy="398441"/>
          </a:xfrm>
          <a:prstGeom prst="rect">
            <a:avLst/>
          </a:prstGeom>
        </p:spPr>
      </p:pic>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DCDAEA"/>
                </a:solidFill>
                <a:latin typeface="Arial"/>
                <a:ea typeface="Arial"/>
                <a:cs typeface="Aria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235440" cy="685800"/>
          </a:xfrm>
          <a:prstGeom prst="rect">
            <a:avLst/>
          </a:prstGeom>
          <a:noFill/>
          <a:ln/>
        </p:spPr>
        <p:txBody>
          <a:bodyPr wrap="square" lIns="0" tIns="0" rIns="0" bIns="0" rtlCol="0" anchor="ctr"/>
          <a:lstStyle/>
          <a:p>
            <a:pPr indent="0" marL="0">
              <a:buNone/>
            </a:pPr>
            <a:r>
              <a:rPr lang="en-US" sz="2800" b="1" dirty="0">
                <a:solidFill>
                  <a:srgbClr val="0A032B"/>
                </a:solidFill>
                <a:latin typeface="Montserrat" pitchFamily="34" charset="0"/>
                <a:ea typeface="Montserrat" pitchFamily="34" charset="-122"/>
                <a:cs typeface="Montserrat" pitchFamily="34" charset="-120"/>
              </a:rPr>
              <a:t>Le dos et les TMS en quelques chiffres</a:t>
            </a:r>
            <a:endParaRPr lang="en-US" sz="2800" dirty="0"/>
          </a:p>
        </p:txBody>
      </p:sp>
      <p:sp>
        <p:nvSpPr>
          <p:cNvPr id="3" name="Shape 1"/>
          <p:cNvSpPr/>
          <p:nvPr/>
        </p:nvSpPr>
        <p:spPr>
          <a:xfrm>
            <a:off x="10042855" y="530352"/>
            <a:ext cx="1600200" cy="347472"/>
          </a:xfrm>
          <a:prstGeom prst="roundRect">
            <a:avLst>
              <a:gd name="adj" fmla="val 50000"/>
            </a:avLst>
          </a:prstGeom>
          <a:solidFill>
            <a:srgbClr val="0A032B"/>
          </a:solidFill>
          <a:ln w="12700">
            <a:solidFill>
              <a:srgbClr val="0A032B"/>
            </a:solidFill>
            <a:prstDash val="solid"/>
          </a:ln>
        </p:spPr>
      </p:sp>
      <p:sp>
        <p:nvSpPr>
          <p:cNvPr id="4" name="Text 2"/>
          <p:cNvSpPr txBox="1"/>
          <p:nvPr/>
        </p:nvSpPr>
        <p:spPr>
          <a:xfrm>
            <a:off x="10042855" y="530352"/>
            <a:ext cx="1600200" cy="347472"/>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Montserrat" pitchFamily="34" charset="0"/>
                <a:ea typeface="Montserrat" pitchFamily="34" charset="-122"/>
                <a:cs typeface="Montserrat" pitchFamily="34" charset="-120"/>
              </a:rPr>
              <a:t>THÉORIE</a:t>
            </a:r>
            <a:endParaRPr lang="en-US" sz="1100" dirty="0"/>
          </a:p>
        </p:txBody>
      </p:sp>
      <p:sp>
        <p:nvSpPr>
          <p:cNvPr id="5" name="Text 3"/>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5E5A78"/>
                </a:solidFill>
                <a:latin typeface="Arial" pitchFamily="34" charset="0"/>
                <a:ea typeface="Arial" pitchFamily="34" charset="-122"/>
                <a:cs typeface="Arial" pitchFamily="34" charset="-120"/>
              </a:rPr>
              <a:t>Gestes et postures de l'élu  ·  Séquence 1</a:t>
            </a:r>
            <a:endParaRPr lang="en-US" sz="900" dirty="0"/>
          </a:p>
        </p:txBody>
      </p:sp>
      <p:pic>
        <p:nvPicPr>
          <p:cNvPr id="6" name="Image 0" descr="logo_light.png">    </p:cNvPr>
          <p:cNvPicPr>
            <a:picLocks noChangeAspect="1"/>
          </p:cNvPicPr>
          <p:nvPr/>
        </p:nvPicPr>
        <p:blipFill>
          <a:blip r:embed="rId1"/>
          <a:stretch>
            <a:fillRect/>
          </a:stretch>
        </p:blipFill>
        <p:spPr>
          <a:xfrm>
            <a:off x="10682935" y="6236208"/>
            <a:ext cx="960120" cy="398441"/>
          </a:xfrm>
          <a:prstGeom prst="rect">
            <a:avLst/>
          </a:prstGeom>
        </p:spPr>
      </p:pic>
      <p:sp>
        <p:nvSpPr>
          <p:cNvPr id="7" name="Shape 4"/>
          <p:cNvSpPr/>
          <p:nvPr/>
        </p:nvSpPr>
        <p:spPr>
          <a:xfrm>
            <a:off x="548640" y="1554480"/>
            <a:ext cx="3515258" cy="2926080"/>
          </a:xfrm>
          <a:prstGeom prst="roundRect">
            <a:avLst>
              <a:gd name="adj" fmla="val 2500"/>
            </a:avLst>
          </a:prstGeom>
          <a:solidFill>
            <a:srgbClr val="EEEDF5"/>
          </a:solidFill>
          <a:ln w="12700">
            <a:solidFill>
              <a:srgbClr val="EEEDF5"/>
            </a:solidFill>
            <a:prstDash val="solid"/>
          </a:ln>
        </p:spPr>
      </p:sp>
      <p:sp>
        <p:nvSpPr>
          <p:cNvPr id="8" name="Text 5"/>
          <p:cNvSpPr txBox="1"/>
          <p:nvPr/>
        </p:nvSpPr>
        <p:spPr>
          <a:xfrm>
            <a:off x="822960" y="1828800"/>
            <a:ext cx="2966618" cy="1188720"/>
          </a:xfrm>
          <a:prstGeom prst="rect">
            <a:avLst/>
          </a:prstGeom>
          <a:noFill/>
          <a:ln/>
        </p:spPr>
        <p:txBody>
          <a:bodyPr wrap="square" lIns="0" tIns="0" rIns="0" bIns="0" rtlCol="0" anchor="ctr"/>
          <a:lstStyle/>
          <a:p>
            <a:pPr indent="0" marL="0">
              <a:buNone/>
            </a:pPr>
            <a:r>
              <a:rPr lang="en-US" sz="6000" b="1" dirty="0">
                <a:solidFill>
                  <a:srgbClr val="0A032B"/>
                </a:solidFill>
                <a:latin typeface="Montserrat" pitchFamily="34" charset="0"/>
                <a:ea typeface="Montserrat" pitchFamily="34" charset="-122"/>
                <a:cs typeface="Montserrat" pitchFamily="34" charset="-120"/>
              </a:rPr>
              <a:t>4 / 5</a:t>
            </a:r>
            <a:endParaRPr lang="en-US" sz="6000" dirty="0"/>
          </a:p>
        </p:txBody>
      </p:sp>
      <p:sp>
        <p:nvSpPr>
          <p:cNvPr id="9" name="Text 6"/>
          <p:cNvSpPr txBox="1"/>
          <p:nvPr/>
        </p:nvSpPr>
        <p:spPr>
          <a:xfrm>
            <a:off x="822960" y="3108960"/>
            <a:ext cx="2966618" cy="1097280"/>
          </a:xfrm>
          <a:prstGeom prst="rect">
            <a:avLst/>
          </a:prstGeom>
          <a:noFill/>
          <a:ln/>
        </p:spPr>
        <p:txBody>
          <a:bodyPr wrap="square" lIns="0" tIns="0" rIns="0" bIns="0" rtlCol="0" anchor="t"/>
          <a:lstStyle/>
          <a:p>
            <a:pPr indent="0" marL="0">
              <a:buNone/>
            </a:pPr>
            <a:r>
              <a:rPr lang="en-US" sz="1600" dirty="0">
                <a:solidFill>
                  <a:srgbClr val="35305C"/>
                </a:solidFill>
                <a:latin typeface="Arial" pitchFamily="34" charset="0"/>
                <a:ea typeface="Arial" pitchFamily="34" charset="-122"/>
                <a:cs typeface="Arial" pitchFamily="34" charset="-120"/>
              </a:rPr>
              <a:t>personnes souffriront du dos au cours de leur vie</a:t>
            </a:r>
            <a:endParaRPr lang="en-US" sz="1600" dirty="0"/>
          </a:p>
        </p:txBody>
      </p:sp>
      <p:sp>
        <p:nvSpPr>
          <p:cNvPr id="10" name="Shape 7"/>
          <p:cNvSpPr/>
          <p:nvPr/>
        </p:nvSpPr>
        <p:spPr>
          <a:xfrm>
            <a:off x="4338218" y="1554480"/>
            <a:ext cx="3515258" cy="2926080"/>
          </a:xfrm>
          <a:prstGeom prst="roundRect">
            <a:avLst>
              <a:gd name="adj" fmla="val 2500"/>
            </a:avLst>
          </a:prstGeom>
          <a:solidFill>
            <a:srgbClr val="0A032B"/>
          </a:solidFill>
          <a:ln w="12700">
            <a:solidFill>
              <a:srgbClr val="0A032B"/>
            </a:solidFill>
            <a:prstDash val="solid"/>
          </a:ln>
        </p:spPr>
      </p:sp>
      <p:sp>
        <p:nvSpPr>
          <p:cNvPr id="11" name="Text 8"/>
          <p:cNvSpPr txBox="1"/>
          <p:nvPr/>
        </p:nvSpPr>
        <p:spPr>
          <a:xfrm>
            <a:off x="4612538" y="1828800"/>
            <a:ext cx="2966618" cy="1188720"/>
          </a:xfrm>
          <a:prstGeom prst="rect">
            <a:avLst/>
          </a:prstGeom>
          <a:noFill/>
          <a:ln/>
        </p:spPr>
        <p:txBody>
          <a:bodyPr wrap="square" lIns="0" tIns="0" rIns="0" bIns="0" rtlCol="0" anchor="ctr"/>
          <a:lstStyle/>
          <a:p>
            <a:pPr indent="0" marL="0">
              <a:buNone/>
            </a:pPr>
            <a:r>
              <a:rPr lang="en-US" sz="6000" b="1" dirty="0">
                <a:solidFill>
                  <a:srgbClr val="F0EF96"/>
                </a:solidFill>
                <a:latin typeface="Montserrat" pitchFamily="34" charset="0"/>
                <a:ea typeface="Montserrat" pitchFamily="34" charset="-122"/>
                <a:cs typeface="Montserrat" pitchFamily="34" charset="-120"/>
              </a:rPr>
              <a:t>≈ 87 %</a:t>
            </a:r>
            <a:endParaRPr lang="en-US" sz="6000" dirty="0"/>
          </a:p>
        </p:txBody>
      </p:sp>
      <p:sp>
        <p:nvSpPr>
          <p:cNvPr id="12" name="Text 9"/>
          <p:cNvSpPr txBox="1"/>
          <p:nvPr/>
        </p:nvSpPr>
        <p:spPr>
          <a:xfrm>
            <a:off x="4612538" y="3108960"/>
            <a:ext cx="2966618" cy="1097280"/>
          </a:xfrm>
          <a:prstGeom prst="rect">
            <a:avLst/>
          </a:prstGeom>
          <a:noFill/>
          <a:ln/>
        </p:spPr>
        <p:txBody>
          <a:bodyPr wrap="square" lIns="0" tIns="0" rIns="0" bIns="0" rtlCol="0" anchor="t"/>
          <a:lstStyle/>
          <a:p>
            <a:pPr indent="0" marL="0">
              <a:buNone/>
            </a:pPr>
            <a:r>
              <a:rPr lang="en-US" sz="1600" dirty="0">
                <a:solidFill>
                  <a:srgbClr val="FFFFFF"/>
                </a:solidFill>
                <a:latin typeface="Arial" pitchFamily="34" charset="0"/>
                <a:ea typeface="Arial" pitchFamily="34" charset="-122"/>
                <a:cs typeface="Arial" pitchFamily="34" charset="-120"/>
              </a:rPr>
              <a:t>des maladies professionnelles reconnues sont des TMS</a:t>
            </a:r>
            <a:endParaRPr lang="en-US" sz="1600" dirty="0"/>
          </a:p>
        </p:txBody>
      </p:sp>
      <p:sp>
        <p:nvSpPr>
          <p:cNvPr id="13" name="Shape 10"/>
          <p:cNvSpPr/>
          <p:nvPr/>
        </p:nvSpPr>
        <p:spPr>
          <a:xfrm>
            <a:off x="8127797" y="1554480"/>
            <a:ext cx="3515258" cy="2926080"/>
          </a:xfrm>
          <a:prstGeom prst="roundRect">
            <a:avLst>
              <a:gd name="adj" fmla="val 2500"/>
            </a:avLst>
          </a:prstGeom>
          <a:solidFill>
            <a:srgbClr val="EEEDF5"/>
          </a:solidFill>
          <a:ln w="12700">
            <a:solidFill>
              <a:srgbClr val="EEEDF5"/>
            </a:solidFill>
            <a:prstDash val="solid"/>
          </a:ln>
        </p:spPr>
      </p:sp>
      <p:sp>
        <p:nvSpPr>
          <p:cNvPr id="14" name="Text 11"/>
          <p:cNvSpPr txBox="1"/>
          <p:nvPr/>
        </p:nvSpPr>
        <p:spPr>
          <a:xfrm>
            <a:off x="8402117" y="1828800"/>
            <a:ext cx="2966618" cy="1188720"/>
          </a:xfrm>
          <a:prstGeom prst="rect">
            <a:avLst/>
          </a:prstGeom>
          <a:noFill/>
          <a:ln/>
        </p:spPr>
        <p:txBody>
          <a:bodyPr wrap="square" lIns="0" tIns="0" rIns="0" bIns="0" rtlCol="0" anchor="ctr"/>
          <a:lstStyle/>
          <a:p>
            <a:pPr indent="0" marL="0">
              <a:buNone/>
            </a:pPr>
            <a:r>
              <a:rPr lang="en-US" sz="6000" b="1" dirty="0">
                <a:solidFill>
                  <a:srgbClr val="0A032B"/>
                </a:solidFill>
                <a:latin typeface="Montserrat" pitchFamily="34" charset="0"/>
                <a:ea typeface="Montserrat" pitchFamily="34" charset="-122"/>
                <a:cs typeface="Montserrat" pitchFamily="34" charset="-120"/>
              </a:rPr>
              <a:t>≈ 20 %</a:t>
            </a:r>
            <a:endParaRPr lang="en-US" sz="6000" dirty="0"/>
          </a:p>
        </p:txBody>
      </p:sp>
      <p:sp>
        <p:nvSpPr>
          <p:cNvPr id="15" name="Text 12"/>
          <p:cNvSpPr txBox="1"/>
          <p:nvPr/>
        </p:nvSpPr>
        <p:spPr>
          <a:xfrm>
            <a:off x="8402117" y="3108960"/>
            <a:ext cx="2966618" cy="1097280"/>
          </a:xfrm>
          <a:prstGeom prst="rect">
            <a:avLst/>
          </a:prstGeom>
          <a:noFill/>
          <a:ln/>
        </p:spPr>
        <p:txBody>
          <a:bodyPr wrap="square" lIns="0" tIns="0" rIns="0" bIns="0" rtlCol="0" anchor="t"/>
          <a:lstStyle/>
          <a:p>
            <a:pPr indent="0" marL="0">
              <a:buNone/>
            </a:pPr>
            <a:r>
              <a:rPr lang="en-US" sz="1600" dirty="0">
                <a:solidFill>
                  <a:srgbClr val="35305C"/>
                </a:solidFill>
                <a:latin typeface="Arial" pitchFamily="34" charset="0"/>
                <a:ea typeface="Arial" pitchFamily="34" charset="-122"/>
                <a:cs typeface="Arial" pitchFamily="34" charset="-120"/>
              </a:rPr>
              <a:t>des accidents du travail sont liés au mal de dos</a:t>
            </a:r>
            <a:endParaRPr lang="en-US" sz="1600" dirty="0"/>
          </a:p>
        </p:txBody>
      </p:sp>
      <p:sp>
        <p:nvSpPr>
          <p:cNvPr id="16" name="Shape 13"/>
          <p:cNvSpPr/>
          <p:nvPr/>
        </p:nvSpPr>
        <p:spPr>
          <a:xfrm>
            <a:off x="548640" y="4892040"/>
            <a:ext cx="548640" cy="548640"/>
          </a:xfrm>
          <a:prstGeom prst="ellipse">
            <a:avLst/>
          </a:prstGeom>
          <a:solidFill>
            <a:srgbClr val="F0EF96"/>
          </a:solidFill>
          <a:ln w="12700">
            <a:solidFill>
              <a:srgbClr val="F0EF96"/>
            </a:solidFill>
            <a:prstDash val="solid"/>
          </a:ln>
        </p:spPr>
      </p:sp>
      <p:pic>
        <p:nvPicPr>
          <p:cNvPr id="17" name="Image 1" descr="preencoded.png">    </p:cNvPr>
          <p:cNvPicPr>
            <a:picLocks noChangeAspect="1"/>
          </p:cNvPicPr>
          <p:nvPr/>
        </p:nvPicPr>
        <p:blipFill>
          <a:blip r:embed="rId2"/>
          <a:stretch>
            <a:fillRect/>
          </a:stretch>
        </p:blipFill>
        <p:spPr>
          <a:xfrm>
            <a:off x="685800" y="5029200"/>
            <a:ext cx="274320" cy="274320"/>
          </a:xfrm>
          <a:prstGeom prst="rect">
            <a:avLst/>
          </a:prstGeom>
        </p:spPr>
      </p:pic>
      <p:sp>
        <p:nvSpPr>
          <p:cNvPr id="18" name="Text 14"/>
          <p:cNvSpPr txBox="1"/>
          <p:nvPr/>
        </p:nvSpPr>
        <p:spPr>
          <a:xfrm>
            <a:off x="1280160" y="4846320"/>
            <a:ext cx="10362895" cy="64008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Question au groupe : </a:t>
            </a:r>
            <a:pPr indent="0" marL="0">
              <a:buNone/>
            </a:pPr>
            <a:r>
              <a:rPr lang="en-US" sz="1500" dirty="0">
                <a:solidFill>
                  <a:srgbClr val="0A032B"/>
                </a:solidFill>
                <a:latin typeface="Arial" pitchFamily="34" charset="0"/>
                <a:ea typeface="Arial" pitchFamily="34" charset="-122"/>
                <a:cs typeface="Arial" pitchFamily="34" charset="-120"/>
              </a:rPr>
              <a:t>qui, ici, a déjà ressenti une douleur au dos, à la nuque ou aux épaules après une journée de mandat ?</a:t>
            </a:r>
            <a:endParaRPr lang="en-US" sz="1500" dirty="0"/>
          </a:p>
        </p:txBody>
      </p:sp>
      <p:sp>
        <p:nvSpPr>
          <p:cNvPr id="19" name="Text 15"/>
          <p:cNvSpPr txBox="1"/>
          <p:nvPr/>
        </p:nvSpPr>
        <p:spPr>
          <a:xfrm>
            <a:off x="548640" y="5715000"/>
            <a:ext cx="11094415" cy="320040"/>
          </a:xfrm>
          <a:prstGeom prst="rect">
            <a:avLst/>
          </a:prstGeom>
          <a:noFill/>
          <a:ln/>
        </p:spPr>
        <p:txBody>
          <a:bodyPr wrap="square" lIns="0" tIns="0" rIns="0" bIns="0" rtlCol="0" anchor="ctr"/>
          <a:lstStyle/>
          <a:p>
            <a:pPr indent="0" marL="0">
              <a:buNone/>
            </a:pPr>
            <a:r>
              <a:rPr lang="en-US" sz="1000" i="1" dirty="0">
                <a:solidFill>
                  <a:srgbClr val="5E5A78"/>
                </a:solidFill>
                <a:latin typeface="Arial" pitchFamily="34" charset="0"/>
                <a:ea typeface="Arial" pitchFamily="34" charset="-122"/>
                <a:cs typeface="Arial" pitchFamily="34" charset="-120"/>
              </a:rPr>
              <a:t>Sources : INRS, Assurance Maladie – Risques professionnels. Chiffres arrondis, à actualiser avec les dernières données publiées.</a:t>
            </a:r>
            <a:endParaRPr lang="en-US" sz="1000" dirty="0"/>
          </a:p>
        </p:txBody>
      </p:sp>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235440" cy="685800"/>
          </a:xfrm>
          <a:prstGeom prst="rect">
            <a:avLst/>
          </a:prstGeom>
          <a:noFill/>
          <a:ln/>
        </p:spPr>
        <p:txBody>
          <a:bodyPr wrap="square" lIns="0" tIns="0" rIns="0" bIns="0" rtlCol="0" anchor="ctr"/>
          <a:lstStyle/>
          <a:p>
            <a:pPr indent="0" marL="0">
              <a:buNone/>
            </a:pPr>
            <a:r>
              <a:rPr lang="en-US" sz="2800" b="1" dirty="0">
                <a:solidFill>
                  <a:srgbClr val="0A032B"/>
                </a:solidFill>
                <a:latin typeface="Montserrat" pitchFamily="34" charset="0"/>
                <a:ea typeface="Montserrat" pitchFamily="34" charset="-122"/>
                <a:cs typeface="Montserrat" pitchFamily="34" charset="-120"/>
              </a:rPr>
              <a:t>La colonne vertébrale</a:t>
            </a:r>
            <a:endParaRPr lang="en-US" sz="2800" dirty="0"/>
          </a:p>
        </p:txBody>
      </p:sp>
      <p:sp>
        <p:nvSpPr>
          <p:cNvPr id="3" name="Text 1"/>
          <p:cNvSpPr txBox="1"/>
          <p:nvPr/>
        </p:nvSpPr>
        <p:spPr>
          <a:xfrm>
            <a:off x="548640" y="1024128"/>
            <a:ext cx="9235440" cy="365760"/>
          </a:xfrm>
          <a:prstGeom prst="rect">
            <a:avLst/>
          </a:prstGeom>
          <a:noFill/>
          <a:ln/>
        </p:spPr>
        <p:txBody>
          <a:bodyPr wrap="square" lIns="0" tIns="0" rIns="0" bIns="0" rtlCol="0" anchor="ctr"/>
          <a:lstStyle/>
          <a:p>
            <a:pPr indent="0" marL="0">
              <a:buNone/>
            </a:pPr>
            <a:r>
              <a:rPr lang="en-US" sz="1400" i="1" dirty="0">
                <a:solidFill>
                  <a:srgbClr val="5E5A78"/>
                </a:solidFill>
                <a:latin typeface="Arial" pitchFamily="34" charset="0"/>
                <a:ea typeface="Arial" pitchFamily="34" charset="-122"/>
                <a:cs typeface="Arial" pitchFamily="34" charset="-120"/>
              </a:rPr>
              <a:t>Un pilier solide et mobile, qui protège la moelle épinière</a:t>
            </a:r>
            <a:endParaRPr lang="en-US" sz="1400" dirty="0"/>
          </a:p>
        </p:txBody>
      </p:sp>
      <p:sp>
        <p:nvSpPr>
          <p:cNvPr id="4" name="Shape 2"/>
          <p:cNvSpPr/>
          <p:nvPr/>
        </p:nvSpPr>
        <p:spPr>
          <a:xfrm>
            <a:off x="10042855" y="530352"/>
            <a:ext cx="1600200" cy="347472"/>
          </a:xfrm>
          <a:prstGeom prst="roundRect">
            <a:avLst>
              <a:gd name="adj" fmla="val 50000"/>
            </a:avLst>
          </a:prstGeom>
          <a:solidFill>
            <a:srgbClr val="0A032B"/>
          </a:solidFill>
          <a:ln w="12700">
            <a:solidFill>
              <a:srgbClr val="0A032B"/>
            </a:solidFill>
            <a:prstDash val="solid"/>
          </a:ln>
        </p:spPr>
      </p:sp>
      <p:sp>
        <p:nvSpPr>
          <p:cNvPr id="5" name="Text 3"/>
          <p:cNvSpPr txBox="1"/>
          <p:nvPr/>
        </p:nvSpPr>
        <p:spPr>
          <a:xfrm>
            <a:off x="10042855" y="530352"/>
            <a:ext cx="1600200" cy="347472"/>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Montserrat" pitchFamily="34" charset="0"/>
                <a:ea typeface="Montserrat" pitchFamily="34" charset="-122"/>
                <a:cs typeface="Montserrat" pitchFamily="34" charset="-120"/>
              </a:rPr>
              <a:t>THÉORIE</a:t>
            </a:r>
            <a:endParaRPr lang="en-US" sz="1100" dirty="0"/>
          </a:p>
        </p:txBody>
      </p:sp>
      <p:sp>
        <p:nvSpPr>
          <p:cNvPr id="6" name="Text 4"/>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5E5A78"/>
                </a:solidFill>
                <a:latin typeface="Arial" pitchFamily="34" charset="0"/>
                <a:ea typeface="Arial" pitchFamily="34" charset="-122"/>
                <a:cs typeface="Arial" pitchFamily="34" charset="-120"/>
              </a:rPr>
              <a:t>Gestes et postures de l'élu  ·  Séquence 1</a:t>
            </a:r>
            <a:endParaRPr lang="en-US" sz="900" dirty="0"/>
          </a:p>
        </p:txBody>
      </p:sp>
      <p:pic>
        <p:nvPicPr>
          <p:cNvPr id="7" name="Image 0" descr="logo_light.png">    </p:cNvPr>
          <p:cNvPicPr>
            <a:picLocks noChangeAspect="1"/>
          </p:cNvPicPr>
          <p:nvPr/>
        </p:nvPicPr>
        <p:blipFill>
          <a:blip r:embed="rId1"/>
          <a:stretch>
            <a:fillRect/>
          </a:stretch>
        </p:blipFill>
        <p:spPr>
          <a:xfrm>
            <a:off x="10682935" y="6236208"/>
            <a:ext cx="960120" cy="398441"/>
          </a:xfrm>
          <a:prstGeom prst="rect">
            <a:avLst/>
          </a:prstGeom>
        </p:spPr>
      </p:pic>
      <p:sp>
        <p:nvSpPr>
          <p:cNvPr id="8" name="Shape 5"/>
          <p:cNvSpPr/>
          <p:nvPr/>
        </p:nvSpPr>
        <p:spPr>
          <a:xfrm>
            <a:off x="2035496" y="1600200"/>
            <a:ext cx="594360" cy="118872"/>
          </a:xfrm>
          <a:prstGeom prst="roundRect">
            <a:avLst>
              <a:gd name="adj" fmla="val 38462"/>
            </a:avLst>
          </a:prstGeom>
          <a:solidFill>
            <a:srgbClr val="35305C"/>
          </a:solidFill>
          <a:ln w="12700">
            <a:solidFill>
              <a:srgbClr val="35305C"/>
            </a:solidFill>
            <a:prstDash val="solid"/>
          </a:ln>
        </p:spPr>
      </p:sp>
      <p:sp>
        <p:nvSpPr>
          <p:cNvPr id="9" name="Shape 6"/>
          <p:cNvSpPr/>
          <p:nvPr/>
        </p:nvSpPr>
        <p:spPr>
          <a:xfrm>
            <a:off x="1954834" y="1755648"/>
            <a:ext cx="594360" cy="118872"/>
          </a:xfrm>
          <a:prstGeom prst="roundRect">
            <a:avLst>
              <a:gd name="adj" fmla="val 38462"/>
            </a:avLst>
          </a:prstGeom>
          <a:solidFill>
            <a:srgbClr val="35305C"/>
          </a:solidFill>
          <a:ln w="12700">
            <a:solidFill>
              <a:srgbClr val="35305C"/>
            </a:solidFill>
            <a:prstDash val="solid"/>
          </a:ln>
        </p:spPr>
      </p:sp>
      <p:sp>
        <p:nvSpPr>
          <p:cNvPr id="10" name="Shape 7"/>
          <p:cNvSpPr/>
          <p:nvPr/>
        </p:nvSpPr>
        <p:spPr>
          <a:xfrm>
            <a:off x="1899014" y="1911096"/>
            <a:ext cx="594360" cy="118872"/>
          </a:xfrm>
          <a:prstGeom prst="roundRect">
            <a:avLst>
              <a:gd name="adj" fmla="val 38462"/>
            </a:avLst>
          </a:prstGeom>
          <a:solidFill>
            <a:srgbClr val="35305C"/>
          </a:solidFill>
          <a:ln w="12700">
            <a:solidFill>
              <a:srgbClr val="35305C"/>
            </a:solidFill>
            <a:prstDash val="solid"/>
          </a:ln>
        </p:spPr>
      </p:sp>
      <p:sp>
        <p:nvSpPr>
          <p:cNvPr id="11" name="Shape 8"/>
          <p:cNvSpPr/>
          <p:nvPr/>
        </p:nvSpPr>
        <p:spPr>
          <a:xfrm>
            <a:off x="1879092" y="2066544"/>
            <a:ext cx="594360" cy="118872"/>
          </a:xfrm>
          <a:prstGeom prst="roundRect">
            <a:avLst>
              <a:gd name="adj" fmla="val 38462"/>
            </a:avLst>
          </a:prstGeom>
          <a:solidFill>
            <a:srgbClr val="35305C"/>
          </a:solidFill>
          <a:ln w="12700">
            <a:solidFill>
              <a:srgbClr val="35305C"/>
            </a:solidFill>
            <a:prstDash val="solid"/>
          </a:ln>
        </p:spPr>
      </p:sp>
      <p:sp>
        <p:nvSpPr>
          <p:cNvPr id="12" name="Shape 9"/>
          <p:cNvSpPr/>
          <p:nvPr/>
        </p:nvSpPr>
        <p:spPr>
          <a:xfrm>
            <a:off x="1899014" y="2221992"/>
            <a:ext cx="594360" cy="118872"/>
          </a:xfrm>
          <a:prstGeom prst="roundRect">
            <a:avLst>
              <a:gd name="adj" fmla="val 38462"/>
            </a:avLst>
          </a:prstGeom>
          <a:solidFill>
            <a:srgbClr val="35305C"/>
          </a:solidFill>
          <a:ln w="12700">
            <a:solidFill>
              <a:srgbClr val="35305C"/>
            </a:solidFill>
            <a:prstDash val="solid"/>
          </a:ln>
        </p:spPr>
      </p:sp>
      <p:sp>
        <p:nvSpPr>
          <p:cNvPr id="13" name="Shape 10"/>
          <p:cNvSpPr/>
          <p:nvPr/>
        </p:nvSpPr>
        <p:spPr>
          <a:xfrm>
            <a:off x="1954834" y="2377440"/>
            <a:ext cx="594360" cy="118872"/>
          </a:xfrm>
          <a:prstGeom prst="roundRect">
            <a:avLst>
              <a:gd name="adj" fmla="val 38462"/>
            </a:avLst>
          </a:prstGeom>
          <a:solidFill>
            <a:srgbClr val="35305C"/>
          </a:solidFill>
          <a:ln w="12700">
            <a:solidFill>
              <a:srgbClr val="35305C"/>
            </a:solidFill>
            <a:prstDash val="solid"/>
          </a:ln>
        </p:spPr>
      </p:sp>
      <p:sp>
        <p:nvSpPr>
          <p:cNvPr id="14" name="Shape 11"/>
          <p:cNvSpPr/>
          <p:nvPr/>
        </p:nvSpPr>
        <p:spPr>
          <a:xfrm>
            <a:off x="2035496" y="2532888"/>
            <a:ext cx="594360" cy="118872"/>
          </a:xfrm>
          <a:prstGeom prst="roundRect">
            <a:avLst>
              <a:gd name="adj" fmla="val 38462"/>
            </a:avLst>
          </a:prstGeom>
          <a:solidFill>
            <a:srgbClr val="35305C"/>
          </a:solidFill>
          <a:ln w="12700">
            <a:solidFill>
              <a:srgbClr val="35305C"/>
            </a:solidFill>
            <a:prstDash val="solid"/>
          </a:ln>
        </p:spPr>
      </p:sp>
      <p:sp>
        <p:nvSpPr>
          <p:cNvPr id="15" name="Shape 12"/>
          <p:cNvSpPr/>
          <p:nvPr/>
        </p:nvSpPr>
        <p:spPr>
          <a:xfrm>
            <a:off x="2057034" y="2688336"/>
            <a:ext cx="731520" cy="118872"/>
          </a:xfrm>
          <a:prstGeom prst="roundRect">
            <a:avLst>
              <a:gd name="adj" fmla="val 38462"/>
            </a:avLst>
          </a:prstGeom>
          <a:solidFill>
            <a:srgbClr val="0A032B"/>
          </a:solidFill>
          <a:ln w="12700">
            <a:solidFill>
              <a:srgbClr val="0A032B"/>
            </a:solidFill>
            <a:prstDash val="solid"/>
          </a:ln>
        </p:spPr>
      </p:sp>
      <p:sp>
        <p:nvSpPr>
          <p:cNvPr id="16" name="Shape 13"/>
          <p:cNvSpPr/>
          <p:nvPr/>
        </p:nvSpPr>
        <p:spPr>
          <a:xfrm>
            <a:off x="2144652" y="2843784"/>
            <a:ext cx="731520" cy="118872"/>
          </a:xfrm>
          <a:prstGeom prst="roundRect">
            <a:avLst>
              <a:gd name="adj" fmla="val 38462"/>
            </a:avLst>
          </a:prstGeom>
          <a:solidFill>
            <a:srgbClr val="0A032B"/>
          </a:solidFill>
          <a:ln w="12700">
            <a:solidFill>
              <a:srgbClr val="0A032B"/>
            </a:solidFill>
            <a:prstDash val="solid"/>
          </a:ln>
        </p:spPr>
      </p:sp>
      <p:sp>
        <p:nvSpPr>
          <p:cNvPr id="17" name="Shape 14"/>
          <p:cNvSpPr/>
          <p:nvPr/>
        </p:nvSpPr>
        <p:spPr>
          <a:xfrm>
            <a:off x="2223208" y="2999232"/>
            <a:ext cx="731520" cy="118872"/>
          </a:xfrm>
          <a:prstGeom prst="roundRect">
            <a:avLst>
              <a:gd name="adj" fmla="val 38462"/>
            </a:avLst>
          </a:prstGeom>
          <a:solidFill>
            <a:srgbClr val="0A032B"/>
          </a:solidFill>
          <a:ln w="12700">
            <a:solidFill>
              <a:srgbClr val="0A032B"/>
            </a:solidFill>
            <a:prstDash val="solid"/>
          </a:ln>
        </p:spPr>
      </p:sp>
      <p:sp>
        <p:nvSpPr>
          <p:cNvPr id="18" name="Shape 15"/>
          <p:cNvSpPr/>
          <p:nvPr/>
        </p:nvSpPr>
        <p:spPr>
          <a:xfrm>
            <a:off x="2287348" y="3154680"/>
            <a:ext cx="731520" cy="118872"/>
          </a:xfrm>
          <a:prstGeom prst="roundRect">
            <a:avLst>
              <a:gd name="adj" fmla="val 38462"/>
            </a:avLst>
          </a:prstGeom>
          <a:solidFill>
            <a:srgbClr val="0A032B"/>
          </a:solidFill>
          <a:ln w="12700">
            <a:solidFill>
              <a:srgbClr val="0A032B"/>
            </a:solidFill>
            <a:prstDash val="solid"/>
          </a:ln>
        </p:spPr>
      </p:sp>
      <p:sp>
        <p:nvSpPr>
          <p:cNvPr id="19" name="Shape 16"/>
          <p:cNvSpPr/>
          <p:nvPr/>
        </p:nvSpPr>
        <p:spPr>
          <a:xfrm>
            <a:off x="2332702" y="3310128"/>
            <a:ext cx="731520" cy="118872"/>
          </a:xfrm>
          <a:prstGeom prst="roundRect">
            <a:avLst>
              <a:gd name="adj" fmla="val 38462"/>
            </a:avLst>
          </a:prstGeom>
          <a:solidFill>
            <a:srgbClr val="0A032B"/>
          </a:solidFill>
          <a:ln w="12700">
            <a:solidFill>
              <a:srgbClr val="0A032B"/>
            </a:solidFill>
            <a:prstDash val="solid"/>
          </a:ln>
        </p:spPr>
      </p:sp>
      <p:sp>
        <p:nvSpPr>
          <p:cNvPr id="20" name="Shape 17"/>
          <p:cNvSpPr/>
          <p:nvPr/>
        </p:nvSpPr>
        <p:spPr>
          <a:xfrm>
            <a:off x="2356179" y="3465576"/>
            <a:ext cx="731520" cy="118872"/>
          </a:xfrm>
          <a:prstGeom prst="roundRect">
            <a:avLst>
              <a:gd name="adj" fmla="val 38462"/>
            </a:avLst>
          </a:prstGeom>
          <a:solidFill>
            <a:srgbClr val="0A032B"/>
          </a:solidFill>
          <a:ln w="12700">
            <a:solidFill>
              <a:srgbClr val="0A032B"/>
            </a:solidFill>
            <a:prstDash val="solid"/>
          </a:ln>
        </p:spPr>
      </p:sp>
      <p:sp>
        <p:nvSpPr>
          <p:cNvPr id="21" name="Shape 18"/>
          <p:cNvSpPr/>
          <p:nvPr/>
        </p:nvSpPr>
        <p:spPr>
          <a:xfrm>
            <a:off x="2356179" y="3621024"/>
            <a:ext cx="731520" cy="118872"/>
          </a:xfrm>
          <a:prstGeom prst="roundRect">
            <a:avLst>
              <a:gd name="adj" fmla="val 38462"/>
            </a:avLst>
          </a:prstGeom>
          <a:solidFill>
            <a:srgbClr val="0A032B"/>
          </a:solidFill>
          <a:ln w="12700">
            <a:solidFill>
              <a:srgbClr val="0A032B"/>
            </a:solidFill>
            <a:prstDash val="solid"/>
          </a:ln>
        </p:spPr>
      </p:sp>
      <p:sp>
        <p:nvSpPr>
          <p:cNvPr id="22" name="Shape 19"/>
          <p:cNvSpPr/>
          <p:nvPr/>
        </p:nvSpPr>
        <p:spPr>
          <a:xfrm>
            <a:off x="2332702" y="3776472"/>
            <a:ext cx="731520" cy="118872"/>
          </a:xfrm>
          <a:prstGeom prst="roundRect">
            <a:avLst>
              <a:gd name="adj" fmla="val 38462"/>
            </a:avLst>
          </a:prstGeom>
          <a:solidFill>
            <a:srgbClr val="0A032B"/>
          </a:solidFill>
          <a:ln w="12700">
            <a:solidFill>
              <a:srgbClr val="0A032B"/>
            </a:solidFill>
            <a:prstDash val="solid"/>
          </a:ln>
        </p:spPr>
      </p:sp>
      <p:sp>
        <p:nvSpPr>
          <p:cNvPr id="23" name="Shape 20"/>
          <p:cNvSpPr/>
          <p:nvPr/>
        </p:nvSpPr>
        <p:spPr>
          <a:xfrm>
            <a:off x="2287348" y="3931920"/>
            <a:ext cx="731520" cy="118872"/>
          </a:xfrm>
          <a:prstGeom prst="roundRect">
            <a:avLst>
              <a:gd name="adj" fmla="val 38462"/>
            </a:avLst>
          </a:prstGeom>
          <a:solidFill>
            <a:srgbClr val="0A032B"/>
          </a:solidFill>
          <a:ln w="12700">
            <a:solidFill>
              <a:srgbClr val="0A032B"/>
            </a:solidFill>
            <a:prstDash val="solid"/>
          </a:ln>
        </p:spPr>
      </p:sp>
      <p:sp>
        <p:nvSpPr>
          <p:cNvPr id="24" name="Shape 21"/>
          <p:cNvSpPr/>
          <p:nvPr/>
        </p:nvSpPr>
        <p:spPr>
          <a:xfrm>
            <a:off x="2223208" y="4087368"/>
            <a:ext cx="731520" cy="118872"/>
          </a:xfrm>
          <a:prstGeom prst="roundRect">
            <a:avLst>
              <a:gd name="adj" fmla="val 38462"/>
            </a:avLst>
          </a:prstGeom>
          <a:solidFill>
            <a:srgbClr val="0A032B"/>
          </a:solidFill>
          <a:ln w="12700">
            <a:solidFill>
              <a:srgbClr val="0A032B"/>
            </a:solidFill>
            <a:prstDash val="solid"/>
          </a:ln>
        </p:spPr>
      </p:sp>
      <p:sp>
        <p:nvSpPr>
          <p:cNvPr id="25" name="Shape 22"/>
          <p:cNvSpPr/>
          <p:nvPr/>
        </p:nvSpPr>
        <p:spPr>
          <a:xfrm>
            <a:off x="2144652" y="4242816"/>
            <a:ext cx="731520" cy="118872"/>
          </a:xfrm>
          <a:prstGeom prst="roundRect">
            <a:avLst>
              <a:gd name="adj" fmla="val 38462"/>
            </a:avLst>
          </a:prstGeom>
          <a:solidFill>
            <a:srgbClr val="0A032B"/>
          </a:solidFill>
          <a:ln w="12700">
            <a:solidFill>
              <a:srgbClr val="0A032B"/>
            </a:solidFill>
            <a:prstDash val="solid"/>
          </a:ln>
        </p:spPr>
      </p:sp>
      <p:sp>
        <p:nvSpPr>
          <p:cNvPr id="26" name="Shape 23"/>
          <p:cNvSpPr/>
          <p:nvPr/>
        </p:nvSpPr>
        <p:spPr>
          <a:xfrm>
            <a:off x="2057034" y="4398264"/>
            <a:ext cx="731520" cy="118872"/>
          </a:xfrm>
          <a:prstGeom prst="roundRect">
            <a:avLst>
              <a:gd name="adj" fmla="val 38462"/>
            </a:avLst>
          </a:prstGeom>
          <a:solidFill>
            <a:srgbClr val="0A032B"/>
          </a:solidFill>
          <a:ln w="12700">
            <a:solidFill>
              <a:srgbClr val="0A032B"/>
            </a:solidFill>
            <a:prstDash val="solid"/>
          </a:ln>
        </p:spPr>
      </p:sp>
      <p:sp>
        <p:nvSpPr>
          <p:cNvPr id="27" name="Shape 24"/>
          <p:cNvSpPr/>
          <p:nvPr/>
        </p:nvSpPr>
        <p:spPr>
          <a:xfrm>
            <a:off x="1852679" y="4553712"/>
            <a:ext cx="868680" cy="118872"/>
          </a:xfrm>
          <a:prstGeom prst="roundRect">
            <a:avLst>
              <a:gd name="adj" fmla="val 38462"/>
            </a:avLst>
          </a:prstGeom>
          <a:solidFill>
            <a:srgbClr val="D9D65A"/>
          </a:solidFill>
          <a:ln w="12700">
            <a:solidFill>
              <a:srgbClr val="D9D65A"/>
            </a:solidFill>
            <a:prstDash val="solid"/>
          </a:ln>
        </p:spPr>
      </p:sp>
      <p:sp>
        <p:nvSpPr>
          <p:cNvPr id="28" name="Shape 25"/>
          <p:cNvSpPr/>
          <p:nvPr/>
        </p:nvSpPr>
        <p:spPr>
          <a:xfrm>
            <a:off x="1706375" y="4709160"/>
            <a:ext cx="868680" cy="118872"/>
          </a:xfrm>
          <a:prstGeom prst="roundRect">
            <a:avLst>
              <a:gd name="adj" fmla="val 38462"/>
            </a:avLst>
          </a:prstGeom>
          <a:solidFill>
            <a:srgbClr val="D9D65A"/>
          </a:solidFill>
          <a:ln w="12700">
            <a:solidFill>
              <a:srgbClr val="D9D65A"/>
            </a:solidFill>
            <a:prstDash val="solid"/>
          </a:ln>
        </p:spPr>
      </p:sp>
      <p:sp>
        <p:nvSpPr>
          <p:cNvPr id="29" name="Shape 26"/>
          <p:cNvSpPr/>
          <p:nvPr/>
        </p:nvSpPr>
        <p:spPr>
          <a:xfrm>
            <a:off x="1650492" y="4864608"/>
            <a:ext cx="868680" cy="118872"/>
          </a:xfrm>
          <a:prstGeom prst="roundRect">
            <a:avLst>
              <a:gd name="adj" fmla="val 38462"/>
            </a:avLst>
          </a:prstGeom>
          <a:solidFill>
            <a:srgbClr val="D9D65A"/>
          </a:solidFill>
          <a:ln w="12700">
            <a:solidFill>
              <a:srgbClr val="D9D65A"/>
            </a:solidFill>
            <a:prstDash val="solid"/>
          </a:ln>
        </p:spPr>
      </p:sp>
      <p:sp>
        <p:nvSpPr>
          <p:cNvPr id="30" name="Shape 27"/>
          <p:cNvSpPr/>
          <p:nvPr/>
        </p:nvSpPr>
        <p:spPr>
          <a:xfrm>
            <a:off x="1706375" y="5020056"/>
            <a:ext cx="868680" cy="118872"/>
          </a:xfrm>
          <a:prstGeom prst="roundRect">
            <a:avLst>
              <a:gd name="adj" fmla="val 38462"/>
            </a:avLst>
          </a:prstGeom>
          <a:solidFill>
            <a:srgbClr val="D9D65A"/>
          </a:solidFill>
          <a:ln w="12700">
            <a:solidFill>
              <a:srgbClr val="D9D65A"/>
            </a:solidFill>
            <a:prstDash val="solid"/>
          </a:ln>
        </p:spPr>
      </p:sp>
      <p:sp>
        <p:nvSpPr>
          <p:cNvPr id="31" name="Shape 28"/>
          <p:cNvSpPr/>
          <p:nvPr/>
        </p:nvSpPr>
        <p:spPr>
          <a:xfrm>
            <a:off x="1852679" y="5175504"/>
            <a:ext cx="868680" cy="118872"/>
          </a:xfrm>
          <a:prstGeom prst="roundRect">
            <a:avLst>
              <a:gd name="adj" fmla="val 38462"/>
            </a:avLst>
          </a:prstGeom>
          <a:solidFill>
            <a:srgbClr val="D9D65A"/>
          </a:solidFill>
          <a:ln w="12700">
            <a:solidFill>
              <a:srgbClr val="D9D65A"/>
            </a:solidFill>
            <a:prstDash val="solid"/>
          </a:ln>
        </p:spPr>
      </p:sp>
      <p:sp>
        <p:nvSpPr>
          <p:cNvPr id="32" name="Shape 29"/>
          <p:cNvSpPr/>
          <p:nvPr/>
        </p:nvSpPr>
        <p:spPr>
          <a:xfrm rot="10800000">
            <a:off x="1920240" y="5349240"/>
            <a:ext cx="914400" cy="457200"/>
          </a:xfrm>
          <a:prstGeom prst="trapezoid">
            <a:avLst/>
          </a:prstGeom>
          <a:solidFill>
            <a:srgbClr val="5E5A78"/>
          </a:solidFill>
          <a:ln w="12700">
            <a:solidFill>
              <a:srgbClr val="5E5A78"/>
            </a:solidFill>
            <a:prstDash val="solid"/>
          </a:ln>
        </p:spPr>
      </p:sp>
      <p:sp>
        <p:nvSpPr>
          <p:cNvPr id="33" name="Shape 30"/>
          <p:cNvSpPr/>
          <p:nvPr/>
        </p:nvSpPr>
        <p:spPr>
          <a:xfrm rot="10800000">
            <a:off x="2221992" y="5843016"/>
            <a:ext cx="310896" cy="182880"/>
          </a:xfrm>
          <a:prstGeom prst="trapezoid">
            <a:avLst/>
          </a:prstGeom>
          <a:solidFill>
            <a:srgbClr val="5E5A78"/>
          </a:solidFill>
          <a:ln w="12700">
            <a:solidFill>
              <a:srgbClr val="5E5A78"/>
            </a:solidFill>
            <a:prstDash val="solid"/>
          </a:ln>
        </p:spPr>
      </p:sp>
      <p:sp>
        <p:nvSpPr>
          <p:cNvPr id="34" name="Shape 31"/>
          <p:cNvSpPr/>
          <p:nvPr/>
        </p:nvSpPr>
        <p:spPr>
          <a:xfrm>
            <a:off x="3063240" y="1627632"/>
            <a:ext cx="0" cy="996696"/>
          </a:xfrm>
          <a:prstGeom prst="line">
            <a:avLst/>
          </a:prstGeom>
          <a:noFill/>
          <a:ln w="25400">
            <a:solidFill>
              <a:srgbClr val="35305C"/>
            </a:solidFill>
            <a:prstDash val="solid"/>
          </a:ln>
        </p:spPr>
      </p:sp>
      <p:sp>
        <p:nvSpPr>
          <p:cNvPr id="35" name="Text 32"/>
          <p:cNvSpPr txBox="1"/>
          <p:nvPr/>
        </p:nvSpPr>
        <p:spPr>
          <a:xfrm>
            <a:off x="3200400" y="1805940"/>
            <a:ext cx="2377440" cy="640080"/>
          </a:xfrm>
          <a:prstGeom prst="rect">
            <a:avLst/>
          </a:prstGeom>
          <a:noFill/>
          <a:ln/>
        </p:spPr>
        <p:txBody>
          <a:bodyPr wrap="square" lIns="0" tIns="0" rIns="0" bIns="0" rtlCol="0" anchor="ctr"/>
          <a:lstStyle/>
          <a:p>
            <a:pPr indent="0" marL="0">
              <a:buNone/>
            </a:pPr>
            <a:r>
              <a:rPr lang="en-US" sz="1300" b="1" dirty="0">
                <a:solidFill>
                  <a:srgbClr val="0A032B"/>
                </a:solidFill>
                <a:latin typeface="Montserrat" pitchFamily="34" charset="0"/>
                <a:ea typeface="Montserrat" pitchFamily="34" charset="-122"/>
                <a:cs typeface="Montserrat" pitchFamily="34" charset="-120"/>
              </a:rPr>
              <a:t>7 cervicales</a:t>
            </a:r>
            <a:endParaRPr lang="en-US" sz="1300" dirty="0"/>
          </a:p>
          <a:p>
            <a:pPr indent="0" marL="0">
              <a:buNone/>
            </a:pPr>
            <a:r>
              <a:rPr lang="en-US" sz="1100" dirty="0">
                <a:solidFill>
                  <a:srgbClr val="5E5A78"/>
                </a:solidFill>
                <a:latin typeface="Arial" pitchFamily="34" charset="0"/>
                <a:ea typeface="Arial" pitchFamily="34" charset="-122"/>
                <a:cs typeface="Arial" pitchFamily="34" charset="-120"/>
              </a:rPr>
              <a:t>Courbure : lordose</a:t>
            </a:r>
            <a:endParaRPr lang="en-US" sz="1300" dirty="0"/>
          </a:p>
        </p:txBody>
      </p:sp>
      <p:sp>
        <p:nvSpPr>
          <p:cNvPr id="36" name="Shape 33"/>
          <p:cNvSpPr/>
          <p:nvPr/>
        </p:nvSpPr>
        <p:spPr>
          <a:xfrm>
            <a:off x="3063240" y="2715768"/>
            <a:ext cx="0" cy="1773936"/>
          </a:xfrm>
          <a:prstGeom prst="line">
            <a:avLst/>
          </a:prstGeom>
          <a:noFill/>
          <a:ln w="25400">
            <a:solidFill>
              <a:srgbClr val="0A032B"/>
            </a:solidFill>
            <a:prstDash val="solid"/>
          </a:ln>
        </p:spPr>
      </p:sp>
      <p:sp>
        <p:nvSpPr>
          <p:cNvPr id="37" name="Text 34"/>
          <p:cNvSpPr txBox="1"/>
          <p:nvPr/>
        </p:nvSpPr>
        <p:spPr>
          <a:xfrm>
            <a:off x="3200400" y="3282696"/>
            <a:ext cx="2377440" cy="640080"/>
          </a:xfrm>
          <a:prstGeom prst="rect">
            <a:avLst/>
          </a:prstGeom>
          <a:noFill/>
          <a:ln/>
        </p:spPr>
        <p:txBody>
          <a:bodyPr wrap="square" lIns="0" tIns="0" rIns="0" bIns="0" rtlCol="0" anchor="ctr"/>
          <a:lstStyle/>
          <a:p>
            <a:pPr indent="0" marL="0">
              <a:buNone/>
            </a:pPr>
            <a:r>
              <a:rPr lang="en-US" sz="1300" b="1" dirty="0">
                <a:solidFill>
                  <a:srgbClr val="0A032B"/>
                </a:solidFill>
                <a:latin typeface="Montserrat" pitchFamily="34" charset="0"/>
                <a:ea typeface="Montserrat" pitchFamily="34" charset="-122"/>
                <a:cs typeface="Montserrat" pitchFamily="34" charset="-120"/>
              </a:rPr>
              <a:t>12 dorsales</a:t>
            </a:r>
            <a:endParaRPr lang="en-US" sz="1300" dirty="0"/>
          </a:p>
          <a:p>
            <a:pPr indent="0" marL="0">
              <a:buNone/>
            </a:pPr>
            <a:r>
              <a:rPr lang="en-US" sz="1100" dirty="0">
                <a:solidFill>
                  <a:srgbClr val="5E5A78"/>
                </a:solidFill>
                <a:latin typeface="Arial" pitchFamily="34" charset="0"/>
                <a:ea typeface="Arial" pitchFamily="34" charset="-122"/>
                <a:cs typeface="Arial" pitchFamily="34" charset="-120"/>
              </a:rPr>
              <a:t>Courbure : cyphose</a:t>
            </a:r>
            <a:endParaRPr lang="en-US" sz="1300" dirty="0"/>
          </a:p>
        </p:txBody>
      </p:sp>
      <p:sp>
        <p:nvSpPr>
          <p:cNvPr id="38" name="Shape 35"/>
          <p:cNvSpPr/>
          <p:nvPr/>
        </p:nvSpPr>
        <p:spPr>
          <a:xfrm>
            <a:off x="3063240" y="4581144"/>
            <a:ext cx="0" cy="685800"/>
          </a:xfrm>
          <a:prstGeom prst="line">
            <a:avLst/>
          </a:prstGeom>
          <a:noFill/>
          <a:ln w="25400">
            <a:solidFill>
              <a:srgbClr val="D9D65A"/>
            </a:solidFill>
            <a:prstDash val="solid"/>
          </a:ln>
        </p:spPr>
      </p:sp>
      <p:sp>
        <p:nvSpPr>
          <p:cNvPr id="39" name="Text 36"/>
          <p:cNvSpPr txBox="1"/>
          <p:nvPr/>
        </p:nvSpPr>
        <p:spPr>
          <a:xfrm>
            <a:off x="3200400" y="4604004"/>
            <a:ext cx="2377440" cy="640080"/>
          </a:xfrm>
          <a:prstGeom prst="rect">
            <a:avLst/>
          </a:prstGeom>
          <a:noFill/>
          <a:ln/>
        </p:spPr>
        <p:txBody>
          <a:bodyPr wrap="square" lIns="0" tIns="0" rIns="0" bIns="0" rtlCol="0" anchor="ctr"/>
          <a:lstStyle/>
          <a:p>
            <a:pPr indent="0" marL="0">
              <a:buNone/>
            </a:pPr>
            <a:r>
              <a:rPr lang="en-US" sz="1300" b="1" dirty="0">
                <a:solidFill>
                  <a:srgbClr val="0A032B"/>
                </a:solidFill>
                <a:latin typeface="Montserrat" pitchFamily="34" charset="0"/>
                <a:ea typeface="Montserrat" pitchFamily="34" charset="-122"/>
                <a:cs typeface="Montserrat" pitchFamily="34" charset="-120"/>
              </a:rPr>
              <a:t>5 lombaires</a:t>
            </a:r>
            <a:endParaRPr lang="en-US" sz="1300" dirty="0"/>
          </a:p>
          <a:p>
            <a:pPr indent="0" marL="0">
              <a:buNone/>
            </a:pPr>
            <a:r>
              <a:rPr lang="en-US" sz="1100" dirty="0">
                <a:solidFill>
                  <a:srgbClr val="5E5A78"/>
                </a:solidFill>
                <a:latin typeface="Arial" pitchFamily="34" charset="0"/>
                <a:ea typeface="Arial" pitchFamily="34" charset="-122"/>
                <a:cs typeface="Arial" pitchFamily="34" charset="-120"/>
              </a:rPr>
              <a:t>Courbure : lordose · zone la plus sollicitée</a:t>
            </a:r>
            <a:endParaRPr lang="en-US" sz="1300" dirty="0"/>
          </a:p>
        </p:txBody>
      </p:sp>
      <p:sp>
        <p:nvSpPr>
          <p:cNvPr id="40" name="Shape 37"/>
          <p:cNvSpPr/>
          <p:nvPr/>
        </p:nvSpPr>
        <p:spPr>
          <a:xfrm>
            <a:off x="3063240" y="5358384"/>
            <a:ext cx="0" cy="640080"/>
          </a:xfrm>
          <a:prstGeom prst="line">
            <a:avLst/>
          </a:prstGeom>
          <a:noFill/>
          <a:ln w="25400">
            <a:solidFill>
              <a:srgbClr val="5E5A78"/>
            </a:solidFill>
            <a:prstDash val="solid"/>
          </a:ln>
        </p:spPr>
      </p:sp>
      <p:sp>
        <p:nvSpPr>
          <p:cNvPr id="41" name="Text 38"/>
          <p:cNvSpPr txBox="1"/>
          <p:nvPr/>
        </p:nvSpPr>
        <p:spPr>
          <a:xfrm>
            <a:off x="3200400" y="5358384"/>
            <a:ext cx="2377440" cy="640080"/>
          </a:xfrm>
          <a:prstGeom prst="rect">
            <a:avLst/>
          </a:prstGeom>
          <a:noFill/>
          <a:ln/>
        </p:spPr>
        <p:txBody>
          <a:bodyPr wrap="square" lIns="0" tIns="0" rIns="0" bIns="0" rtlCol="0" anchor="ctr"/>
          <a:lstStyle/>
          <a:p>
            <a:pPr indent="0" marL="0">
              <a:buNone/>
            </a:pPr>
            <a:r>
              <a:rPr lang="en-US" sz="1300" b="1" dirty="0">
                <a:solidFill>
                  <a:srgbClr val="0A032B"/>
                </a:solidFill>
                <a:latin typeface="Montserrat" pitchFamily="34" charset="0"/>
                <a:ea typeface="Montserrat" pitchFamily="34" charset="-122"/>
                <a:cs typeface="Montserrat" pitchFamily="34" charset="-120"/>
              </a:rPr>
              <a:t>Sacrum et coccyx</a:t>
            </a:r>
            <a:endParaRPr lang="en-US" sz="1300" dirty="0"/>
          </a:p>
          <a:p>
            <a:pPr indent="0" marL="0">
              <a:buNone/>
            </a:pPr>
            <a:r>
              <a:rPr lang="en-US" sz="1100" dirty="0">
                <a:solidFill>
                  <a:srgbClr val="5E5A78"/>
                </a:solidFill>
                <a:latin typeface="Arial" pitchFamily="34" charset="0"/>
                <a:ea typeface="Arial" pitchFamily="34" charset="-122"/>
                <a:cs typeface="Arial" pitchFamily="34" charset="-120"/>
              </a:rPr>
              <a:t>Vertèbres soudées</a:t>
            </a:r>
            <a:endParaRPr lang="en-US" sz="1300" dirty="0"/>
          </a:p>
        </p:txBody>
      </p:sp>
      <p:sp>
        <p:nvSpPr>
          <p:cNvPr id="42" name="Shape 39"/>
          <p:cNvSpPr/>
          <p:nvPr/>
        </p:nvSpPr>
        <p:spPr>
          <a:xfrm>
            <a:off x="5943600" y="1600200"/>
            <a:ext cx="2712568" cy="2080260"/>
          </a:xfrm>
          <a:prstGeom prst="roundRect">
            <a:avLst>
              <a:gd name="adj" fmla="val 3516"/>
            </a:avLst>
          </a:prstGeom>
          <a:solidFill>
            <a:srgbClr val="EEEDF5"/>
          </a:solidFill>
          <a:ln w="12700">
            <a:solidFill>
              <a:srgbClr val="EEEDF5"/>
            </a:solidFill>
            <a:prstDash val="solid"/>
          </a:ln>
        </p:spPr>
      </p:sp>
      <p:sp>
        <p:nvSpPr>
          <p:cNvPr id="43" name="Shape 40"/>
          <p:cNvSpPr/>
          <p:nvPr/>
        </p:nvSpPr>
        <p:spPr>
          <a:xfrm>
            <a:off x="6172200" y="1828800"/>
            <a:ext cx="548640" cy="548640"/>
          </a:xfrm>
          <a:prstGeom prst="ellipse">
            <a:avLst/>
          </a:prstGeom>
          <a:solidFill>
            <a:srgbClr val="0A032B"/>
          </a:solidFill>
          <a:ln w="12700">
            <a:solidFill>
              <a:srgbClr val="0A032B"/>
            </a:solidFill>
            <a:prstDash val="solid"/>
          </a:ln>
        </p:spPr>
      </p:sp>
      <p:pic>
        <p:nvPicPr>
          <p:cNvPr id="44" name="Image 1" descr="preencoded.png">    </p:cNvPr>
          <p:cNvPicPr>
            <a:picLocks noChangeAspect="1"/>
          </p:cNvPicPr>
          <p:nvPr/>
        </p:nvPicPr>
        <p:blipFill>
          <a:blip r:embed="rId2"/>
          <a:stretch>
            <a:fillRect/>
          </a:stretch>
        </p:blipFill>
        <p:spPr>
          <a:xfrm>
            <a:off x="6309360" y="1965960"/>
            <a:ext cx="274320" cy="274320"/>
          </a:xfrm>
          <a:prstGeom prst="rect">
            <a:avLst/>
          </a:prstGeom>
        </p:spPr>
      </p:pic>
      <p:sp>
        <p:nvSpPr>
          <p:cNvPr id="45" name="Text 41"/>
          <p:cNvSpPr txBox="1"/>
          <p:nvPr/>
        </p:nvSpPr>
        <p:spPr>
          <a:xfrm>
            <a:off x="6903720" y="1828800"/>
            <a:ext cx="1523848" cy="548640"/>
          </a:xfrm>
          <a:prstGeom prst="rect">
            <a:avLst/>
          </a:prstGeom>
          <a:noFill/>
          <a:ln/>
        </p:spPr>
        <p:txBody>
          <a:bodyPr wrap="square" lIns="0" tIns="0" rIns="0" bIns="0" rtlCol="0" anchor="ctr"/>
          <a:lstStyle/>
          <a:p>
            <a:pPr indent="0" marL="0">
              <a:buNone/>
            </a:pPr>
            <a:r>
              <a:rPr lang="en-US" sz="1400" b="1" dirty="0">
                <a:solidFill>
                  <a:srgbClr val="0A032B"/>
                </a:solidFill>
                <a:latin typeface="Montserrat" pitchFamily="34" charset="0"/>
                <a:ea typeface="Montserrat" pitchFamily="34" charset="-122"/>
                <a:cs typeface="Montserrat" pitchFamily="34" charset="-120"/>
              </a:rPr>
              <a:t>Protéger</a:t>
            </a:r>
            <a:endParaRPr lang="en-US" sz="1400" dirty="0"/>
          </a:p>
        </p:txBody>
      </p:sp>
      <p:sp>
        <p:nvSpPr>
          <p:cNvPr id="46" name="Text 42"/>
          <p:cNvSpPr txBox="1"/>
          <p:nvPr/>
        </p:nvSpPr>
        <p:spPr>
          <a:xfrm>
            <a:off x="6172200" y="2514600"/>
            <a:ext cx="2255368" cy="1028700"/>
          </a:xfrm>
          <a:prstGeom prst="rect">
            <a:avLst/>
          </a:prstGeom>
          <a:noFill/>
          <a:ln/>
        </p:spPr>
        <p:txBody>
          <a:bodyPr wrap="square" lIns="0" tIns="0" rIns="0" bIns="0" rtlCol="0" anchor="t"/>
          <a:lstStyle/>
          <a:p>
            <a:pPr indent="0" marL="0">
              <a:buNone/>
            </a:pPr>
            <a:r>
              <a:rPr lang="en-US" sz="1250" dirty="0">
                <a:solidFill>
                  <a:srgbClr val="35305C"/>
                </a:solidFill>
                <a:latin typeface="Arial" pitchFamily="34" charset="0"/>
                <a:ea typeface="Arial" pitchFamily="34" charset="-122"/>
                <a:cs typeface="Arial" pitchFamily="34" charset="-120"/>
              </a:rPr>
              <a:t>Les vertèbres forment un canal qui protège la moelle épinière et les nerfs.</a:t>
            </a:r>
            <a:endParaRPr lang="en-US" sz="1250" dirty="0"/>
          </a:p>
        </p:txBody>
      </p:sp>
      <p:sp>
        <p:nvSpPr>
          <p:cNvPr id="47" name="Shape 43"/>
          <p:cNvSpPr/>
          <p:nvPr/>
        </p:nvSpPr>
        <p:spPr>
          <a:xfrm>
            <a:off x="8930488" y="1600200"/>
            <a:ext cx="2712568" cy="2080260"/>
          </a:xfrm>
          <a:prstGeom prst="roundRect">
            <a:avLst>
              <a:gd name="adj" fmla="val 3516"/>
            </a:avLst>
          </a:prstGeom>
          <a:solidFill>
            <a:srgbClr val="EEEDF5"/>
          </a:solidFill>
          <a:ln w="12700">
            <a:solidFill>
              <a:srgbClr val="EEEDF5"/>
            </a:solidFill>
            <a:prstDash val="solid"/>
          </a:ln>
        </p:spPr>
      </p:sp>
      <p:sp>
        <p:nvSpPr>
          <p:cNvPr id="48" name="Shape 44"/>
          <p:cNvSpPr/>
          <p:nvPr/>
        </p:nvSpPr>
        <p:spPr>
          <a:xfrm>
            <a:off x="9159088" y="1828800"/>
            <a:ext cx="548640" cy="548640"/>
          </a:xfrm>
          <a:prstGeom prst="ellipse">
            <a:avLst/>
          </a:prstGeom>
          <a:solidFill>
            <a:srgbClr val="0A032B"/>
          </a:solidFill>
          <a:ln w="12700">
            <a:solidFill>
              <a:srgbClr val="0A032B"/>
            </a:solidFill>
            <a:prstDash val="solid"/>
          </a:ln>
        </p:spPr>
      </p:sp>
      <p:pic>
        <p:nvPicPr>
          <p:cNvPr id="49" name="Image 2" descr="preencoded.png">    </p:cNvPr>
          <p:cNvPicPr>
            <a:picLocks noChangeAspect="1"/>
          </p:cNvPicPr>
          <p:nvPr/>
        </p:nvPicPr>
        <p:blipFill>
          <a:blip r:embed="rId3"/>
          <a:stretch>
            <a:fillRect/>
          </a:stretch>
        </p:blipFill>
        <p:spPr>
          <a:xfrm>
            <a:off x="9296248" y="1965960"/>
            <a:ext cx="274320" cy="274320"/>
          </a:xfrm>
          <a:prstGeom prst="rect">
            <a:avLst/>
          </a:prstGeom>
        </p:spPr>
      </p:pic>
      <p:sp>
        <p:nvSpPr>
          <p:cNvPr id="50" name="Text 45"/>
          <p:cNvSpPr txBox="1"/>
          <p:nvPr/>
        </p:nvSpPr>
        <p:spPr>
          <a:xfrm>
            <a:off x="9890608" y="1828800"/>
            <a:ext cx="1523848" cy="548640"/>
          </a:xfrm>
          <a:prstGeom prst="rect">
            <a:avLst/>
          </a:prstGeom>
          <a:noFill/>
          <a:ln/>
        </p:spPr>
        <p:txBody>
          <a:bodyPr wrap="square" lIns="0" tIns="0" rIns="0" bIns="0" rtlCol="0" anchor="ctr"/>
          <a:lstStyle/>
          <a:p>
            <a:pPr indent="0" marL="0">
              <a:buNone/>
            </a:pPr>
            <a:r>
              <a:rPr lang="en-US" sz="1400" b="1" dirty="0">
                <a:solidFill>
                  <a:srgbClr val="0A032B"/>
                </a:solidFill>
                <a:latin typeface="Montserrat" pitchFamily="34" charset="0"/>
                <a:ea typeface="Montserrat" pitchFamily="34" charset="-122"/>
                <a:cs typeface="Montserrat" pitchFamily="34" charset="-120"/>
              </a:rPr>
              <a:t>Soutenir</a:t>
            </a:r>
            <a:endParaRPr lang="en-US" sz="1400" dirty="0"/>
          </a:p>
        </p:txBody>
      </p:sp>
      <p:sp>
        <p:nvSpPr>
          <p:cNvPr id="51" name="Text 46"/>
          <p:cNvSpPr txBox="1"/>
          <p:nvPr/>
        </p:nvSpPr>
        <p:spPr>
          <a:xfrm>
            <a:off x="9159088" y="2514600"/>
            <a:ext cx="2255368" cy="1028700"/>
          </a:xfrm>
          <a:prstGeom prst="rect">
            <a:avLst/>
          </a:prstGeom>
          <a:noFill/>
          <a:ln/>
        </p:spPr>
        <p:txBody>
          <a:bodyPr wrap="square" lIns="0" tIns="0" rIns="0" bIns="0" rtlCol="0" anchor="t"/>
          <a:lstStyle/>
          <a:p>
            <a:pPr indent="0" marL="0">
              <a:buNone/>
            </a:pPr>
            <a:r>
              <a:rPr lang="en-US" sz="1250" dirty="0">
                <a:solidFill>
                  <a:srgbClr val="35305C"/>
                </a:solidFill>
                <a:latin typeface="Arial" pitchFamily="34" charset="0"/>
                <a:ea typeface="Arial" pitchFamily="34" charset="-122"/>
                <a:cs typeface="Arial" pitchFamily="34" charset="-120"/>
              </a:rPr>
              <a:t>La colonne porte le poids du tronc, de la tête et des charges manipulées.</a:t>
            </a:r>
            <a:endParaRPr lang="en-US" sz="1250" dirty="0"/>
          </a:p>
        </p:txBody>
      </p:sp>
      <p:sp>
        <p:nvSpPr>
          <p:cNvPr id="52" name="Shape 47"/>
          <p:cNvSpPr/>
          <p:nvPr/>
        </p:nvSpPr>
        <p:spPr>
          <a:xfrm>
            <a:off x="5943600" y="3954780"/>
            <a:ext cx="2712568" cy="2080260"/>
          </a:xfrm>
          <a:prstGeom prst="roundRect">
            <a:avLst>
              <a:gd name="adj" fmla="val 3516"/>
            </a:avLst>
          </a:prstGeom>
          <a:solidFill>
            <a:srgbClr val="EEEDF5"/>
          </a:solidFill>
          <a:ln w="12700">
            <a:solidFill>
              <a:srgbClr val="EEEDF5"/>
            </a:solidFill>
            <a:prstDash val="solid"/>
          </a:ln>
        </p:spPr>
      </p:sp>
      <p:sp>
        <p:nvSpPr>
          <p:cNvPr id="53" name="Shape 48"/>
          <p:cNvSpPr/>
          <p:nvPr/>
        </p:nvSpPr>
        <p:spPr>
          <a:xfrm>
            <a:off x="6172200" y="4183380"/>
            <a:ext cx="548640" cy="548640"/>
          </a:xfrm>
          <a:prstGeom prst="ellipse">
            <a:avLst/>
          </a:prstGeom>
          <a:solidFill>
            <a:srgbClr val="0A032B"/>
          </a:solidFill>
          <a:ln w="12700">
            <a:solidFill>
              <a:srgbClr val="0A032B"/>
            </a:solidFill>
            <a:prstDash val="solid"/>
          </a:ln>
        </p:spPr>
      </p:sp>
      <p:pic>
        <p:nvPicPr>
          <p:cNvPr id="54" name="Image 3" descr="preencoded.png">    </p:cNvPr>
          <p:cNvPicPr>
            <a:picLocks noChangeAspect="1"/>
          </p:cNvPicPr>
          <p:nvPr/>
        </p:nvPicPr>
        <p:blipFill>
          <a:blip r:embed="rId4"/>
          <a:stretch>
            <a:fillRect/>
          </a:stretch>
        </p:blipFill>
        <p:spPr>
          <a:xfrm>
            <a:off x="6309360" y="4320540"/>
            <a:ext cx="274320" cy="274320"/>
          </a:xfrm>
          <a:prstGeom prst="rect">
            <a:avLst/>
          </a:prstGeom>
        </p:spPr>
      </p:pic>
      <p:sp>
        <p:nvSpPr>
          <p:cNvPr id="55" name="Text 49"/>
          <p:cNvSpPr txBox="1"/>
          <p:nvPr/>
        </p:nvSpPr>
        <p:spPr>
          <a:xfrm>
            <a:off x="6903720" y="4183380"/>
            <a:ext cx="1523848" cy="548640"/>
          </a:xfrm>
          <a:prstGeom prst="rect">
            <a:avLst/>
          </a:prstGeom>
          <a:noFill/>
          <a:ln/>
        </p:spPr>
        <p:txBody>
          <a:bodyPr wrap="square" lIns="0" tIns="0" rIns="0" bIns="0" rtlCol="0" anchor="ctr"/>
          <a:lstStyle/>
          <a:p>
            <a:pPr indent="0" marL="0">
              <a:buNone/>
            </a:pPr>
            <a:r>
              <a:rPr lang="en-US" sz="1400" b="1" dirty="0">
                <a:solidFill>
                  <a:srgbClr val="0A032B"/>
                </a:solidFill>
                <a:latin typeface="Montserrat" pitchFamily="34" charset="0"/>
                <a:ea typeface="Montserrat" pitchFamily="34" charset="-122"/>
                <a:cs typeface="Montserrat" pitchFamily="34" charset="-120"/>
              </a:rPr>
              <a:t>Bouger</a:t>
            </a:r>
            <a:endParaRPr lang="en-US" sz="1400" dirty="0"/>
          </a:p>
        </p:txBody>
      </p:sp>
      <p:sp>
        <p:nvSpPr>
          <p:cNvPr id="56" name="Text 50"/>
          <p:cNvSpPr txBox="1"/>
          <p:nvPr/>
        </p:nvSpPr>
        <p:spPr>
          <a:xfrm>
            <a:off x="6172200" y="4869180"/>
            <a:ext cx="2255368" cy="1028700"/>
          </a:xfrm>
          <a:prstGeom prst="rect">
            <a:avLst/>
          </a:prstGeom>
          <a:noFill/>
          <a:ln/>
        </p:spPr>
        <p:txBody>
          <a:bodyPr wrap="square" lIns="0" tIns="0" rIns="0" bIns="0" rtlCol="0" anchor="t"/>
          <a:lstStyle/>
          <a:p>
            <a:pPr indent="0" marL="0">
              <a:buNone/>
            </a:pPr>
            <a:r>
              <a:rPr lang="en-US" sz="1250" dirty="0">
                <a:solidFill>
                  <a:srgbClr val="35305C"/>
                </a:solidFill>
                <a:latin typeface="Arial" pitchFamily="34" charset="0"/>
                <a:ea typeface="Arial" pitchFamily="34" charset="-122"/>
                <a:cs typeface="Arial" pitchFamily="34" charset="-120"/>
              </a:rPr>
              <a:t>Flexion, extension, inclinaison, rotation : grâce aux disques et aux articulations.</a:t>
            </a:r>
            <a:endParaRPr lang="en-US" sz="1250" dirty="0"/>
          </a:p>
        </p:txBody>
      </p:sp>
      <p:sp>
        <p:nvSpPr>
          <p:cNvPr id="57" name="Shape 51"/>
          <p:cNvSpPr/>
          <p:nvPr/>
        </p:nvSpPr>
        <p:spPr>
          <a:xfrm>
            <a:off x="8930488" y="3954780"/>
            <a:ext cx="2712568" cy="2080260"/>
          </a:xfrm>
          <a:prstGeom prst="roundRect">
            <a:avLst>
              <a:gd name="adj" fmla="val 3516"/>
            </a:avLst>
          </a:prstGeom>
          <a:solidFill>
            <a:srgbClr val="EEEDF5"/>
          </a:solidFill>
          <a:ln w="12700">
            <a:solidFill>
              <a:srgbClr val="EEEDF5"/>
            </a:solidFill>
            <a:prstDash val="solid"/>
          </a:ln>
        </p:spPr>
      </p:sp>
      <p:sp>
        <p:nvSpPr>
          <p:cNvPr id="58" name="Shape 52"/>
          <p:cNvSpPr/>
          <p:nvPr/>
        </p:nvSpPr>
        <p:spPr>
          <a:xfrm>
            <a:off x="9159088" y="4183380"/>
            <a:ext cx="548640" cy="548640"/>
          </a:xfrm>
          <a:prstGeom prst="ellipse">
            <a:avLst/>
          </a:prstGeom>
          <a:solidFill>
            <a:srgbClr val="0A032B"/>
          </a:solidFill>
          <a:ln w="12700">
            <a:solidFill>
              <a:srgbClr val="0A032B"/>
            </a:solidFill>
            <a:prstDash val="solid"/>
          </a:ln>
        </p:spPr>
      </p:sp>
      <p:pic>
        <p:nvPicPr>
          <p:cNvPr id="59" name="Image 4" descr="preencoded.png">    </p:cNvPr>
          <p:cNvPicPr>
            <a:picLocks noChangeAspect="1"/>
          </p:cNvPicPr>
          <p:nvPr/>
        </p:nvPicPr>
        <p:blipFill>
          <a:blip r:embed="rId5"/>
          <a:stretch>
            <a:fillRect/>
          </a:stretch>
        </p:blipFill>
        <p:spPr>
          <a:xfrm>
            <a:off x="9296248" y="4320540"/>
            <a:ext cx="274320" cy="274320"/>
          </a:xfrm>
          <a:prstGeom prst="rect">
            <a:avLst/>
          </a:prstGeom>
        </p:spPr>
      </p:pic>
      <p:sp>
        <p:nvSpPr>
          <p:cNvPr id="60" name="Text 53"/>
          <p:cNvSpPr txBox="1"/>
          <p:nvPr/>
        </p:nvSpPr>
        <p:spPr>
          <a:xfrm>
            <a:off x="9890608" y="4183380"/>
            <a:ext cx="1523848" cy="548640"/>
          </a:xfrm>
          <a:prstGeom prst="rect">
            <a:avLst/>
          </a:prstGeom>
          <a:noFill/>
          <a:ln/>
        </p:spPr>
        <p:txBody>
          <a:bodyPr wrap="square" lIns="0" tIns="0" rIns="0" bIns="0" rtlCol="0" anchor="ctr"/>
          <a:lstStyle/>
          <a:p>
            <a:pPr indent="0" marL="0">
              <a:buNone/>
            </a:pPr>
            <a:r>
              <a:rPr lang="en-US" sz="1400" b="1" dirty="0">
                <a:solidFill>
                  <a:srgbClr val="0A032B"/>
                </a:solidFill>
                <a:latin typeface="Montserrat" pitchFamily="34" charset="0"/>
                <a:ea typeface="Montserrat" pitchFamily="34" charset="-122"/>
                <a:cs typeface="Montserrat" pitchFamily="34" charset="-120"/>
              </a:rPr>
              <a:t>Respecter les courbures</a:t>
            </a:r>
            <a:endParaRPr lang="en-US" sz="1400" dirty="0"/>
          </a:p>
        </p:txBody>
      </p:sp>
      <p:sp>
        <p:nvSpPr>
          <p:cNvPr id="61" name="Text 54"/>
          <p:cNvSpPr txBox="1"/>
          <p:nvPr/>
        </p:nvSpPr>
        <p:spPr>
          <a:xfrm>
            <a:off x="9159088" y="4869180"/>
            <a:ext cx="2255368" cy="1028700"/>
          </a:xfrm>
          <a:prstGeom prst="rect">
            <a:avLst/>
          </a:prstGeom>
          <a:noFill/>
          <a:ln/>
        </p:spPr>
        <p:txBody>
          <a:bodyPr wrap="square" lIns="0" tIns="0" rIns="0" bIns="0" rtlCol="0" anchor="t"/>
          <a:lstStyle/>
          <a:p>
            <a:pPr indent="0" marL="0">
              <a:buNone/>
            </a:pPr>
            <a:r>
              <a:rPr lang="en-US" sz="1250" dirty="0">
                <a:solidFill>
                  <a:srgbClr val="35305C"/>
                </a:solidFill>
                <a:latin typeface="Arial" pitchFamily="34" charset="0"/>
                <a:ea typeface="Arial" pitchFamily="34" charset="-122"/>
                <a:cs typeface="Arial" pitchFamily="34" charset="-120"/>
              </a:rPr>
              <a:t>Le dos est le plus résistant quand ses 3 courbures naturelles sont conservées.</a:t>
            </a:r>
            <a:endParaRPr lang="en-US" sz="1250" dirty="0"/>
          </a:p>
        </p:txBody>
      </p:sp>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235440" cy="685800"/>
          </a:xfrm>
          <a:prstGeom prst="rect">
            <a:avLst/>
          </a:prstGeom>
          <a:noFill/>
          <a:ln/>
        </p:spPr>
        <p:txBody>
          <a:bodyPr wrap="square" lIns="0" tIns="0" rIns="0" bIns="0" rtlCol="0" anchor="ctr"/>
          <a:lstStyle/>
          <a:p>
            <a:pPr indent="0" marL="0">
              <a:buNone/>
            </a:pPr>
            <a:r>
              <a:rPr lang="en-US" sz="2800" b="1" dirty="0">
                <a:solidFill>
                  <a:srgbClr val="0A032B"/>
                </a:solidFill>
                <a:latin typeface="Montserrat" pitchFamily="34" charset="0"/>
                <a:ea typeface="Montserrat" pitchFamily="34" charset="-122"/>
                <a:cs typeface="Montserrat" pitchFamily="34" charset="-120"/>
              </a:rPr>
              <a:t>Le disque intervertébral : l'amortisseur</a:t>
            </a:r>
            <a:endParaRPr lang="en-US" sz="2800" dirty="0"/>
          </a:p>
        </p:txBody>
      </p:sp>
      <p:sp>
        <p:nvSpPr>
          <p:cNvPr id="3" name="Shape 1"/>
          <p:cNvSpPr/>
          <p:nvPr/>
        </p:nvSpPr>
        <p:spPr>
          <a:xfrm>
            <a:off x="10042855" y="530352"/>
            <a:ext cx="1600200" cy="347472"/>
          </a:xfrm>
          <a:prstGeom prst="roundRect">
            <a:avLst>
              <a:gd name="adj" fmla="val 50000"/>
            </a:avLst>
          </a:prstGeom>
          <a:solidFill>
            <a:srgbClr val="0A032B"/>
          </a:solidFill>
          <a:ln w="12700">
            <a:solidFill>
              <a:srgbClr val="0A032B"/>
            </a:solidFill>
            <a:prstDash val="solid"/>
          </a:ln>
        </p:spPr>
      </p:sp>
      <p:sp>
        <p:nvSpPr>
          <p:cNvPr id="4" name="Text 2"/>
          <p:cNvSpPr txBox="1"/>
          <p:nvPr/>
        </p:nvSpPr>
        <p:spPr>
          <a:xfrm>
            <a:off x="10042855" y="530352"/>
            <a:ext cx="1600200" cy="347472"/>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Montserrat" pitchFamily="34" charset="0"/>
                <a:ea typeface="Montserrat" pitchFamily="34" charset="-122"/>
                <a:cs typeface="Montserrat" pitchFamily="34" charset="-120"/>
              </a:rPr>
              <a:t>THÉORIE</a:t>
            </a:r>
            <a:endParaRPr lang="en-US" sz="1100" dirty="0"/>
          </a:p>
        </p:txBody>
      </p:sp>
      <p:sp>
        <p:nvSpPr>
          <p:cNvPr id="5" name="Text 3"/>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5E5A78"/>
                </a:solidFill>
                <a:latin typeface="Arial" pitchFamily="34" charset="0"/>
                <a:ea typeface="Arial" pitchFamily="34" charset="-122"/>
                <a:cs typeface="Arial" pitchFamily="34" charset="-120"/>
              </a:rPr>
              <a:t>Gestes et postures de l'élu  ·  Séquence 1</a:t>
            </a:r>
            <a:endParaRPr lang="en-US" sz="900" dirty="0"/>
          </a:p>
        </p:txBody>
      </p:sp>
      <p:pic>
        <p:nvPicPr>
          <p:cNvPr id="6" name="Image 0" descr="logo_light.png">    </p:cNvPr>
          <p:cNvPicPr>
            <a:picLocks noChangeAspect="1"/>
          </p:cNvPicPr>
          <p:nvPr/>
        </p:nvPicPr>
        <p:blipFill>
          <a:blip r:embed="rId1"/>
          <a:stretch>
            <a:fillRect/>
          </a:stretch>
        </p:blipFill>
        <p:spPr>
          <a:xfrm>
            <a:off x="10682935" y="6236208"/>
            <a:ext cx="960120" cy="398441"/>
          </a:xfrm>
          <a:prstGeom prst="rect">
            <a:avLst/>
          </a:prstGeom>
        </p:spPr>
      </p:pic>
      <p:sp>
        <p:nvSpPr>
          <p:cNvPr id="7" name="Shape 4"/>
          <p:cNvSpPr/>
          <p:nvPr/>
        </p:nvSpPr>
        <p:spPr>
          <a:xfrm>
            <a:off x="548640" y="1463040"/>
            <a:ext cx="4846320" cy="4526280"/>
          </a:xfrm>
          <a:prstGeom prst="roundRect">
            <a:avLst>
              <a:gd name="adj" fmla="val 1616"/>
            </a:avLst>
          </a:prstGeom>
          <a:solidFill>
            <a:srgbClr val="EEEDF5"/>
          </a:solidFill>
          <a:ln w="12700">
            <a:solidFill>
              <a:srgbClr val="EEEDF5"/>
            </a:solidFill>
            <a:prstDash val="solid"/>
          </a:ln>
        </p:spPr>
      </p:sp>
      <p:sp>
        <p:nvSpPr>
          <p:cNvPr id="8" name="Shape 5"/>
          <p:cNvSpPr/>
          <p:nvPr/>
        </p:nvSpPr>
        <p:spPr>
          <a:xfrm>
            <a:off x="1371600" y="1874520"/>
            <a:ext cx="3200400" cy="685800"/>
          </a:xfrm>
          <a:prstGeom prst="roundRect">
            <a:avLst>
              <a:gd name="adj" fmla="val 16000"/>
            </a:avLst>
          </a:prstGeom>
          <a:solidFill>
            <a:srgbClr val="0A032B"/>
          </a:solidFill>
          <a:ln w="12700">
            <a:solidFill>
              <a:srgbClr val="0A032B"/>
            </a:solidFill>
            <a:prstDash val="solid"/>
          </a:ln>
        </p:spPr>
      </p:sp>
      <p:sp>
        <p:nvSpPr>
          <p:cNvPr id="9" name="Text 6"/>
          <p:cNvSpPr txBox="1"/>
          <p:nvPr/>
        </p:nvSpPr>
        <p:spPr>
          <a:xfrm>
            <a:off x="1371600" y="1874520"/>
            <a:ext cx="3200400"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Vertèbre</a:t>
            </a:r>
            <a:endParaRPr lang="en-US" sz="1300" dirty="0"/>
          </a:p>
        </p:txBody>
      </p:sp>
      <p:sp>
        <p:nvSpPr>
          <p:cNvPr id="10" name="Shape 7"/>
          <p:cNvSpPr/>
          <p:nvPr/>
        </p:nvSpPr>
        <p:spPr>
          <a:xfrm>
            <a:off x="1371600" y="2651760"/>
            <a:ext cx="3200400" cy="685800"/>
          </a:xfrm>
          <a:prstGeom prst="ellipse">
            <a:avLst/>
          </a:prstGeom>
          <a:solidFill>
            <a:srgbClr val="DCDAEA"/>
          </a:solidFill>
          <a:ln w="19050">
            <a:solidFill>
              <a:srgbClr val="35305C"/>
            </a:solidFill>
            <a:prstDash val="solid"/>
          </a:ln>
        </p:spPr>
      </p:sp>
      <p:sp>
        <p:nvSpPr>
          <p:cNvPr id="11" name="Shape 8"/>
          <p:cNvSpPr/>
          <p:nvPr/>
        </p:nvSpPr>
        <p:spPr>
          <a:xfrm>
            <a:off x="2514600" y="2788920"/>
            <a:ext cx="914400" cy="411480"/>
          </a:xfrm>
          <a:prstGeom prst="ellipse">
            <a:avLst/>
          </a:prstGeom>
          <a:solidFill>
            <a:srgbClr val="D9D65A"/>
          </a:solidFill>
          <a:ln w="12700">
            <a:solidFill>
              <a:srgbClr val="D9D65A"/>
            </a:solidFill>
            <a:prstDash val="solid"/>
          </a:ln>
        </p:spPr>
      </p:sp>
      <p:sp>
        <p:nvSpPr>
          <p:cNvPr id="12" name="Shape 9"/>
          <p:cNvSpPr/>
          <p:nvPr/>
        </p:nvSpPr>
        <p:spPr>
          <a:xfrm>
            <a:off x="1371600" y="3429000"/>
            <a:ext cx="3200400" cy="685800"/>
          </a:xfrm>
          <a:prstGeom prst="roundRect">
            <a:avLst>
              <a:gd name="adj" fmla="val 16000"/>
            </a:avLst>
          </a:prstGeom>
          <a:solidFill>
            <a:srgbClr val="0A032B"/>
          </a:solidFill>
          <a:ln w="12700">
            <a:solidFill>
              <a:srgbClr val="0A032B"/>
            </a:solidFill>
            <a:prstDash val="solid"/>
          </a:ln>
        </p:spPr>
      </p:sp>
      <p:sp>
        <p:nvSpPr>
          <p:cNvPr id="13" name="Text 10"/>
          <p:cNvSpPr txBox="1"/>
          <p:nvPr/>
        </p:nvSpPr>
        <p:spPr>
          <a:xfrm>
            <a:off x="1371600" y="3429000"/>
            <a:ext cx="3200400"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Vertèbre</a:t>
            </a:r>
            <a:endParaRPr lang="en-US" sz="1300" dirty="0"/>
          </a:p>
        </p:txBody>
      </p:sp>
      <p:sp>
        <p:nvSpPr>
          <p:cNvPr id="14" name="Text 11"/>
          <p:cNvSpPr txBox="1"/>
          <p:nvPr/>
        </p:nvSpPr>
        <p:spPr>
          <a:xfrm>
            <a:off x="822960" y="4297680"/>
            <a:ext cx="4297680" cy="1554480"/>
          </a:xfrm>
          <a:prstGeom prst="rect">
            <a:avLst/>
          </a:prstGeom>
          <a:noFill/>
          <a:ln/>
        </p:spPr>
        <p:txBody>
          <a:bodyPr wrap="square" lIns="0" tIns="0" rIns="0" bIns="0" rtlCol="0" anchor="t"/>
          <a:lstStyle/>
          <a:p>
            <a:pPr indent="0" marL="0">
              <a:spcAft>
                <a:spcPts val="400"/>
              </a:spcAft>
              <a:buNone/>
            </a:pPr>
            <a:r>
              <a:rPr lang="en-US" sz="1250" b="1" dirty="0">
                <a:solidFill>
                  <a:srgbClr val="0A032B"/>
                </a:solidFill>
                <a:latin typeface="Arial" pitchFamily="34" charset="0"/>
                <a:ea typeface="Arial" pitchFamily="34" charset="-122"/>
                <a:cs typeface="Arial" pitchFamily="34" charset="-120"/>
              </a:rPr>
              <a:t>Noyau gélatineux </a:t>
            </a:r>
            <a:pPr indent="0" marL="0">
              <a:spcAft>
                <a:spcPts val="400"/>
              </a:spcAft>
              <a:buNone/>
            </a:pPr>
            <a:r>
              <a:rPr lang="en-US" sz="1250" dirty="0">
                <a:solidFill>
                  <a:srgbClr val="35305C"/>
                </a:solidFill>
                <a:latin typeface="Arial" pitchFamily="34" charset="0"/>
                <a:ea typeface="Arial" pitchFamily="34" charset="-122"/>
                <a:cs typeface="Arial" pitchFamily="34" charset="-120"/>
              </a:rPr>
              <a:t>(jaune) : répartit les pressions.</a:t>
            </a:r>
            <a:endParaRPr lang="en-US" sz="1250" dirty="0"/>
          </a:p>
          <a:p>
            <a:pPr indent="0" marL="0">
              <a:spcAft>
                <a:spcPts val="400"/>
              </a:spcAft>
              <a:buNone/>
            </a:pPr>
            <a:r>
              <a:rPr lang="en-US" sz="1250" b="1" dirty="0">
                <a:solidFill>
                  <a:srgbClr val="0A032B"/>
                </a:solidFill>
                <a:latin typeface="Arial" pitchFamily="34" charset="0"/>
                <a:ea typeface="Arial" pitchFamily="34" charset="-122"/>
                <a:cs typeface="Arial" pitchFamily="34" charset="-120"/>
              </a:rPr>
              <a:t>Anneau fibreux </a:t>
            </a:r>
            <a:pPr indent="0" marL="0">
              <a:spcAft>
                <a:spcPts val="400"/>
              </a:spcAft>
              <a:buNone/>
            </a:pPr>
            <a:r>
              <a:rPr lang="en-US" sz="1250" dirty="0">
                <a:solidFill>
                  <a:srgbClr val="35305C"/>
                </a:solidFill>
                <a:latin typeface="Arial" pitchFamily="34" charset="0"/>
                <a:ea typeface="Arial" pitchFamily="34" charset="-122"/>
                <a:cs typeface="Arial" pitchFamily="34" charset="-120"/>
              </a:rPr>
              <a:t>(contour) : maintient le noyau.</a:t>
            </a:r>
            <a:endParaRPr lang="en-US" sz="1250" dirty="0"/>
          </a:p>
          <a:p>
            <a:pPr indent="0" marL="0">
              <a:spcAft>
                <a:spcPts val="400"/>
              </a:spcAft>
              <a:buNone/>
            </a:pPr>
            <a:r>
              <a:rPr lang="en-US" sz="1250" b="1" dirty="0">
                <a:solidFill>
                  <a:srgbClr val="0A032B"/>
                </a:solidFill>
                <a:latin typeface="Arial" pitchFamily="34" charset="0"/>
                <a:ea typeface="Arial" pitchFamily="34" charset="-122"/>
                <a:cs typeface="Arial" pitchFamily="34" charset="-120"/>
              </a:rPr>
              <a:t>Dos penché en avant : </a:t>
            </a:r>
            <a:pPr indent="0" marL="0">
              <a:spcAft>
                <a:spcPts val="400"/>
              </a:spcAft>
              <a:buNone/>
            </a:pPr>
            <a:r>
              <a:rPr lang="en-US" sz="1250" dirty="0">
                <a:solidFill>
                  <a:srgbClr val="35305C"/>
                </a:solidFill>
                <a:latin typeface="Arial" pitchFamily="34" charset="0"/>
                <a:ea typeface="Arial" pitchFamily="34" charset="-122"/>
                <a:cs typeface="Arial" pitchFamily="34" charset="-120"/>
              </a:rPr>
              <a:t>le noyau est chassé vers l'arrière, l'anneau se fissure : c'est le chemin vers la hernie discale.</a:t>
            </a:r>
            <a:endParaRPr lang="en-US" sz="1250" dirty="0"/>
          </a:p>
        </p:txBody>
      </p:sp>
      <p:graphicFrame>
        <p:nvGraphicFramePr>
          <p:cNvPr id="15" name="Chart 0" descr=""/>
          <p:cNvGraphicFramePr/>
          <p:nvPr/>
        </p:nvGraphicFramePr>
        <p:xfrm>
          <a:off x="5669280" y="1417320"/>
          <a:ext cx="5973775" cy="461772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235440" cy="685800"/>
          </a:xfrm>
          <a:prstGeom prst="rect">
            <a:avLst/>
          </a:prstGeom>
          <a:noFill/>
          <a:ln/>
        </p:spPr>
        <p:txBody>
          <a:bodyPr wrap="square" lIns="0" tIns="0" rIns="0" bIns="0" rtlCol="0" anchor="ctr"/>
          <a:lstStyle/>
          <a:p>
            <a:pPr indent="0" marL="0">
              <a:buNone/>
            </a:pPr>
            <a:r>
              <a:rPr lang="en-US" sz="2800" b="1" dirty="0">
                <a:solidFill>
                  <a:srgbClr val="0A032B"/>
                </a:solidFill>
                <a:latin typeface="Montserrat" pitchFamily="34" charset="0"/>
                <a:ea typeface="Montserrat" pitchFamily="34" charset="-122"/>
                <a:cs typeface="Montserrat" pitchFamily="34" charset="-120"/>
              </a:rPr>
              <a:t>Articulations, muscles et tendons</a:t>
            </a:r>
            <a:endParaRPr lang="en-US" sz="2800" dirty="0"/>
          </a:p>
        </p:txBody>
      </p:sp>
      <p:sp>
        <p:nvSpPr>
          <p:cNvPr id="3" name="Text 1"/>
          <p:cNvSpPr txBox="1"/>
          <p:nvPr/>
        </p:nvSpPr>
        <p:spPr>
          <a:xfrm>
            <a:off x="548640" y="1024128"/>
            <a:ext cx="9235440" cy="365760"/>
          </a:xfrm>
          <a:prstGeom prst="rect">
            <a:avLst/>
          </a:prstGeom>
          <a:noFill/>
          <a:ln/>
        </p:spPr>
        <p:txBody>
          <a:bodyPr wrap="square" lIns="0" tIns="0" rIns="0" bIns="0" rtlCol="0" anchor="ctr"/>
          <a:lstStyle/>
          <a:p>
            <a:pPr indent="0" marL="0">
              <a:buNone/>
            </a:pPr>
            <a:r>
              <a:rPr lang="en-US" sz="1400" i="1" dirty="0">
                <a:solidFill>
                  <a:srgbClr val="5E5A78"/>
                </a:solidFill>
                <a:latin typeface="Arial" pitchFamily="34" charset="0"/>
                <a:ea typeface="Arial" pitchFamily="34" charset="-122"/>
                <a:cs typeface="Arial" pitchFamily="34" charset="-120"/>
              </a:rPr>
              <a:t>Tout l'appareil locomoteur est concerné, pas seulement le dos</a:t>
            </a:r>
            <a:endParaRPr lang="en-US" sz="1400" dirty="0"/>
          </a:p>
        </p:txBody>
      </p:sp>
      <p:sp>
        <p:nvSpPr>
          <p:cNvPr id="4" name="Shape 2"/>
          <p:cNvSpPr/>
          <p:nvPr/>
        </p:nvSpPr>
        <p:spPr>
          <a:xfrm>
            <a:off x="10042855" y="530352"/>
            <a:ext cx="1600200" cy="347472"/>
          </a:xfrm>
          <a:prstGeom prst="roundRect">
            <a:avLst>
              <a:gd name="adj" fmla="val 50000"/>
            </a:avLst>
          </a:prstGeom>
          <a:solidFill>
            <a:srgbClr val="0A032B"/>
          </a:solidFill>
          <a:ln w="12700">
            <a:solidFill>
              <a:srgbClr val="0A032B"/>
            </a:solidFill>
            <a:prstDash val="solid"/>
          </a:ln>
        </p:spPr>
      </p:sp>
      <p:sp>
        <p:nvSpPr>
          <p:cNvPr id="5" name="Text 3"/>
          <p:cNvSpPr txBox="1"/>
          <p:nvPr/>
        </p:nvSpPr>
        <p:spPr>
          <a:xfrm>
            <a:off x="10042855" y="530352"/>
            <a:ext cx="1600200" cy="347472"/>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Montserrat" pitchFamily="34" charset="0"/>
                <a:ea typeface="Montserrat" pitchFamily="34" charset="-122"/>
                <a:cs typeface="Montserrat" pitchFamily="34" charset="-120"/>
              </a:rPr>
              <a:t>THÉORIE</a:t>
            </a:r>
            <a:endParaRPr lang="en-US" sz="1100" dirty="0"/>
          </a:p>
        </p:txBody>
      </p:sp>
      <p:sp>
        <p:nvSpPr>
          <p:cNvPr id="6" name="Text 4"/>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5E5A78"/>
                </a:solidFill>
                <a:latin typeface="Arial" pitchFamily="34" charset="0"/>
                <a:ea typeface="Arial" pitchFamily="34" charset="-122"/>
                <a:cs typeface="Arial" pitchFamily="34" charset="-120"/>
              </a:rPr>
              <a:t>Gestes et postures de l'élu  ·  Séquence 1</a:t>
            </a:r>
            <a:endParaRPr lang="en-US" sz="900" dirty="0"/>
          </a:p>
        </p:txBody>
      </p:sp>
      <p:pic>
        <p:nvPicPr>
          <p:cNvPr id="7" name="Image 0" descr="logo_light.png">    </p:cNvPr>
          <p:cNvPicPr>
            <a:picLocks noChangeAspect="1"/>
          </p:cNvPicPr>
          <p:nvPr/>
        </p:nvPicPr>
        <p:blipFill>
          <a:blip r:embed="rId1"/>
          <a:stretch>
            <a:fillRect/>
          </a:stretch>
        </p:blipFill>
        <p:spPr>
          <a:xfrm>
            <a:off x="10682935" y="6236208"/>
            <a:ext cx="960120" cy="398441"/>
          </a:xfrm>
          <a:prstGeom prst="rect">
            <a:avLst/>
          </a:prstGeom>
        </p:spPr>
      </p:pic>
      <p:sp>
        <p:nvSpPr>
          <p:cNvPr id="8" name="Shape 5"/>
          <p:cNvSpPr/>
          <p:nvPr/>
        </p:nvSpPr>
        <p:spPr>
          <a:xfrm>
            <a:off x="548640" y="1554480"/>
            <a:ext cx="3515258" cy="2103120"/>
          </a:xfrm>
          <a:prstGeom prst="roundRect">
            <a:avLst>
              <a:gd name="adj" fmla="val 3478"/>
            </a:avLst>
          </a:prstGeom>
          <a:solidFill>
            <a:srgbClr val="EEEDF5"/>
          </a:solidFill>
          <a:ln w="12700">
            <a:solidFill>
              <a:srgbClr val="EEEDF5"/>
            </a:solidFill>
            <a:prstDash val="solid"/>
          </a:ln>
        </p:spPr>
      </p:sp>
      <p:sp>
        <p:nvSpPr>
          <p:cNvPr id="9" name="Shape 6"/>
          <p:cNvSpPr/>
          <p:nvPr/>
        </p:nvSpPr>
        <p:spPr>
          <a:xfrm>
            <a:off x="777240" y="1783080"/>
            <a:ext cx="548640" cy="548640"/>
          </a:xfrm>
          <a:prstGeom prst="ellipse">
            <a:avLst/>
          </a:prstGeom>
          <a:solidFill>
            <a:srgbClr val="0A032B"/>
          </a:solidFill>
          <a:ln w="12700">
            <a:solidFill>
              <a:srgbClr val="0A032B"/>
            </a:solidFill>
            <a:prstDash val="solid"/>
          </a:ln>
        </p:spPr>
      </p:sp>
      <p:pic>
        <p:nvPicPr>
          <p:cNvPr id="10" name="Image 1" descr="preencoded.png">    </p:cNvPr>
          <p:cNvPicPr>
            <a:picLocks noChangeAspect="1"/>
          </p:cNvPicPr>
          <p:nvPr/>
        </p:nvPicPr>
        <p:blipFill>
          <a:blip r:embed="rId2"/>
          <a:stretch>
            <a:fillRect/>
          </a:stretch>
        </p:blipFill>
        <p:spPr>
          <a:xfrm>
            <a:off x="914400" y="1920240"/>
            <a:ext cx="274320" cy="274320"/>
          </a:xfrm>
          <a:prstGeom prst="rect">
            <a:avLst/>
          </a:prstGeom>
        </p:spPr>
      </p:pic>
      <p:sp>
        <p:nvSpPr>
          <p:cNvPr id="11" name="Text 7"/>
          <p:cNvSpPr txBox="1"/>
          <p:nvPr/>
        </p:nvSpPr>
        <p:spPr>
          <a:xfrm>
            <a:off x="1508760" y="1783080"/>
            <a:ext cx="2326538" cy="5486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Nuque et épaules</a:t>
            </a:r>
            <a:endParaRPr lang="en-US" sz="1500" dirty="0"/>
          </a:p>
        </p:txBody>
      </p:sp>
      <p:sp>
        <p:nvSpPr>
          <p:cNvPr id="12" name="Text 8"/>
          <p:cNvSpPr txBox="1"/>
          <p:nvPr/>
        </p:nvSpPr>
        <p:spPr>
          <a:xfrm>
            <a:off x="777240" y="2468880"/>
            <a:ext cx="3058058" cy="1051560"/>
          </a:xfrm>
          <a:prstGeom prst="rect">
            <a:avLst/>
          </a:prstGeom>
          <a:noFill/>
          <a:ln/>
        </p:spPr>
        <p:txBody>
          <a:bodyPr wrap="square" lIns="0" tIns="0" rIns="0" bIns="0" rtlCol="0" anchor="t"/>
          <a:lstStyle/>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Téléphone coincé contre l'épaule</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Écran trop bas ou trop haut</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Bras levés au-dessus des épaules</a:t>
            </a:r>
            <a:endParaRPr lang="en-US" sz="1250" dirty="0"/>
          </a:p>
        </p:txBody>
      </p:sp>
      <p:sp>
        <p:nvSpPr>
          <p:cNvPr id="13" name="Shape 9"/>
          <p:cNvSpPr/>
          <p:nvPr/>
        </p:nvSpPr>
        <p:spPr>
          <a:xfrm>
            <a:off x="4338218" y="1554480"/>
            <a:ext cx="3515258" cy="2103120"/>
          </a:xfrm>
          <a:prstGeom prst="roundRect">
            <a:avLst>
              <a:gd name="adj" fmla="val 3478"/>
            </a:avLst>
          </a:prstGeom>
          <a:solidFill>
            <a:srgbClr val="EEEDF5"/>
          </a:solidFill>
          <a:ln w="12700">
            <a:solidFill>
              <a:srgbClr val="EEEDF5"/>
            </a:solidFill>
            <a:prstDash val="solid"/>
          </a:ln>
        </p:spPr>
      </p:sp>
      <p:sp>
        <p:nvSpPr>
          <p:cNvPr id="14" name="Shape 10"/>
          <p:cNvSpPr/>
          <p:nvPr/>
        </p:nvSpPr>
        <p:spPr>
          <a:xfrm>
            <a:off x="4566818" y="1783080"/>
            <a:ext cx="548640" cy="548640"/>
          </a:xfrm>
          <a:prstGeom prst="ellipse">
            <a:avLst/>
          </a:prstGeom>
          <a:solidFill>
            <a:srgbClr val="0A032B"/>
          </a:solidFill>
          <a:ln w="12700">
            <a:solidFill>
              <a:srgbClr val="0A032B"/>
            </a:solidFill>
            <a:prstDash val="solid"/>
          </a:ln>
        </p:spPr>
      </p:sp>
      <p:pic>
        <p:nvPicPr>
          <p:cNvPr id="15" name="Image 2" descr="preencoded.png">    </p:cNvPr>
          <p:cNvPicPr>
            <a:picLocks noChangeAspect="1"/>
          </p:cNvPicPr>
          <p:nvPr/>
        </p:nvPicPr>
        <p:blipFill>
          <a:blip r:embed="rId3"/>
          <a:stretch>
            <a:fillRect/>
          </a:stretch>
        </p:blipFill>
        <p:spPr>
          <a:xfrm>
            <a:off x="4703978" y="1920240"/>
            <a:ext cx="274320" cy="274320"/>
          </a:xfrm>
          <a:prstGeom prst="rect">
            <a:avLst/>
          </a:prstGeom>
        </p:spPr>
      </p:pic>
      <p:sp>
        <p:nvSpPr>
          <p:cNvPr id="16" name="Text 11"/>
          <p:cNvSpPr txBox="1"/>
          <p:nvPr/>
        </p:nvSpPr>
        <p:spPr>
          <a:xfrm>
            <a:off x="5298338" y="1783080"/>
            <a:ext cx="2326538" cy="5486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Coudes et poignets</a:t>
            </a:r>
            <a:endParaRPr lang="en-US" sz="1500" dirty="0"/>
          </a:p>
        </p:txBody>
      </p:sp>
      <p:sp>
        <p:nvSpPr>
          <p:cNvPr id="17" name="Text 12"/>
          <p:cNvSpPr txBox="1"/>
          <p:nvPr/>
        </p:nvSpPr>
        <p:spPr>
          <a:xfrm>
            <a:off x="4566818" y="2468880"/>
            <a:ext cx="3058058" cy="1051560"/>
          </a:xfrm>
          <a:prstGeom prst="rect">
            <a:avLst/>
          </a:prstGeom>
          <a:noFill/>
          <a:ln/>
        </p:spPr>
        <p:txBody>
          <a:bodyPr wrap="square" lIns="0" tIns="0" rIns="0" bIns="0" rtlCol="0" anchor="t"/>
          <a:lstStyle/>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Souris et clavier mal placés</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Prise en pince de charges lourdes</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Gestes répétitifs (signatures, tri…)</a:t>
            </a:r>
            <a:endParaRPr lang="en-US" sz="1250" dirty="0"/>
          </a:p>
        </p:txBody>
      </p:sp>
      <p:sp>
        <p:nvSpPr>
          <p:cNvPr id="18" name="Shape 13"/>
          <p:cNvSpPr/>
          <p:nvPr/>
        </p:nvSpPr>
        <p:spPr>
          <a:xfrm>
            <a:off x="8127797" y="1554480"/>
            <a:ext cx="3515258" cy="2103120"/>
          </a:xfrm>
          <a:prstGeom prst="roundRect">
            <a:avLst>
              <a:gd name="adj" fmla="val 3478"/>
            </a:avLst>
          </a:prstGeom>
          <a:solidFill>
            <a:srgbClr val="EEEDF5"/>
          </a:solidFill>
          <a:ln w="12700">
            <a:solidFill>
              <a:srgbClr val="EEEDF5"/>
            </a:solidFill>
            <a:prstDash val="solid"/>
          </a:ln>
        </p:spPr>
      </p:sp>
      <p:sp>
        <p:nvSpPr>
          <p:cNvPr id="19" name="Shape 14"/>
          <p:cNvSpPr/>
          <p:nvPr/>
        </p:nvSpPr>
        <p:spPr>
          <a:xfrm>
            <a:off x="8356397" y="1783080"/>
            <a:ext cx="548640" cy="548640"/>
          </a:xfrm>
          <a:prstGeom prst="ellipse">
            <a:avLst/>
          </a:prstGeom>
          <a:solidFill>
            <a:srgbClr val="0A032B"/>
          </a:solidFill>
          <a:ln w="12700">
            <a:solidFill>
              <a:srgbClr val="0A032B"/>
            </a:solidFill>
            <a:prstDash val="solid"/>
          </a:ln>
        </p:spPr>
      </p:sp>
      <p:pic>
        <p:nvPicPr>
          <p:cNvPr id="20" name="Image 3" descr="preencoded.png">    </p:cNvPr>
          <p:cNvPicPr>
            <a:picLocks noChangeAspect="1"/>
          </p:cNvPicPr>
          <p:nvPr/>
        </p:nvPicPr>
        <p:blipFill>
          <a:blip r:embed="rId4"/>
          <a:stretch>
            <a:fillRect/>
          </a:stretch>
        </p:blipFill>
        <p:spPr>
          <a:xfrm>
            <a:off x="8493557" y="1920240"/>
            <a:ext cx="274320" cy="274320"/>
          </a:xfrm>
          <a:prstGeom prst="rect">
            <a:avLst/>
          </a:prstGeom>
        </p:spPr>
      </p:pic>
      <p:sp>
        <p:nvSpPr>
          <p:cNvPr id="21" name="Text 15"/>
          <p:cNvSpPr txBox="1"/>
          <p:nvPr/>
        </p:nvSpPr>
        <p:spPr>
          <a:xfrm>
            <a:off x="9087917" y="1783080"/>
            <a:ext cx="2326538" cy="5486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Genoux et hanches</a:t>
            </a:r>
            <a:endParaRPr lang="en-US" sz="1500" dirty="0"/>
          </a:p>
        </p:txBody>
      </p:sp>
      <p:sp>
        <p:nvSpPr>
          <p:cNvPr id="22" name="Text 16"/>
          <p:cNvSpPr txBox="1"/>
          <p:nvPr/>
        </p:nvSpPr>
        <p:spPr>
          <a:xfrm>
            <a:off x="8356397" y="2468880"/>
            <a:ext cx="3058058" cy="1051560"/>
          </a:xfrm>
          <a:prstGeom prst="rect">
            <a:avLst/>
          </a:prstGeom>
          <a:noFill/>
          <a:ln/>
        </p:spPr>
        <p:txBody>
          <a:bodyPr wrap="square" lIns="0" tIns="0" rIns="0" bIns="0" rtlCol="0" anchor="t"/>
          <a:lstStyle/>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Accroupissements répétés</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Terrains irréguliers, escaliers</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Station debout prolongée</a:t>
            </a:r>
            <a:endParaRPr lang="en-US" sz="1250" dirty="0"/>
          </a:p>
        </p:txBody>
      </p:sp>
      <p:sp>
        <p:nvSpPr>
          <p:cNvPr id="23" name="Shape 17"/>
          <p:cNvSpPr/>
          <p:nvPr/>
        </p:nvSpPr>
        <p:spPr>
          <a:xfrm>
            <a:off x="548640" y="3931920"/>
            <a:ext cx="3515258" cy="2103120"/>
          </a:xfrm>
          <a:prstGeom prst="roundRect">
            <a:avLst>
              <a:gd name="adj" fmla="val 3478"/>
            </a:avLst>
          </a:prstGeom>
          <a:solidFill>
            <a:srgbClr val="EEEDF5"/>
          </a:solidFill>
          <a:ln w="12700">
            <a:solidFill>
              <a:srgbClr val="EEEDF5"/>
            </a:solidFill>
            <a:prstDash val="solid"/>
          </a:ln>
        </p:spPr>
      </p:sp>
      <p:sp>
        <p:nvSpPr>
          <p:cNvPr id="24" name="Shape 18"/>
          <p:cNvSpPr/>
          <p:nvPr/>
        </p:nvSpPr>
        <p:spPr>
          <a:xfrm>
            <a:off x="777240" y="4160520"/>
            <a:ext cx="548640" cy="548640"/>
          </a:xfrm>
          <a:prstGeom prst="ellipse">
            <a:avLst/>
          </a:prstGeom>
          <a:solidFill>
            <a:srgbClr val="0A032B"/>
          </a:solidFill>
          <a:ln w="12700">
            <a:solidFill>
              <a:srgbClr val="0A032B"/>
            </a:solidFill>
            <a:prstDash val="solid"/>
          </a:ln>
        </p:spPr>
      </p:sp>
      <p:pic>
        <p:nvPicPr>
          <p:cNvPr id="25" name="Image 4" descr="preencoded.png">    </p:cNvPr>
          <p:cNvPicPr>
            <a:picLocks noChangeAspect="1"/>
          </p:cNvPicPr>
          <p:nvPr/>
        </p:nvPicPr>
        <p:blipFill>
          <a:blip r:embed="rId5"/>
          <a:stretch>
            <a:fillRect/>
          </a:stretch>
        </p:blipFill>
        <p:spPr>
          <a:xfrm>
            <a:off x="914400" y="4297680"/>
            <a:ext cx="274320" cy="274320"/>
          </a:xfrm>
          <a:prstGeom prst="rect">
            <a:avLst/>
          </a:prstGeom>
        </p:spPr>
      </p:pic>
      <p:sp>
        <p:nvSpPr>
          <p:cNvPr id="26" name="Text 19"/>
          <p:cNvSpPr txBox="1"/>
          <p:nvPr/>
        </p:nvSpPr>
        <p:spPr>
          <a:xfrm>
            <a:off x="1508760" y="4160520"/>
            <a:ext cx="2326538" cy="5486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Muscles</a:t>
            </a:r>
            <a:endParaRPr lang="en-US" sz="1500" dirty="0"/>
          </a:p>
        </p:txBody>
      </p:sp>
      <p:sp>
        <p:nvSpPr>
          <p:cNvPr id="27" name="Text 20"/>
          <p:cNvSpPr txBox="1"/>
          <p:nvPr/>
        </p:nvSpPr>
        <p:spPr>
          <a:xfrm>
            <a:off x="777240" y="4846320"/>
            <a:ext cx="3058058" cy="1051560"/>
          </a:xfrm>
          <a:prstGeom prst="rect">
            <a:avLst/>
          </a:prstGeom>
          <a:noFill/>
          <a:ln/>
        </p:spPr>
        <p:txBody>
          <a:bodyPr wrap="square" lIns="0" tIns="0" rIns="0" bIns="0" rtlCol="0" anchor="t"/>
          <a:lstStyle/>
          <a:p>
            <a:pPr indent="0" marL="0">
              <a:buNone/>
            </a:pPr>
            <a:r>
              <a:rPr lang="en-US" sz="1250" dirty="0">
                <a:solidFill>
                  <a:srgbClr val="35305C"/>
                </a:solidFill>
                <a:latin typeface="Arial" pitchFamily="34" charset="0"/>
                <a:ea typeface="Arial" pitchFamily="34" charset="-122"/>
                <a:cs typeface="Arial" pitchFamily="34" charset="-120"/>
              </a:rPr>
              <a:t>Ils produisent le mouvement et stabilisent la colonne. Fatigués ou froids, ils protègent moins bien.</a:t>
            </a:r>
            <a:endParaRPr lang="en-US" sz="1250" dirty="0"/>
          </a:p>
        </p:txBody>
      </p:sp>
      <p:sp>
        <p:nvSpPr>
          <p:cNvPr id="28" name="Shape 21"/>
          <p:cNvSpPr/>
          <p:nvPr/>
        </p:nvSpPr>
        <p:spPr>
          <a:xfrm>
            <a:off x="4338218" y="3931920"/>
            <a:ext cx="3515258" cy="2103120"/>
          </a:xfrm>
          <a:prstGeom prst="roundRect">
            <a:avLst>
              <a:gd name="adj" fmla="val 3478"/>
            </a:avLst>
          </a:prstGeom>
          <a:solidFill>
            <a:srgbClr val="EEEDF5"/>
          </a:solidFill>
          <a:ln w="12700">
            <a:solidFill>
              <a:srgbClr val="EEEDF5"/>
            </a:solidFill>
            <a:prstDash val="solid"/>
          </a:ln>
        </p:spPr>
      </p:sp>
      <p:sp>
        <p:nvSpPr>
          <p:cNvPr id="29" name="Shape 22"/>
          <p:cNvSpPr/>
          <p:nvPr/>
        </p:nvSpPr>
        <p:spPr>
          <a:xfrm>
            <a:off x="4566818" y="4160520"/>
            <a:ext cx="548640" cy="548640"/>
          </a:xfrm>
          <a:prstGeom prst="ellipse">
            <a:avLst/>
          </a:prstGeom>
          <a:solidFill>
            <a:srgbClr val="0A032B"/>
          </a:solidFill>
          <a:ln w="12700">
            <a:solidFill>
              <a:srgbClr val="0A032B"/>
            </a:solidFill>
            <a:prstDash val="solid"/>
          </a:ln>
        </p:spPr>
      </p:sp>
      <p:pic>
        <p:nvPicPr>
          <p:cNvPr id="30" name="Image 5" descr="preencoded.png">    </p:cNvPr>
          <p:cNvPicPr>
            <a:picLocks noChangeAspect="1"/>
          </p:cNvPicPr>
          <p:nvPr/>
        </p:nvPicPr>
        <p:blipFill>
          <a:blip r:embed="rId6"/>
          <a:stretch>
            <a:fillRect/>
          </a:stretch>
        </p:blipFill>
        <p:spPr>
          <a:xfrm>
            <a:off x="4703978" y="4297680"/>
            <a:ext cx="274320" cy="274320"/>
          </a:xfrm>
          <a:prstGeom prst="rect">
            <a:avLst/>
          </a:prstGeom>
        </p:spPr>
      </p:pic>
      <p:sp>
        <p:nvSpPr>
          <p:cNvPr id="31" name="Text 23"/>
          <p:cNvSpPr txBox="1"/>
          <p:nvPr/>
        </p:nvSpPr>
        <p:spPr>
          <a:xfrm>
            <a:off x="5298338" y="4160520"/>
            <a:ext cx="2326538" cy="5486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Tendons et ligaments</a:t>
            </a:r>
            <a:endParaRPr lang="en-US" sz="1500" dirty="0"/>
          </a:p>
        </p:txBody>
      </p:sp>
      <p:sp>
        <p:nvSpPr>
          <p:cNvPr id="32" name="Text 24"/>
          <p:cNvSpPr txBox="1"/>
          <p:nvPr/>
        </p:nvSpPr>
        <p:spPr>
          <a:xfrm>
            <a:off x="4566818" y="4846320"/>
            <a:ext cx="3058058" cy="1051560"/>
          </a:xfrm>
          <a:prstGeom prst="rect">
            <a:avLst/>
          </a:prstGeom>
          <a:noFill/>
          <a:ln/>
        </p:spPr>
        <p:txBody>
          <a:bodyPr wrap="square" lIns="0" tIns="0" rIns="0" bIns="0" rtlCol="0" anchor="t"/>
          <a:lstStyle/>
          <a:p>
            <a:pPr indent="0" marL="0">
              <a:buNone/>
            </a:pPr>
            <a:r>
              <a:rPr lang="en-US" sz="1250" dirty="0">
                <a:solidFill>
                  <a:srgbClr val="35305C"/>
                </a:solidFill>
                <a:latin typeface="Arial" pitchFamily="34" charset="0"/>
                <a:ea typeface="Arial" pitchFamily="34" charset="-122"/>
                <a:cs typeface="Arial" pitchFamily="34" charset="-120"/>
              </a:rPr>
              <a:t>Ils relient et maintiennent. Sollicités trop souvent, ils s'enflamment : c'est la tendinite.</a:t>
            </a:r>
            <a:endParaRPr lang="en-US" sz="1250" dirty="0"/>
          </a:p>
        </p:txBody>
      </p:sp>
      <p:sp>
        <p:nvSpPr>
          <p:cNvPr id="33" name="Shape 25"/>
          <p:cNvSpPr/>
          <p:nvPr/>
        </p:nvSpPr>
        <p:spPr>
          <a:xfrm>
            <a:off x="8127797" y="3931920"/>
            <a:ext cx="3515258" cy="2103120"/>
          </a:xfrm>
          <a:prstGeom prst="roundRect">
            <a:avLst>
              <a:gd name="adj" fmla="val 3478"/>
            </a:avLst>
          </a:prstGeom>
          <a:solidFill>
            <a:srgbClr val="EEEDF5"/>
          </a:solidFill>
          <a:ln w="12700">
            <a:solidFill>
              <a:srgbClr val="EEEDF5"/>
            </a:solidFill>
            <a:prstDash val="solid"/>
          </a:ln>
        </p:spPr>
      </p:sp>
      <p:sp>
        <p:nvSpPr>
          <p:cNvPr id="34" name="Shape 26"/>
          <p:cNvSpPr/>
          <p:nvPr/>
        </p:nvSpPr>
        <p:spPr>
          <a:xfrm>
            <a:off x="8356397" y="4160520"/>
            <a:ext cx="548640" cy="548640"/>
          </a:xfrm>
          <a:prstGeom prst="ellipse">
            <a:avLst/>
          </a:prstGeom>
          <a:solidFill>
            <a:srgbClr val="0A032B"/>
          </a:solidFill>
          <a:ln w="12700">
            <a:solidFill>
              <a:srgbClr val="0A032B"/>
            </a:solidFill>
            <a:prstDash val="solid"/>
          </a:ln>
        </p:spPr>
      </p:sp>
      <p:pic>
        <p:nvPicPr>
          <p:cNvPr id="35" name="Image 6" descr="preencoded.png">    </p:cNvPr>
          <p:cNvPicPr>
            <a:picLocks noChangeAspect="1"/>
          </p:cNvPicPr>
          <p:nvPr/>
        </p:nvPicPr>
        <p:blipFill>
          <a:blip r:embed="rId7"/>
          <a:stretch>
            <a:fillRect/>
          </a:stretch>
        </p:blipFill>
        <p:spPr>
          <a:xfrm>
            <a:off x="8493557" y="4297680"/>
            <a:ext cx="274320" cy="274320"/>
          </a:xfrm>
          <a:prstGeom prst="rect">
            <a:avLst/>
          </a:prstGeom>
        </p:spPr>
      </p:pic>
      <p:sp>
        <p:nvSpPr>
          <p:cNvPr id="36" name="Text 27"/>
          <p:cNvSpPr txBox="1"/>
          <p:nvPr/>
        </p:nvSpPr>
        <p:spPr>
          <a:xfrm>
            <a:off x="9087917" y="4160520"/>
            <a:ext cx="2326538" cy="5486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Nerfs</a:t>
            </a:r>
            <a:endParaRPr lang="en-US" sz="1500" dirty="0"/>
          </a:p>
        </p:txBody>
      </p:sp>
      <p:sp>
        <p:nvSpPr>
          <p:cNvPr id="37" name="Text 28"/>
          <p:cNvSpPr txBox="1"/>
          <p:nvPr/>
        </p:nvSpPr>
        <p:spPr>
          <a:xfrm>
            <a:off x="8356397" y="4846320"/>
            <a:ext cx="3058058" cy="1051560"/>
          </a:xfrm>
          <a:prstGeom prst="rect">
            <a:avLst/>
          </a:prstGeom>
          <a:noFill/>
          <a:ln/>
        </p:spPr>
        <p:txBody>
          <a:bodyPr wrap="square" lIns="0" tIns="0" rIns="0" bIns="0" rtlCol="0" anchor="t"/>
          <a:lstStyle/>
          <a:p>
            <a:pPr indent="0" marL="0">
              <a:buNone/>
            </a:pPr>
            <a:r>
              <a:rPr lang="en-US" sz="1250" dirty="0">
                <a:solidFill>
                  <a:srgbClr val="35305C"/>
                </a:solidFill>
                <a:latin typeface="Arial" pitchFamily="34" charset="0"/>
                <a:ea typeface="Arial" pitchFamily="34" charset="-122"/>
                <a:cs typeface="Arial" pitchFamily="34" charset="-120"/>
              </a:rPr>
              <a:t>Comprimés (canal carpien, sciatique), ils provoquent fourmillements, engourdissements, douleurs.</a:t>
            </a:r>
            <a:endParaRPr lang="en-US" sz="1250" dirty="0"/>
          </a:p>
        </p:txBody>
      </p:sp>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235440" cy="685800"/>
          </a:xfrm>
          <a:prstGeom prst="rect">
            <a:avLst/>
          </a:prstGeom>
          <a:noFill/>
          <a:ln/>
        </p:spPr>
        <p:txBody>
          <a:bodyPr wrap="square" lIns="0" tIns="0" rIns="0" bIns="0" rtlCol="0" anchor="ctr"/>
          <a:lstStyle/>
          <a:p>
            <a:pPr indent="0" marL="0">
              <a:buNone/>
            </a:pPr>
            <a:r>
              <a:rPr lang="en-US" sz="2800" b="1" dirty="0">
                <a:solidFill>
                  <a:srgbClr val="0A032B"/>
                </a:solidFill>
                <a:latin typeface="Montserrat" pitchFamily="34" charset="0"/>
                <a:ea typeface="Montserrat" pitchFamily="34" charset="-122"/>
                <a:cs typeface="Montserrat" pitchFamily="34" charset="-120"/>
              </a:rPr>
              <a:t>Les TMS : mécanismes, signes d'alerte, évolution</a:t>
            </a:r>
            <a:endParaRPr lang="en-US" sz="2800" dirty="0"/>
          </a:p>
        </p:txBody>
      </p:sp>
      <p:sp>
        <p:nvSpPr>
          <p:cNvPr id="3" name="Shape 1"/>
          <p:cNvSpPr/>
          <p:nvPr/>
        </p:nvSpPr>
        <p:spPr>
          <a:xfrm>
            <a:off x="10042855" y="530352"/>
            <a:ext cx="1600200" cy="347472"/>
          </a:xfrm>
          <a:prstGeom prst="roundRect">
            <a:avLst>
              <a:gd name="adj" fmla="val 50000"/>
            </a:avLst>
          </a:prstGeom>
          <a:solidFill>
            <a:srgbClr val="0A032B"/>
          </a:solidFill>
          <a:ln w="12700">
            <a:solidFill>
              <a:srgbClr val="0A032B"/>
            </a:solidFill>
            <a:prstDash val="solid"/>
          </a:ln>
        </p:spPr>
      </p:sp>
      <p:sp>
        <p:nvSpPr>
          <p:cNvPr id="4" name="Text 2"/>
          <p:cNvSpPr txBox="1"/>
          <p:nvPr/>
        </p:nvSpPr>
        <p:spPr>
          <a:xfrm>
            <a:off x="10042855" y="530352"/>
            <a:ext cx="1600200" cy="347472"/>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Montserrat" pitchFamily="34" charset="0"/>
                <a:ea typeface="Montserrat" pitchFamily="34" charset="-122"/>
                <a:cs typeface="Montserrat" pitchFamily="34" charset="-120"/>
              </a:rPr>
              <a:t>THÉORIE</a:t>
            </a:r>
            <a:endParaRPr lang="en-US" sz="1100" dirty="0"/>
          </a:p>
        </p:txBody>
      </p:sp>
      <p:sp>
        <p:nvSpPr>
          <p:cNvPr id="5" name="Text 3"/>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5E5A78"/>
                </a:solidFill>
                <a:latin typeface="Arial" pitchFamily="34" charset="0"/>
                <a:ea typeface="Arial" pitchFamily="34" charset="-122"/>
                <a:cs typeface="Arial" pitchFamily="34" charset="-120"/>
              </a:rPr>
              <a:t>Gestes et postures de l'élu  ·  Séquence 1</a:t>
            </a:r>
            <a:endParaRPr lang="en-US" sz="900" dirty="0"/>
          </a:p>
        </p:txBody>
      </p:sp>
      <p:pic>
        <p:nvPicPr>
          <p:cNvPr id="6" name="Image 0" descr="logo_light.png">    </p:cNvPr>
          <p:cNvPicPr>
            <a:picLocks noChangeAspect="1"/>
          </p:cNvPicPr>
          <p:nvPr/>
        </p:nvPicPr>
        <p:blipFill>
          <a:blip r:embed="rId1"/>
          <a:stretch>
            <a:fillRect/>
          </a:stretch>
        </p:blipFill>
        <p:spPr>
          <a:xfrm>
            <a:off x="10682935" y="6236208"/>
            <a:ext cx="960120" cy="398441"/>
          </a:xfrm>
          <a:prstGeom prst="rect">
            <a:avLst/>
          </a:prstGeom>
        </p:spPr>
      </p:pic>
      <p:sp>
        <p:nvSpPr>
          <p:cNvPr id="7" name="Text 4"/>
          <p:cNvSpPr txBox="1"/>
          <p:nvPr/>
        </p:nvSpPr>
        <p:spPr>
          <a:xfrm>
            <a:off x="548640" y="1234440"/>
            <a:ext cx="11094415" cy="457200"/>
          </a:xfrm>
          <a:prstGeom prst="rect">
            <a:avLst/>
          </a:prstGeom>
          <a:noFill/>
          <a:ln/>
        </p:spPr>
        <p:txBody>
          <a:bodyPr wrap="square" lIns="0" tIns="0" rIns="0" bIns="0" rtlCol="0" anchor="ctr"/>
          <a:lstStyle/>
          <a:p>
            <a:pPr indent="0" marL="0">
              <a:buNone/>
            </a:pPr>
            <a:r>
              <a:rPr lang="en-US" sz="1500" dirty="0">
                <a:solidFill>
                  <a:srgbClr val="35305C"/>
                </a:solidFill>
                <a:latin typeface="Arial" pitchFamily="34" charset="0"/>
                <a:ea typeface="Arial" pitchFamily="34" charset="-122"/>
                <a:cs typeface="Arial" pitchFamily="34" charset="-120"/>
              </a:rPr>
              <a:t>Les troubles musculo-squelettiques apparaissent quand les sollicitations dépassent les capacités de récupération du corps.</a:t>
            </a:r>
            <a:endParaRPr lang="en-US" sz="1500" dirty="0"/>
          </a:p>
        </p:txBody>
      </p:sp>
      <p:sp>
        <p:nvSpPr>
          <p:cNvPr id="8" name="Shape 5"/>
          <p:cNvSpPr/>
          <p:nvPr/>
        </p:nvSpPr>
        <p:spPr>
          <a:xfrm>
            <a:off x="548640" y="1920240"/>
            <a:ext cx="3423818" cy="2286000"/>
          </a:xfrm>
          <a:prstGeom prst="roundRect">
            <a:avLst>
              <a:gd name="adj" fmla="val 3200"/>
            </a:avLst>
          </a:prstGeom>
          <a:solidFill>
            <a:srgbClr val="F0EF96"/>
          </a:solidFill>
          <a:ln w="12700">
            <a:solidFill>
              <a:srgbClr val="F0EF96"/>
            </a:solidFill>
            <a:prstDash val="solid"/>
          </a:ln>
        </p:spPr>
      </p:sp>
      <p:sp>
        <p:nvSpPr>
          <p:cNvPr id="9" name="Text 6"/>
          <p:cNvSpPr txBox="1"/>
          <p:nvPr/>
        </p:nvSpPr>
        <p:spPr>
          <a:xfrm>
            <a:off x="822960" y="2103120"/>
            <a:ext cx="2875178" cy="457200"/>
          </a:xfrm>
          <a:prstGeom prst="rect">
            <a:avLst/>
          </a:prstGeom>
          <a:noFill/>
          <a:ln/>
        </p:spPr>
        <p:txBody>
          <a:bodyPr wrap="square" lIns="0" tIns="0" rIns="0" bIns="0" rtlCol="0" anchor="ctr"/>
          <a:lstStyle/>
          <a:p>
            <a:pPr indent="0" marL="0">
              <a:buNone/>
            </a:pPr>
            <a:r>
              <a:rPr lang="en-US" sz="2000" b="1" dirty="0">
                <a:solidFill>
                  <a:srgbClr val="0A032B"/>
                </a:solidFill>
                <a:latin typeface="Montserrat" pitchFamily="34" charset="0"/>
                <a:ea typeface="Montserrat" pitchFamily="34" charset="-122"/>
                <a:cs typeface="Montserrat" pitchFamily="34" charset="-120"/>
              </a:rPr>
              <a:t>Stade 1</a:t>
            </a:r>
            <a:endParaRPr lang="en-US" sz="2000" dirty="0"/>
          </a:p>
        </p:txBody>
      </p:sp>
      <p:sp>
        <p:nvSpPr>
          <p:cNvPr id="10" name="Text 7"/>
          <p:cNvSpPr txBox="1"/>
          <p:nvPr/>
        </p:nvSpPr>
        <p:spPr>
          <a:xfrm>
            <a:off x="822960" y="2606040"/>
            <a:ext cx="2875178" cy="914400"/>
          </a:xfrm>
          <a:prstGeom prst="rect">
            <a:avLst/>
          </a:prstGeom>
          <a:noFill/>
          <a:ln/>
        </p:spPr>
        <p:txBody>
          <a:bodyPr wrap="square" lIns="0" tIns="0" rIns="0" bIns="0" rtlCol="0" anchor="t"/>
          <a:lstStyle/>
          <a:p>
            <a:pPr indent="0" marL="0">
              <a:buNone/>
            </a:pPr>
            <a:r>
              <a:rPr lang="en-US" sz="1400" dirty="0">
                <a:solidFill>
                  <a:srgbClr val="0A032B"/>
                </a:solidFill>
                <a:latin typeface="Arial" pitchFamily="34" charset="0"/>
                <a:ea typeface="Arial" pitchFamily="34" charset="-122"/>
                <a:cs typeface="Arial" pitchFamily="34" charset="-120"/>
              </a:rPr>
              <a:t>Douleur ou fatigue pendant l'activité, qui disparaît au repos.</a:t>
            </a:r>
            <a:endParaRPr lang="en-US" sz="1400" dirty="0"/>
          </a:p>
        </p:txBody>
      </p:sp>
      <p:sp>
        <p:nvSpPr>
          <p:cNvPr id="11" name="Text 8"/>
          <p:cNvSpPr txBox="1"/>
          <p:nvPr/>
        </p:nvSpPr>
        <p:spPr>
          <a:xfrm>
            <a:off x="822960" y="3566160"/>
            <a:ext cx="2875178" cy="457200"/>
          </a:xfrm>
          <a:prstGeom prst="rect">
            <a:avLst/>
          </a:prstGeom>
          <a:noFill/>
          <a:ln/>
        </p:spPr>
        <p:txBody>
          <a:bodyPr wrap="square" lIns="0" tIns="0" rIns="0" bIns="0" rtlCol="0" anchor="ctr"/>
          <a:lstStyle/>
          <a:p>
            <a:pPr indent="0" marL="0">
              <a:buNone/>
            </a:pPr>
            <a:r>
              <a:rPr lang="en-US" sz="1250" b="1" i="1" dirty="0">
                <a:solidFill>
                  <a:srgbClr val="0A032B"/>
                </a:solidFill>
                <a:latin typeface="Arial" pitchFamily="34" charset="0"/>
                <a:ea typeface="Arial" pitchFamily="34" charset="-122"/>
                <a:cs typeface="Arial" pitchFamily="34" charset="-120"/>
              </a:rPr>
              <a:t>Signal d'alerte : réagir tout de suite</a:t>
            </a:r>
            <a:endParaRPr lang="en-US" sz="1250" dirty="0"/>
          </a:p>
        </p:txBody>
      </p:sp>
      <p:sp>
        <p:nvSpPr>
          <p:cNvPr id="12" name="Shape 9"/>
          <p:cNvSpPr/>
          <p:nvPr/>
        </p:nvSpPr>
        <p:spPr>
          <a:xfrm>
            <a:off x="4045610" y="2880360"/>
            <a:ext cx="274320" cy="365760"/>
          </a:xfrm>
          <a:prstGeom prst="rightArrow">
            <a:avLst/>
          </a:prstGeom>
          <a:solidFill>
            <a:srgbClr val="5E5A78"/>
          </a:solidFill>
          <a:ln w="12700">
            <a:solidFill>
              <a:srgbClr val="5E5A78"/>
            </a:solidFill>
            <a:prstDash val="solid"/>
          </a:ln>
        </p:spPr>
      </p:sp>
      <p:sp>
        <p:nvSpPr>
          <p:cNvPr id="13" name="Shape 10"/>
          <p:cNvSpPr/>
          <p:nvPr/>
        </p:nvSpPr>
        <p:spPr>
          <a:xfrm>
            <a:off x="4383938" y="1920240"/>
            <a:ext cx="3423818" cy="2286000"/>
          </a:xfrm>
          <a:prstGeom prst="roundRect">
            <a:avLst>
              <a:gd name="adj" fmla="val 3200"/>
            </a:avLst>
          </a:prstGeom>
          <a:solidFill>
            <a:srgbClr val="DCDAEA"/>
          </a:solidFill>
          <a:ln w="12700">
            <a:solidFill>
              <a:srgbClr val="DCDAEA"/>
            </a:solidFill>
            <a:prstDash val="solid"/>
          </a:ln>
        </p:spPr>
      </p:sp>
      <p:sp>
        <p:nvSpPr>
          <p:cNvPr id="14" name="Text 11"/>
          <p:cNvSpPr txBox="1"/>
          <p:nvPr/>
        </p:nvSpPr>
        <p:spPr>
          <a:xfrm>
            <a:off x="4658258" y="2103120"/>
            <a:ext cx="2875178" cy="457200"/>
          </a:xfrm>
          <a:prstGeom prst="rect">
            <a:avLst/>
          </a:prstGeom>
          <a:noFill/>
          <a:ln/>
        </p:spPr>
        <p:txBody>
          <a:bodyPr wrap="square" lIns="0" tIns="0" rIns="0" bIns="0" rtlCol="0" anchor="ctr"/>
          <a:lstStyle/>
          <a:p>
            <a:pPr indent="0" marL="0">
              <a:buNone/>
            </a:pPr>
            <a:r>
              <a:rPr lang="en-US" sz="2000" b="1" dirty="0">
                <a:solidFill>
                  <a:srgbClr val="0A032B"/>
                </a:solidFill>
                <a:latin typeface="Montserrat" pitchFamily="34" charset="0"/>
                <a:ea typeface="Montserrat" pitchFamily="34" charset="-122"/>
                <a:cs typeface="Montserrat" pitchFamily="34" charset="-120"/>
              </a:rPr>
              <a:t>Stade 2</a:t>
            </a:r>
            <a:endParaRPr lang="en-US" sz="2000" dirty="0"/>
          </a:p>
        </p:txBody>
      </p:sp>
      <p:sp>
        <p:nvSpPr>
          <p:cNvPr id="15" name="Text 12"/>
          <p:cNvSpPr txBox="1"/>
          <p:nvPr/>
        </p:nvSpPr>
        <p:spPr>
          <a:xfrm>
            <a:off x="4658258" y="2606040"/>
            <a:ext cx="2875178" cy="914400"/>
          </a:xfrm>
          <a:prstGeom prst="rect">
            <a:avLst/>
          </a:prstGeom>
          <a:noFill/>
          <a:ln/>
        </p:spPr>
        <p:txBody>
          <a:bodyPr wrap="square" lIns="0" tIns="0" rIns="0" bIns="0" rtlCol="0" anchor="t"/>
          <a:lstStyle/>
          <a:p>
            <a:pPr indent="0" marL="0">
              <a:buNone/>
            </a:pPr>
            <a:r>
              <a:rPr lang="en-US" sz="1400" dirty="0">
                <a:solidFill>
                  <a:srgbClr val="0A032B"/>
                </a:solidFill>
                <a:latin typeface="Arial" pitchFamily="34" charset="0"/>
                <a:ea typeface="Arial" pitchFamily="34" charset="-122"/>
                <a:cs typeface="Arial" pitchFamily="34" charset="-120"/>
              </a:rPr>
              <a:t>La douleur persiste après l'activité et la nuit, la force diminue.</a:t>
            </a:r>
            <a:endParaRPr lang="en-US" sz="1400" dirty="0"/>
          </a:p>
        </p:txBody>
      </p:sp>
      <p:sp>
        <p:nvSpPr>
          <p:cNvPr id="16" name="Text 13"/>
          <p:cNvSpPr txBox="1"/>
          <p:nvPr/>
        </p:nvSpPr>
        <p:spPr>
          <a:xfrm>
            <a:off x="4658258" y="3566160"/>
            <a:ext cx="2875178" cy="457200"/>
          </a:xfrm>
          <a:prstGeom prst="rect">
            <a:avLst/>
          </a:prstGeom>
          <a:noFill/>
          <a:ln/>
        </p:spPr>
        <p:txBody>
          <a:bodyPr wrap="square" lIns="0" tIns="0" rIns="0" bIns="0" rtlCol="0" anchor="ctr"/>
          <a:lstStyle/>
          <a:p>
            <a:pPr indent="0" marL="0">
              <a:buNone/>
            </a:pPr>
            <a:r>
              <a:rPr lang="en-US" sz="1250" b="1" i="1" dirty="0">
                <a:solidFill>
                  <a:srgbClr val="0A032B"/>
                </a:solidFill>
                <a:latin typeface="Arial" pitchFamily="34" charset="0"/>
                <a:ea typeface="Arial" pitchFamily="34" charset="-122"/>
                <a:cs typeface="Arial" pitchFamily="34" charset="-120"/>
              </a:rPr>
              <a:t>Consulter, adapter l'activité</a:t>
            </a:r>
            <a:endParaRPr lang="en-US" sz="1250" dirty="0"/>
          </a:p>
        </p:txBody>
      </p:sp>
      <p:sp>
        <p:nvSpPr>
          <p:cNvPr id="17" name="Shape 14"/>
          <p:cNvSpPr/>
          <p:nvPr/>
        </p:nvSpPr>
        <p:spPr>
          <a:xfrm>
            <a:off x="7880909" y="2880360"/>
            <a:ext cx="274320" cy="365760"/>
          </a:xfrm>
          <a:prstGeom prst="rightArrow">
            <a:avLst/>
          </a:prstGeom>
          <a:solidFill>
            <a:srgbClr val="5E5A78"/>
          </a:solidFill>
          <a:ln w="12700">
            <a:solidFill>
              <a:srgbClr val="5E5A78"/>
            </a:solidFill>
            <a:prstDash val="solid"/>
          </a:ln>
        </p:spPr>
      </p:sp>
      <p:sp>
        <p:nvSpPr>
          <p:cNvPr id="18" name="Shape 15"/>
          <p:cNvSpPr/>
          <p:nvPr/>
        </p:nvSpPr>
        <p:spPr>
          <a:xfrm>
            <a:off x="8219237" y="1920240"/>
            <a:ext cx="3423818" cy="2286000"/>
          </a:xfrm>
          <a:prstGeom prst="roundRect">
            <a:avLst>
              <a:gd name="adj" fmla="val 3200"/>
            </a:avLst>
          </a:prstGeom>
          <a:solidFill>
            <a:srgbClr val="0A032B"/>
          </a:solidFill>
          <a:ln w="12700">
            <a:solidFill>
              <a:srgbClr val="0A032B"/>
            </a:solidFill>
            <a:prstDash val="solid"/>
          </a:ln>
        </p:spPr>
      </p:sp>
      <p:sp>
        <p:nvSpPr>
          <p:cNvPr id="19" name="Text 16"/>
          <p:cNvSpPr txBox="1"/>
          <p:nvPr/>
        </p:nvSpPr>
        <p:spPr>
          <a:xfrm>
            <a:off x="8493557" y="2103120"/>
            <a:ext cx="2875178" cy="457200"/>
          </a:xfrm>
          <a:prstGeom prst="rect">
            <a:avLst/>
          </a:prstGeom>
          <a:noFill/>
          <a:ln/>
        </p:spPr>
        <p:txBody>
          <a:bodyPr wrap="square" lIns="0" tIns="0" rIns="0" bIns="0" rtlCol="0" anchor="ctr"/>
          <a:lstStyle/>
          <a:p>
            <a:pPr indent="0" marL="0">
              <a:buNone/>
            </a:pPr>
            <a:r>
              <a:rPr lang="en-US" sz="2000" b="1" dirty="0">
                <a:solidFill>
                  <a:srgbClr val="FFFFFF"/>
                </a:solidFill>
                <a:latin typeface="Montserrat" pitchFamily="34" charset="0"/>
                <a:ea typeface="Montserrat" pitchFamily="34" charset="-122"/>
                <a:cs typeface="Montserrat" pitchFamily="34" charset="-120"/>
              </a:rPr>
              <a:t>Stade 3</a:t>
            </a:r>
            <a:endParaRPr lang="en-US" sz="2000" dirty="0"/>
          </a:p>
        </p:txBody>
      </p:sp>
      <p:sp>
        <p:nvSpPr>
          <p:cNvPr id="20" name="Text 17"/>
          <p:cNvSpPr txBox="1"/>
          <p:nvPr/>
        </p:nvSpPr>
        <p:spPr>
          <a:xfrm>
            <a:off x="8493557" y="2606040"/>
            <a:ext cx="2875178" cy="91440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Douleur permanente, même au repos, gestes simples impossibles.</a:t>
            </a:r>
            <a:endParaRPr lang="en-US" sz="1400" dirty="0"/>
          </a:p>
        </p:txBody>
      </p:sp>
      <p:sp>
        <p:nvSpPr>
          <p:cNvPr id="21" name="Text 18"/>
          <p:cNvSpPr txBox="1"/>
          <p:nvPr/>
        </p:nvSpPr>
        <p:spPr>
          <a:xfrm>
            <a:off x="8493557" y="3566160"/>
            <a:ext cx="2875178" cy="457200"/>
          </a:xfrm>
          <a:prstGeom prst="rect">
            <a:avLst/>
          </a:prstGeom>
          <a:noFill/>
          <a:ln/>
        </p:spPr>
        <p:txBody>
          <a:bodyPr wrap="square" lIns="0" tIns="0" rIns="0" bIns="0" rtlCol="0" anchor="ctr"/>
          <a:lstStyle/>
          <a:p>
            <a:pPr indent="0" marL="0">
              <a:buNone/>
            </a:pPr>
            <a:r>
              <a:rPr lang="en-US" sz="1250" b="1" i="1" dirty="0">
                <a:solidFill>
                  <a:srgbClr val="FFFFFF"/>
                </a:solidFill>
                <a:latin typeface="Arial" pitchFamily="34" charset="0"/>
                <a:ea typeface="Arial" pitchFamily="34" charset="-122"/>
                <a:cs typeface="Arial" pitchFamily="34" charset="-120"/>
              </a:rPr>
              <a:t>Risque d'arrêt long et de séquelles</a:t>
            </a:r>
            <a:endParaRPr lang="en-US" sz="1250" dirty="0"/>
          </a:p>
        </p:txBody>
      </p:sp>
      <p:sp>
        <p:nvSpPr>
          <p:cNvPr id="22" name="Text 19"/>
          <p:cNvSpPr txBox="1"/>
          <p:nvPr/>
        </p:nvSpPr>
        <p:spPr>
          <a:xfrm>
            <a:off x="548640" y="4480560"/>
            <a:ext cx="11094415" cy="36576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Les TMS les plus fréquents</a:t>
            </a:r>
            <a:endParaRPr lang="en-US" sz="1500" dirty="0"/>
          </a:p>
        </p:txBody>
      </p:sp>
      <p:sp>
        <p:nvSpPr>
          <p:cNvPr id="23" name="Shape 20"/>
          <p:cNvSpPr/>
          <p:nvPr/>
        </p:nvSpPr>
        <p:spPr>
          <a:xfrm>
            <a:off x="548640" y="4983480"/>
            <a:ext cx="1696669" cy="777240"/>
          </a:xfrm>
          <a:prstGeom prst="roundRect">
            <a:avLst>
              <a:gd name="adj" fmla="val 9412"/>
            </a:avLst>
          </a:prstGeom>
          <a:solidFill>
            <a:srgbClr val="EEEDF5"/>
          </a:solidFill>
          <a:ln w="12700">
            <a:solidFill>
              <a:srgbClr val="EEEDF5"/>
            </a:solidFill>
            <a:prstDash val="solid"/>
          </a:ln>
        </p:spPr>
      </p:sp>
      <p:sp>
        <p:nvSpPr>
          <p:cNvPr id="24" name="Text 21"/>
          <p:cNvSpPr txBox="1"/>
          <p:nvPr/>
        </p:nvSpPr>
        <p:spPr>
          <a:xfrm>
            <a:off x="640080" y="4983480"/>
            <a:ext cx="1513789" cy="777240"/>
          </a:xfrm>
          <a:prstGeom prst="rect">
            <a:avLst/>
          </a:prstGeom>
          <a:noFill/>
          <a:ln/>
        </p:spPr>
        <p:txBody>
          <a:bodyPr wrap="square" lIns="0" tIns="0" rIns="0" bIns="0" rtlCol="0" anchor="ctr"/>
          <a:lstStyle/>
          <a:p>
            <a:pPr algn="ctr" indent="0" marL="0">
              <a:buNone/>
            </a:pPr>
            <a:r>
              <a:rPr lang="en-US" sz="1250" b="1" dirty="0">
                <a:solidFill>
                  <a:srgbClr val="0A032B"/>
                </a:solidFill>
                <a:latin typeface="Arial" pitchFamily="34" charset="0"/>
                <a:ea typeface="Arial" pitchFamily="34" charset="-122"/>
                <a:cs typeface="Arial" pitchFamily="34" charset="-120"/>
              </a:rPr>
              <a:t>Lombalgie</a:t>
            </a:r>
            <a:endParaRPr lang="en-US" sz="1250" dirty="0"/>
          </a:p>
        </p:txBody>
      </p:sp>
      <p:sp>
        <p:nvSpPr>
          <p:cNvPr id="25" name="Shape 22"/>
          <p:cNvSpPr/>
          <p:nvPr/>
        </p:nvSpPr>
        <p:spPr>
          <a:xfrm>
            <a:off x="2428189" y="4983480"/>
            <a:ext cx="1696669" cy="777240"/>
          </a:xfrm>
          <a:prstGeom prst="roundRect">
            <a:avLst>
              <a:gd name="adj" fmla="val 9412"/>
            </a:avLst>
          </a:prstGeom>
          <a:solidFill>
            <a:srgbClr val="EEEDF5"/>
          </a:solidFill>
          <a:ln w="12700">
            <a:solidFill>
              <a:srgbClr val="EEEDF5"/>
            </a:solidFill>
            <a:prstDash val="solid"/>
          </a:ln>
        </p:spPr>
      </p:sp>
      <p:sp>
        <p:nvSpPr>
          <p:cNvPr id="26" name="Text 23"/>
          <p:cNvSpPr txBox="1"/>
          <p:nvPr/>
        </p:nvSpPr>
        <p:spPr>
          <a:xfrm>
            <a:off x="2519629" y="4983480"/>
            <a:ext cx="1513789" cy="777240"/>
          </a:xfrm>
          <a:prstGeom prst="rect">
            <a:avLst/>
          </a:prstGeom>
          <a:noFill/>
          <a:ln/>
        </p:spPr>
        <p:txBody>
          <a:bodyPr wrap="square" lIns="0" tIns="0" rIns="0" bIns="0" rtlCol="0" anchor="ctr"/>
          <a:lstStyle/>
          <a:p>
            <a:pPr algn="ctr" indent="0" marL="0">
              <a:buNone/>
            </a:pPr>
            <a:r>
              <a:rPr lang="en-US" sz="1250" b="1" dirty="0">
                <a:solidFill>
                  <a:srgbClr val="0A032B"/>
                </a:solidFill>
                <a:latin typeface="Arial" pitchFamily="34" charset="0"/>
                <a:ea typeface="Arial" pitchFamily="34" charset="-122"/>
                <a:cs typeface="Arial" pitchFamily="34" charset="-120"/>
              </a:rPr>
              <a:t>Cervicalgie</a:t>
            </a:r>
            <a:endParaRPr lang="en-US" sz="1250" dirty="0"/>
          </a:p>
        </p:txBody>
      </p:sp>
      <p:sp>
        <p:nvSpPr>
          <p:cNvPr id="27" name="Shape 24"/>
          <p:cNvSpPr/>
          <p:nvPr/>
        </p:nvSpPr>
        <p:spPr>
          <a:xfrm>
            <a:off x="4307738" y="4983480"/>
            <a:ext cx="1696669" cy="777240"/>
          </a:xfrm>
          <a:prstGeom prst="roundRect">
            <a:avLst>
              <a:gd name="adj" fmla="val 9412"/>
            </a:avLst>
          </a:prstGeom>
          <a:solidFill>
            <a:srgbClr val="EEEDF5"/>
          </a:solidFill>
          <a:ln w="12700">
            <a:solidFill>
              <a:srgbClr val="EEEDF5"/>
            </a:solidFill>
            <a:prstDash val="solid"/>
          </a:ln>
        </p:spPr>
      </p:sp>
      <p:sp>
        <p:nvSpPr>
          <p:cNvPr id="28" name="Text 25"/>
          <p:cNvSpPr txBox="1"/>
          <p:nvPr/>
        </p:nvSpPr>
        <p:spPr>
          <a:xfrm>
            <a:off x="4399178" y="4983480"/>
            <a:ext cx="1513789" cy="777240"/>
          </a:xfrm>
          <a:prstGeom prst="rect">
            <a:avLst/>
          </a:prstGeom>
          <a:noFill/>
          <a:ln/>
        </p:spPr>
        <p:txBody>
          <a:bodyPr wrap="square" lIns="0" tIns="0" rIns="0" bIns="0" rtlCol="0" anchor="ctr"/>
          <a:lstStyle/>
          <a:p>
            <a:pPr algn="ctr" indent="0" marL="0">
              <a:buNone/>
            </a:pPr>
            <a:r>
              <a:rPr lang="en-US" sz="1250" b="1" dirty="0">
                <a:solidFill>
                  <a:srgbClr val="0A032B"/>
                </a:solidFill>
                <a:latin typeface="Arial" pitchFamily="34" charset="0"/>
                <a:ea typeface="Arial" pitchFamily="34" charset="-122"/>
                <a:cs typeface="Arial" pitchFamily="34" charset="-120"/>
              </a:rPr>
              <a:t>Tendinite de l'épaule</a:t>
            </a:r>
            <a:endParaRPr lang="en-US" sz="1250" dirty="0"/>
          </a:p>
        </p:txBody>
      </p:sp>
      <p:sp>
        <p:nvSpPr>
          <p:cNvPr id="29" name="Shape 26"/>
          <p:cNvSpPr/>
          <p:nvPr/>
        </p:nvSpPr>
        <p:spPr>
          <a:xfrm>
            <a:off x="6187288" y="4983480"/>
            <a:ext cx="1696669" cy="777240"/>
          </a:xfrm>
          <a:prstGeom prst="roundRect">
            <a:avLst>
              <a:gd name="adj" fmla="val 9412"/>
            </a:avLst>
          </a:prstGeom>
          <a:solidFill>
            <a:srgbClr val="EEEDF5"/>
          </a:solidFill>
          <a:ln w="12700">
            <a:solidFill>
              <a:srgbClr val="EEEDF5"/>
            </a:solidFill>
            <a:prstDash val="solid"/>
          </a:ln>
        </p:spPr>
      </p:sp>
      <p:sp>
        <p:nvSpPr>
          <p:cNvPr id="30" name="Text 27"/>
          <p:cNvSpPr txBox="1"/>
          <p:nvPr/>
        </p:nvSpPr>
        <p:spPr>
          <a:xfrm>
            <a:off x="6278728" y="4983480"/>
            <a:ext cx="1513789" cy="777240"/>
          </a:xfrm>
          <a:prstGeom prst="rect">
            <a:avLst/>
          </a:prstGeom>
          <a:noFill/>
          <a:ln/>
        </p:spPr>
        <p:txBody>
          <a:bodyPr wrap="square" lIns="0" tIns="0" rIns="0" bIns="0" rtlCol="0" anchor="ctr"/>
          <a:lstStyle/>
          <a:p>
            <a:pPr algn="ctr" indent="0" marL="0">
              <a:buNone/>
            </a:pPr>
            <a:r>
              <a:rPr lang="en-US" sz="1250" b="1" dirty="0">
                <a:solidFill>
                  <a:srgbClr val="0A032B"/>
                </a:solidFill>
                <a:latin typeface="Arial" pitchFamily="34" charset="0"/>
                <a:ea typeface="Arial" pitchFamily="34" charset="-122"/>
                <a:cs typeface="Arial" pitchFamily="34" charset="-120"/>
              </a:rPr>
              <a:t>Épicondylite (coude)</a:t>
            </a:r>
            <a:endParaRPr lang="en-US" sz="1250" dirty="0"/>
          </a:p>
        </p:txBody>
      </p:sp>
      <p:sp>
        <p:nvSpPr>
          <p:cNvPr id="31" name="Shape 28"/>
          <p:cNvSpPr/>
          <p:nvPr/>
        </p:nvSpPr>
        <p:spPr>
          <a:xfrm>
            <a:off x="8066837" y="4983480"/>
            <a:ext cx="1696669" cy="777240"/>
          </a:xfrm>
          <a:prstGeom prst="roundRect">
            <a:avLst>
              <a:gd name="adj" fmla="val 9412"/>
            </a:avLst>
          </a:prstGeom>
          <a:solidFill>
            <a:srgbClr val="EEEDF5"/>
          </a:solidFill>
          <a:ln w="12700">
            <a:solidFill>
              <a:srgbClr val="EEEDF5"/>
            </a:solidFill>
            <a:prstDash val="solid"/>
          </a:ln>
        </p:spPr>
      </p:sp>
      <p:sp>
        <p:nvSpPr>
          <p:cNvPr id="32" name="Text 29"/>
          <p:cNvSpPr txBox="1"/>
          <p:nvPr/>
        </p:nvSpPr>
        <p:spPr>
          <a:xfrm>
            <a:off x="8158277" y="4983480"/>
            <a:ext cx="1513789" cy="777240"/>
          </a:xfrm>
          <a:prstGeom prst="rect">
            <a:avLst/>
          </a:prstGeom>
          <a:noFill/>
          <a:ln/>
        </p:spPr>
        <p:txBody>
          <a:bodyPr wrap="square" lIns="0" tIns="0" rIns="0" bIns="0" rtlCol="0" anchor="ctr"/>
          <a:lstStyle/>
          <a:p>
            <a:pPr algn="ctr" indent="0" marL="0">
              <a:buNone/>
            </a:pPr>
            <a:r>
              <a:rPr lang="en-US" sz="1250" b="1" dirty="0">
                <a:solidFill>
                  <a:srgbClr val="0A032B"/>
                </a:solidFill>
                <a:latin typeface="Arial" pitchFamily="34" charset="0"/>
                <a:ea typeface="Arial" pitchFamily="34" charset="-122"/>
                <a:cs typeface="Arial" pitchFamily="34" charset="-120"/>
              </a:rPr>
              <a:t>Syndrome du canal carpien</a:t>
            </a:r>
            <a:endParaRPr lang="en-US" sz="1250" dirty="0"/>
          </a:p>
        </p:txBody>
      </p:sp>
      <p:sp>
        <p:nvSpPr>
          <p:cNvPr id="33" name="Shape 30"/>
          <p:cNvSpPr/>
          <p:nvPr/>
        </p:nvSpPr>
        <p:spPr>
          <a:xfrm>
            <a:off x="9946386" y="4983480"/>
            <a:ext cx="1696669" cy="777240"/>
          </a:xfrm>
          <a:prstGeom prst="roundRect">
            <a:avLst>
              <a:gd name="adj" fmla="val 9412"/>
            </a:avLst>
          </a:prstGeom>
          <a:solidFill>
            <a:srgbClr val="EEEDF5"/>
          </a:solidFill>
          <a:ln w="12700">
            <a:solidFill>
              <a:srgbClr val="EEEDF5"/>
            </a:solidFill>
            <a:prstDash val="solid"/>
          </a:ln>
        </p:spPr>
      </p:sp>
      <p:sp>
        <p:nvSpPr>
          <p:cNvPr id="34" name="Text 31"/>
          <p:cNvSpPr txBox="1"/>
          <p:nvPr/>
        </p:nvSpPr>
        <p:spPr>
          <a:xfrm>
            <a:off x="10037826" y="4983480"/>
            <a:ext cx="1513789" cy="777240"/>
          </a:xfrm>
          <a:prstGeom prst="rect">
            <a:avLst/>
          </a:prstGeom>
          <a:noFill/>
          <a:ln/>
        </p:spPr>
        <p:txBody>
          <a:bodyPr wrap="square" lIns="0" tIns="0" rIns="0" bIns="0" rtlCol="0" anchor="ctr"/>
          <a:lstStyle/>
          <a:p>
            <a:pPr algn="ctr" indent="0" marL="0">
              <a:buNone/>
            </a:pPr>
            <a:r>
              <a:rPr lang="en-US" sz="1250" b="1" dirty="0">
                <a:solidFill>
                  <a:srgbClr val="0A032B"/>
                </a:solidFill>
                <a:latin typeface="Arial" pitchFamily="34" charset="0"/>
                <a:ea typeface="Arial" pitchFamily="34" charset="-122"/>
                <a:cs typeface="Arial" pitchFamily="34" charset="-120"/>
              </a:rPr>
              <a:t>Sciatique / hernie discale</a:t>
            </a:r>
            <a:endParaRPr lang="en-US" sz="1250" dirty="0"/>
          </a:p>
        </p:txBody>
      </p:sp>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235440" cy="685800"/>
          </a:xfrm>
          <a:prstGeom prst="rect">
            <a:avLst/>
          </a:prstGeom>
          <a:noFill/>
          <a:ln/>
        </p:spPr>
        <p:txBody>
          <a:bodyPr wrap="square" lIns="0" tIns="0" rIns="0" bIns="0" rtlCol="0" anchor="ctr"/>
          <a:lstStyle/>
          <a:p>
            <a:pPr indent="0" marL="0">
              <a:buNone/>
            </a:pPr>
            <a:r>
              <a:rPr lang="en-US" sz="2800" b="1" dirty="0">
                <a:solidFill>
                  <a:srgbClr val="0A032B"/>
                </a:solidFill>
                <a:latin typeface="Montserrat" pitchFamily="34" charset="0"/>
                <a:ea typeface="Montserrat" pitchFamily="34" charset="-122"/>
                <a:cs typeface="Montserrat" pitchFamily="34" charset="-120"/>
              </a:rPr>
              <a:t>Les facteurs de risque</a:t>
            </a:r>
            <a:endParaRPr lang="en-US" sz="2800" dirty="0"/>
          </a:p>
        </p:txBody>
      </p:sp>
      <p:sp>
        <p:nvSpPr>
          <p:cNvPr id="3" name="Text 1"/>
          <p:cNvSpPr txBox="1"/>
          <p:nvPr/>
        </p:nvSpPr>
        <p:spPr>
          <a:xfrm>
            <a:off x="548640" y="1024128"/>
            <a:ext cx="9235440" cy="365760"/>
          </a:xfrm>
          <a:prstGeom prst="rect">
            <a:avLst/>
          </a:prstGeom>
          <a:noFill/>
          <a:ln/>
        </p:spPr>
        <p:txBody>
          <a:bodyPr wrap="square" lIns="0" tIns="0" rIns="0" bIns="0" rtlCol="0" anchor="ctr"/>
          <a:lstStyle/>
          <a:p>
            <a:pPr indent="0" marL="0">
              <a:buNone/>
            </a:pPr>
            <a:r>
              <a:rPr lang="en-US" sz="1400" i="1" dirty="0">
                <a:solidFill>
                  <a:srgbClr val="5E5A78"/>
                </a:solidFill>
                <a:latin typeface="Arial" pitchFamily="34" charset="0"/>
                <a:ea typeface="Arial" pitchFamily="34" charset="-122"/>
                <a:cs typeface="Arial" pitchFamily="34" charset="-120"/>
              </a:rPr>
              <a:t>Les TMS sont multifactoriels : c'est la combinaison des facteurs qui crée le risque</a:t>
            </a:r>
            <a:endParaRPr lang="en-US" sz="1400" dirty="0"/>
          </a:p>
        </p:txBody>
      </p:sp>
      <p:sp>
        <p:nvSpPr>
          <p:cNvPr id="4" name="Shape 2"/>
          <p:cNvSpPr/>
          <p:nvPr/>
        </p:nvSpPr>
        <p:spPr>
          <a:xfrm>
            <a:off x="10042855" y="530352"/>
            <a:ext cx="1600200" cy="347472"/>
          </a:xfrm>
          <a:prstGeom prst="roundRect">
            <a:avLst>
              <a:gd name="adj" fmla="val 50000"/>
            </a:avLst>
          </a:prstGeom>
          <a:solidFill>
            <a:srgbClr val="0A032B"/>
          </a:solidFill>
          <a:ln w="12700">
            <a:solidFill>
              <a:srgbClr val="0A032B"/>
            </a:solidFill>
            <a:prstDash val="solid"/>
          </a:ln>
        </p:spPr>
      </p:sp>
      <p:sp>
        <p:nvSpPr>
          <p:cNvPr id="5" name="Text 3"/>
          <p:cNvSpPr txBox="1"/>
          <p:nvPr/>
        </p:nvSpPr>
        <p:spPr>
          <a:xfrm>
            <a:off x="10042855" y="530352"/>
            <a:ext cx="1600200" cy="347472"/>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Montserrat" pitchFamily="34" charset="0"/>
                <a:ea typeface="Montserrat" pitchFamily="34" charset="-122"/>
                <a:cs typeface="Montserrat" pitchFamily="34" charset="-120"/>
              </a:rPr>
              <a:t>THÉORIE</a:t>
            </a:r>
            <a:endParaRPr lang="en-US" sz="1100" dirty="0"/>
          </a:p>
        </p:txBody>
      </p:sp>
      <p:sp>
        <p:nvSpPr>
          <p:cNvPr id="6" name="Text 4"/>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5E5A78"/>
                </a:solidFill>
                <a:latin typeface="Arial" pitchFamily="34" charset="0"/>
                <a:ea typeface="Arial" pitchFamily="34" charset="-122"/>
                <a:cs typeface="Arial" pitchFamily="34" charset="-120"/>
              </a:rPr>
              <a:t>Gestes et postures de l'élu  ·  Séquence 1</a:t>
            </a:r>
            <a:endParaRPr lang="en-US" sz="900" dirty="0"/>
          </a:p>
        </p:txBody>
      </p:sp>
      <p:pic>
        <p:nvPicPr>
          <p:cNvPr id="7" name="Image 0" descr="logo_light.png">    </p:cNvPr>
          <p:cNvPicPr>
            <a:picLocks noChangeAspect="1"/>
          </p:cNvPicPr>
          <p:nvPr/>
        </p:nvPicPr>
        <p:blipFill>
          <a:blip r:embed="rId1"/>
          <a:stretch>
            <a:fillRect/>
          </a:stretch>
        </p:blipFill>
        <p:spPr>
          <a:xfrm>
            <a:off x="10682935" y="6236208"/>
            <a:ext cx="960120" cy="398441"/>
          </a:xfrm>
          <a:prstGeom prst="rect">
            <a:avLst/>
          </a:prstGeom>
        </p:spPr>
      </p:pic>
      <p:sp>
        <p:nvSpPr>
          <p:cNvPr id="8" name="Shape 5"/>
          <p:cNvSpPr/>
          <p:nvPr/>
        </p:nvSpPr>
        <p:spPr>
          <a:xfrm>
            <a:off x="548640" y="1600200"/>
            <a:ext cx="3515258" cy="2080260"/>
          </a:xfrm>
          <a:prstGeom prst="roundRect">
            <a:avLst>
              <a:gd name="adj" fmla="val 3516"/>
            </a:avLst>
          </a:prstGeom>
          <a:solidFill>
            <a:srgbClr val="EEEDF5"/>
          </a:solidFill>
          <a:ln w="12700">
            <a:solidFill>
              <a:srgbClr val="EEEDF5"/>
            </a:solidFill>
            <a:prstDash val="solid"/>
          </a:ln>
        </p:spPr>
      </p:sp>
      <p:sp>
        <p:nvSpPr>
          <p:cNvPr id="9" name="Shape 6"/>
          <p:cNvSpPr/>
          <p:nvPr/>
        </p:nvSpPr>
        <p:spPr>
          <a:xfrm>
            <a:off x="777240" y="1828800"/>
            <a:ext cx="548640" cy="548640"/>
          </a:xfrm>
          <a:prstGeom prst="ellipse">
            <a:avLst/>
          </a:prstGeom>
          <a:solidFill>
            <a:srgbClr val="0A032B"/>
          </a:solidFill>
          <a:ln w="12700">
            <a:solidFill>
              <a:srgbClr val="0A032B"/>
            </a:solidFill>
            <a:prstDash val="solid"/>
          </a:ln>
        </p:spPr>
      </p:sp>
      <p:pic>
        <p:nvPicPr>
          <p:cNvPr id="10" name="Image 1" descr="preencoded.png">    </p:cNvPr>
          <p:cNvPicPr>
            <a:picLocks noChangeAspect="1"/>
          </p:cNvPicPr>
          <p:nvPr/>
        </p:nvPicPr>
        <p:blipFill>
          <a:blip r:embed="rId2"/>
          <a:stretch>
            <a:fillRect/>
          </a:stretch>
        </p:blipFill>
        <p:spPr>
          <a:xfrm>
            <a:off x="914400" y="1965960"/>
            <a:ext cx="274320" cy="274320"/>
          </a:xfrm>
          <a:prstGeom prst="rect">
            <a:avLst/>
          </a:prstGeom>
        </p:spPr>
      </p:pic>
      <p:sp>
        <p:nvSpPr>
          <p:cNvPr id="11" name="Text 7"/>
          <p:cNvSpPr txBox="1"/>
          <p:nvPr/>
        </p:nvSpPr>
        <p:spPr>
          <a:xfrm>
            <a:off x="1508760" y="1828800"/>
            <a:ext cx="2326538" cy="5486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Port de charges</a:t>
            </a:r>
            <a:endParaRPr lang="en-US" sz="1500" dirty="0"/>
          </a:p>
        </p:txBody>
      </p:sp>
      <p:sp>
        <p:nvSpPr>
          <p:cNvPr id="12" name="Text 8"/>
          <p:cNvSpPr txBox="1"/>
          <p:nvPr/>
        </p:nvSpPr>
        <p:spPr>
          <a:xfrm>
            <a:off x="777240" y="2514600"/>
            <a:ext cx="3058058" cy="1028700"/>
          </a:xfrm>
          <a:prstGeom prst="rect">
            <a:avLst/>
          </a:prstGeom>
          <a:noFill/>
          <a:ln/>
        </p:spPr>
        <p:txBody>
          <a:bodyPr wrap="square" lIns="0" tIns="0" rIns="0" bIns="0" rtlCol="0" anchor="t"/>
          <a:lstStyle/>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Poids, volume, prise difficile</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Charge éloignée du corps</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Distances, escaliers, fréquence</a:t>
            </a:r>
            <a:endParaRPr lang="en-US" sz="1250" dirty="0"/>
          </a:p>
        </p:txBody>
      </p:sp>
      <p:sp>
        <p:nvSpPr>
          <p:cNvPr id="13" name="Shape 9"/>
          <p:cNvSpPr/>
          <p:nvPr/>
        </p:nvSpPr>
        <p:spPr>
          <a:xfrm>
            <a:off x="4338218" y="1600200"/>
            <a:ext cx="3515258" cy="2080260"/>
          </a:xfrm>
          <a:prstGeom prst="roundRect">
            <a:avLst>
              <a:gd name="adj" fmla="val 3516"/>
            </a:avLst>
          </a:prstGeom>
          <a:solidFill>
            <a:srgbClr val="EEEDF5"/>
          </a:solidFill>
          <a:ln w="12700">
            <a:solidFill>
              <a:srgbClr val="EEEDF5"/>
            </a:solidFill>
            <a:prstDash val="solid"/>
          </a:ln>
        </p:spPr>
      </p:sp>
      <p:sp>
        <p:nvSpPr>
          <p:cNvPr id="14" name="Shape 10"/>
          <p:cNvSpPr/>
          <p:nvPr/>
        </p:nvSpPr>
        <p:spPr>
          <a:xfrm>
            <a:off x="4566818" y="1828800"/>
            <a:ext cx="548640" cy="548640"/>
          </a:xfrm>
          <a:prstGeom prst="ellipse">
            <a:avLst/>
          </a:prstGeom>
          <a:solidFill>
            <a:srgbClr val="0A032B"/>
          </a:solidFill>
          <a:ln w="12700">
            <a:solidFill>
              <a:srgbClr val="0A032B"/>
            </a:solidFill>
            <a:prstDash val="solid"/>
          </a:ln>
        </p:spPr>
      </p:sp>
      <p:pic>
        <p:nvPicPr>
          <p:cNvPr id="15" name="Image 2" descr="preencoded.png">    </p:cNvPr>
          <p:cNvPicPr>
            <a:picLocks noChangeAspect="1"/>
          </p:cNvPicPr>
          <p:nvPr/>
        </p:nvPicPr>
        <p:blipFill>
          <a:blip r:embed="rId3"/>
          <a:stretch>
            <a:fillRect/>
          </a:stretch>
        </p:blipFill>
        <p:spPr>
          <a:xfrm>
            <a:off x="4703978" y="1965960"/>
            <a:ext cx="274320" cy="274320"/>
          </a:xfrm>
          <a:prstGeom prst="rect">
            <a:avLst/>
          </a:prstGeom>
        </p:spPr>
      </p:pic>
      <p:sp>
        <p:nvSpPr>
          <p:cNvPr id="16" name="Text 11"/>
          <p:cNvSpPr txBox="1"/>
          <p:nvPr/>
        </p:nvSpPr>
        <p:spPr>
          <a:xfrm>
            <a:off x="5298338" y="1828800"/>
            <a:ext cx="2326538" cy="5486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Gestes répétitifs</a:t>
            </a:r>
            <a:endParaRPr lang="en-US" sz="1500" dirty="0"/>
          </a:p>
        </p:txBody>
      </p:sp>
      <p:sp>
        <p:nvSpPr>
          <p:cNvPr id="17" name="Text 12"/>
          <p:cNvSpPr txBox="1"/>
          <p:nvPr/>
        </p:nvSpPr>
        <p:spPr>
          <a:xfrm>
            <a:off x="4566818" y="2514600"/>
            <a:ext cx="3058058" cy="1028700"/>
          </a:xfrm>
          <a:prstGeom prst="rect">
            <a:avLst/>
          </a:prstGeom>
          <a:noFill/>
          <a:ln/>
        </p:spPr>
        <p:txBody>
          <a:bodyPr wrap="square" lIns="0" tIns="0" rIns="0" bIns="0" rtlCol="0" anchor="t"/>
          <a:lstStyle/>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Mêmes gestes, peu de variation</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Cadence imposée</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Temps de récupération insuffisant</a:t>
            </a:r>
            <a:endParaRPr lang="en-US" sz="1250" dirty="0"/>
          </a:p>
        </p:txBody>
      </p:sp>
      <p:sp>
        <p:nvSpPr>
          <p:cNvPr id="18" name="Shape 13"/>
          <p:cNvSpPr/>
          <p:nvPr/>
        </p:nvSpPr>
        <p:spPr>
          <a:xfrm>
            <a:off x="8127797" y="1600200"/>
            <a:ext cx="3515258" cy="2080260"/>
          </a:xfrm>
          <a:prstGeom prst="roundRect">
            <a:avLst>
              <a:gd name="adj" fmla="val 3516"/>
            </a:avLst>
          </a:prstGeom>
          <a:solidFill>
            <a:srgbClr val="EEEDF5"/>
          </a:solidFill>
          <a:ln w="12700">
            <a:solidFill>
              <a:srgbClr val="EEEDF5"/>
            </a:solidFill>
            <a:prstDash val="solid"/>
          </a:ln>
        </p:spPr>
      </p:sp>
      <p:sp>
        <p:nvSpPr>
          <p:cNvPr id="19" name="Shape 14"/>
          <p:cNvSpPr/>
          <p:nvPr/>
        </p:nvSpPr>
        <p:spPr>
          <a:xfrm>
            <a:off x="8356397" y="1828800"/>
            <a:ext cx="548640" cy="548640"/>
          </a:xfrm>
          <a:prstGeom prst="ellipse">
            <a:avLst/>
          </a:prstGeom>
          <a:solidFill>
            <a:srgbClr val="0A032B"/>
          </a:solidFill>
          <a:ln w="12700">
            <a:solidFill>
              <a:srgbClr val="0A032B"/>
            </a:solidFill>
            <a:prstDash val="solid"/>
          </a:ln>
        </p:spPr>
      </p:sp>
      <p:pic>
        <p:nvPicPr>
          <p:cNvPr id="20" name="Image 3" descr="preencoded.png">    </p:cNvPr>
          <p:cNvPicPr>
            <a:picLocks noChangeAspect="1"/>
          </p:cNvPicPr>
          <p:nvPr/>
        </p:nvPicPr>
        <p:blipFill>
          <a:blip r:embed="rId4"/>
          <a:stretch>
            <a:fillRect/>
          </a:stretch>
        </p:blipFill>
        <p:spPr>
          <a:xfrm>
            <a:off x="8493557" y="1965960"/>
            <a:ext cx="274320" cy="274320"/>
          </a:xfrm>
          <a:prstGeom prst="rect">
            <a:avLst/>
          </a:prstGeom>
        </p:spPr>
      </p:pic>
      <p:sp>
        <p:nvSpPr>
          <p:cNvPr id="21" name="Text 15"/>
          <p:cNvSpPr txBox="1"/>
          <p:nvPr/>
        </p:nvSpPr>
        <p:spPr>
          <a:xfrm>
            <a:off x="9087917" y="1828800"/>
            <a:ext cx="2326538" cy="5486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Postures contraignantes</a:t>
            </a:r>
            <a:endParaRPr lang="en-US" sz="1500" dirty="0"/>
          </a:p>
        </p:txBody>
      </p:sp>
      <p:sp>
        <p:nvSpPr>
          <p:cNvPr id="22" name="Text 16"/>
          <p:cNvSpPr txBox="1"/>
          <p:nvPr/>
        </p:nvSpPr>
        <p:spPr>
          <a:xfrm>
            <a:off x="8356397" y="2514600"/>
            <a:ext cx="3058058" cy="1028700"/>
          </a:xfrm>
          <a:prstGeom prst="rect">
            <a:avLst/>
          </a:prstGeom>
          <a:noFill/>
          <a:ln/>
        </p:spPr>
        <p:txBody>
          <a:bodyPr wrap="square" lIns="0" tIns="0" rIns="0" bIns="0" rtlCol="0" anchor="t"/>
          <a:lstStyle/>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Dos penché ou en torsion</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Bras au-dessus des épaules</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Accroupi, à genoux</a:t>
            </a:r>
            <a:endParaRPr lang="en-US" sz="1250" dirty="0"/>
          </a:p>
        </p:txBody>
      </p:sp>
      <p:sp>
        <p:nvSpPr>
          <p:cNvPr id="23" name="Shape 17"/>
          <p:cNvSpPr/>
          <p:nvPr/>
        </p:nvSpPr>
        <p:spPr>
          <a:xfrm>
            <a:off x="548640" y="3954780"/>
            <a:ext cx="3515258" cy="2080260"/>
          </a:xfrm>
          <a:prstGeom prst="roundRect">
            <a:avLst>
              <a:gd name="adj" fmla="val 3516"/>
            </a:avLst>
          </a:prstGeom>
          <a:solidFill>
            <a:srgbClr val="EEEDF5"/>
          </a:solidFill>
          <a:ln w="12700">
            <a:solidFill>
              <a:srgbClr val="EEEDF5"/>
            </a:solidFill>
            <a:prstDash val="solid"/>
          </a:ln>
        </p:spPr>
      </p:sp>
      <p:sp>
        <p:nvSpPr>
          <p:cNvPr id="24" name="Shape 18"/>
          <p:cNvSpPr/>
          <p:nvPr/>
        </p:nvSpPr>
        <p:spPr>
          <a:xfrm>
            <a:off x="777240" y="4183380"/>
            <a:ext cx="548640" cy="548640"/>
          </a:xfrm>
          <a:prstGeom prst="ellipse">
            <a:avLst/>
          </a:prstGeom>
          <a:solidFill>
            <a:srgbClr val="0A032B"/>
          </a:solidFill>
          <a:ln w="12700">
            <a:solidFill>
              <a:srgbClr val="0A032B"/>
            </a:solidFill>
            <a:prstDash val="solid"/>
          </a:ln>
        </p:spPr>
      </p:sp>
      <p:pic>
        <p:nvPicPr>
          <p:cNvPr id="25" name="Image 4" descr="preencoded.png">    </p:cNvPr>
          <p:cNvPicPr>
            <a:picLocks noChangeAspect="1"/>
          </p:cNvPicPr>
          <p:nvPr/>
        </p:nvPicPr>
        <p:blipFill>
          <a:blip r:embed="rId5"/>
          <a:stretch>
            <a:fillRect/>
          </a:stretch>
        </p:blipFill>
        <p:spPr>
          <a:xfrm>
            <a:off x="914400" y="4320540"/>
            <a:ext cx="274320" cy="274320"/>
          </a:xfrm>
          <a:prstGeom prst="rect">
            <a:avLst/>
          </a:prstGeom>
        </p:spPr>
      </p:pic>
      <p:sp>
        <p:nvSpPr>
          <p:cNvPr id="26" name="Text 19"/>
          <p:cNvSpPr txBox="1"/>
          <p:nvPr/>
        </p:nvSpPr>
        <p:spPr>
          <a:xfrm>
            <a:off x="1508760" y="4183380"/>
            <a:ext cx="2326538" cy="5486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Station assise prolongée</a:t>
            </a:r>
            <a:endParaRPr lang="en-US" sz="1500" dirty="0"/>
          </a:p>
        </p:txBody>
      </p:sp>
      <p:sp>
        <p:nvSpPr>
          <p:cNvPr id="27" name="Text 20"/>
          <p:cNvSpPr txBox="1"/>
          <p:nvPr/>
        </p:nvSpPr>
        <p:spPr>
          <a:xfrm>
            <a:off x="777240" y="4869180"/>
            <a:ext cx="3058058" cy="1028700"/>
          </a:xfrm>
          <a:prstGeom prst="rect">
            <a:avLst/>
          </a:prstGeom>
          <a:noFill/>
          <a:ln/>
        </p:spPr>
        <p:txBody>
          <a:bodyPr wrap="square" lIns="0" tIns="0" rIns="0" bIns="0" rtlCol="0" anchor="t"/>
          <a:lstStyle/>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Conseils, commissions, réunions</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Longs trajets en voiture</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Travail sur écran</a:t>
            </a:r>
            <a:endParaRPr lang="en-US" sz="1250" dirty="0"/>
          </a:p>
        </p:txBody>
      </p:sp>
      <p:sp>
        <p:nvSpPr>
          <p:cNvPr id="28" name="Shape 21"/>
          <p:cNvSpPr/>
          <p:nvPr/>
        </p:nvSpPr>
        <p:spPr>
          <a:xfrm>
            <a:off x="4338218" y="3954780"/>
            <a:ext cx="3515258" cy="2080260"/>
          </a:xfrm>
          <a:prstGeom prst="roundRect">
            <a:avLst>
              <a:gd name="adj" fmla="val 3516"/>
            </a:avLst>
          </a:prstGeom>
          <a:solidFill>
            <a:srgbClr val="EEEDF5"/>
          </a:solidFill>
          <a:ln w="12700">
            <a:solidFill>
              <a:srgbClr val="EEEDF5"/>
            </a:solidFill>
            <a:prstDash val="solid"/>
          </a:ln>
        </p:spPr>
      </p:sp>
      <p:sp>
        <p:nvSpPr>
          <p:cNvPr id="29" name="Shape 22"/>
          <p:cNvSpPr/>
          <p:nvPr/>
        </p:nvSpPr>
        <p:spPr>
          <a:xfrm>
            <a:off x="4566818" y="4183380"/>
            <a:ext cx="548640" cy="548640"/>
          </a:xfrm>
          <a:prstGeom prst="ellipse">
            <a:avLst/>
          </a:prstGeom>
          <a:solidFill>
            <a:srgbClr val="0A032B"/>
          </a:solidFill>
          <a:ln w="12700">
            <a:solidFill>
              <a:srgbClr val="0A032B"/>
            </a:solidFill>
            <a:prstDash val="solid"/>
          </a:ln>
        </p:spPr>
      </p:sp>
      <p:pic>
        <p:nvPicPr>
          <p:cNvPr id="30" name="Image 5" descr="preencoded.png">    </p:cNvPr>
          <p:cNvPicPr>
            <a:picLocks noChangeAspect="1"/>
          </p:cNvPicPr>
          <p:nvPr/>
        </p:nvPicPr>
        <p:blipFill>
          <a:blip r:embed="rId6"/>
          <a:stretch>
            <a:fillRect/>
          </a:stretch>
        </p:blipFill>
        <p:spPr>
          <a:xfrm>
            <a:off x="4703978" y="4320540"/>
            <a:ext cx="274320" cy="274320"/>
          </a:xfrm>
          <a:prstGeom prst="rect">
            <a:avLst/>
          </a:prstGeom>
        </p:spPr>
      </p:pic>
      <p:sp>
        <p:nvSpPr>
          <p:cNvPr id="31" name="Text 23"/>
          <p:cNvSpPr txBox="1"/>
          <p:nvPr/>
        </p:nvSpPr>
        <p:spPr>
          <a:xfrm>
            <a:off x="5298338" y="4183380"/>
            <a:ext cx="2326538" cy="5486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Facteurs psychosociaux</a:t>
            </a:r>
            <a:endParaRPr lang="en-US" sz="1500" dirty="0"/>
          </a:p>
        </p:txBody>
      </p:sp>
      <p:sp>
        <p:nvSpPr>
          <p:cNvPr id="32" name="Text 24"/>
          <p:cNvSpPr txBox="1"/>
          <p:nvPr/>
        </p:nvSpPr>
        <p:spPr>
          <a:xfrm>
            <a:off x="4566818" y="4869180"/>
            <a:ext cx="3058058" cy="1028700"/>
          </a:xfrm>
          <a:prstGeom prst="rect">
            <a:avLst/>
          </a:prstGeom>
          <a:noFill/>
          <a:ln/>
        </p:spPr>
        <p:txBody>
          <a:bodyPr wrap="square" lIns="0" tIns="0" rIns="0" bIns="0" rtlCol="0" anchor="t"/>
          <a:lstStyle/>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Stress, pression du temps</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Charge mentale du mandat</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Manque de récupération</a:t>
            </a:r>
            <a:endParaRPr lang="en-US" sz="1250" dirty="0"/>
          </a:p>
        </p:txBody>
      </p:sp>
      <p:sp>
        <p:nvSpPr>
          <p:cNvPr id="33" name="Shape 25"/>
          <p:cNvSpPr/>
          <p:nvPr/>
        </p:nvSpPr>
        <p:spPr>
          <a:xfrm>
            <a:off x="8127797" y="3954780"/>
            <a:ext cx="3515258" cy="2080260"/>
          </a:xfrm>
          <a:prstGeom prst="roundRect">
            <a:avLst>
              <a:gd name="adj" fmla="val 3516"/>
            </a:avLst>
          </a:prstGeom>
          <a:solidFill>
            <a:srgbClr val="EEEDF5"/>
          </a:solidFill>
          <a:ln w="12700">
            <a:solidFill>
              <a:srgbClr val="EEEDF5"/>
            </a:solidFill>
            <a:prstDash val="solid"/>
          </a:ln>
        </p:spPr>
      </p:sp>
      <p:sp>
        <p:nvSpPr>
          <p:cNvPr id="34" name="Shape 26"/>
          <p:cNvSpPr/>
          <p:nvPr/>
        </p:nvSpPr>
        <p:spPr>
          <a:xfrm>
            <a:off x="8356397" y="4183380"/>
            <a:ext cx="548640" cy="548640"/>
          </a:xfrm>
          <a:prstGeom prst="ellipse">
            <a:avLst/>
          </a:prstGeom>
          <a:solidFill>
            <a:srgbClr val="0A032B"/>
          </a:solidFill>
          <a:ln w="12700">
            <a:solidFill>
              <a:srgbClr val="0A032B"/>
            </a:solidFill>
            <a:prstDash val="solid"/>
          </a:ln>
        </p:spPr>
      </p:sp>
      <p:pic>
        <p:nvPicPr>
          <p:cNvPr id="35" name="Image 6" descr="preencoded.png">    </p:cNvPr>
          <p:cNvPicPr>
            <a:picLocks noChangeAspect="1"/>
          </p:cNvPicPr>
          <p:nvPr/>
        </p:nvPicPr>
        <p:blipFill>
          <a:blip r:embed="rId7"/>
          <a:stretch>
            <a:fillRect/>
          </a:stretch>
        </p:blipFill>
        <p:spPr>
          <a:xfrm>
            <a:off x="8493557" y="4320540"/>
            <a:ext cx="274320" cy="274320"/>
          </a:xfrm>
          <a:prstGeom prst="rect">
            <a:avLst/>
          </a:prstGeom>
        </p:spPr>
      </p:pic>
      <p:sp>
        <p:nvSpPr>
          <p:cNvPr id="36" name="Text 27"/>
          <p:cNvSpPr txBox="1"/>
          <p:nvPr/>
        </p:nvSpPr>
        <p:spPr>
          <a:xfrm>
            <a:off x="9087917" y="4183380"/>
            <a:ext cx="2326538" cy="5486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Environnement et individu</a:t>
            </a:r>
            <a:endParaRPr lang="en-US" sz="1500" dirty="0"/>
          </a:p>
        </p:txBody>
      </p:sp>
      <p:sp>
        <p:nvSpPr>
          <p:cNvPr id="37" name="Text 28"/>
          <p:cNvSpPr txBox="1"/>
          <p:nvPr/>
        </p:nvSpPr>
        <p:spPr>
          <a:xfrm>
            <a:off x="8356397" y="4869180"/>
            <a:ext cx="3058058" cy="1028700"/>
          </a:xfrm>
          <a:prstGeom prst="rect">
            <a:avLst/>
          </a:prstGeom>
          <a:noFill/>
          <a:ln/>
        </p:spPr>
        <p:txBody>
          <a:bodyPr wrap="square" lIns="0" tIns="0" rIns="0" bIns="0" rtlCol="0" anchor="t"/>
          <a:lstStyle/>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Froid, vibrations, sols glissants</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Âge, condition physique, sommeil</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Échauffement absent</a:t>
            </a:r>
            <a:endParaRPr lang="en-US" sz="1250" dirty="0"/>
          </a:p>
        </p:txBody>
      </p:sp>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14800" cy="6858000"/>
          </a:xfrm>
          <a:prstGeom prst="rect">
            <a:avLst/>
          </a:prstGeom>
          <a:solidFill>
            <a:srgbClr val="F0EF96"/>
          </a:solidFill>
          <a:ln w="12700">
            <a:solidFill>
              <a:srgbClr val="F0EF96"/>
            </a:solidFill>
            <a:prstDash val="solid"/>
          </a:ln>
        </p:spPr>
      </p:sp>
      <p:sp>
        <p:nvSpPr>
          <p:cNvPr id="3" name="Shape 1"/>
          <p:cNvSpPr/>
          <p:nvPr/>
        </p:nvSpPr>
        <p:spPr>
          <a:xfrm>
            <a:off x="548640" y="502920"/>
            <a:ext cx="1600200" cy="347472"/>
          </a:xfrm>
          <a:prstGeom prst="roundRect">
            <a:avLst>
              <a:gd name="adj" fmla="val 50000"/>
            </a:avLst>
          </a:prstGeom>
          <a:solidFill>
            <a:srgbClr val="F0EF96"/>
          </a:solidFill>
          <a:ln w="12700">
            <a:solidFill>
              <a:srgbClr val="F0EF96"/>
            </a:solidFill>
            <a:prstDash val="solid"/>
          </a:ln>
        </p:spPr>
      </p:sp>
      <p:sp>
        <p:nvSpPr>
          <p:cNvPr id="4" name="Text 2"/>
          <p:cNvSpPr txBox="1"/>
          <p:nvPr/>
        </p:nvSpPr>
        <p:spPr>
          <a:xfrm>
            <a:off x="548640" y="502920"/>
            <a:ext cx="1600200" cy="347472"/>
          </a:xfrm>
          <a:prstGeom prst="rect">
            <a:avLst/>
          </a:prstGeom>
          <a:noFill/>
          <a:ln/>
        </p:spPr>
        <p:txBody>
          <a:bodyPr wrap="square" lIns="0" tIns="0" rIns="0" bIns="0" rtlCol="0" anchor="ctr"/>
          <a:lstStyle/>
          <a:p>
            <a:pPr algn="ctr" indent="0" marL="0">
              <a:buNone/>
            </a:pPr>
            <a:r>
              <a:rPr lang="en-US" sz="1100" b="1" spc="200" kern="0" dirty="0">
                <a:solidFill>
                  <a:srgbClr val="0A032B"/>
                </a:solidFill>
                <a:latin typeface="Montserrat" pitchFamily="34" charset="0"/>
                <a:ea typeface="Montserrat" pitchFamily="34" charset="-122"/>
                <a:cs typeface="Montserrat" pitchFamily="34" charset="-120"/>
              </a:rPr>
              <a:t>PRATIQUE</a:t>
            </a:r>
            <a:endParaRPr lang="en-US" sz="1100" dirty="0"/>
          </a:p>
        </p:txBody>
      </p:sp>
      <p:sp>
        <p:nvSpPr>
          <p:cNvPr id="5" name="Text 3"/>
          <p:cNvSpPr txBox="1"/>
          <p:nvPr/>
        </p:nvSpPr>
        <p:spPr>
          <a:xfrm>
            <a:off x="548640" y="1005840"/>
            <a:ext cx="3108960" cy="365760"/>
          </a:xfrm>
          <a:prstGeom prst="rect">
            <a:avLst/>
          </a:prstGeom>
          <a:noFill/>
          <a:ln/>
        </p:spPr>
        <p:txBody>
          <a:bodyPr wrap="square" lIns="0" tIns="0" rIns="0" bIns="0" rtlCol="0" anchor="ctr"/>
          <a:lstStyle/>
          <a:p>
            <a:pPr indent="0" marL="0">
              <a:buNone/>
            </a:pPr>
            <a:r>
              <a:rPr lang="en-US" sz="1300" b="1" spc="100" kern="0" dirty="0">
                <a:solidFill>
                  <a:srgbClr val="35305C"/>
                </a:solidFill>
                <a:latin typeface="Montserrat" pitchFamily="34" charset="0"/>
                <a:ea typeface="Montserrat" pitchFamily="34" charset="-122"/>
                <a:cs typeface="Montserrat" pitchFamily="34" charset="-120"/>
              </a:rPr>
              <a:t>EXERCICE INDIVIDUEL</a:t>
            </a:r>
            <a:endParaRPr lang="en-US" sz="1300" dirty="0"/>
          </a:p>
        </p:txBody>
      </p:sp>
      <p:sp>
        <p:nvSpPr>
          <p:cNvPr id="6" name="Text 4"/>
          <p:cNvSpPr txBox="1"/>
          <p:nvPr/>
        </p:nvSpPr>
        <p:spPr>
          <a:xfrm>
            <a:off x="548640" y="1371600"/>
            <a:ext cx="3200400" cy="1371600"/>
          </a:xfrm>
          <a:prstGeom prst="rect">
            <a:avLst/>
          </a:prstGeom>
          <a:noFill/>
          <a:ln/>
        </p:spPr>
        <p:txBody>
          <a:bodyPr wrap="square" lIns="0" tIns="0" rIns="0" bIns="0" rtlCol="0" anchor="t"/>
          <a:lstStyle/>
          <a:p>
            <a:pPr indent="0" marL="0">
              <a:buNone/>
            </a:pPr>
            <a:r>
              <a:rPr lang="en-US" sz="2400" b="1" dirty="0">
                <a:solidFill>
                  <a:srgbClr val="0A032B"/>
                </a:solidFill>
                <a:latin typeface="Montserrat" pitchFamily="34" charset="0"/>
                <a:ea typeface="Montserrat" pitchFamily="34" charset="-122"/>
                <a:cs typeface="Montserrat" pitchFamily="34" charset="-120"/>
              </a:rPr>
              <a:t>Auto-diagnostic : « Mon corps dans le mandat »</a:t>
            </a:r>
            <a:endParaRPr lang="en-US" sz="2400" dirty="0"/>
          </a:p>
        </p:txBody>
      </p:sp>
      <p:sp>
        <p:nvSpPr>
          <p:cNvPr id="7" name="Shape 5"/>
          <p:cNvSpPr/>
          <p:nvPr/>
        </p:nvSpPr>
        <p:spPr>
          <a:xfrm>
            <a:off x="548640" y="2971800"/>
            <a:ext cx="457200" cy="457200"/>
          </a:xfrm>
          <a:prstGeom prst="ellipse">
            <a:avLst/>
          </a:prstGeom>
          <a:solidFill>
            <a:srgbClr val="0A032B"/>
          </a:solidFill>
          <a:ln w="12700">
            <a:solidFill>
              <a:srgbClr val="0A032B"/>
            </a:solidFill>
            <a:prstDash val="solid"/>
          </a:ln>
        </p:spPr>
      </p:sp>
      <p:pic>
        <p:nvPicPr>
          <p:cNvPr id="8" name="Image 0" descr="preencoded.png">    </p:cNvPr>
          <p:cNvPicPr>
            <a:picLocks noChangeAspect="1"/>
          </p:cNvPicPr>
          <p:nvPr/>
        </p:nvPicPr>
        <p:blipFill>
          <a:blip r:embed="rId1"/>
          <a:stretch>
            <a:fillRect/>
          </a:stretch>
        </p:blipFill>
        <p:spPr>
          <a:xfrm>
            <a:off x="662940" y="3086100"/>
            <a:ext cx="228600" cy="228600"/>
          </a:xfrm>
          <a:prstGeom prst="rect">
            <a:avLst/>
          </a:prstGeom>
        </p:spPr>
      </p:pic>
      <p:sp>
        <p:nvSpPr>
          <p:cNvPr id="9" name="Text 6"/>
          <p:cNvSpPr txBox="1"/>
          <p:nvPr/>
        </p:nvSpPr>
        <p:spPr>
          <a:xfrm>
            <a:off x="1188720" y="2926080"/>
            <a:ext cx="2468880" cy="868680"/>
          </a:xfrm>
          <a:prstGeom prst="rect">
            <a:avLst/>
          </a:prstGeom>
          <a:noFill/>
          <a:ln/>
        </p:spPr>
        <p:txBody>
          <a:bodyPr wrap="square" lIns="0" tIns="0" rIns="0" bIns="0" rtlCol="0" anchor="t"/>
          <a:lstStyle/>
          <a:p>
            <a:pPr indent="0" marL="0">
              <a:buNone/>
            </a:pPr>
            <a:r>
              <a:rPr lang="en-US" sz="1000" b="1" spc="100" kern="0" dirty="0">
                <a:solidFill>
                  <a:srgbClr val="35305C"/>
                </a:solidFill>
                <a:latin typeface="Montserrat" pitchFamily="34" charset="0"/>
                <a:ea typeface="Montserrat" pitchFamily="34" charset="-122"/>
                <a:cs typeface="Montserrat" pitchFamily="34" charset="-120"/>
              </a:rPr>
              <a:t>DURÉE</a:t>
            </a:r>
            <a:endParaRPr lang="en-US" sz="1000" dirty="0"/>
          </a:p>
          <a:p>
            <a:pPr indent="0" marL="0">
              <a:buNone/>
            </a:pPr>
            <a:r>
              <a:rPr lang="en-US" sz="1250" dirty="0">
                <a:solidFill>
                  <a:srgbClr val="0A032B"/>
                </a:solidFill>
                <a:latin typeface="Arial" pitchFamily="34" charset="0"/>
                <a:ea typeface="Arial" pitchFamily="34" charset="-122"/>
                <a:cs typeface="Arial" pitchFamily="34" charset="-120"/>
              </a:rPr>
              <a:t>10 minutes</a:t>
            </a:r>
            <a:endParaRPr lang="en-US" sz="1000" dirty="0"/>
          </a:p>
        </p:txBody>
      </p:sp>
      <p:sp>
        <p:nvSpPr>
          <p:cNvPr id="10" name="Shape 7"/>
          <p:cNvSpPr/>
          <p:nvPr/>
        </p:nvSpPr>
        <p:spPr>
          <a:xfrm>
            <a:off x="548640" y="3931920"/>
            <a:ext cx="457200" cy="457200"/>
          </a:xfrm>
          <a:prstGeom prst="ellipse">
            <a:avLst/>
          </a:prstGeom>
          <a:solidFill>
            <a:srgbClr val="0A032B"/>
          </a:solidFill>
          <a:ln w="12700">
            <a:solidFill>
              <a:srgbClr val="0A032B"/>
            </a:solidFill>
            <a:prstDash val="solid"/>
          </a:ln>
        </p:spPr>
      </p:sp>
      <p:pic>
        <p:nvPicPr>
          <p:cNvPr id="11" name="Image 1" descr="preencoded.png">    </p:cNvPr>
          <p:cNvPicPr>
            <a:picLocks noChangeAspect="1"/>
          </p:cNvPicPr>
          <p:nvPr/>
        </p:nvPicPr>
        <p:blipFill>
          <a:blip r:embed="rId2"/>
          <a:stretch>
            <a:fillRect/>
          </a:stretch>
        </p:blipFill>
        <p:spPr>
          <a:xfrm>
            <a:off x="662940" y="4046220"/>
            <a:ext cx="228600" cy="228600"/>
          </a:xfrm>
          <a:prstGeom prst="rect">
            <a:avLst/>
          </a:prstGeom>
        </p:spPr>
      </p:pic>
      <p:sp>
        <p:nvSpPr>
          <p:cNvPr id="12" name="Text 8"/>
          <p:cNvSpPr txBox="1"/>
          <p:nvPr/>
        </p:nvSpPr>
        <p:spPr>
          <a:xfrm>
            <a:off x="1188720" y="3886200"/>
            <a:ext cx="2468880" cy="868680"/>
          </a:xfrm>
          <a:prstGeom prst="rect">
            <a:avLst/>
          </a:prstGeom>
          <a:noFill/>
          <a:ln/>
        </p:spPr>
        <p:txBody>
          <a:bodyPr wrap="square" lIns="0" tIns="0" rIns="0" bIns="0" rtlCol="0" anchor="t"/>
          <a:lstStyle/>
          <a:p>
            <a:pPr indent="0" marL="0">
              <a:buNone/>
            </a:pPr>
            <a:r>
              <a:rPr lang="en-US" sz="1000" b="1" spc="100" kern="0" dirty="0">
                <a:solidFill>
                  <a:srgbClr val="35305C"/>
                </a:solidFill>
                <a:latin typeface="Montserrat" pitchFamily="34" charset="0"/>
                <a:ea typeface="Montserrat" pitchFamily="34" charset="-122"/>
                <a:cs typeface="Montserrat" pitchFamily="34" charset="-120"/>
              </a:rPr>
              <a:t>FORMAT</a:t>
            </a:r>
            <a:endParaRPr lang="en-US" sz="1000" dirty="0"/>
          </a:p>
          <a:p>
            <a:pPr indent="0" marL="0">
              <a:buNone/>
            </a:pPr>
            <a:r>
              <a:rPr lang="en-US" sz="1250" dirty="0">
                <a:solidFill>
                  <a:srgbClr val="0A032B"/>
                </a:solidFill>
                <a:latin typeface="Arial" pitchFamily="34" charset="0"/>
                <a:ea typeface="Arial" pitchFamily="34" charset="-122"/>
                <a:cs typeface="Arial" pitchFamily="34" charset="-120"/>
              </a:rPr>
              <a:t>Individuel, puis mise en commun</a:t>
            </a:r>
            <a:endParaRPr lang="en-US" sz="1000" dirty="0"/>
          </a:p>
        </p:txBody>
      </p:sp>
      <p:sp>
        <p:nvSpPr>
          <p:cNvPr id="13" name="Shape 9"/>
          <p:cNvSpPr/>
          <p:nvPr/>
        </p:nvSpPr>
        <p:spPr>
          <a:xfrm>
            <a:off x="548640" y="4892040"/>
            <a:ext cx="457200" cy="457200"/>
          </a:xfrm>
          <a:prstGeom prst="ellipse">
            <a:avLst/>
          </a:prstGeom>
          <a:solidFill>
            <a:srgbClr val="0A032B"/>
          </a:solidFill>
          <a:ln w="12700">
            <a:solidFill>
              <a:srgbClr val="0A032B"/>
            </a:solidFill>
            <a:prstDash val="solid"/>
          </a:ln>
        </p:spPr>
      </p:sp>
      <p:pic>
        <p:nvPicPr>
          <p:cNvPr id="14" name="Image 2" descr="preencoded.png">    </p:cNvPr>
          <p:cNvPicPr>
            <a:picLocks noChangeAspect="1"/>
          </p:cNvPicPr>
          <p:nvPr/>
        </p:nvPicPr>
        <p:blipFill>
          <a:blip r:embed="rId3"/>
          <a:stretch>
            <a:fillRect/>
          </a:stretch>
        </p:blipFill>
        <p:spPr>
          <a:xfrm>
            <a:off x="662940" y="5006340"/>
            <a:ext cx="228600" cy="228600"/>
          </a:xfrm>
          <a:prstGeom prst="rect">
            <a:avLst/>
          </a:prstGeom>
        </p:spPr>
      </p:pic>
      <p:sp>
        <p:nvSpPr>
          <p:cNvPr id="15" name="Text 10"/>
          <p:cNvSpPr txBox="1"/>
          <p:nvPr/>
        </p:nvSpPr>
        <p:spPr>
          <a:xfrm>
            <a:off x="1188720" y="4846320"/>
            <a:ext cx="2468880" cy="868680"/>
          </a:xfrm>
          <a:prstGeom prst="rect">
            <a:avLst/>
          </a:prstGeom>
          <a:noFill/>
          <a:ln/>
        </p:spPr>
        <p:txBody>
          <a:bodyPr wrap="square" lIns="0" tIns="0" rIns="0" bIns="0" rtlCol="0" anchor="t"/>
          <a:lstStyle/>
          <a:p>
            <a:pPr indent="0" marL="0">
              <a:buNone/>
            </a:pPr>
            <a:r>
              <a:rPr lang="en-US" sz="1000" b="1" spc="100" kern="0" dirty="0">
                <a:solidFill>
                  <a:srgbClr val="35305C"/>
                </a:solidFill>
                <a:latin typeface="Montserrat" pitchFamily="34" charset="0"/>
                <a:ea typeface="Montserrat" pitchFamily="34" charset="-122"/>
                <a:cs typeface="Montserrat" pitchFamily="34" charset="-120"/>
              </a:rPr>
              <a:t>MATÉRIEL</a:t>
            </a:r>
            <a:endParaRPr lang="en-US" sz="1000" dirty="0"/>
          </a:p>
          <a:p>
            <a:pPr indent="0" marL="0">
              <a:buNone/>
            </a:pPr>
            <a:r>
              <a:rPr lang="en-US" sz="1250" dirty="0">
                <a:solidFill>
                  <a:srgbClr val="0A032B"/>
                </a:solidFill>
                <a:latin typeface="Arial" pitchFamily="34" charset="0"/>
                <a:ea typeface="Arial" pitchFamily="34" charset="-122"/>
                <a:cs typeface="Arial" pitchFamily="34" charset="-120"/>
              </a:rPr>
              <a:t>Silhouette du livret stagiaire, gommettes de couleur</a:t>
            </a:r>
            <a:endParaRPr lang="en-US" sz="1000" dirty="0"/>
          </a:p>
        </p:txBody>
      </p:sp>
      <p:sp>
        <p:nvSpPr>
          <p:cNvPr id="16" name="Text 11"/>
          <p:cNvSpPr txBox="1"/>
          <p:nvPr/>
        </p:nvSpPr>
        <p:spPr>
          <a:xfrm>
            <a:off x="4663440" y="457200"/>
            <a:ext cx="6979615" cy="502920"/>
          </a:xfrm>
          <a:prstGeom prst="rect">
            <a:avLst/>
          </a:prstGeom>
          <a:noFill/>
          <a:ln/>
        </p:spPr>
        <p:txBody>
          <a:bodyPr wrap="square" lIns="0" tIns="0" rIns="0" bIns="0" rtlCol="0" anchor="ctr"/>
          <a:lstStyle/>
          <a:p>
            <a:pPr indent="0" marL="0">
              <a:buNone/>
            </a:pPr>
            <a:r>
              <a:rPr lang="en-US" sz="2200" b="1" dirty="0">
                <a:solidFill>
                  <a:srgbClr val="0A032B"/>
                </a:solidFill>
                <a:latin typeface="Montserrat" pitchFamily="34" charset="0"/>
                <a:ea typeface="Montserrat" pitchFamily="34" charset="-122"/>
                <a:cs typeface="Montserrat" pitchFamily="34" charset="-120"/>
              </a:rPr>
              <a:t>Consignes</a:t>
            </a:r>
            <a:endParaRPr lang="en-US" sz="2200" dirty="0"/>
          </a:p>
        </p:txBody>
      </p:sp>
      <p:sp>
        <p:nvSpPr>
          <p:cNvPr id="17" name="Shape 12"/>
          <p:cNvSpPr/>
          <p:nvPr/>
        </p:nvSpPr>
        <p:spPr>
          <a:xfrm>
            <a:off x="4663440" y="1234440"/>
            <a:ext cx="457200" cy="457200"/>
          </a:xfrm>
          <a:prstGeom prst="ellipse">
            <a:avLst/>
          </a:prstGeom>
          <a:solidFill>
            <a:srgbClr val="0A032B"/>
          </a:solidFill>
          <a:ln w="12700">
            <a:solidFill>
              <a:srgbClr val="0A032B"/>
            </a:solidFill>
            <a:prstDash val="solid"/>
          </a:ln>
        </p:spPr>
      </p:sp>
      <p:sp>
        <p:nvSpPr>
          <p:cNvPr id="18" name="Text 13"/>
          <p:cNvSpPr txBox="1"/>
          <p:nvPr/>
        </p:nvSpPr>
        <p:spPr>
          <a:xfrm>
            <a:off x="4663440" y="12344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1</a:t>
            </a:r>
            <a:endParaRPr lang="en-US" sz="1300" dirty="0"/>
          </a:p>
        </p:txBody>
      </p:sp>
      <p:sp>
        <p:nvSpPr>
          <p:cNvPr id="19" name="Text 14"/>
          <p:cNvSpPr txBox="1"/>
          <p:nvPr/>
        </p:nvSpPr>
        <p:spPr>
          <a:xfrm>
            <a:off x="5349240" y="1216152"/>
            <a:ext cx="6293815" cy="745236"/>
          </a:xfrm>
          <a:prstGeom prst="rect">
            <a:avLst/>
          </a:prstGeom>
          <a:noFill/>
          <a:ln/>
        </p:spPr>
        <p:txBody>
          <a:bodyPr wrap="square" lIns="0" tIns="0" rIns="0" bIns="0" rtlCol="0" anchor="t"/>
          <a:lstStyle/>
          <a:p>
            <a:pPr indent="0" marL="0">
              <a:spcAft>
                <a:spcPts val="300"/>
              </a:spcAft>
              <a:buNone/>
            </a:pPr>
            <a:r>
              <a:rPr lang="en-US" sz="1500" b="1" dirty="0">
                <a:solidFill>
                  <a:srgbClr val="0A032B"/>
                </a:solidFill>
                <a:latin typeface="Montserrat" pitchFamily="34" charset="0"/>
                <a:ea typeface="Montserrat" pitchFamily="34" charset="-122"/>
                <a:cs typeface="Montserrat" pitchFamily="34" charset="-120"/>
              </a:rPr>
              <a:t>Repérez vos zones sensibles</a:t>
            </a:r>
            <a:endParaRPr lang="en-US" sz="1500" dirty="0"/>
          </a:p>
          <a:p>
            <a:pPr indent="0" marL="0">
              <a:spcAft>
                <a:spcPts val="300"/>
              </a:spcAft>
              <a:buNone/>
            </a:pPr>
            <a:r>
              <a:rPr lang="en-US" sz="1300" dirty="0">
                <a:solidFill>
                  <a:srgbClr val="35305C"/>
                </a:solidFill>
                <a:latin typeface="Arial" pitchFamily="34" charset="0"/>
                <a:ea typeface="Arial" pitchFamily="34" charset="-122"/>
                <a:cs typeface="Arial" pitchFamily="34" charset="-120"/>
              </a:rPr>
              <a:t>Sur la silhouette du livret, placez une gommette sur chaque zone où vous ressentez gêne ou douleur.</a:t>
            </a:r>
            <a:endParaRPr lang="en-US" sz="1500" dirty="0"/>
          </a:p>
        </p:txBody>
      </p:sp>
      <p:sp>
        <p:nvSpPr>
          <p:cNvPr id="20" name="Shape 15"/>
          <p:cNvSpPr/>
          <p:nvPr/>
        </p:nvSpPr>
        <p:spPr>
          <a:xfrm>
            <a:off x="4663440" y="2144268"/>
            <a:ext cx="457200" cy="457200"/>
          </a:xfrm>
          <a:prstGeom prst="ellipse">
            <a:avLst/>
          </a:prstGeom>
          <a:solidFill>
            <a:srgbClr val="0A032B"/>
          </a:solidFill>
          <a:ln w="12700">
            <a:solidFill>
              <a:srgbClr val="0A032B"/>
            </a:solidFill>
            <a:prstDash val="solid"/>
          </a:ln>
        </p:spPr>
      </p:sp>
      <p:sp>
        <p:nvSpPr>
          <p:cNvPr id="21" name="Text 16"/>
          <p:cNvSpPr txBox="1"/>
          <p:nvPr/>
        </p:nvSpPr>
        <p:spPr>
          <a:xfrm>
            <a:off x="4663440" y="214426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2</a:t>
            </a:r>
            <a:endParaRPr lang="en-US" sz="1300" dirty="0"/>
          </a:p>
        </p:txBody>
      </p:sp>
      <p:sp>
        <p:nvSpPr>
          <p:cNvPr id="22" name="Text 17"/>
          <p:cNvSpPr txBox="1"/>
          <p:nvPr/>
        </p:nvSpPr>
        <p:spPr>
          <a:xfrm>
            <a:off x="5349240" y="2125980"/>
            <a:ext cx="6293815" cy="745236"/>
          </a:xfrm>
          <a:prstGeom prst="rect">
            <a:avLst/>
          </a:prstGeom>
          <a:noFill/>
          <a:ln/>
        </p:spPr>
        <p:txBody>
          <a:bodyPr wrap="square" lIns="0" tIns="0" rIns="0" bIns="0" rtlCol="0" anchor="t"/>
          <a:lstStyle/>
          <a:p>
            <a:pPr indent="0" marL="0">
              <a:spcAft>
                <a:spcPts val="300"/>
              </a:spcAft>
              <a:buNone/>
            </a:pPr>
            <a:r>
              <a:rPr lang="en-US" sz="1500" b="1" dirty="0">
                <a:solidFill>
                  <a:srgbClr val="0A032B"/>
                </a:solidFill>
                <a:latin typeface="Montserrat" pitchFamily="34" charset="0"/>
                <a:ea typeface="Montserrat" pitchFamily="34" charset="-122"/>
                <a:cs typeface="Montserrat" pitchFamily="34" charset="-120"/>
              </a:rPr>
              <a:t>Qualifiez l'intensité</a:t>
            </a:r>
            <a:endParaRPr lang="en-US" sz="1500" dirty="0"/>
          </a:p>
          <a:p>
            <a:pPr indent="0" marL="0">
              <a:spcAft>
                <a:spcPts val="300"/>
              </a:spcAft>
              <a:buNone/>
            </a:pPr>
            <a:r>
              <a:rPr lang="en-US" sz="1300" dirty="0">
                <a:solidFill>
                  <a:srgbClr val="35305C"/>
                </a:solidFill>
                <a:latin typeface="Arial" pitchFamily="34" charset="0"/>
                <a:ea typeface="Arial" pitchFamily="34" charset="-122"/>
                <a:cs typeface="Arial" pitchFamily="34" charset="-120"/>
              </a:rPr>
              <a:t>Jaune = gêne passagère, orange = douleur régulière, rouge = douleur fréquente ou persistante.</a:t>
            </a:r>
            <a:endParaRPr lang="en-US" sz="1500" dirty="0"/>
          </a:p>
        </p:txBody>
      </p:sp>
      <p:sp>
        <p:nvSpPr>
          <p:cNvPr id="23" name="Shape 18"/>
          <p:cNvSpPr/>
          <p:nvPr/>
        </p:nvSpPr>
        <p:spPr>
          <a:xfrm>
            <a:off x="4663440" y="3054096"/>
            <a:ext cx="457200" cy="457200"/>
          </a:xfrm>
          <a:prstGeom prst="ellipse">
            <a:avLst/>
          </a:prstGeom>
          <a:solidFill>
            <a:srgbClr val="0A032B"/>
          </a:solidFill>
          <a:ln w="12700">
            <a:solidFill>
              <a:srgbClr val="0A032B"/>
            </a:solidFill>
            <a:prstDash val="solid"/>
          </a:ln>
        </p:spPr>
      </p:sp>
      <p:sp>
        <p:nvSpPr>
          <p:cNvPr id="24" name="Text 19"/>
          <p:cNvSpPr txBox="1"/>
          <p:nvPr/>
        </p:nvSpPr>
        <p:spPr>
          <a:xfrm>
            <a:off x="4663440" y="305409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3</a:t>
            </a:r>
            <a:endParaRPr lang="en-US" sz="1300" dirty="0"/>
          </a:p>
        </p:txBody>
      </p:sp>
      <p:sp>
        <p:nvSpPr>
          <p:cNvPr id="25" name="Text 20"/>
          <p:cNvSpPr txBox="1"/>
          <p:nvPr/>
        </p:nvSpPr>
        <p:spPr>
          <a:xfrm>
            <a:off x="5349240" y="3035808"/>
            <a:ext cx="6293815" cy="745236"/>
          </a:xfrm>
          <a:prstGeom prst="rect">
            <a:avLst/>
          </a:prstGeom>
          <a:noFill/>
          <a:ln/>
        </p:spPr>
        <p:txBody>
          <a:bodyPr wrap="square" lIns="0" tIns="0" rIns="0" bIns="0" rtlCol="0" anchor="t"/>
          <a:lstStyle/>
          <a:p>
            <a:pPr indent="0" marL="0">
              <a:spcAft>
                <a:spcPts val="300"/>
              </a:spcAft>
              <a:buNone/>
            </a:pPr>
            <a:r>
              <a:rPr lang="en-US" sz="1500" b="1" dirty="0">
                <a:solidFill>
                  <a:srgbClr val="0A032B"/>
                </a:solidFill>
                <a:latin typeface="Montserrat" pitchFamily="34" charset="0"/>
                <a:ea typeface="Montserrat" pitchFamily="34" charset="-122"/>
                <a:cs typeface="Montserrat" pitchFamily="34" charset="-120"/>
              </a:rPr>
              <a:t>Associez une situation</a:t>
            </a:r>
            <a:endParaRPr lang="en-US" sz="1500" dirty="0"/>
          </a:p>
          <a:p>
            <a:pPr indent="0" marL="0">
              <a:spcAft>
                <a:spcPts val="300"/>
              </a:spcAft>
              <a:buNone/>
            </a:pPr>
            <a:r>
              <a:rPr lang="en-US" sz="1300" dirty="0">
                <a:solidFill>
                  <a:srgbClr val="35305C"/>
                </a:solidFill>
                <a:latin typeface="Arial" pitchFamily="34" charset="0"/>
                <a:ea typeface="Arial" pitchFamily="34" charset="-122"/>
                <a:cs typeface="Arial" pitchFamily="34" charset="-120"/>
              </a:rPr>
              <a:t>À côté de chaque gommette, notez la situation qui la provoque.</a:t>
            </a:r>
            <a:endParaRPr lang="en-US" sz="1500" dirty="0"/>
          </a:p>
        </p:txBody>
      </p:sp>
      <p:sp>
        <p:nvSpPr>
          <p:cNvPr id="26" name="Shape 21"/>
          <p:cNvSpPr/>
          <p:nvPr/>
        </p:nvSpPr>
        <p:spPr>
          <a:xfrm>
            <a:off x="4663440" y="3963924"/>
            <a:ext cx="457200" cy="457200"/>
          </a:xfrm>
          <a:prstGeom prst="ellipse">
            <a:avLst/>
          </a:prstGeom>
          <a:solidFill>
            <a:srgbClr val="0A032B"/>
          </a:solidFill>
          <a:ln w="12700">
            <a:solidFill>
              <a:srgbClr val="0A032B"/>
            </a:solidFill>
            <a:prstDash val="solid"/>
          </a:ln>
        </p:spPr>
      </p:sp>
      <p:sp>
        <p:nvSpPr>
          <p:cNvPr id="27" name="Text 22"/>
          <p:cNvSpPr txBox="1"/>
          <p:nvPr/>
        </p:nvSpPr>
        <p:spPr>
          <a:xfrm>
            <a:off x="4663440" y="396392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4</a:t>
            </a:r>
            <a:endParaRPr lang="en-US" sz="1300" dirty="0"/>
          </a:p>
        </p:txBody>
      </p:sp>
      <p:sp>
        <p:nvSpPr>
          <p:cNvPr id="28" name="Text 23"/>
          <p:cNvSpPr txBox="1"/>
          <p:nvPr/>
        </p:nvSpPr>
        <p:spPr>
          <a:xfrm>
            <a:off x="5349240" y="3945636"/>
            <a:ext cx="6293815" cy="745236"/>
          </a:xfrm>
          <a:prstGeom prst="rect">
            <a:avLst/>
          </a:prstGeom>
          <a:noFill/>
          <a:ln/>
        </p:spPr>
        <p:txBody>
          <a:bodyPr wrap="square" lIns="0" tIns="0" rIns="0" bIns="0" rtlCol="0" anchor="t"/>
          <a:lstStyle/>
          <a:p>
            <a:pPr indent="0" marL="0">
              <a:spcAft>
                <a:spcPts val="300"/>
              </a:spcAft>
              <a:buNone/>
            </a:pPr>
            <a:r>
              <a:rPr lang="en-US" sz="1500" b="1" dirty="0">
                <a:solidFill>
                  <a:srgbClr val="0A032B"/>
                </a:solidFill>
                <a:latin typeface="Montserrat" pitchFamily="34" charset="0"/>
                <a:ea typeface="Montserrat" pitchFamily="34" charset="-122"/>
                <a:cs typeface="Montserrat" pitchFamily="34" charset="-120"/>
              </a:rPr>
              <a:t>Mise en commun anonyme</a:t>
            </a:r>
            <a:endParaRPr lang="en-US" sz="1500" dirty="0"/>
          </a:p>
          <a:p>
            <a:pPr indent="0" marL="0">
              <a:spcAft>
                <a:spcPts val="300"/>
              </a:spcAft>
              <a:buNone/>
            </a:pPr>
            <a:r>
              <a:rPr lang="en-US" sz="1300" dirty="0">
                <a:solidFill>
                  <a:srgbClr val="35305C"/>
                </a:solidFill>
                <a:latin typeface="Arial" pitchFamily="34" charset="0"/>
                <a:ea typeface="Arial" pitchFamily="34" charset="-122"/>
                <a:cs typeface="Arial" pitchFamily="34" charset="-120"/>
              </a:rPr>
              <a:t>Le formateur reporte les zones sur une grande silhouette : quelles zones reviennent le plus ?</a:t>
            </a:r>
            <a:endParaRPr lang="en-US" sz="1500" dirty="0"/>
          </a:p>
        </p:txBody>
      </p:sp>
      <p:sp>
        <p:nvSpPr>
          <p:cNvPr id="29" name="Shape 24"/>
          <p:cNvSpPr/>
          <p:nvPr/>
        </p:nvSpPr>
        <p:spPr>
          <a:xfrm>
            <a:off x="4663440" y="4983480"/>
            <a:ext cx="6979615" cy="1051560"/>
          </a:xfrm>
          <a:prstGeom prst="roundRect">
            <a:avLst>
              <a:gd name="adj" fmla="val 6957"/>
            </a:avLst>
          </a:prstGeom>
          <a:solidFill>
            <a:srgbClr val="EEEDF5"/>
          </a:solidFill>
          <a:ln w="12700">
            <a:solidFill>
              <a:srgbClr val="EEEDF5"/>
            </a:solidFill>
            <a:prstDash val="solid"/>
          </a:ln>
        </p:spPr>
      </p:sp>
      <p:sp>
        <p:nvSpPr>
          <p:cNvPr id="30" name="Shape 25"/>
          <p:cNvSpPr/>
          <p:nvPr/>
        </p:nvSpPr>
        <p:spPr>
          <a:xfrm>
            <a:off x="4846320" y="5230368"/>
            <a:ext cx="548640" cy="548640"/>
          </a:xfrm>
          <a:prstGeom prst="ellipse">
            <a:avLst/>
          </a:prstGeom>
          <a:solidFill>
            <a:srgbClr val="0A032B"/>
          </a:solidFill>
          <a:ln w="12700">
            <a:solidFill>
              <a:srgbClr val="0A032B"/>
            </a:solidFill>
            <a:prstDash val="solid"/>
          </a:ln>
        </p:spPr>
      </p:sp>
      <p:pic>
        <p:nvPicPr>
          <p:cNvPr id="31" name="Image 3" descr="preencoded.png">    </p:cNvPr>
          <p:cNvPicPr>
            <a:picLocks noChangeAspect="1"/>
          </p:cNvPicPr>
          <p:nvPr/>
        </p:nvPicPr>
        <p:blipFill>
          <a:blip r:embed="rId4"/>
          <a:stretch>
            <a:fillRect/>
          </a:stretch>
        </p:blipFill>
        <p:spPr>
          <a:xfrm>
            <a:off x="4983480" y="5367528"/>
            <a:ext cx="274320" cy="274320"/>
          </a:xfrm>
          <a:prstGeom prst="rect">
            <a:avLst/>
          </a:prstGeom>
        </p:spPr>
      </p:pic>
      <p:sp>
        <p:nvSpPr>
          <p:cNvPr id="32" name="Text 26"/>
          <p:cNvSpPr txBox="1"/>
          <p:nvPr/>
        </p:nvSpPr>
        <p:spPr>
          <a:xfrm>
            <a:off x="5577840" y="5029200"/>
            <a:ext cx="5882335" cy="960120"/>
          </a:xfrm>
          <a:prstGeom prst="rect">
            <a:avLst/>
          </a:prstGeom>
          <a:noFill/>
          <a:ln/>
        </p:spPr>
        <p:txBody>
          <a:bodyPr wrap="square" lIns="0" tIns="0" rIns="0" bIns="0" rtlCol="0" anchor="ctr"/>
          <a:lstStyle/>
          <a:p>
            <a:pPr indent="0" marL="0">
              <a:buNone/>
            </a:pPr>
            <a:r>
              <a:rPr lang="en-US" sz="1200" b="1" dirty="0">
                <a:solidFill>
                  <a:srgbClr val="0A032B"/>
                </a:solidFill>
                <a:latin typeface="Montserrat" pitchFamily="34" charset="0"/>
                <a:ea typeface="Montserrat" pitchFamily="34" charset="-122"/>
                <a:cs typeface="Montserrat" pitchFamily="34" charset="-120"/>
              </a:rPr>
              <a:t>Point de vigilance  </a:t>
            </a:r>
            <a:endParaRPr lang="en-US" sz="1200" dirty="0"/>
          </a:p>
          <a:p>
            <a:pPr indent="0" marL="0">
              <a:buNone/>
            </a:pPr>
            <a:r>
              <a:rPr lang="en-US" sz="1200" dirty="0">
                <a:solidFill>
                  <a:srgbClr val="35305C"/>
                </a:solidFill>
                <a:latin typeface="Arial" pitchFamily="34" charset="0"/>
                <a:ea typeface="Arial" pitchFamily="34" charset="-122"/>
                <a:cs typeface="Arial" pitchFamily="34" charset="-120"/>
              </a:rPr>
              <a:t>Cet exercice n'est pas un diagnostic médical. Une douleur persistante doit être signalée à un médecin.</a:t>
            </a:r>
            <a:endParaRPr lang="en-US" sz="1200" dirty="0"/>
          </a:p>
        </p:txBody>
      </p:sp>
      <p:sp>
        <p:nvSpPr>
          <p:cNvPr id="33" name="Text 27"/>
          <p:cNvSpPr txBox="1"/>
          <p:nvPr/>
        </p:nvSpPr>
        <p:spPr>
          <a:xfrm>
            <a:off x="548640" y="6355080"/>
            <a:ext cx="3291840" cy="274320"/>
          </a:xfrm>
          <a:prstGeom prst="rect">
            <a:avLst/>
          </a:prstGeom>
          <a:noFill/>
          <a:ln/>
        </p:spPr>
        <p:txBody>
          <a:bodyPr wrap="square" lIns="0" tIns="0" rIns="0" bIns="0" rtlCol="0" anchor="ctr"/>
          <a:lstStyle/>
          <a:p>
            <a:pPr indent="0" marL="0">
              <a:buNone/>
            </a:pPr>
            <a:r>
              <a:rPr lang="en-US" sz="900" dirty="0">
                <a:solidFill>
                  <a:srgbClr val="35305C"/>
                </a:solidFill>
                <a:latin typeface="Arial" pitchFamily="34" charset="0"/>
                <a:ea typeface="Arial" pitchFamily="34" charset="-122"/>
                <a:cs typeface="Arial" pitchFamily="34" charset="-120"/>
              </a:rPr>
              <a:t>Gestes et postures de l'élu  ·  Séquence 1</a:t>
            </a:r>
            <a:endParaRPr lang="en-US" sz="900" dirty="0"/>
          </a:p>
        </p:txBody>
      </p:sp>
      <p:pic>
        <p:nvPicPr>
          <p:cNvPr id="34" name="Image 4" descr="logo_light.png">    </p:cNvPr>
          <p:cNvPicPr>
            <a:picLocks noChangeAspect="1"/>
          </p:cNvPicPr>
          <p:nvPr/>
        </p:nvPicPr>
        <p:blipFill>
          <a:blip r:embed="rId5"/>
          <a:stretch>
            <a:fillRect/>
          </a:stretch>
        </p:blipFill>
        <p:spPr>
          <a:xfrm>
            <a:off x="10682935" y="6236208"/>
            <a:ext cx="960120" cy="398441"/>
          </a:xfrm>
          <a:prstGeom prst="rect">
            <a:avLst/>
          </a:prstGeom>
        </p:spPr>
      </p:pic>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EEDF5"/>
        </a:solidFill>
      </p:bgPr>
    </p:bg>
    <p:spTree>
      <p:nvGrpSpPr>
        <p:cNvPr id="1" name=""/>
        <p:cNvGrpSpPr/>
        <p:nvPr/>
      </p:nvGrpSpPr>
      <p:grpSpPr>
        <a:xfrm>
          <a:off x="0" y="0"/>
          <a:ext cx="0" cy="0"/>
          <a:chOff x="0" y="0"/>
          <a:chExt cx="0" cy="0"/>
        </a:xfrm>
      </p:grpSpPr>
      <p:sp>
        <p:nvSpPr>
          <p:cNvPr id="2" name="Text 0"/>
          <p:cNvSpPr txBox="1"/>
          <p:nvPr/>
        </p:nvSpPr>
        <p:spPr>
          <a:xfrm>
            <a:off x="548640" y="365760"/>
            <a:ext cx="9235440" cy="685800"/>
          </a:xfrm>
          <a:prstGeom prst="rect">
            <a:avLst/>
          </a:prstGeom>
          <a:noFill/>
          <a:ln/>
        </p:spPr>
        <p:txBody>
          <a:bodyPr wrap="square" lIns="0" tIns="0" rIns="0" bIns="0" rtlCol="0" anchor="ctr"/>
          <a:lstStyle/>
          <a:p>
            <a:pPr indent="0" marL="0">
              <a:buNone/>
            </a:pPr>
            <a:r>
              <a:rPr lang="en-US" sz="2800" b="1" dirty="0">
                <a:solidFill>
                  <a:srgbClr val="0A032B"/>
                </a:solidFill>
                <a:latin typeface="Montserrat" pitchFamily="34" charset="0"/>
                <a:ea typeface="Montserrat" pitchFamily="34" charset="-122"/>
                <a:cs typeface="Montserrat" pitchFamily="34" charset="-120"/>
              </a:rPr>
              <a:t>À retenir</a:t>
            </a:r>
            <a:endParaRPr lang="en-US" sz="2800" dirty="0"/>
          </a:p>
        </p:txBody>
      </p:sp>
      <p:sp>
        <p:nvSpPr>
          <p:cNvPr id="3" name="Text 1"/>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5E5A78"/>
                </a:solidFill>
                <a:latin typeface="Arial" pitchFamily="34" charset="0"/>
                <a:ea typeface="Arial" pitchFamily="34" charset="-122"/>
                <a:cs typeface="Arial" pitchFamily="34" charset="-120"/>
              </a:rPr>
              <a:t>Gestes et postures de l'élu  ·  Séquence 1</a:t>
            </a:r>
            <a:endParaRPr lang="en-US" sz="900" dirty="0"/>
          </a:p>
        </p:txBody>
      </p:sp>
      <p:pic>
        <p:nvPicPr>
          <p:cNvPr id="4" name="Image 0" descr="logo_light.png">    </p:cNvPr>
          <p:cNvPicPr>
            <a:picLocks noChangeAspect="1"/>
          </p:cNvPicPr>
          <p:nvPr/>
        </p:nvPicPr>
        <p:blipFill>
          <a:blip r:embed="rId1"/>
          <a:stretch>
            <a:fillRect/>
          </a:stretch>
        </p:blipFill>
        <p:spPr>
          <a:xfrm>
            <a:off x="10682935" y="6236208"/>
            <a:ext cx="960120" cy="398441"/>
          </a:xfrm>
          <a:prstGeom prst="rect">
            <a:avLst/>
          </a:prstGeom>
        </p:spPr>
      </p:pic>
      <p:sp>
        <p:nvSpPr>
          <p:cNvPr id="5" name="Shape 2"/>
          <p:cNvSpPr/>
          <p:nvPr/>
        </p:nvSpPr>
        <p:spPr>
          <a:xfrm>
            <a:off x="548640" y="1417320"/>
            <a:ext cx="5410048" cy="1341120"/>
          </a:xfrm>
          <a:prstGeom prst="roundRect">
            <a:avLst>
              <a:gd name="adj" fmla="val 5455"/>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777240" y="1859280"/>
            <a:ext cx="457200" cy="457200"/>
          </a:xfrm>
          <a:prstGeom prst="ellipse">
            <a:avLst/>
          </a:prstGeom>
          <a:solidFill>
            <a:srgbClr val="F0EF96"/>
          </a:solidFill>
          <a:ln w="12700">
            <a:solidFill>
              <a:srgbClr val="F0EF96"/>
            </a:solidFill>
            <a:prstDash val="solid"/>
          </a:ln>
        </p:spPr>
      </p:sp>
      <p:pic>
        <p:nvPicPr>
          <p:cNvPr id="7" name="Image 1" descr="preencoded.png">    </p:cNvPr>
          <p:cNvPicPr>
            <a:picLocks noChangeAspect="1"/>
          </p:cNvPicPr>
          <p:nvPr/>
        </p:nvPicPr>
        <p:blipFill>
          <a:blip r:embed="rId2"/>
          <a:stretch>
            <a:fillRect/>
          </a:stretch>
        </p:blipFill>
        <p:spPr>
          <a:xfrm>
            <a:off x="891540" y="1973580"/>
            <a:ext cx="228600" cy="228600"/>
          </a:xfrm>
          <a:prstGeom prst="rect">
            <a:avLst/>
          </a:prstGeom>
        </p:spPr>
      </p:pic>
      <p:sp>
        <p:nvSpPr>
          <p:cNvPr id="8" name="Text 4"/>
          <p:cNvSpPr txBox="1"/>
          <p:nvPr/>
        </p:nvSpPr>
        <p:spPr>
          <a:xfrm>
            <a:off x="1417320" y="1508760"/>
            <a:ext cx="4358488" cy="1158240"/>
          </a:xfrm>
          <a:prstGeom prst="rect">
            <a:avLst/>
          </a:prstGeom>
          <a:noFill/>
          <a:ln/>
        </p:spPr>
        <p:txBody>
          <a:bodyPr wrap="square" lIns="0" tIns="0" rIns="0" bIns="0" rtlCol="0" anchor="ctr"/>
          <a:lstStyle/>
          <a:p>
            <a:pPr indent="0" marL="0">
              <a:buNone/>
            </a:pPr>
            <a:r>
              <a:rPr lang="en-US" sz="1400" dirty="0">
                <a:solidFill>
                  <a:srgbClr val="0A032B"/>
                </a:solidFill>
                <a:latin typeface="Arial" pitchFamily="34" charset="0"/>
                <a:ea typeface="Arial" pitchFamily="34" charset="-122"/>
                <a:cs typeface="Arial" pitchFamily="34" charset="-120"/>
              </a:rPr>
              <a:t>La colonne est plus solide quand elle garde ses 3 courbures naturelles.</a:t>
            </a:r>
            <a:endParaRPr lang="en-US" sz="1400" dirty="0"/>
          </a:p>
        </p:txBody>
      </p:sp>
      <p:sp>
        <p:nvSpPr>
          <p:cNvPr id="9" name="Shape 5"/>
          <p:cNvSpPr/>
          <p:nvPr/>
        </p:nvSpPr>
        <p:spPr>
          <a:xfrm>
            <a:off x="6233008" y="1417320"/>
            <a:ext cx="5410048" cy="1341120"/>
          </a:xfrm>
          <a:prstGeom prst="roundRect">
            <a:avLst>
              <a:gd name="adj" fmla="val 5455"/>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0" name="Shape 6"/>
          <p:cNvSpPr/>
          <p:nvPr/>
        </p:nvSpPr>
        <p:spPr>
          <a:xfrm>
            <a:off x="6461608" y="1859280"/>
            <a:ext cx="457200" cy="457200"/>
          </a:xfrm>
          <a:prstGeom prst="ellipse">
            <a:avLst/>
          </a:prstGeom>
          <a:solidFill>
            <a:srgbClr val="F0EF96"/>
          </a:solidFill>
          <a:ln w="12700">
            <a:solidFill>
              <a:srgbClr val="F0EF96"/>
            </a:solidFill>
            <a:prstDash val="solid"/>
          </a:ln>
        </p:spPr>
      </p:sp>
      <p:pic>
        <p:nvPicPr>
          <p:cNvPr id="11" name="Image 2" descr="preencoded.png">    </p:cNvPr>
          <p:cNvPicPr>
            <a:picLocks noChangeAspect="1"/>
          </p:cNvPicPr>
          <p:nvPr/>
        </p:nvPicPr>
        <p:blipFill>
          <a:blip r:embed="rId3"/>
          <a:stretch>
            <a:fillRect/>
          </a:stretch>
        </p:blipFill>
        <p:spPr>
          <a:xfrm>
            <a:off x="6575908" y="1973580"/>
            <a:ext cx="228600" cy="228600"/>
          </a:xfrm>
          <a:prstGeom prst="rect">
            <a:avLst/>
          </a:prstGeom>
        </p:spPr>
      </p:pic>
      <p:sp>
        <p:nvSpPr>
          <p:cNvPr id="12" name="Text 7"/>
          <p:cNvSpPr txBox="1"/>
          <p:nvPr/>
        </p:nvSpPr>
        <p:spPr>
          <a:xfrm>
            <a:off x="7101688" y="1508760"/>
            <a:ext cx="4358488" cy="1158240"/>
          </a:xfrm>
          <a:prstGeom prst="rect">
            <a:avLst/>
          </a:prstGeom>
          <a:noFill/>
          <a:ln/>
        </p:spPr>
        <p:txBody>
          <a:bodyPr wrap="square" lIns="0" tIns="0" rIns="0" bIns="0" rtlCol="0" anchor="ctr"/>
          <a:lstStyle/>
          <a:p>
            <a:pPr indent="0" marL="0">
              <a:buNone/>
            </a:pPr>
            <a:r>
              <a:rPr lang="en-US" sz="1400" dirty="0">
                <a:solidFill>
                  <a:srgbClr val="0A032B"/>
                </a:solidFill>
                <a:latin typeface="Arial" pitchFamily="34" charset="0"/>
                <a:ea typeface="Arial" pitchFamily="34" charset="-122"/>
                <a:cs typeface="Arial" pitchFamily="34" charset="-120"/>
              </a:rPr>
              <a:t>Dos penché + charge : la pression sur le disque peut plus que doubler.</a:t>
            </a:r>
            <a:endParaRPr lang="en-US" sz="1400" dirty="0"/>
          </a:p>
        </p:txBody>
      </p:sp>
      <p:sp>
        <p:nvSpPr>
          <p:cNvPr id="13" name="Shape 8"/>
          <p:cNvSpPr/>
          <p:nvPr/>
        </p:nvSpPr>
        <p:spPr>
          <a:xfrm>
            <a:off x="548640" y="3032760"/>
            <a:ext cx="5410048" cy="1341120"/>
          </a:xfrm>
          <a:prstGeom prst="roundRect">
            <a:avLst>
              <a:gd name="adj" fmla="val 5455"/>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4" name="Shape 9"/>
          <p:cNvSpPr/>
          <p:nvPr/>
        </p:nvSpPr>
        <p:spPr>
          <a:xfrm>
            <a:off x="777240" y="3474720"/>
            <a:ext cx="457200" cy="457200"/>
          </a:xfrm>
          <a:prstGeom prst="ellipse">
            <a:avLst/>
          </a:prstGeom>
          <a:solidFill>
            <a:srgbClr val="F0EF96"/>
          </a:solidFill>
          <a:ln w="12700">
            <a:solidFill>
              <a:srgbClr val="F0EF96"/>
            </a:solidFill>
            <a:prstDash val="solid"/>
          </a:ln>
        </p:spPr>
      </p:sp>
      <p:pic>
        <p:nvPicPr>
          <p:cNvPr id="15" name="Image 3" descr="preencoded.png">    </p:cNvPr>
          <p:cNvPicPr>
            <a:picLocks noChangeAspect="1"/>
          </p:cNvPicPr>
          <p:nvPr/>
        </p:nvPicPr>
        <p:blipFill>
          <a:blip r:embed="rId4"/>
          <a:stretch>
            <a:fillRect/>
          </a:stretch>
        </p:blipFill>
        <p:spPr>
          <a:xfrm>
            <a:off x="891540" y="3589020"/>
            <a:ext cx="228600" cy="228600"/>
          </a:xfrm>
          <a:prstGeom prst="rect">
            <a:avLst/>
          </a:prstGeom>
        </p:spPr>
      </p:pic>
      <p:sp>
        <p:nvSpPr>
          <p:cNvPr id="16" name="Text 10"/>
          <p:cNvSpPr txBox="1"/>
          <p:nvPr/>
        </p:nvSpPr>
        <p:spPr>
          <a:xfrm>
            <a:off x="1417320" y="3124200"/>
            <a:ext cx="4358488" cy="1158240"/>
          </a:xfrm>
          <a:prstGeom prst="rect">
            <a:avLst/>
          </a:prstGeom>
          <a:noFill/>
          <a:ln/>
        </p:spPr>
        <p:txBody>
          <a:bodyPr wrap="square" lIns="0" tIns="0" rIns="0" bIns="0" rtlCol="0" anchor="ctr"/>
          <a:lstStyle/>
          <a:p>
            <a:pPr indent="0" marL="0">
              <a:buNone/>
            </a:pPr>
            <a:r>
              <a:rPr lang="en-US" sz="1400" dirty="0">
                <a:solidFill>
                  <a:srgbClr val="0A032B"/>
                </a:solidFill>
                <a:latin typeface="Arial" pitchFamily="34" charset="0"/>
                <a:ea typeface="Arial" pitchFamily="34" charset="-122"/>
                <a:cs typeface="Arial" pitchFamily="34" charset="-120"/>
              </a:rPr>
              <a:t>Une douleur qui disparaît au repos est déjà un signal d'alerte (stade 1).</a:t>
            </a:r>
            <a:endParaRPr lang="en-US" sz="1400" dirty="0"/>
          </a:p>
        </p:txBody>
      </p:sp>
      <p:sp>
        <p:nvSpPr>
          <p:cNvPr id="17" name="Shape 11"/>
          <p:cNvSpPr/>
          <p:nvPr/>
        </p:nvSpPr>
        <p:spPr>
          <a:xfrm>
            <a:off x="6233008" y="3032760"/>
            <a:ext cx="5410048" cy="1341120"/>
          </a:xfrm>
          <a:prstGeom prst="roundRect">
            <a:avLst>
              <a:gd name="adj" fmla="val 5455"/>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8" name="Shape 12"/>
          <p:cNvSpPr/>
          <p:nvPr/>
        </p:nvSpPr>
        <p:spPr>
          <a:xfrm>
            <a:off x="6461608" y="3474720"/>
            <a:ext cx="457200" cy="457200"/>
          </a:xfrm>
          <a:prstGeom prst="ellipse">
            <a:avLst/>
          </a:prstGeom>
          <a:solidFill>
            <a:srgbClr val="F0EF96"/>
          </a:solidFill>
          <a:ln w="12700">
            <a:solidFill>
              <a:srgbClr val="F0EF96"/>
            </a:solidFill>
            <a:prstDash val="solid"/>
          </a:ln>
        </p:spPr>
      </p:sp>
      <p:pic>
        <p:nvPicPr>
          <p:cNvPr id="19" name="Image 4" descr="preencoded.png">    </p:cNvPr>
          <p:cNvPicPr>
            <a:picLocks noChangeAspect="1"/>
          </p:cNvPicPr>
          <p:nvPr/>
        </p:nvPicPr>
        <p:blipFill>
          <a:blip r:embed="rId5"/>
          <a:stretch>
            <a:fillRect/>
          </a:stretch>
        </p:blipFill>
        <p:spPr>
          <a:xfrm>
            <a:off x="6575908" y="3589020"/>
            <a:ext cx="228600" cy="228600"/>
          </a:xfrm>
          <a:prstGeom prst="rect">
            <a:avLst/>
          </a:prstGeom>
        </p:spPr>
      </p:pic>
      <p:sp>
        <p:nvSpPr>
          <p:cNvPr id="20" name="Text 13"/>
          <p:cNvSpPr txBox="1"/>
          <p:nvPr/>
        </p:nvSpPr>
        <p:spPr>
          <a:xfrm>
            <a:off x="7101688" y="3124200"/>
            <a:ext cx="4358488" cy="1158240"/>
          </a:xfrm>
          <a:prstGeom prst="rect">
            <a:avLst/>
          </a:prstGeom>
          <a:noFill/>
          <a:ln/>
        </p:spPr>
        <p:txBody>
          <a:bodyPr wrap="square" lIns="0" tIns="0" rIns="0" bIns="0" rtlCol="0" anchor="ctr"/>
          <a:lstStyle/>
          <a:p>
            <a:pPr indent="0" marL="0">
              <a:buNone/>
            </a:pPr>
            <a:r>
              <a:rPr lang="en-US" sz="1400" dirty="0">
                <a:solidFill>
                  <a:srgbClr val="0A032B"/>
                </a:solidFill>
                <a:latin typeface="Arial" pitchFamily="34" charset="0"/>
                <a:ea typeface="Arial" pitchFamily="34" charset="-122"/>
                <a:cs typeface="Arial" pitchFamily="34" charset="-120"/>
              </a:rPr>
              <a:t>Les TMS sont multifactoriels : charges, répétition, postures, sédentarité, stress.</a:t>
            </a:r>
            <a:endParaRPr lang="en-US" sz="1400" dirty="0"/>
          </a:p>
        </p:txBody>
      </p:sp>
      <p:sp>
        <p:nvSpPr>
          <p:cNvPr id="21" name="Shape 14"/>
          <p:cNvSpPr/>
          <p:nvPr/>
        </p:nvSpPr>
        <p:spPr>
          <a:xfrm>
            <a:off x="548640" y="4648200"/>
            <a:ext cx="5410048" cy="1341120"/>
          </a:xfrm>
          <a:prstGeom prst="roundRect">
            <a:avLst>
              <a:gd name="adj" fmla="val 5455"/>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22" name="Shape 15"/>
          <p:cNvSpPr/>
          <p:nvPr/>
        </p:nvSpPr>
        <p:spPr>
          <a:xfrm>
            <a:off x="777240" y="5090160"/>
            <a:ext cx="457200" cy="457200"/>
          </a:xfrm>
          <a:prstGeom prst="ellipse">
            <a:avLst/>
          </a:prstGeom>
          <a:solidFill>
            <a:srgbClr val="F0EF96"/>
          </a:solidFill>
          <a:ln w="12700">
            <a:solidFill>
              <a:srgbClr val="F0EF96"/>
            </a:solidFill>
            <a:prstDash val="solid"/>
          </a:ln>
        </p:spPr>
      </p:sp>
      <p:pic>
        <p:nvPicPr>
          <p:cNvPr id="23" name="Image 5" descr="preencoded.png">    </p:cNvPr>
          <p:cNvPicPr>
            <a:picLocks noChangeAspect="1"/>
          </p:cNvPicPr>
          <p:nvPr/>
        </p:nvPicPr>
        <p:blipFill>
          <a:blip r:embed="rId6"/>
          <a:stretch>
            <a:fillRect/>
          </a:stretch>
        </p:blipFill>
        <p:spPr>
          <a:xfrm>
            <a:off x="891540" y="5204460"/>
            <a:ext cx="228600" cy="228600"/>
          </a:xfrm>
          <a:prstGeom prst="rect">
            <a:avLst/>
          </a:prstGeom>
        </p:spPr>
      </p:pic>
      <p:sp>
        <p:nvSpPr>
          <p:cNvPr id="24" name="Text 16"/>
          <p:cNvSpPr txBox="1"/>
          <p:nvPr/>
        </p:nvSpPr>
        <p:spPr>
          <a:xfrm>
            <a:off x="1417320" y="4739640"/>
            <a:ext cx="4358488" cy="1158240"/>
          </a:xfrm>
          <a:prstGeom prst="rect">
            <a:avLst/>
          </a:prstGeom>
          <a:noFill/>
          <a:ln/>
        </p:spPr>
        <p:txBody>
          <a:bodyPr wrap="square" lIns="0" tIns="0" rIns="0" bIns="0" rtlCol="0" anchor="ctr"/>
          <a:lstStyle/>
          <a:p>
            <a:pPr indent="0" marL="0">
              <a:buNone/>
            </a:pPr>
            <a:r>
              <a:rPr lang="en-US" sz="1400" dirty="0">
                <a:solidFill>
                  <a:srgbClr val="0A032B"/>
                </a:solidFill>
                <a:latin typeface="Arial" pitchFamily="34" charset="0"/>
                <a:ea typeface="Arial" pitchFamily="34" charset="-122"/>
                <a:cs typeface="Arial" pitchFamily="34" charset="-120"/>
              </a:rPr>
              <a:t>L'élu est exposé : conseils, déplacements, installations, cérémonies.</a:t>
            </a:r>
            <a:endParaRPr lang="en-US" sz="1400" dirty="0"/>
          </a:p>
        </p:txBody>
      </p:sp>
      <p:sp>
        <p:nvSpPr>
          <p:cNvPr id="25" name="Shape 17"/>
          <p:cNvSpPr/>
          <p:nvPr/>
        </p:nvSpPr>
        <p:spPr>
          <a:xfrm>
            <a:off x="6233008" y="4648200"/>
            <a:ext cx="5410048" cy="1341120"/>
          </a:xfrm>
          <a:prstGeom prst="roundRect">
            <a:avLst>
              <a:gd name="adj" fmla="val 5455"/>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26" name="Shape 18"/>
          <p:cNvSpPr/>
          <p:nvPr/>
        </p:nvSpPr>
        <p:spPr>
          <a:xfrm>
            <a:off x="6461608" y="5090160"/>
            <a:ext cx="457200" cy="457200"/>
          </a:xfrm>
          <a:prstGeom prst="ellipse">
            <a:avLst/>
          </a:prstGeom>
          <a:solidFill>
            <a:srgbClr val="F0EF96"/>
          </a:solidFill>
          <a:ln w="12700">
            <a:solidFill>
              <a:srgbClr val="F0EF96"/>
            </a:solidFill>
            <a:prstDash val="solid"/>
          </a:ln>
        </p:spPr>
      </p:sp>
      <p:pic>
        <p:nvPicPr>
          <p:cNvPr id="27" name="Image 6" descr="preencoded.png">    </p:cNvPr>
          <p:cNvPicPr>
            <a:picLocks noChangeAspect="1"/>
          </p:cNvPicPr>
          <p:nvPr/>
        </p:nvPicPr>
        <p:blipFill>
          <a:blip r:embed="rId7"/>
          <a:stretch>
            <a:fillRect/>
          </a:stretch>
        </p:blipFill>
        <p:spPr>
          <a:xfrm>
            <a:off x="6575908" y="5204460"/>
            <a:ext cx="228600" cy="228600"/>
          </a:xfrm>
          <a:prstGeom prst="rect">
            <a:avLst/>
          </a:prstGeom>
        </p:spPr>
      </p:pic>
      <p:sp>
        <p:nvSpPr>
          <p:cNvPr id="28" name="Text 19"/>
          <p:cNvSpPr txBox="1"/>
          <p:nvPr/>
        </p:nvSpPr>
        <p:spPr>
          <a:xfrm>
            <a:off x="7101688" y="4739640"/>
            <a:ext cx="4358488" cy="1158240"/>
          </a:xfrm>
          <a:prstGeom prst="rect">
            <a:avLst/>
          </a:prstGeom>
          <a:noFill/>
          <a:ln/>
        </p:spPr>
        <p:txBody>
          <a:bodyPr wrap="square" lIns="0" tIns="0" rIns="0" bIns="0" rtlCol="0" anchor="ctr"/>
          <a:lstStyle/>
          <a:p>
            <a:pPr indent="0" marL="0">
              <a:buNone/>
            </a:pPr>
            <a:r>
              <a:rPr lang="en-US" sz="1400" dirty="0">
                <a:solidFill>
                  <a:srgbClr val="0A032B"/>
                </a:solidFill>
                <a:latin typeface="Arial" pitchFamily="34" charset="0"/>
                <a:ea typeface="Arial" pitchFamily="34" charset="-122"/>
                <a:cs typeface="Arial" pitchFamily="34" charset="-120"/>
              </a:rPr>
              <a:t>Repérer tôt, c'est pouvoir agir simplement.</a:t>
            </a:r>
            <a:endParaRPr lang="en-US" sz="1400" dirty="0"/>
          </a:p>
        </p:txBody>
      </p:sp>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32B"/>
        </a:solidFill>
      </p:bgPr>
    </p:bg>
    <p:spTree>
      <p:nvGrpSpPr>
        <p:cNvPr id="1" name=""/>
        <p:cNvGrpSpPr/>
        <p:nvPr/>
      </p:nvGrpSpPr>
      <p:grpSpPr>
        <a:xfrm>
          <a:off x="0" y="0"/>
          <a:ext cx="0" cy="0"/>
          <a:chOff x="0" y="0"/>
          <a:chExt cx="0" cy="0"/>
        </a:xfrm>
      </p:grpSpPr>
      <p:sp>
        <p:nvSpPr>
          <p:cNvPr id="2" name="Text 0"/>
          <p:cNvSpPr txBox="1"/>
          <p:nvPr/>
        </p:nvSpPr>
        <p:spPr>
          <a:xfrm>
            <a:off x="548640" y="1371600"/>
            <a:ext cx="3657600" cy="2926080"/>
          </a:xfrm>
          <a:prstGeom prst="rect">
            <a:avLst/>
          </a:prstGeom>
          <a:noFill/>
          <a:ln/>
        </p:spPr>
        <p:txBody>
          <a:bodyPr wrap="square" lIns="0" tIns="0" rIns="0" bIns="0" rtlCol="0" anchor="ctr"/>
          <a:lstStyle/>
          <a:p>
            <a:pPr indent="0" marL="0">
              <a:buNone/>
            </a:pPr>
            <a:r>
              <a:rPr lang="en-US" sz="18000" b="1" dirty="0">
                <a:solidFill>
                  <a:srgbClr val="F0EF96"/>
                </a:solidFill>
                <a:latin typeface="Montserrat" pitchFamily="34" charset="0"/>
                <a:ea typeface="Montserrat" pitchFamily="34" charset="-122"/>
                <a:cs typeface="Montserrat" pitchFamily="34" charset="-120"/>
              </a:rPr>
              <a:t>02</a:t>
            </a:r>
            <a:endParaRPr lang="en-US" sz="18000" dirty="0"/>
          </a:p>
        </p:txBody>
      </p:sp>
      <p:sp>
        <p:nvSpPr>
          <p:cNvPr id="3" name="Text 1"/>
          <p:cNvSpPr txBox="1"/>
          <p:nvPr/>
        </p:nvSpPr>
        <p:spPr>
          <a:xfrm>
            <a:off x="4572000" y="1463040"/>
            <a:ext cx="7040880" cy="411480"/>
          </a:xfrm>
          <a:prstGeom prst="rect">
            <a:avLst/>
          </a:prstGeom>
          <a:noFill/>
          <a:ln/>
        </p:spPr>
        <p:txBody>
          <a:bodyPr wrap="square" lIns="0" tIns="0" rIns="0" bIns="0" rtlCol="0" anchor="ctr"/>
          <a:lstStyle/>
          <a:p>
            <a:pPr indent="0" marL="0">
              <a:buNone/>
            </a:pPr>
            <a:r>
              <a:rPr lang="en-US" sz="1600" b="1" spc="300" kern="0" dirty="0">
                <a:solidFill>
                  <a:srgbClr val="F0EF96"/>
                </a:solidFill>
                <a:latin typeface="Montserrat" pitchFamily="34" charset="0"/>
                <a:ea typeface="Montserrat" pitchFamily="34" charset="-122"/>
                <a:cs typeface="Montserrat" pitchFamily="34" charset="-120"/>
              </a:rPr>
              <a:t>SÉQUENCE 2</a:t>
            </a:r>
            <a:endParaRPr lang="en-US" sz="1600" dirty="0"/>
          </a:p>
        </p:txBody>
      </p:sp>
      <p:sp>
        <p:nvSpPr>
          <p:cNvPr id="4" name="Text 2"/>
          <p:cNvSpPr txBox="1"/>
          <p:nvPr/>
        </p:nvSpPr>
        <p:spPr>
          <a:xfrm>
            <a:off x="4572000" y="1920240"/>
            <a:ext cx="7040880" cy="1645920"/>
          </a:xfrm>
          <a:prstGeom prst="rect">
            <a:avLst/>
          </a:prstGeom>
          <a:noFill/>
          <a:ln/>
        </p:spPr>
        <p:txBody>
          <a:bodyPr wrap="square" lIns="0" tIns="0" rIns="0" bIns="0" rtlCol="0" anchor="t"/>
          <a:lstStyle/>
          <a:p>
            <a:pPr indent="0" marL="0">
              <a:buNone/>
            </a:pPr>
            <a:r>
              <a:rPr lang="en-US" sz="3400" b="1" dirty="0">
                <a:solidFill>
                  <a:srgbClr val="FFFFFF"/>
                </a:solidFill>
                <a:latin typeface="Montserrat" pitchFamily="34" charset="0"/>
                <a:ea typeface="Montserrat" pitchFamily="34" charset="-122"/>
                <a:cs typeface="Montserrat" pitchFamily="34" charset="-120"/>
              </a:rPr>
              <a:t>Repérer les situations de manutention à risque dans le mandat</a:t>
            </a:r>
            <a:endParaRPr lang="en-US" sz="3400" dirty="0"/>
          </a:p>
        </p:txBody>
      </p:sp>
      <p:sp>
        <p:nvSpPr>
          <p:cNvPr id="5" name="Text 3"/>
          <p:cNvSpPr txBox="1"/>
          <p:nvPr/>
        </p:nvSpPr>
        <p:spPr>
          <a:xfrm>
            <a:off x="4572000" y="3657600"/>
            <a:ext cx="7040880" cy="914400"/>
          </a:xfrm>
          <a:prstGeom prst="rect">
            <a:avLst/>
          </a:prstGeom>
          <a:noFill/>
          <a:ln/>
        </p:spPr>
        <p:txBody>
          <a:bodyPr wrap="square" lIns="0" tIns="0" rIns="0" bIns="0" rtlCol="0" anchor="t"/>
          <a:lstStyle/>
          <a:p>
            <a:pPr indent="0" marL="0">
              <a:buNone/>
            </a:pPr>
            <a:r>
              <a:rPr lang="en-US" sz="1500" b="1" dirty="0">
                <a:solidFill>
                  <a:srgbClr val="F0EF96"/>
                </a:solidFill>
                <a:latin typeface="Arial" pitchFamily="34" charset="0"/>
                <a:ea typeface="Arial" pitchFamily="34" charset="-122"/>
                <a:cs typeface="Arial" pitchFamily="34" charset="-120"/>
              </a:rPr>
              <a:t>Objectif  </a:t>
            </a:r>
            <a:pPr indent="0" marL="0">
              <a:buNone/>
            </a:pPr>
            <a:r>
              <a:rPr lang="en-US" sz="1500" dirty="0">
                <a:solidFill>
                  <a:srgbClr val="FFFFFF"/>
                </a:solidFill>
                <a:latin typeface="Arial" pitchFamily="34" charset="0"/>
                <a:ea typeface="Arial" pitchFamily="34" charset="-122"/>
                <a:cs typeface="Arial" pitchFamily="34" charset="-120"/>
              </a:rPr>
              <a:t>Repérer et hiérarchiser les situations de manutention à risque rencontrées dans l'exercice du mandat.</a:t>
            </a:r>
            <a:endParaRPr lang="en-US" sz="1500" dirty="0"/>
          </a:p>
        </p:txBody>
      </p:sp>
      <p:sp>
        <p:nvSpPr>
          <p:cNvPr id="6" name="Shape 4"/>
          <p:cNvSpPr/>
          <p:nvPr/>
        </p:nvSpPr>
        <p:spPr>
          <a:xfrm>
            <a:off x="4572000" y="4754880"/>
            <a:ext cx="1463040" cy="411480"/>
          </a:xfrm>
          <a:prstGeom prst="roundRect">
            <a:avLst>
              <a:gd name="adj" fmla="val 48889"/>
            </a:avLst>
          </a:prstGeom>
          <a:solidFill>
            <a:srgbClr val="F0EF96"/>
          </a:solidFill>
          <a:ln w="12700">
            <a:solidFill>
              <a:srgbClr val="F0EF96"/>
            </a:solidFill>
            <a:prstDash val="solid"/>
          </a:ln>
        </p:spPr>
      </p:sp>
      <p:sp>
        <p:nvSpPr>
          <p:cNvPr id="7" name="Text 5"/>
          <p:cNvSpPr txBox="1"/>
          <p:nvPr/>
        </p:nvSpPr>
        <p:spPr>
          <a:xfrm>
            <a:off x="4572000" y="4754880"/>
            <a:ext cx="1463040" cy="411480"/>
          </a:xfrm>
          <a:prstGeom prst="rect">
            <a:avLst/>
          </a:prstGeom>
          <a:noFill/>
          <a:ln/>
        </p:spPr>
        <p:txBody>
          <a:bodyPr wrap="square" lIns="0" tIns="0" rIns="0" bIns="0" rtlCol="0" anchor="ctr"/>
          <a:lstStyle/>
          <a:p>
            <a:pPr algn="ctr" indent="0" marL="0">
              <a:buNone/>
            </a:pPr>
            <a:r>
              <a:rPr lang="en-US" sz="1400" b="1" dirty="0">
                <a:solidFill>
                  <a:srgbClr val="0A032B"/>
                </a:solidFill>
                <a:latin typeface="Montserrat" pitchFamily="34" charset="0"/>
                <a:ea typeface="Montserrat" pitchFamily="34" charset="-122"/>
                <a:cs typeface="Montserrat" pitchFamily="34" charset="-120"/>
              </a:rPr>
              <a:t>40 min</a:t>
            </a:r>
            <a:endParaRPr lang="en-US" sz="1400" dirty="0"/>
          </a:p>
        </p:txBody>
      </p:sp>
      <p:sp>
        <p:nvSpPr>
          <p:cNvPr id="8" name="Text 6"/>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DCDAEA"/>
                </a:solidFill>
                <a:latin typeface="Arial" pitchFamily="34" charset="0"/>
                <a:ea typeface="Arial" pitchFamily="34" charset="-122"/>
                <a:cs typeface="Arial" pitchFamily="34" charset="-120"/>
              </a:rPr>
              <a:t>Gestes et postures de l'élu</a:t>
            </a:r>
            <a:endParaRPr lang="en-US" sz="900" dirty="0"/>
          </a:p>
        </p:txBody>
      </p:sp>
      <p:pic>
        <p:nvPicPr>
          <p:cNvPr id="9" name="Image 0" descr="logo_dark.png">    </p:cNvPr>
          <p:cNvPicPr>
            <a:picLocks noChangeAspect="1"/>
          </p:cNvPicPr>
          <p:nvPr/>
        </p:nvPicPr>
        <p:blipFill>
          <a:blip r:embed="rId1"/>
          <a:stretch>
            <a:fillRect/>
          </a:stretch>
        </p:blipFill>
        <p:spPr>
          <a:xfrm>
            <a:off x="10682935" y="6236208"/>
            <a:ext cx="960120" cy="398441"/>
          </a:xfrm>
          <a:prstGeom prst="rect">
            <a:avLst/>
          </a:prstGeom>
        </p:spPr>
      </p:pic>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DCDAEA"/>
                </a:solidFill>
                <a:latin typeface="Arial"/>
                <a:ea typeface="Arial"/>
                <a:cs typeface="Aria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235440" cy="685800"/>
          </a:xfrm>
          <a:prstGeom prst="rect">
            <a:avLst/>
          </a:prstGeom>
          <a:noFill/>
          <a:ln/>
        </p:spPr>
        <p:txBody>
          <a:bodyPr wrap="square" lIns="0" tIns="0" rIns="0" bIns="0" rtlCol="0" anchor="ctr"/>
          <a:lstStyle/>
          <a:p>
            <a:pPr indent="0" marL="0">
              <a:buNone/>
            </a:pPr>
            <a:r>
              <a:rPr lang="en-US" sz="2800" b="1" dirty="0">
                <a:solidFill>
                  <a:srgbClr val="0A032B"/>
                </a:solidFill>
                <a:latin typeface="Montserrat" pitchFamily="34" charset="0"/>
                <a:ea typeface="Montserrat" pitchFamily="34" charset="-122"/>
                <a:cs typeface="Montserrat" pitchFamily="34" charset="-120"/>
              </a:rPr>
              <a:t>Le mandat, un quotidien de manutentions</a:t>
            </a:r>
            <a:endParaRPr lang="en-US" sz="2800" dirty="0"/>
          </a:p>
        </p:txBody>
      </p:sp>
      <p:sp>
        <p:nvSpPr>
          <p:cNvPr id="3" name="Text 1"/>
          <p:cNvSpPr txBox="1"/>
          <p:nvPr/>
        </p:nvSpPr>
        <p:spPr>
          <a:xfrm>
            <a:off x="548640" y="1024128"/>
            <a:ext cx="9235440" cy="365760"/>
          </a:xfrm>
          <a:prstGeom prst="rect">
            <a:avLst/>
          </a:prstGeom>
          <a:noFill/>
          <a:ln/>
        </p:spPr>
        <p:txBody>
          <a:bodyPr wrap="square" lIns="0" tIns="0" rIns="0" bIns="0" rtlCol="0" anchor="ctr"/>
          <a:lstStyle/>
          <a:p>
            <a:pPr indent="0" marL="0">
              <a:buNone/>
            </a:pPr>
            <a:r>
              <a:rPr lang="en-US" sz="1400" i="1" dirty="0">
                <a:solidFill>
                  <a:srgbClr val="5E5A78"/>
                </a:solidFill>
                <a:latin typeface="Arial" pitchFamily="34" charset="0"/>
                <a:ea typeface="Arial" pitchFamily="34" charset="-122"/>
                <a:cs typeface="Arial" pitchFamily="34" charset="-120"/>
              </a:rPr>
              <a:t>Des situations souvent occasionnelles… donc rarement préparées</a:t>
            </a:r>
            <a:endParaRPr lang="en-US" sz="1400" dirty="0"/>
          </a:p>
        </p:txBody>
      </p:sp>
      <p:sp>
        <p:nvSpPr>
          <p:cNvPr id="4" name="Shape 2"/>
          <p:cNvSpPr/>
          <p:nvPr/>
        </p:nvSpPr>
        <p:spPr>
          <a:xfrm>
            <a:off x="10042855" y="530352"/>
            <a:ext cx="1600200" cy="347472"/>
          </a:xfrm>
          <a:prstGeom prst="roundRect">
            <a:avLst>
              <a:gd name="adj" fmla="val 50000"/>
            </a:avLst>
          </a:prstGeom>
          <a:solidFill>
            <a:srgbClr val="DCDAEA"/>
          </a:solidFill>
          <a:ln w="12700">
            <a:solidFill>
              <a:srgbClr val="DCDAEA"/>
            </a:solidFill>
            <a:prstDash val="solid"/>
          </a:ln>
        </p:spPr>
      </p:sp>
      <p:sp>
        <p:nvSpPr>
          <p:cNvPr id="5" name="Text 3"/>
          <p:cNvSpPr txBox="1"/>
          <p:nvPr/>
        </p:nvSpPr>
        <p:spPr>
          <a:xfrm>
            <a:off x="10042855" y="530352"/>
            <a:ext cx="1600200" cy="347472"/>
          </a:xfrm>
          <a:prstGeom prst="rect">
            <a:avLst/>
          </a:prstGeom>
          <a:noFill/>
          <a:ln/>
        </p:spPr>
        <p:txBody>
          <a:bodyPr wrap="square" lIns="0" tIns="0" rIns="0" bIns="0" rtlCol="0" anchor="ctr"/>
          <a:lstStyle/>
          <a:p>
            <a:pPr algn="ctr" indent="0" marL="0">
              <a:buNone/>
            </a:pPr>
            <a:r>
              <a:rPr lang="en-US" sz="1100" b="1" spc="200" kern="0" dirty="0">
                <a:solidFill>
                  <a:srgbClr val="0A032B"/>
                </a:solidFill>
                <a:latin typeface="Montserrat" pitchFamily="34" charset="0"/>
                <a:ea typeface="Montserrat" pitchFamily="34" charset="-122"/>
                <a:cs typeface="Montserrat" pitchFamily="34" charset="-120"/>
              </a:rPr>
              <a:t>ÉCHANGES</a:t>
            </a:r>
            <a:endParaRPr lang="en-US" sz="1100" dirty="0"/>
          </a:p>
        </p:txBody>
      </p:sp>
      <p:sp>
        <p:nvSpPr>
          <p:cNvPr id="6" name="Text 4"/>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5E5A78"/>
                </a:solidFill>
                <a:latin typeface="Arial" pitchFamily="34" charset="0"/>
                <a:ea typeface="Arial" pitchFamily="34" charset="-122"/>
                <a:cs typeface="Arial" pitchFamily="34" charset="-120"/>
              </a:rPr>
              <a:t>Gestes et postures de l'élu  ·  Séquence 2</a:t>
            </a:r>
            <a:endParaRPr lang="en-US" sz="900" dirty="0"/>
          </a:p>
        </p:txBody>
      </p:sp>
      <p:pic>
        <p:nvPicPr>
          <p:cNvPr id="7" name="Image 0" descr="logo_light.png">    </p:cNvPr>
          <p:cNvPicPr>
            <a:picLocks noChangeAspect="1"/>
          </p:cNvPicPr>
          <p:nvPr/>
        </p:nvPicPr>
        <p:blipFill>
          <a:blip r:embed="rId1"/>
          <a:stretch>
            <a:fillRect/>
          </a:stretch>
        </p:blipFill>
        <p:spPr>
          <a:xfrm>
            <a:off x="10682935" y="6236208"/>
            <a:ext cx="960120" cy="398441"/>
          </a:xfrm>
          <a:prstGeom prst="rect">
            <a:avLst/>
          </a:prstGeom>
        </p:spPr>
      </p:pic>
      <p:sp>
        <p:nvSpPr>
          <p:cNvPr id="8" name="Shape 5"/>
          <p:cNvSpPr/>
          <p:nvPr/>
        </p:nvSpPr>
        <p:spPr>
          <a:xfrm>
            <a:off x="548640" y="1554480"/>
            <a:ext cx="3515258" cy="2103120"/>
          </a:xfrm>
          <a:prstGeom prst="roundRect">
            <a:avLst>
              <a:gd name="adj" fmla="val 3478"/>
            </a:avLst>
          </a:prstGeom>
          <a:solidFill>
            <a:srgbClr val="EEEDF5"/>
          </a:solidFill>
          <a:ln w="12700">
            <a:solidFill>
              <a:srgbClr val="EEEDF5"/>
            </a:solidFill>
            <a:prstDash val="solid"/>
          </a:ln>
        </p:spPr>
      </p:sp>
      <p:sp>
        <p:nvSpPr>
          <p:cNvPr id="9" name="Shape 6"/>
          <p:cNvSpPr/>
          <p:nvPr/>
        </p:nvSpPr>
        <p:spPr>
          <a:xfrm>
            <a:off x="777240" y="1783080"/>
            <a:ext cx="548640" cy="548640"/>
          </a:xfrm>
          <a:prstGeom prst="ellipse">
            <a:avLst/>
          </a:prstGeom>
          <a:solidFill>
            <a:srgbClr val="0A032B"/>
          </a:solidFill>
          <a:ln w="12700">
            <a:solidFill>
              <a:srgbClr val="0A032B"/>
            </a:solidFill>
            <a:prstDash val="solid"/>
          </a:ln>
        </p:spPr>
      </p:sp>
      <p:pic>
        <p:nvPicPr>
          <p:cNvPr id="10" name="Image 1" descr="preencoded.png">    </p:cNvPr>
          <p:cNvPicPr>
            <a:picLocks noChangeAspect="1"/>
          </p:cNvPicPr>
          <p:nvPr/>
        </p:nvPicPr>
        <p:blipFill>
          <a:blip r:embed="rId2"/>
          <a:stretch>
            <a:fillRect/>
          </a:stretch>
        </p:blipFill>
        <p:spPr>
          <a:xfrm>
            <a:off x="914400" y="1920240"/>
            <a:ext cx="274320" cy="274320"/>
          </a:xfrm>
          <a:prstGeom prst="rect">
            <a:avLst/>
          </a:prstGeom>
        </p:spPr>
      </p:pic>
      <p:sp>
        <p:nvSpPr>
          <p:cNvPr id="11" name="Text 7"/>
          <p:cNvSpPr txBox="1"/>
          <p:nvPr/>
        </p:nvSpPr>
        <p:spPr>
          <a:xfrm>
            <a:off x="1508760" y="1783080"/>
            <a:ext cx="2326538" cy="5486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Élections</a:t>
            </a:r>
            <a:endParaRPr lang="en-US" sz="1500" dirty="0"/>
          </a:p>
        </p:txBody>
      </p:sp>
      <p:sp>
        <p:nvSpPr>
          <p:cNvPr id="12" name="Text 8"/>
          <p:cNvSpPr txBox="1"/>
          <p:nvPr/>
        </p:nvSpPr>
        <p:spPr>
          <a:xfrm>
            <a:off x="777240" y="2468880"/>
            <a:ext cx="3058058" cy="105156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35305C"/>
                </a:solidFill>
                <a:latin typeface="Arial" pitchFamily="34" charset="0"/>
                <a:ea typeface="Arial" pitchFamily="34" charset="-122"/>
                <a:cs typeface="Arial" pitchFamily="34" charset="-120"/>
              </a:rPr>
              <a:t>Urnes, isoloirs, tables</a:t>
            </a:r>
            <a:endParaRPr lang="en-US" sz="1300" dirty="0"/>
          </a:p>
          <a:p>
            <a:pPr marL="177800" indent="-177800">
              <a:spcAft>
                <a:spcPts val="400"/>
              </a:spcAft>
              <a:buSzPct val="100000"/>
              <a:buChar char="•"/>
            </a:pPr>
            <a:r>
              <a:rPr lang="en-US" sz="1300" dirty="0">
                <a:solidFill>
                  <a:srgbClr val="35305C"/>
                </a:solidFill>
                <a:latin typeface="Arial" pitchFamily="34" charset="0"/>
                <a:ea typeface="Arial" pitchFamily="34" charset="-122"/>
                <a:cs typeface="Arial" pitchFamily="34" charset="-120"/>
              </a:rPr>
              <a:t>Panneaux d'affichage</a:t>
            </a:r>
            <a:endParaRPr lang="en-US" sz="1300" dirty="0"/>
          </a:p>
          <a:p>
            <a:pPr marL="177800" indent="-177800">
              <a:spcAft>
                <a:spcPts val="400"/>
              </a:spcAft>
              <a:buSzPct val="100000"/>
              <a:buChar char="•"/>
            </a:pPr>
            <a:r>
              <a:rPr lang="en-US" sz="1300" dirty="0">
                <a:solidFill>
                  <a:srgbClr val="35305C"/>
                </a:solidFill>
                <a:latin typeface="Arial" pitchFamily="34" charset="0"/>
                <a:ea typeface="Arial" pitchFamily="34" charset="-122"/>
                <a:cs typeface="Arial" pitchFamily="34" charset="-120"/>
              </a:rPr>
              <a:t>Cartons de listes et de bulletins</a:t>
            </a:r>
            <a:endParaRPr lang="en-US" sz="1300" dirty="0"/>
          </a:p>
        </p:txBody>
      </p:sp>
      <p:sp>
        <p:nvSpPr>
          <p:cNvPr id="13" name="Shape 9"/>
          <p:cNvSpPr/>
          <p:nvPr/>
        </p:nvSpPr>
        <p:spPr>
          <a:xfrm>
            <a:off x="4338218" y="1554480"/>
            <a:ext cx="3515258" cy="2103120"/>
          </a:xfrm>
          <a:prstGeom prst="roundRect">
            <a:avLst>
              <a:gd name="adj" fmla="val 3478"/>
            </a:avLst>
          </a:prstGeom>
          <a:solidFill>
            <a:srgbClr val="EEEDF5"/>
          </a:solidFill>
          <a:ln w="12700">
            <a:solidFill>
              <a:srgbClr val="EEEDF5"/>
            </a:solidFill>
            <a:prstDash val="solid"/>
          </a:ln>
        </p:spPr>
      </p:sp>
      <p:sp>
        <p:nvSpPr>
          <p:cNvPr id="14" name="Shape 10"/>
          <p:cNvSpPr/>
          <p:nvPr/>
        </p:nvSpPr>
        <p:spPr>
          <a:xfrm>
            <a:off x="4566818" y="1783080"/>
            <a:ext cx="548640" cy="548640"/>
          </a:xfrm>
          <a:prstGeom prst="ellipse">
            <a:avLst/>
          </a:prstGeom>
          <a:solidFill>
            <a:srgbClr val="0A032B"/>
          </a:solidFill>
          <a:ln w="12700">
            <a:solidFill>
              <a:srgbClr val="0A032B"/>
            </a:solidFill>
            <a:prstDash val="solid"/>
          </a:ln>
        </p:spPr>
      </p:sp>
      <p:pic>
        <p:nvPicPr>
          <p:cNvPr id="15" name="Image 2" descr="preencoded.png">    </p:cNvPr>
          <p:cNvPicPr>
            <a:picLocks noChangeAspect="1"/>
          </p:cNvPicPr>
          <p:nvPr/>
        </p:nvPicPr>
        <p:blipFill>
          <a:blip r:embed="rId3"/>
          <a:stretch>
            <a:fillRect/>
          </a:stretch>
        </p:blipFill>
        <p:spPr>
          <a:xfrm>
            <a:off x="4703978" y="1920240"/>
            <a:ext cx="274320" cy="274320"/>
          </a:xfrm>
          <a:prstGeom prst="rect">
            <a:avLst/>
          </a:prstGeom>
        </p:spPr>
      </p:pic>
      <p:sp>
        <p:nvSpPr>
          <p:cNvPr id="16" name="Text 11"/>
          <p:cNvSpPr txBox="1"/>
          <p:nvPr/>
        </p:nvSpPr>
        <p:spPr>
          <a:xfrm>
            <a:off x="5298338" y="1783080"/>
            <a:ext cx="2326538" cy="5486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Manifestations</a:t>
            </a:r>
            <a:endParaRPr lang="en-US" sz="1500" dirty="0"/>
          </a:p>
        </p:txBody>
      </p:sp>
      <p:sp>
        <p:nvSpPr>
          <p:cNvPr id="17" name="Text 12"/>
          <p:cNvSpPr txBox="1"/>
          <p:nvPr/>
        </p:nvSpPr>
        <p:spPr>
          <a:xfrm>
            <a:off x="4566818" y="2468880"/>
            <a:ext cx="3058058" cy="105156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35305C"/>
                </a:solidFill>
                <a:latin typeface="Arial" pitchFamily="34" charset="0"/>
                <a:ea typeface="Arial" pitchFamily="34" charset="-122"/>
                <a:cs typeface="Arial" pitchFamily="34" charset="-120"/>
              </a:rPr>
              <a:t>Fête communale, marché, brocante</a:t>
            </a:r>
            <a:endParaRPr lang="en-US" sz="1300" dirty="0"/>
          </a:p>
          <a:p>
            <a:pPr marL="177800" indent="-177800">
              <a:spcAft>
                <a:spcPts val="400"/>
              </a:spcAft>
              <a:buSzPct val="100000"/>
              <a:buChar char="•"/>
            </a:pPr>
            <a:r>
              <a:rPr lang="en-US" sz="1300" dirty="0">
                <a:solidFill>
                  <a:srgbClr val="35305C"/>
                </a:solidFill>
                <a:latin typeface="Arial" pitchFamily="34" charset="0"/>
                <a:ea typeface="Arial" pitchFamily="34" charset="-122"/>
                <a:cs typeface="Arial" pitchFamily="34" charset="-120"/>
              </a:rPr>
              <a:t>Tables, chaises, barnums</a:t>
            </a:r>
            <a:endParaRPr lang="en-US" sz="1300" dirty="0"/>
          </a:p>
          <a:p>
            <a:pPr marL="177800" indent="-177800">
              <a:spcAft>
                <a:spcPts val="400"/>
              </a:spcAft>
              <a:buSzPct val="100000"/>
              <a:buChar char="•"/>
            </a:pPr>
            <a:r>
              <a:rPr lang="en-US" sz="1300" dirty="0">
                <a:solidFill>
                  <a:srgbClr val="35305C"/>
                </a:solidFill>
                <a:latin typeface="Arial" pitchFamily="34" charset="0"/>
                <a:ea typeface="Arial" pitchFamily="34" charset="-122"/>
                <a:cs typeface="Arial" pitchFamily="34" charset="-120"/>
              </a:rPr>
              <a:t>Barrières, grilles d'exposition</a:t>
            </a:r>
            <a:endParaRPr lang="en-US" sz="1300" dirty="0"/>
          </a:p>
        </p:txBody>
      </p:sp>
      <p:sp>
        <p:nvSpPr>
          <p:cNvPr id="18" name="Shape 13"/>
          <p:cNvSpPr/>
          <p:nvPr/>
        </p:nvSpPr>
        <p:spPr>
          <a:xfrm>
            <a:off x="8127797" y="1554480"/>
            <a:ext cx="3515258" cy="2103120"/>
          </a:xfrm>
          <a:prstGeom prst="roundRect">
            <a:avLst>
              <a:gd name="adj" fmla="val 3478"/>
            </a:avLst>
          </a:prstGeom>
          <a:solidFill>
            <a:srgbClr val="EEEDF5"/>
          </a:solidFill>
          <a:ln w="12700">
            <a:solidFill>
              <a:srgbClr val="EEEDF5"/>
            </a:solidFill>
            <a:prstDash val="solid"/>
          </a:ln>
        </p:spPr>
      </p:sp>
      <p:sp>
        <p:nvSpPr>
          <p:cNvPr id="19" name="Shape 14"/>
          <p:cNvSpPr/>
          <p:nvPr/>
        </p:nvSpPr>
        <p:spPr>
          <a:xfrm>
            <a:off x="8356397" y="1783080"/>
            <a:ext cx="548640" cy="548640"/>
          </a:xfrm>
          <a:prstGeom prst="ellipse">
            <a:avLst/>
          </a:prstGeom>
          <a:solidFill>
            <a:srgbClr val="0A032B"/>
          </a:solidFill>
          <a:ln w="12700">
            <a:solidFill>
              <a:srgbClr val="0A032B"/>
            </a:solidFill>
            <a:prstDash val="solid"/>
          </a:ln>
        </p:spPr>
      </p:sp>
      <p:pic>
        <p:nvPicPr>
          <p:cNvPr id="20" name="Image 3" descr="preencoded.png">    </p:cNvPr>
          <p:cNvPicPr>
            <a:picLocks noChangeAspect="1"/>
          </p:cNvPicPr>
          <p:nvPr/>
        </p:nvPicPr>
        <p:blipFill>
          <a:blip r:embed="rId4"/>
          <a:stretch>
            <a:fillRect/>
          </a:stretch>
        </p:blipFill>
        <p:spPr>
          <a:xfrm>
            <a:off x="8493557" y="1920240"/>
            <a:ext cx="274320" cy="274320"/>
          </a:xfrm>
          <a:prstGeom prst="rect">
            <a:avLst/>
          </a:prstGeom>
        </p:spPr>
      </p:pic>
      <p:sp>
        <p:nvSpPr>
          <p:cNvPr id="21" name="Text 15"/>
          <p:cNvSpPr txBox="1"/>
          <p:nvPr/>
        </p:nvSpPr>
        <p:spPr>
          <a:xfrm>
            <a:off x="9087917" y="1783080"/>
            <a:ext cx="2326538" cy="5486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Cérémonies</a:t>
            </a:r>
            <a:endParaRPr lang="en-US" sz="1500" dirty="0"/>
          </a:p>
        </p:txBody>
      </p:sp>
      <p:sp>
        <p:nvSpPr>
          <p:cNvPr id="22" name="Text 16"/>
          <p:cNvSpPr txBox="1"/>
          <p:nvPr/>
        </p:nvSpPr>
        <p:spPr>
          <a:xfrm>
            <a:off x="8356397" y="2468880"/>
            <a:ext cx="3058058" cy="105156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35305C"/>
                </a:solidFill>
                <a:latin typeface="Arial" pitchFamily="34" charset="0"/>
                <a:ea typeface="Arial" pitchFamily="34" charset="-122"/>
                <a:cs typeface="Arial" pitchFamily="34" charset="-120"/>
              </a:rPr>
              <a:t>Estrade, pupitre, sonorisation</a:t>
            </a:r>
            <a:endParaRPr lang="en-US" sz="1300" dirty="0"/>
          </a:p>
          <a:p>
            <a:pPr marL="177800" indent="-177800">
              <a:spcAft>
                <a:spcPts val="400"/>
              </a:spcAft>
              <a:buSzPct val="100000"/>
              <a:buChar char="•"/>
            </a:pPr>
            <a:r>
              <a:rPr lang="en-US" sz="1300" dirty="0">
                <a:solidFill>
                  <a:srgbClr val="35305C"/>
                </a:solidFill>
                <a:latin typeface="Arial" pitchFamily="34" charset="0"/>
                <a:ea typeface="Arial" pitchFamily="34" charset="-122"/>
                <a:cs typeface="Arial" pitchFamily="34" charset="-120"/>
              </a:rPr>
              <a:t>Gerbes, drapeaux, jardinières</a:t>
            </a:r>
            <a:endParaRPr lang="en-US" sz="1300" dirty="0"/>
          </a:p>
          <a:p>
            <a:pPr marL="177800" indent="-177800">
              <a:spcAft>
                <a:spcPts val="400"/>
              </a:spcAft>
              <a:buSzPct val="100000"/>
              <a:buChar char="•"/>
            </a:pPr>
            <a:r>
              <a:rPr lang="en-US" sz="1300" dirty="0">
                <a:solidFill>
                  <a:srgbClr val="35305C"/>
                </a:solidFill>
                <a:latin typeface="Arial" pitchFamily="34" charset="0"/>
                <a:ea typeface="Arial" pitchFamily="34" charset="-122"/>
                <a:cs typeface="Arial" pitchFamily="34" charset="-120"/>
              </a:rPr>
              <a:t>Station debout prolongée</a:t>
            </a:r>
            <a:endParaRPr lang="en-US" sz="1300" dirty="0"/>
          </a:p>
        </p:txBody>
      </p:sp>
      <p:sp>
        <p:nvSpPr>
          <p:cNvPr id="23" name="Shape 17"/>
          <p:cNvSpPr/>
          <p:nvPr/>
        </p:nvSpPr>
        <p:spPr>
          <a:xfrm>
            <a:off x="548640" y="3931920"/>
            <a:ext cx="3515258" cy="2103120"/>
          </a:xfrm>
          <a:prstGeom prst="roundRect">
            <a:avLst>
              <a:gd name="adj" fmla="val 3478"/>
            </a:avLst>
          </a:prstGeom>
          <a:solidFill>
            <a:srgbClr val="EEEDF5"/>
          </a:solidFill>
          <a:ln w="12700">
            <a:solidFill>
              <a:srgbClr val="EEEDF5"/>
            </a:solidFill>
            <a:prstDash val="solid"/>
          </a:ln>
        </p:spPr>
      </p:sp>
      <p:sp>
        <p:nvSpPr>
          <p:cNvPr id="24" name="Shape 18"/>
          <p:cNvSpPr/>
          <p:nvPr/>
        </p:nvSpPr>
        <p:spPr>
          <a:xfrm>
            <a:off x="777240" y="4160520"/>
            <a:ext cx="548640" cy="548640"/>
          </a:xfrm>
          <a:prstGeom prst="ellipse">
            <a:avLst/>
          </a:prstGeom>
          <a:solidFill>
            <a:srgbClr val="0A032B"/>
          </a:solidFill>
          <a:ln w="12700">
            <a:solidFill>
              <a:srgbClr val="0A032B"/>
            </a:solidFill>
            <a:prstDash val="solid"/>
          </a:ln>
        </p:spPr>
      </p:sp>
      <p:pic>
        <p:nvPicPr>
          <p:cNvPr id="25" name="Image 4" descr="preencoded.png">    </p:cNvPr>
          <p:cNvPicPr>
            <a:picLocks noChangeAspect="1"/>
          </p:cNvPicPr>
          <p:nvPr/>
        </p:nvPicPr>
        <p:blipFill>
          <a:blip r:embed="rId5"/>
          <a:stretch>
            <a:fillRect/>
          </a:stretch>
        </p:blipFill>
        <p:spPr>
          <a:xfrm>
            <a:off x="914400" y="4297680"/>
            <a:ext cx="274320" cy="274320"/>
          </a:xfrm>
          <a:prstGeom prst="rect">
            <a:avLst/>
          </a:prstGeom>
        </p:spPr>
      </p:pic>
      <p:sp>
        <p:nvSpPr>
          <p:cNvPr id="26" name="Text 19"/>
          <p:cNvSpPr txBox="1"/>
          <p:nvPr/>
        </p:nvSpPr>
        <p:spPr>
          <a:xfrm>
            <a:off x="1508760" y="4160520"/>
            <a:ext cx="2326538" cy="5486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Mairie et services</a:t>
            </a:r>
            <a:endParaRPr lang="en-US" sz="1500" dirty="0"/>
          </a:p>
        </p:txBody>
      </p:sp>
      <p:sp>
        <p:nvSpPr>
          <p:cNvPr id="27" name="Text 20"/>
          <p:cNvSpPr txBox="1"/>
          <p:nvPr/>
        </p:nvSpPr>
        <p:spPr>
          <a:xfrm>
            <a:off x="777240" y="4846320"/>
            <a:ext cx="3058058" cy="105156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35305C"/>
                </a:solidFill>
                <a:latin typeface="Arial" pitchFamily="34" charset="0"/>
                <a:ea typeface="Arial" pitchFamily="34" charset="-122"/>
                <a:cs typeface="Arial" pitchFamily="34" charset="-120"/>
              </a:rPr>
              <a:t>Archives et dossiers</a:t>
            </a:r>
            <a:endParaRPr lang="en-US" sz="1300" dirty="0"/>
          </a:p>
          <a:p>
            <a:pPr marL="177800" indent="-177800">
              <a:spcAft>
                <a:spcPts val="400"/>
              </a:spcAft>
              <a:buSzPct val="100000"/>
              <a:buChar char="•"/>
            </a:pPr>
            <a:r>
              <a:rPr lang="en-US" sz="1300" dirty="0">
                <a:solidFill>
                  <a:srgbClr val="35305C"/>
                </a:solidFill>
                <a:latin typeface="Arial" pitchFamily="34" charset="0"/>
                <a:ea typeface="Arial" pitchFamily="34" charset="-122"/>
                <a:cs typeface="Arial" pitchFamily="34" charset="-120"/>
              </a:rPr>
              <a:t>Déménagement d'un bureau</a:t>
            </a:r>
            <a:endParaRPr lang="en-US" sz="1300" dirty="0"/>
          </a:p>
          <a:p>
            <a:pPr marL="177800" indent="-177800">
              <a:spcAft>
                <a:spcPts val="400"/>
              </a:spcAft>
              <a:buSzPct val="100000"/>
              <a:buChar char="•"/>
            </a:pPr>
            <a:r>
              <a:rPr lang="en-US" sz="1300" dirty="0">
                <a:solidFill>
                  <a:srgbClr val="35305C"/>
                </a:solidFill>
                <a:latin typeface="Arial" pitchFamily="34" charset="0"/>
                <a:ea typeface="Arial" pitchFamily="34" charset="-122"/>
                <a:cs typeface="Arial" pitchFamily="34" charset="-120"/>
              </a:rPr>
              <a:t>Réaménagement de salles</a:t>
            </a:r>
            <a:endParaRPr lang="en-US" sz="1300" dirty="0"/>
          </a:p>
        </p:txBody>
      </p:sp>
      <p:sp>
        <p:nvSpPr>
          <p:cNvPr id="28" name="Shape 21"/>
          <p:cNvSpPr/>
          <p:nvPr/>
        </p:nvSpPr>
        <p:spPr>
          <a:xfrm>
            <a:off x="4338218" y="3931920"/>
            <a:ext cx="3515258" cy="2103120"/>
          </a:xfrm>
          <a:prstGeom prst="roundRect">
            <a:avLst>
              <a:gd name="adj" fmla="val 3478"/>
            </a:avLst>
          </a:prstGeom>
          <a:solidFill>
            <a:srgbClr val="EEEDF5"/>
          </a:solidFill>
          <a:ln w="12700">
            <a:solidFill>
              <a:srgbClr val="EEEDF5"/>
            </a:solidFill>
            <a:prstDash val="solid"/>
          </a:ln>
        </p:spPr>
      </p:sp>
      <p:sp>
        <p:nvSpPr>
          <p:cNvPr id="29" name="Shape 22"/>
          <p:cNvSpPr/>
          <p:nvPr/>
        </p:nvSpPr>
        <p:spPr>
          <a:xfrm>
            <a:off x="4566818" y="4160520"/>
            <a:ext cx="548640" cy="548640"/>
          </a:xfrm>
          <a:prstGeom prst="ellipse">
            <a:avLst/>
          </a:prstGeom>
          <a:solidFill>
            <a:srgbClr val="0A032B"/>
          </a:solidFill>
          <a:ln w="12700">
            <a:solidFill>
              <a:srgbClr val="0A032B"/>
            </a:solidFill>
            <a:prstDash val="solid"/>
          </a:ln>
        </p:spPr>
      </p:sp>
      <p:pic>
        <p:nvPicPr>
          <p:cNvPr id="30" name="Image 5" descr="preencoded.png">    </p:cNvPr>
          <p:cNvPicPr>
            <a:picLocks noChangeAspect="1"/>
          </p:cNvPicPr>
          <p:nvPr/>
        </p:nvPicPr>
        <p:blipFill>
          <a:blip r:embed="rId6"/>
          <a:stretch>
            <a:fillRect/>
          </a:stretch>
        </p:blipFill>
        <p:spPr>
          <a:xfrm>
            <a:off x="4703978" y="4297680"/>
            <a:ext cx="274320" cy="274320"/>
          </a:xfrm>
          <a:prstGeom prst="rect">
            <a:avLst/>
          </a:prstGeom>
        </p:spPr>
      </p:pic>
      <p:sp>
        <p:nvSpPr>
          <p:cNvPr id="31" name="Text 23"/>
          <p:cNvSpPr txBox="1"/>
          <p:nvPr/>
        </p:nvSpPr>
        <p:spPr>
          <a:xfrm>
            <a:off x="5298338" y="4160520"/>
            <a:ext cx="2326538" cy="5486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Véhicule</a:t>
            </a:r>
            <a:endParaRPr lang="en-US" sz="1500" dirty="0"/>
          </a:p>
        </p:txBody>
      </p:sp>
      <p:sp>
        <p:nvSpPr>
          <p:cNvPr id="32" name="Text 24"/>
          <p:cNvSpPr txBox="1"/>
          <p:nvPr/>
        </p:nvSpPr>
        <p:spPr>
          <a:xfrm>
            <a:off x="4566818" y="4846320"/>
            <a:ext cx="3058058" cy="105156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35305C"/>
                </a:solidFill>
                <a:latin typeface="Arial" pitchFamily="34" charset="0"/>
                <a:ea typeface="Arial" pitchFamily="34" charset="-122"/>
                <a:cs typeface="Arial" pitchFamily="34" charset="-120"/>
              </a:rPr>
              <a:t>Charger et décharger le coffre</a:t>
            </a:r>
            <a:endParaRPr lang="en-US" sz="1300" dirty="0"/>
          </a:p>
          <a:p>
            <a:pPr marL="177800" indent="-177800">
              <a:spcAft>
                <a:spcPts val="400"/>
              </a:spcAft>
              <a:buSzPct val="100000"/>
              <a:buChar char="•"/>
            </a:pPr>
            <a:r>
              <a:rPr lang="en-US" sz="1300" dirty="0">
                <a:solidFill>
                  <a:srgbClr val="35305C"/>
                </a:solidFill>
                <a:latin typeface="Arial" pitchFamily="34" charset="0"/>
                <a:ea typeface="Arial" pitchFamily="34" charset="-122"/>
                <a:cs typeface="Arial" pitchFamily="34" charset="-120"/>
              </a:rPr>
              <a:t>Matériel prêté aux associations</a:t>
            </a:r>
            <a:endParaRPr lang="en-US" sz="1300" dirty="0"/>
          </a:p>
          <a:p>
            <a:pPr marL="177800" indent="-177800">
              <a:spcAft>
                <a:spcPts val="400"/>
              </a:spcAft>
              <a:buSzPct val="100000"/>
              <a:buChar char="•"/>
            </a:pPr>
            <a:r>
              <a:rPr lang="en-US" sz="1300" dirty="0">
                <a:solidFill>
                  <a:srgbClr val="35305C"/>
                </a:solidFill>
                <a:latin typeface="Arial" pitchFamily="34" charset="0"/>
                <a:ea typeface="Arial" pitchFamily="34" charset="-122"/>
                <a:cs typeface="Arial" pitchFamily="34" charset="-120"/>
              </a:rPr>
              <a:t>Colis, dotations, cadeaux</a:t>
            </a:r>
            <a:endParaRPr lang="en-US" sz="1300" dirty="0"/>
          </a:p>
        </p:txBody>
      </p:sp>
      <p:sp>
        <p:nvSpPr>
          <p:cNvPr id="33" name="Shape 25"/>
          <p:cNvSpPr/>
          <p:nvPr/>
        </p:nvSpPr>
        <p:spPr>
          <a:xfrm>
            <a:off x="8127797" y="3931920"/>
            <a:ext cx="3515258" cy="2103120"/>
          </a:xfrm>
          <a:prstGeom prst="roundRect">
            <a:avLst>
              <a:gd name="adj" fmla="val 3478"/>
            </a:avLst>
          </a:prstGeom>
          <a:solidFill>
            <a:srgbClr val="EEEDF5"/>
          </a:solidFill>
          <a:ln w="12700">
            <a:solidFill>
              <a:srgbClr val="EEEDF5"/>
            </a:solidFill>
            <a:prstDash val="solid"/>
          </a:ln>
        </p:spPr>
      </p:sp>
      <p:sp>
        <p:nvSpPr>
          <p:cNvPr id="34" name="Shape 26"/>
          <p:cNvSpPr/>
          <p:nvPr/>
        </p:nvSpPr>
        <p:spPr>
          <a:xfrm>
            <a:off x="8356397" y="4160520"/>
            <a:ext cx="548640" cy="548640"/>
          </a:xfrm>
          <a:prstGeom prst="ellipse">
            <a:avLst/>
          </a:prstGeom>
          <a:solidFill>
            <a:srgbClr val="0A032B"/>
          </a:solidFill>
          <a:ln w="12700">
            <a:solidFill>
              <a:srgbClr val="0A032B"/>
            </a:solidFill>
            <a:prstDash val="solid"/>
          </a:ln>
        </p:spPr>
      </p:sp>
      <p:pic>
        <p:nvPicPr>
          <p:cNvPr id="35" name="Image 6" descr="preencoded.png">    </p:cNvPr>
          <p:cNvPicPr>
            <a:picLocks noChangeAspect="1"/>
          </p:cNvPicPr>
          <p:nvPr/>
        </p:nvPicPr>
        <p:blipFill>
          <a:blip r:embed="rId7"/>
          <a:stretch>
            <a:fillRect/>
          </a:stretch>
        </p:blipFill>
        <p:spPr>
          <a:xfrm>
            <a:off x="8493557" y="4297680"/>
            <a:ext cx="274320" cy="274320"/>
          </a:xfrm>
          <a:prstGeom prst="rect">
            <a:avLst/>
          </a:prstGeom>
        </p:spPr>
      </p:pic>
      <p:sp>
        <p:nvSpPr>
          <p:cNvPr id="36" name="Text 27"/>
          <p:cNvSpPr txBox="1"/>
          <p:nvPr/>
        </p:nvSpPr>
        <p:spPr>
          <a:xfrm>
            <a:off x="9087917" y="4160520"/>
            <a:ext cx="2326538" cy="5486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Terrain</a:t>
            </a:r>
            <a:endParaRPr lang="en-US" sz="1500" dirty="0"/>
          </a:p>
        </p:txBody>
      </p:sp>
      <p:sp>
        <p:nvSpPr>
          <p:cNvPr id="37" name="Text 28"/>
          <p:cNvSpPr txBox="1"/>
          <p:nvPr/>
        </p:nvSpPr>
        <p:spPr>
          <a:xfrm>
            <a:off x="8356397" y="4846320"/>
            <a:ext cx="3058058" cy="105156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35305C"/>
                </a:solidFill>
                <a:latin typeface="Arial" pitchFamily="34" charset="0"/>
                <a:ea typeface="Arial" pitchFamily="34" charset="-122"/>
                <a:cs typeface="Arial" pitchFamily="34" charset="-120"/>
              </a:rPr>
              <a:t>Visites de chantiers</a:t>
            </a:r>
            <a:endParaRPr lang="en-US" sz="1300" dirty="0"/>
          </a:p>
          <a:p>
            <a:pPr marL="177800" indent="-177800">
              <a:spcAft>
                <a:spcPts val="400"/>
              </a:spcAft>
              <a:buSzPct val="100000"/>
              <a:buChar char="•"/>
            </a:pPr>
            <a:r>
              <a:rPr lang="en-US" sz="1300" dirty="0">
                <a:solidFill>
                  <a:srgbClr val="35305C"/>
                </a:solidFill>
                <a:latin typeface="Arial" pitchFamily="34" charset="0"/>
                <a:ea typeface="Arial" pitchFamily="34" charset="-122"/>
                <a:cs typeface="Arial" pitchFamily="34" charset="-120"/>
              </a:rPr>
              <a:t>Sols irréguliers, escaliers</a:t>
            </a:r>
            <a:endParaRPr lang="en-US" sz="1300" dirty="0"/>
          </a:p>
          <a:p>
            <a:pPr marL="177800" indent="-177800">
              <a:spcAft>
                <a:spcPts val="400"/>
              </a:spcAft>
              <a:buSzPct val="100000"/>
              <a:buChar char="•"/>
            </a:pPr>
            <a:r>
              <a:rPr lang="en-US" sz="1300" dirty="0">
                <a:solidFill>
                  <a:srgbClr val="35305C"/>
                </a:solidFill>
                <a:latin typeface="Arial" pitchFamily="34" charset="0"/>
                <a:ea typeface="Arial" pitchFamily="34" charset="-122"/>
                <a:cs typeface="Arial" pitchFamily="34" charset="-120"/>
              </a:rPr>
              <a:t>Intempéries</a:t>
            </a:r>
            <a:endParaRPr lang="en-US" sz="1300" dirty="0"/>
          </a:p>
        </p:txBody>
      </p:sp>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235440" cy="685800"/>
          </a:xfrm>
          <a:prstGeom prst="rect">
            <a:avLst/>
          </a:prstGeom>
          <a:noFill/>
          <a:ln/>
        </p:spPr>
        <p:txBody>
          <a:bodyPr wrap="square" lIns="0" tIns="0" rIns="0" bIns="0" rtlCol="0" anchor="ctr"/>
          <a:lstStyle/>
          <a:p>
            <a:pPr indent="0" marL="0">
              <a:buNone/>
            </a:pPr>
            <a:r>
              <a:rPr lang="en-US" sz="2800" b="1" dirty="0">
                <a:solidFill>
                  <a:srgbClr val="0A032B"/>
                </a:solidFill>
                <a:latin typeface="Montserrat" pitchFamily="34" charset="0"/>
                <a:ea typeface="Montserrat" pitchFamily="34" charset="-122"/>
                <a:cs typeface="Montserrat" pitchFamily="34" charset="-120"/>
              </a:rPr>
              <a:t>Analyser une situation : 5 questions</a:t>
            </a:r>
            <a:endParaRPr lang="en-US" sz="2800" dirty="0"/>
          </a:p>
        </p:txBody>
      </p:sp>
      <p:sp>
        <p:nvSpPr>
          <p:cNvPr id="3" name="Text 1"/>
          <p:cNvSpPr txBox="1"/>
          <p:nvPr/>
        </p:nvSpPr>
        <p:spPr>
          <a:xfrm>
            <a:off x="548640" y="1024128"/>
            <a:ext cx="9235440" cy="365760"/>
          </a:xfrm>
          <a:prstGeom prst="rect">
            <a:avLst/>
          </a:prstGeom>
          <a:noFill/>
          <a:ln/>
        </p:spPr>
        <p:txBody>
          <a:bodyPr wrap="square" lIns="0" tIns="0" rIns="0" bIns="0" rtlCol="0" anchor="ctr"/>
          <a:lstStyle/>
          <a:p>
            <a:pPr indent="0" marL="0">
              <a:buNone/>
            </a:pPr>
            <a:r>
              <a:rPr lang="en-US" sz="1400" i="1" dirty="0">
                <a:solidFill>
                  <a:srgbClr val="5E5A78"/>
                </a:solidFill>
                <a:latin typeface="Arial" pitchFamily="34" charset="0"/>
                <a:ea typeface="Arial" pitchFamily="34" charset="-122"/>
                <a:cs typeface="Arial" pitchFamily="34" charset="-120"/>
              </a:rPr>
              <a:t>Avant d'agir, je regarde la situation dans son ensemble</a:t>
            </a:r>
            <a:endParaRPr lang="en-US" sz="1400" dirty="0"/>
          </a:p>
        </p:txBody>
      </p:sp>
      <p:sp>
        <p:nvSpPr>
          <p:cNvPr id="4" name="Shape 2"/>
          <p:cNvSpPr/>
          <p:nvPr/>
        </p:nvSpPr>
        <p:spPr>
          <a:xfrm>
            <a:off x="10042855" y="530352"/>
            <a:ext cx="1600200" cy="347472"/>
          </a:xfrm>
          <a:prstGeom prst="roundRect">
            <a:avLst>
              <a:gd name="adj" fmla="val 50000"/>
            </a:avLst>
          </a:prstGeom>
          <a:solidFill>
            <a:srgbClr val="0A032B"/>
          </a:solidFill>
          <a:ln w="12700">
            <a:solidFill>
              <a:srgbClr val="0A032B"/>
            </a:solidFill>
            <a:prstDash val="solid"/>
          </a:ln>
        </p:spPr>
      </p:sp>
      <p:sp>
        <p:nvSpPr>
          <p:cNvPr id="5" name="Text 3"/>
          <p:cNvSpPr txBox="1"/>
          <p:nvPr/>
        </p:nvSpPr>
        <p:spPr>
          <a:xfrm>
            <a:off x="10042855" y="530352"/>
            <a:ext cx="1600200" cy="347472"/>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Montserrat" pitchFamily="34" charset="0"/>
                <a:ea typeface="Montserrat" pitchFamily="34" charset="-122"/>
                <a:cs typeface="Montserrat" pitchFamily="34" charset="-120"/>
              </a:rPr>
              <a:t>THÉORIE</a:t>
            </a:r>
            <a:endParaRPr lang="en-US" sz="1100" dirty="0"/>
          </a:p>
        </p:txBody>
      </p:sp>
      <p:sp>
        <p:nvSpPr>
          <p:cNvPr id="6" name="Text 4"/>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5E5A78"/>
                </a:solidFill>
                <a:latin typeface="Arial" pitchFamily="34" charset="0"/>
                <a:ea typeface="Arial" pitchFamily="34" charset="-122"/>
                <a:cs typeface="Arial" pitchFamily="34" charset="-120"/>
              </a:rPr>
              <a:t>Gestes et postures de l'élu  ·  Séquence 2</a:t>
            </a:r>
            <a:endParaRPr lang="en-US" sz="900" dirty="0"/>
          </a:p>
        </p:txBody>
      </p:sp>
      <p:pic>
        <p:nvPicPr>
          <p:cNvPr id="7" name="Image 0" descr="logo_light.png">    </p:cNvPr>
          <p:cNvPicPr>
            <a:picLocks noChangeAspect="1"/>
          </p:cNvPicPr>
          <p:nvPr/>
        </p:nvPicPr>
        <p:blipFill>
          <a:blip r:embed="rId1"/>
          <a:stretch>
            <a:fillRect/>
          </a:stretch>
        </p:blipFill>
        <p:spPr>
          <a:xfrm>
            <a:off x="10682935" y="6236208"/>
            <a:ext cx="960120" cy="398441"/>
          </a:xfrm>
          <a:prstGeom prst="rect">
            <a:avLst/>
          </a:prstGeom>
        </p:spPr>
      </p:pic>
      <p:sp>
        <p:nvSpPr>
          <p:cNvPr id="8" name="Shape 5"/>
          <p:cNvSpPr/>
          <p:nvPr/>
        </p:nvSpPr>
        <p:spPr>
          <a:xfrm>
            <a:off x="548640" y="1508760"/>
            <a:ext cx="6949440" cy="777240"/>
          </a:xfrm>
          <a:prstGeom prst="roundRect">
            <a:avLst>
              <a:gd name="adj" fmla="val 9412"/>
            </a:avLst>
          </a:prstGeom>
          <a:solidFill>
            <a:srgbClr val="EEEDF5"/>
          </a:solidFill>
          <a:ln w="12700">
            <a:solidFill>
              <a:srgbClr val="EEEDF5"/>
            </a:solidFill>
            <a:prstDash val="solid"/>
          </a:ln>
        </p:spPr>
      </p:sp>
      <p:sp>
        <p:nvSpPr>
          <p:cNvPr id="9" name="Shape 6"/>
          <p:cNvSpPr/>
          <p:nvPr/>
        </p:nvSpPr>
        <p:spPr>
          <a:xfrm>
            <a:off x="713232" y="1627632"/>
            <a:ext cx="548640" cy="548640"/>
          </a:xfrm>
          <a:prstGeom prst="ellipse">
            <a:avLst/>
          </a:prstGeom>
          <a:solidFill>
            <a:srgbClr val="0A032B"/>
          </a:solidFill>
          <a:ln w="12700">
            <a:solidFill>
              <a:srgbClr val="0A032B"/>
            </a:solidFill>
            <a:prstDash val="solid"/>
          </a:ln>
        </p:spPr>
      </p:sp>
      <p:pic>
        <p:nvPicPr>
          <p:cNvPr id="10" name="Image 1" descr="preencoded.png">    </p:cNvPr>
          <p:cNvPicPr>
            <a:picLocks noChangeAspect="1"/>
          </p:cNvPicPr>
          <p:nvPr/>
        </p:nvPicPr>
        <p:blipFill>
          <a:blip r:embed="rId2"/>
          <a:stretch>
            <a:fillRect/>
          </a:stretch>
        </p:blipFill>
        <p:spPr>
          <a:xfrm>
            <a:off x="850392" y="1764792"/>
            <a:ext cx="274320" cy="274320"/>
          </a:xfrm>
          <a:prstGeom prst="rect">
            <a:avLst/>
          </a:prstGeom>
        </p:spPr>
      </p:pic>
      <p:sp>
        <p:nvSpPr>
          <p:cNvPr id="11" name="Text 7"/>
          <p:cNvSpPr txBox="1"/>
          <p:nvPr/>
        </p:nvSpPr>
        <p:spPr>
          <a:xfrm>
            <a:off x="1417320" y="1508760"/>
            <a:ext cx="1737360" cy="777240"/>
          </a:xfrm>
          <a:prstGeom prst="rect">
            <a:avLst/>
          </a:prstGeom>
          <a:noFill/>
          <a:ln/>
        </p:spPr>
        <p:txBody>
          <a:bodyPr wrap="square" lIns="0" tIns="0" rIns="0" bIns="0" rtlCol="0" anchor="ctr"/>
          <a:lstStyle/>
          <a:p>
            <a:pPr indent="0" marL="0">
              <a:buNone/>
            </a:pPr>
            <a:r>
              <a:rPr lang="en-US" sz="1400" b="1" dirty="0">
                <a:solidFill>
                  <a:srgbClr val="0A032B"/>
                </a:solidFill>
                <a:latin typeface="Montserrat" pitchFamily="34" charset="0"/>
                <a:ea typeface="Montserrat" pitchFamily="34" charset="-122"/>
                <a:cs typeface="Montserrat" pitchFamily="34" charset="-120"/>
              </a:rPr>
              <a:t>La charge</a:t>
            </a:r>
            <a:endParaRPr lang="en-US" sz="1400" dirty="0"/>
          </a:p>
        </p:txBody>
      </p:sp>
      <p:sp>
        <p:nvSpPr>
          <p:cNvPr id="12" name="Text 8"/>
          <p:cNvSpPr txBox="1"/>
          <p:nvPr/>
        </p:nvSpPr>
        <p:spPr>
          <a:xfrm>
            <a:off x="3154680" y="1508760"/>
            <a:ext cx="4206240" cy="777240"/>
          </a:xfrm>
          <a:prstGeom prst="rect">
            <a:avLst/>
          </a:prstGeom>
          <a:noFill/>
          <a:ln/>
        </p:spPr>
        <p:txBody>
          <a:bodyPr wrap="square" lIns="0" tIns="0" rIns="0" bIns="0" rtlCol="0" anchor="ctr"/>
          <a:lstStyle/>
          <a:p>
            <a:pPr indent="0" marL="0">
              <a:buNone/>
            </a:pPr>
            <a:r>
              <a:rPr lang="en-US" sz="1250" dirty="0">
                <a:solidFill>
                  <a:srgbClr val="35305C"/>
                </a:solidFill>
                <a:latin typeface="Arial" pitchFamily="34" charset="0"/>
                <a:ea typeface="Arial" pitchFamily="34" charset="-122"/>
                <a:cs typeface="Arial" pitchFamily="34" charset="-120"/>
              </a:rPr>
              <a:t>Poids, volume, forme, prise, stabilité, contenu fragile ou mobile ?</a:t>
            </a:r>
            <a:endParaRPr lang="en-US" sz="1250" dirty="0"/>
          </a:p>
        </p:txBody>
      </p:sp>
      <p:sp>
        <p:nvSpPr>
          <p:cNvPr id="13" name="Shape 9"/>
          <p:cNvSpPr/>
          <p:nvPr/>
        </p:nvSpPr>
        <p:spPr>
          <a:xfrm>
            <a:off x="548640" y="2404872"/>
            <a:ext cx="6949440" cy="777240"/>
          </a:xfrm>
          <a:prstGeom prst="roundRect">
            <a:avLst>
              <a:gd name="adj" fmla="val 9412"/>
            </a:avLst>
          </a:prstGeom>
          <a:solidFill>
            <a:srgbClr val="EEEDF5"/>
          </a:solidFill>
          <a:ln w="12700">
            <a:solidFill>
              <a:srgbClr val="EEEDF5"/>
            </a:solidFill>
            <a:prstDash val="solid"/>
          </a:ln>
        </p:spPr>
      </p:sp>
      <p:sp>
        <p:nvSpPr>
          <p:cNvPr id="14" name="Shape 10"/>
          <p:cNvSpPr/>
          <p:nvPr/>
        </p:nvSpPr>
        <p:spPr>
          <a:xfrm>
            <a:off x="713232" y="2523744"/>
            <a:ext cx="548640" cy="548640"/>
          </a:xfrm>
          <a:prstGeom prst="ellipse">
            <a:avLst/>
          </a:prstGeom>
          <a:solidFill>
            <a:srgbClr val="0A032B"/>
          </a:solidFill>
          <a:ln w="12700">
            <a:solidFill>
              <a:srgbClr val="0A032B"/>
            </a:solidFill>
            <a:prstDash val="solid"/>
          </a:ln>
        </p:spPr>
      </p:sp>
      <p:pic>
        <p:nvPicPr>
          <p:cNvPr id="15" name="Image 2" descr="preencoded.png">    </p:cNvPr>
          <p:cNvPicPr>
            <a:picLocks noChangeAspect="1"/>
          </p:cNvPicPr>
          <p:nvPr/>
        </p:nvPicPr>
        <p:blipFill>
          <a:blip r:embed="rId3"/>
          <a:stretch>
            <a:fillRect/>
          </a:stretch>
        </p:blipFill>
        <p:spPr>
          <a:xfrm>
            <a:off x="850392" y="2660904"/>
            <a:ext cx="274320" cy="274320"/>
          </a:xfrm>
          <a:prstGeom prst="rect">
            <a:avLst/>
          </a:prstGeom>
        </p:spPr>
      </p:pic>
      <p:sp>
        <p:nvSpPr>
          <p:cNvPr id="16" name="Text 11"/>
          <p:cNvSpPr txBox="1"/>
          <p:nvPr/>
        </p:nvSpPr>
        <p:spPr>
          <a:xfrm>
            <a:off x="1417320" y="2404872"/>
            <a:ext cx="1737360" cy="777240"/>
          </a:xfrm>
          <a:prstGeom prst="rect">
            <a:avLst/>
          </a:prstGeom>
          <a:noFill/>
          <a:ln/>
        </p:spPr>
        <p:txBody>
          <a:bodyPr wrap="square" lIns="0" tIns="0" rIns="0" bIns="0" rtlCol="0" anchor="ctr"/>
          <a:lstStyle/>
          <a:p>
            <a:pPr indent="0" marL="0">
              <a:buNone/>
            </a:pPr>
            <a:r>
              <a:rPr lang="en-US" sz="1400" b="1" dirty="0">
                <a:solidFill>
                  <a:srgbClr val="0A032B"/>
                </a:solidFill>
                <a:latin typeface="Montserrat" pitchFamily="34" charset="0"/>
                <a:ea typeface="Montserrat" pitchFamily="34" charset="-122"/>
                <a:cs typeface="Montserrat" pitchFamily="34" charset="-120"/>
              </a:rPr>
              <a:t>La tâche</a:t>
            </a:r>
            <a:endParaRPr lang="en-US" sz="1400" dirty="0"/>
          </a:p>
        </p:txBody>
      </p:sp>
      <p:sp>
        <p:nvSpPr>
          <p:cNvPr id="17" name="Text 12"/>
          <p:cNvSpPr txBox="1"/>
          <p:nvPr/>
        </p:nvSpPr>
        <p:spPr>
          <a:xfrm>
            <a:off x="3154680" y="2404872"/>
            <a:ext cx="4206240" cy="777240"/>
          </a:xfrm>
          <a:prstGeom prst="rect">
            <a:avLst/>
          </a:prstGeom>
          <a:noFill/>
          <a:ln/>
        </p:spPr>
        <p:txBody>
          <a:bodyPr wrap="square" lIns="0" tIns="0" rIns="0" bIns="0" rtlCol="0" anchor="ctr"/>
          <a:lstStyle/>
          <a:p>
            <a:pPr indent="0" marL="0">
              <a:buNone/>
            </a:pPr>
            <a:r>
              <a:rPr lang="en-US" sz="1250" dirty="0">
                <a:solidFill>
                  <a:srgbClr val="35305C"/>
                </a:solidFill>
                <a:latin typeface="Arial" pitchFamily="34" charset="0"/>
                <a:ea typeface="Arial" pitchFamily="34" charset="-122"/>
                <a:cs typeface="Arial" pitchFamily="34" charset="-120"/>
              </a:rPr>
              <a:t>Hauteur de prise et de dépose, distance, fréquence, torsion, bras levés ?</a:t>
            </a:r>
            <a:endParaRPr lang="en-US" sz="1250" dirty="0"/>
          </a:p>
        </p:txBody>
      </p:sp>
      <p:sp>
        <p:nvSpPr>
          <p:cNvPr id="18" name="Shape 13"/>
          <p:cNvSpPr/>
          <p:nvPr/>
        </p:nvSpPr>
        <p:spPr>
          <a:xfrm>
            <a:off x="548640" y="3300984"/>
            <a:ext cx="6949440" cy="777240"/>
          </a:xfrm>
          <a:prstGeom prst="roundRect">
            <a:avLst>
              <a:gd name="adj" fmla="val 9412"/>
            </a:avLst>
          </a:prstGeom>
          <a:solidFill>
            <a:srgbClr val="EEEDF5"/>
          </a:solidFill>
          <a:ln w="12700">
            <a:solidFill>
              <a:srgbClr val="EEEDF5"/>
            </a:solidFill>
            <a:prstDash val="solid"/>
          </a:ln>
        </p:spPr>
      </p:sp>
      <p:sp>
        <p:nvSpPr>
          <p:cNvPr id="19" name="Shape 14"/>
          <p:cNvSpPr/>
          <p:nvPr/>
        </p:nvSpPr>
        <p:spPr>
          <a:xfrm>
            <a:off x="713232" y="3419856"/>
            <a:ext cx="548640" cy="548640"/>
          </a:xfrm>
          <a:prstGeom prst="ellipse">
            <a:avLst/>
          </a:prstGeom>
          <a:solidFill>
            <a:srgbClr val="0A032B"/>
          </a:solidFill>
          <a:ln w="12700">
            <a:solidFill>
              <a:srgbClr val="0A032B"/>
            </a:solidFill>
            <a:prstDash val="solid"/>
          </a:ln>
        </p:spPr>
      </p:sp>
      <p:pic>
        <p:nvPicPr>
          <p:cNvPr id="20" name="Image 3" descr="preencoded.png">    </p:cNvPr>
          <p:cNvPicPr>
            <a:picLocks noChangeAspect="1"/>
          </p:cNvPicPr>
          <p:nvPr/>
        </p:nvPicPr>
        <p:blipFill>
          <a:blip r:embed="rId4"/>
          <a:stretch>
            <a:fillRect/>
          </a:stretch>
        </p:blipFill>
        <p:spPr>
          <a:xfrm>
            <a:off x="850392" y="3557016"/>
            <a:ext cx="274320" cy="274320"/>
          </a:xfrm>
          <a:prstGeom prst="rect">
            <a:avLst/>
          </a:prstGeom>
        </p:spPr>
      </p:pic>
      <p:sp>
        <p:nvSpPr>
          <p:cNvPr id="21" name="Text 15"/>
          <p:cNvSpPr txBox="1"/>
          <p:nvPr/>
        </p:nvSpPr>
        <p:spPr>
          <a:xfrm>
            <a:off x="1417320" y="3300984"/>
            <a:ext cx="1737360" cy="777240"/>
          </a:xfrm>
          <a:prstGeom prst="rect">
            <a:avLst/>
          </a:prstGeom>
          <a:noFill/>
          <a:ln/>
        </p:spPr>
        <p:txBody>
          <a:bodyPr wrap="square" lIns="0" tIns="0" rIns="0" bIns="0" rtlCol="0" anchor="ctr"/>
          <a:lstStyle/>
          <a:p>
            <a:pPr indent="0" marL="0">
              <a:buNone/>
            </a:pPr>
            <a:r>
              <a:rPr lang="en-US" sz="1400" b="1" dirty="0">
                <a:solidFill>
                  <a:srgbClr val="0A032B"/>
                </a:solidFill>
                <a:latin typeface="Montserrat" pitchFamily="34" charset="0"/>
                <a:ea typeface="Montserrat" pitchFamily="34" charset="-122"/>
                <a:cs typeface="Montserrat" pitchFamily="34" charset="-120"/>
              </a:rPr>
              <a:t>L'environnement</a:t>
            </a:r>
            <a:endParaRPr lang="en-US" sz="1400" dirty="0"/>
          </a:p>
        </p:txBody>
      </p:sp>
      <p:sp>
        <p:nvSpPr>
          <p:cNvPr id="22" name="Text 16"/>
          <p:cNvSpPr txBox="1"/>
          <p:nvPr/>
        </p:nvSpPr>
        <p:spPr>
          <a:xfrm>
            <a:off x="3154680" y="3300984"/>
            <a:ext cx="4206240" cy="777240"/>
          </a:xfrm>
          <a:prstGeom prst="rect">
            <a:avLst/>
          </a:prstGeom>
          <a:noFill/>
          <a:ln/>
        </p:spPr>
        <p:txBody>
          <a:bodyPr wrap="square" lIns="0" tIns="0" rIns="0" bIns="0" rtlCol="0" anchor="ctr"/>
          <a:lstStyle/>
          <a:p>
            <a:pPr indent="0" marL="0">
              <a:buNone/>
            </a:pPr>
            <a:r>
              <a:rPr lang="en-US" sz="1250" dirty="0">
                <a:solidFill>
                  <a:srgbClr val="35305C"/>
                </a:solidFill>
                <a:latin typeface="Arial" pitchFamily="34" charset="0"/>
                <a:ea typeface="Arial" pitchFamily="34" charset="-122"/>
                <a:cs typeface="Arial" pitchFamily="34" charset="-120"/>
              </a:rPr>
              <a:t>Escaliers, marches, sol glissant ou irrégulier, encombrement, éclairage, météo ?</a:t>
            </a:r>
            <a:endParaRPr lang="en-US" sz="1250" dirty="0"/>
          </a:p>
        </p:txBody>
      </p:sp>
      <p:sp>
        <p:nvSpPr>
          <p:cNvPr id="23" name="Shape 17"/>
          <p:cNvSpPr/>
          <p:nvPr/>
        </p:nvSpPr>
        <p:spPr>
          <a:xfrm>
            <a:off x="548640" y="4197096"/>
            <a:ext cx="6949440" cy="777240"/>
          </a:xfrm>
          <a:prstGeom prst="roundRect">
            <a:avLst>
              <a:gd name="adj" fmla="val 9412"/>
            </a:avLst>
          </a:prstGeom>
          <a:solidFill>
            <a:srgbClr val="EEEDF5"/>
          </a:solidFill>
          <a:ln w="12700">
            <a:solidFill>
              <a:srgbClr val="EEEDF5"/>
            </a:solidFill>
            <a:prstDash val="solid"/>
          </a:ln>
        </p:spPr>
      </p:sp>
      <p:sp>
        <p:nvSpPr>
          <p:cNvPr id="24" name="Shape 18"/>
          <p:cNvSpPr/>
          <p:nvPr/>
        </p:nvSpPr>
        <p:spPr>
          <a:xfrm>
            <a:off x="713232" y="4315968"/>
            <a:ext cx="548640" cy="548640"/>
          </a:xfrm>
          <a:prstGeom prst="ellipse">
            <a:avLst/>
          </a:prstGeom>
          <a:solidFill>
            <a:srgbClr val="0A032B"/>
          </a:solidFill>
          <a:ln w="12700">
            <a:solidFill>
              <a:srgbClr val="0A032B"/>
            </a:solidFill>
            <a:prstDash val="solid"/>
          </a:ln>
        </p:spPr>
      </p:sp>
      <p:pic>
        <p:nvPicPr>
          <p:cNvPr id="25" name="Image 4" descr="preencoded.png">    </p:cNvPr>
          <p:cNvPicPr>
            <a:picLocks noChangeAspect="1"/>
          </p:cNvPicPr>
          <p:nvPr/>
        </p:nvPicPr>
        <p:blipFill>
          <a:blip r:embed="rId5"/>
          <a:stretch>
            <a:fillRect/>
          </a:stretch>
        </p:blipFill>
        <p:spPr>
          <a:xfrm>
            <a:off x="850392" y="4453128"/>
            <a:ext cx="274320" cy="274320"/>
          </a:xfrm>
          <a:prstGeom prst="rect">
            <a:avLst/>
          </a:prstGeom>
        </p:spPr>
      </p:pic>
      <p:sp>
        <p:nvSpPr>
          <p:cNvPr id="26" name="Text 19"/>
          <p:cNvSpPr txBox="1"/>
          <p:nvPr/>
        </p:nvSpPr>
        <p:spPr>
          <a:xfrm>
            <a:off x="1417320" y="4197096"/>
            <a:ext cx="1737360" cy="777240"/>
          </a:xfrm>
          <a:prstGeom prst="rect">
            <a:avLst/>
          </a:prstGeom>
          <a:noFill/>
          <a:ln/>
        </p:spPr>
        <p:txBody>
          <a:bodyPr wrap="square" lIns="0" tIns="0" rIns="0" bIns="0" rtlCol="0" anchor="ctr"/>
          <a:lstStyle/>
          <a:p>
            <a:pPr indent="0" marL="0">
              <a:buNone/>
            </a:pPr>
            <a:r>
              <a:rPr lang="en-US" sz="1400" b="1" dirty="0">
                <a:solidFill>
                  <a:srgbClr val="0A032B"/>
                </a:solidFill>
                <a:latin typeface="Montserrat" pitchFamily="34" charset="0"/>
                <a:ea typeface="Montserrat" pitchFamily="34" charset="-122"/>
                <a:cs typeface="Montserrat" pitchFamily="34" charset="-120"/>
              </a:rPr>
              <a:t>L'organisation</a:t>
            </a:r>
            <a:endParaRPr lang="en-US" sz="1400" dirty="0"/>
          </a:p>
        </p:txBody>
      </p:sp>
      <p:sp>
        <p:nvSpPr>
          <p:cNvPr id="27" name="Text 20"/>
          <p:cNvSpPr txBox="1"/>
          <p:nvPr/>
        </p:nvSpPr>
        <p:spPr>
          <a:xfrm>
            <a:off x="3154680" y="4197096"/>
            <a:ext cx="4206240" cy="777240"/>
          </a:xfrm>
          <a:prstGeom prst="rect">
            <a:avLst/>
          </a:prstGeom>
          <a:noFill/>
          <a:ln/>
        </p:spPr>
        <p:txBody>
          <a:bodyPr wrap="square" lIns="0" tIns="0" rIns="0" bIns="0" rtlCol="0" anchor="ctr"/>
          <a:lstStyle/>
          <a:p>
            <a:pPr indent="0" marL="0">
              <a:buNone/>
            </a:pPr>
            <a:r>
              <a:rPr lang="en-US" sz="1250" dirty="0">
                <a:solidFill>
                  <a:srgbClr val="35305C"/>
                </a:solidFill>
                <a:latin typeface="Arial" pitchFamily="34" charset="0"/>
                <a:ea typeface="Arial" pitchFamily="34" charset="-122"/>
                <a:cs typeface="Arial" pitchFamily="34" charset="-120"/>
              </a:rPr>
              <a:t>Délais, nombre de personnes, aides disponibles, pauses, coordination ?</a:t>
            </a:r>
            <a:endParaRPr lang="en-US" sz="1250" dirty="0"/>
          </a:p>
        </p:txBody>
      </p:sp>
      <p:sp>
        <p:nvSpPr>
          <p:cNvPr id="28" name="Shape 21"/>
          <p:cNvSpPr/>
          <p:nvPr/>
        </p:nvSpPr>
        <p:spPr>
          <a:xfrm>
            <a:off x="548640" y="5093208"/>
            <a:ext cx="6949440" cy="777240"/>
          </a:xfrm>
          <a:prstGeom prst="roundRect">
            <a:avLst>
              <a:gd name="adj" fmla="val 9412"/>
            </a:avLst>
          </a:prstGeom>
          <a:solidFill>
            <a:srgbClr val="EEEDF5"/>
          </a:solidFill>
          <a:ln w="12700">
            <a:solidFill>
              <a:srgbClr val="EEEDF5"/>
            </a:solidFill>
            <a:prstDash val="solid"/>
          </a:ln>
        </p:spPr>
      </p:sp>
      <p:sp>
        <p:nvSpPr>
          <p:cNvPr id="29" name="Shape 22"/>
          <p:cNvSpPr/>
          <p:nvPr/>
        </p:nvSpPr>
        <p:spPr>
          <a:xfrm>
            <a:off x="713232" y="5212080"/>
            <a:ext cx="548640" cy="548640"/>
          </a:xfrm>
          <a:prstGeom prst="ellipse">
            <a:avLst/>
          </a:prstGeom>
          <a:solidFill>
            <a:srgbClr val="0A032B"/>
          </a:solidFill>
          <a:ln w="12700">
            <a:solidFill>
              <a:srgbClr val="0A032B"/>
            </a:solidFill>
            <a:prstDash val="solid"/>
          </a:ln>
        </p:spPr>
      </p:sp>
      <p:pic>
        <p:nvPicPr>
          <p:cNvPr id="30" name="Image 5" descr="preencoded.png">    </p:cNvPr>
          <p:cNvPicPr>
            <a:picLocks noChangeAspect="1"/>
          </p:cNvPicPr>
          <p:nvPr/>
        </p:nvPicPr>
        <p:blipFill>
          <a:blip r:embed="rId6"/>
          <a:stretch>
            <a:fillRect/>
          </a:stretch>
        </p:blipFill>
        <p:spPr>
          <a:xfrm>
            <a:off x="850392" y="5349240"/>
            <a:ext cx="274320" cy="274320"/>
          </a:xfrm>
          <a:prstGeom prst="rect">
            <a:avLst/>
          </a:prstGeom>
        </p:spPr>
      </p:pic>
      <p:sp>
        <p:nvSpPr>
          <p:cNvPr id="31" name="Text 23"/>
          <p:cNvSpPr txBox="1"/>
          <p:nvPr/>
        </p:nvSpPr>
        <p:spPr>
          <a:xfrm>
            <a:off x="1417320" y="5093208"/>
            <a:ext cx="1737360" cy="777240"/>
          </a:xfrm>
          <a:prstGeom prst="rect">
            <a:avLst/>
          </a:prstGeom>
          <a:noFill/>
          <a:ln/>
        </p:spPr>
        <p:txBody>
          <a:bodyPr wrap="square" lIns="0" tIns="0" rIns="0" bIns="0" rtlCol="0" anchor="ctr"/>
          <a:lstStyle/>
          <a:p>
            <a:pPr indent="0" marL="0">
              <a:buNone/>
            </a:pPr>
            <a:r>
              <a:rPr lang="en-US" sz="1400" b="1" dirty="0">
                <a:solidFill>
                  <a:srgbClr val="0A032B"/>
                </a:solidFill>
                <a:latin typeface="Montserrat" pitchFamily="34" charset="0"/>
                <a:ea typeface="Montserrat" pitchFamily="34" charset="-122"/>
                <a:cs typeface="Montserrat" pitchFamily="34" charset="-120"/>
              </a:rPr>
              <a:t>La personne</a:t>
            </a:r>
            <a:endParaRPr lang="en-US" sz="1400" dirty="0"/>
          </a:p>
        </p:txBody>
      </p:sp>
      <p:sp>
        <p:nvSpPr>
          <p:cNvPr id="32" name="Text 24"/>
          <p:cNvSpPr txBox="1"/>
          <p:nvPr/>
        </p:nvSpPr>
        <p:spPr>
          <a:xfrm>
            <a:off x="3154680" y="5093208"/>
            <a:ext cx="4206240" cy="777240"/>
          </a:xfrm>
          <a:prstGeom prst="rect">
            <a:avLst/>
          </a:prstGeom>
          <a:noFill/>
          <a:ln/>
        </p:spPr>
        <p:txBody>
          <a:bodyPr wrap="square" lIns="0" tIns="0" rIns="0" bIns="0" rtlCol="0" anchor="ctr"/>
          <a:lstStyle/>
          <a:p>
            <a:pPr indent="0" marL="0">
              <a:buNone/>
            </a:pPr>
            <a:r>
              <a:rPr lang="en-US" sz="1250" dirty="0">
                <a:solidFill>
                  <a:srgbClr val="35305C"/>
                </a:solidFill>
                <a:latin typeface="Arial" pitchFamily="34" charset="0"/>
                <a:ea typeface="Arial" pitchFamily="34" charset="-122"/>
                <a:cs typeface="Arial" pitchFamily="34" charset="-120"/>
              </a:rPr>
              <a:t>Condition physique, fatigue, tenue, chaussures, formation ?</a:t>
            </a:r>
            <a:endParaRPr lang="en-US" sz="1250" dirty="0"/>
          </a:p>
        </p:txBody>
      </p:sp>
      <p:sp>
        <p:nvSpPr>
          <p:cNvPr id="33" name="Shape 25"/>
          <p:cNvSpPr/>
          <p:nvPr/>
        </p:nvSpPr>
        <p:spPr>
          <a:xfrm>
            <a:off x="7772400" y="1508760"/>
            <a:ext cx="3870655" cy="4361688"/>
          </a:xfrm>
          <a:prstGeom prst="roundRect">
            <a:avLst>
              <a:gd name="adj" fmla="val 1890"/>
            </a:avLst>
          </a:prstGeom>
          <a:solidFill>
            <a:srgbClr val="0A032B"/>
          </a:solidFill>
          <a:ln w="12700">
            <a:solidFill>
              <a:srgbClr val="0A032B"/>
            </a:solidFill>
            <a:prstDash val="solid"/>
          </a:ln>
        </p:spPr>
      </p:sp>
      <p:sp>
        <p:nvSpPr>
          <p:cNvPr id="34" name="Text 26"/>
          <p:cNvSpPr txBox="1"/>
          <p:nvPr/>
        </p:nvSpPr>
        <p:spPr>
          <a:xfrm>
            <a:off x="8046720" y="1691640"/>
            <a:ext cx="3322015" cy="411480"/>
          </a:xfrm>
          <a:prstGeom prst="rect">
            <a:avLst/>
          </a:prstGeom>
          <a:noFill/>
          <a:ln/>
        </p:spPr>
        <p:txBody>
          <a:bodyPr wrap="square" lIns="0" tIns="0" rIns="0" bIns="0" rtlCol="0" anchor="ctr"/>
          <a:lstStyle/>
          <a:p>
            <a:pPr indent="0" marL="0">
              <a:buNone/>
            </a:pPr>
            <a:r>
              <a:rPr lang="en-US" sz="1600" b="1" dirty="0">
                <a:solidFill>
                  <a:srgbClr val="F0EF96"/>
                </a:solidFill>
                <a:latin typeface="Montserrat" pitchFamily="34" charset="0"/>
                <a:ea typeface="Montserrat" pitchFamily="34" charset="-122"/>
                <a:cs typeface="Montserrat" pitchFamily="34" charset="-120"/>
              </a:rPr>
              <a:t>Repères réglementaires</a:t>
            </a:r>
            <a:endParaRPr lang="en-US" sz="1600" dirty="0"/>
          </a:p>
        </p:txBody>
      </p:sp>
      <p:sp>
        <p:nvSpPr>
          <p:cNvPr id="35" name="Text 27"/>
          <p:cNvSpPr txBox="1"/>
          <p:nvPr/>
        </p:nvSpPr>
        <p:spPr>
          <a:xfrm>
            <a:off x="8046720" y="2194560"/>
            <a:ext cx="3322015" cy="3474720"/>
          </a:xfrm>
          <a:prstGeom prst="rect">
            <a:avLst/>
          </a:prstGeom>
          <a:noFill/>
          <a:ln/>
        </p:spPr>
        <p:txBody>
          <a:bodyPr wrap="square" lIns="0" tIns="0" rIns="0" bIns="0" rtlCol="0" anchor="t"/>
          <a:lstStyle/>
          <a:p>
            <a:pPr indent="0" marL="0">
              <a:spcAft>
                <a:spcPts val="600"/>
              </a:spcAft>
              <a:buNone/>
            </a:pPr>
            <a:r>
              <a:rPr lang="en-US" sz="1300" b="1" dirty="0">
                <a:solidFill>
                  <a:srgbClr val="FFFFFF"/>
                </a:solidFill>
                <a:latin typeface="Arial" pitchFamily="34" charset="0"/>
                <a:ea typeface="Arial" pitchFamily="34" charset="-122"/>
                <a:cs typeface="Arial" pitchFamily="34" charset="-120"/>
              </a:rPr>
              <a:t>Article R.4541-9 du Code du travail</a:t>
            </a:r>
            <a:endParaRPr lang="en-US" sz="1300" dirty="0"/>
          </a:p>
          <a:p>
            <a:pPr indent="0" marL="0">
              <a:spcAft>
                <a:spcPts val="600"/>
              </a:spcAft>
              <a:buNone/>
            </a:pPr>
            <a:r>
              <a:rPr lang="en-US" sz="1300" dirty="0">
                <a:solidFill>
                  <a:srgbClr val="DCDAEA"/>
                </a:solidFill>
                <a:latin typeface="Arial" pitchFamily="34" charset="0"/>
                <a:ea typeface="Arial" pitchFamily="34" charset="-122"/>
                <a:cs typeface="Arial" pitchFamily="34" charset="-120"/>
              </a:rPr>
              <a:t>Un homme ne peut porter habituellement plus de 55 kg sans aptitude médicale reconnue, et jamais plus de 105 kg.</a:t>
            </a:r>
            <a:endParaRPr lang="en-US" sz="1300" dirty="0"/>
          </a:p>
          <a:p>
            <a:pPr indent="0" marL="0">
              <a:spcAft>
                <a:spcPts val="600"/>
              </a:spcAft>
              <a:buNone/>
            </a:pPr>
            <a:r>
              <a:rPr lang="en-US" sz="1300" dirty="0">
                <a:solidFill>
                  <a:srgbClr val="DCDAEA"/>
                </a:solidFill>
                <a:latin typeface="Arial" pitchFamily="34" charset="0"/>
                <a:ea typeface="Arial" pitchFamily="34" charset="-122"/>
                <a:cs typeface="Arial" pitchFamily="34" charset="-120"/>
              </a:rPr>
              <a:t>Une femme ne peut porter plus de 25 kg.</a:t>
            </a:r>
            <a:endParaRPr lang="en-US" sz="1300" dirty="0"/>
          </a:p>
          <a:p>
            <a:pPr indent="0" marL="0">
              <a:spcAft>
                <a:spcPts val="600"/>
              </a:spcAft>
              <a:buNone/>
            </a:pPr>
            <a:r>
              <a:rPr lang="en-US" sz="1300" dirty="0">
                <a:solidFill>
                  <a:srgbClr val="000000"/>
                </a:solidFill>
                <a:latin typeface="Arial" pitchFamily="34" charset="0"/>
                <a:ea typeface="Arial" pitchFamily="34" charset="-122"/>
                <a:cs typeface="Arial" pitchFamily="34" charset="-120"/>
              </a:rPr>
              <a:t> </a:t>
            </a:r>
            <a:endParaRPr lang="en-US" sz="1300" dirty="0"/>
          </a:p>
          <a:p>
            <a:pPr indent="0" marL="0">
              <a:spcAft>
                <a:spcPts val="600"/>
              </a:spcAft>
              <a:buNone/>
            </a:pPr>
            <a:r>
              <a:rPr lang="en-US" sz="1300" b="1" dirty="0">
                <a:solidFill>
                  <a:srgbClr val="F0EF96"/>
                </a:solidFill>
                <a:latin typeface="Arial" pitchFamily="34" charset="0"/>
                <a:ea typeface="Arial" pitchFamily="34" charset="-122"/>
                <a:cs typeface="Arial" pitchFamily="34" charset="-120"/>
              </a:rPr>
              <a:t>Ces valeurs sont des maxima légaux, pas des objectifs : </a:t>
            </a:r>
            <a:pPr indent="0" marL="0">
              <a:spcAft>
                <a:spcPts val="600"/>
              </a:spcAft>
              <a:buNone/>
            </a:pPr>
            <a:r>
              <a:rPr lang="en-US" sz="1300" dirty="0">
                <a:solidFill>
                  <a:srgbClr val="FFFFFF"/>
                </a:solidFill>
                <a:latin typeface="Arial" pitchFamily="34" charset="0"/>
                <a:ea typeface="Arial" pitchFamily="34" charset="-122"/>
                <a:cs typeface="Arial" pitchFamily="34" charset="-120"/>
              </a:rPr>
              <a:t>le risque apparaît bien avant, selon la fréquence, la distance et la posture.</a:t>
            </a:r>
            <a:endParaRPr lang="en-US" sz="1300" dirty="0"/>
          </a:p>
        </p:txBody>
      </p:sp>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235440" cy="685800"/>
          </a:xfrm>
          <a:prstGeom prst="rect">
            <a:avLst/>
          </a:prstGeom>
          <a:noFill/>
          <a:ln/>
        </p:spPr>
        <p:txBody>
          <a:bodyPr wrap="square" lIns="0" tIns="0" rIns="0" bIns="0" rtlCol="0" anchor="ctr"/>
          <a:lstStyle/>
          <a:p>
            <a:pPr indent="0" marL="0">
              <a:buNone/>
            </a:pPr>
            <a:r>
              <a:rPr lang="en-US" sz="2800" b="1" dirty="0">
                <a:solidFill>
                  <a:srgbClr val="0A032B"/>
                </a:solidFill>
                <a:latin typeface="Montserrat" pitchFamily="34" charset="0"/>
                <a:ea typeface="Montserrat" pitchFamily="34" charset="-122"/>
                <a:cs typeface="Montserrat" pitchFamily="34" charset="-120"/>
              </a:rPr>
              <a:t>Hiérarchiser : la méthode du feu tricolore</a:t>
            </a:r>
            <a:endParaRPr lang="en-US" sz="2800" dirty="0"/>
          </a:p>
        </p:txBody>
      </p:sp>
      <p:sp>
        <p:nvSpPr>
          <p:cNvPr id="3" name="Text 1"/>
          <p:cNvSpPr txBox="1"/>
          <p:nvPr/>
        </p:nvSpPr>
        <p:spPr>
          <a:xfrm>
            <a:off x="548640" y="1024128"/>
            <a:ext cx="9235440" cy="365760"/>
          </a:xfrm>
          <a:prstGeom prst="rect">
            <a:avLst/>
          </a:prstGeom>
          <a:noFill/>
          <a:ln/>
        </p:spPr>
        <p:txBody>
          <a:bodyPr wrap="square" lIns="0" tIns="0" rIns="0" bIns="0" rtlCol="0" anchor="ctr"/>
          <a:lstStyle/>
          <a:p>
            <a:pPr indent="0" marL="0">
              <a:buNone/>
            </a:pPr>
            <a:r>
              <a:rPr lang="en-US" sz="1400" i="1" dirty="0">
                <a:solidFill>
                  <a:srgbClr val="5E5A78"/>
                </a:solidFill>
                <a:latin typeface="Arial" pitchFamily="34" charset="0"/>
                <a:ea typeface="Arial" pitchFamily="34" charset="-122"/>
                <a:cs typeface="Arial" pitchFamily="34" charset="-120"/>
              </a:rPr>
              <a:t>Trois niveaux pour décider où agir en premier</a:t>
            </a:r>
            <a:endParaRPr lang="en-US" sz="1400" dirty="0"/>
          </a:p>
        </p:txBody>
      </p:sp>
      <p:sp>
        <p:nvSpPr>
          <p:cNvPr id="4" name="Shape 2"/>
          <p:cNvSpPr/>
          <p:nvPr/>
        </p:nvSpPr>
        <p:spPr>
          <a:xfrm>
            <a:off x="10042855" y="530352"/>
            <a:ext cx="1600200" cy="347472"/>
          </a:xfrm>
          <a:prstGeom prst="roundRect">
            <a:avLst>
              <a:gd name="adj" fmla="val 50000"/>
            </a:avLst>
          </a:prstGeom>
          <a:solidFill>
            <a:srgbClr val="0A032B"/>
          </a:solidFill>
          <a:ln w="12700">
            <a:solidFill>
              <a:srgbClr val="0A032B"/>
            </a:solidFill>
            <a:prstDash val="solid"/>
          </a:ln>
        </p:spPr>
      </p:sp>
      <p:sp>
        <p:nvSpPr>
          <p:cNvPr id="5" name="Text 3"/>
          <p:cNvSpPr txBox="1"/>
          <p:nvPr/>
        </p:nvSpPr>
        <p:spPr>
          <a:xfrm>
            <a:off x="10042855" y="530352"/>
            <a:ext cx="1600200" cy="347472"/>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Montserrat" pitchFamily="34" charset="0"/>
                <a:ea typeface="Montserrat" pitchFamily="34" charset="-122"/>
                <a:cs typeface="Montserrat" pitchFamily="34" charset="-120"/>
              </a:rPr>
              <a:t>THÉORIE</a:t>
            </a:r>
            <a:endParaRPr lang="en-US" sz="1100" dirty="0"/>
          </a:p>
        </p:txBody>
      </p:sp>
      <p:sp>
        <p:nvSpPr>
          <p:cNvPr id="6" name="Text 4"/>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5E5A78"/>
                </a:solidFill>
                <a:latin typeface="Arial" pitchFamily="34" charset="0"/>
                <a:ea typeface="Arial" pitchFamily="34" charset="-122"/>
                <a:cs typeface="Arial" pitchFamily="34" charset="-120"/>
              </a:rPr>
              <a:t>Gestes et postures de l'élu  ·  Séquence 2</a:t>
            </a:r>
            <a:endParaRPr lang="en-US" sz="900" dirty="0"/>
          </a:p>
        </p:txBody>
      </p:sp>
      <p:pic>
        <p:nvPicPr>
          <p:cNvPr id="7" name="Image 0" descr="logo_light.png">    </p:cNvPr>
          <p:cNvPicPr>
            <a:picLocks noChangeAspect="1"/>
          </p:cNvPicPr>
          <p:nvPr/>
        </p:nvPicPr>
        <p:blipFill>
          <a:blip r:embed="rId1"/>
          <a:stretch>
            <a:fillRect/>
          </a:stretch>
        </p:blipFill>
        <p:spPr>
          <a:xfrm>
            <a:off x="10682935" y="6236208"/>
            <a:ext cx="960120" cy="398441"/>
          </a:xfrm>
          <a:prstGeom prst="rect">
            <a:avLst/>
          </a:prstGeom>
        </p:spPr>
      </p:pic>
      <p:sp>
        <p:nvSpPr>
          <p:cNvPr id="8" name="Shape 5"/>
          <p:cNvSpPr/>
          <p:nvPr/>
        </p:nvSpPr>
        <p:spPr>
          <a:xfrm>
            <a:off x="548640" y="1554480"/>
            <a:ext cx="3515258" cy="4480560"/>
          </a:xfrm>
          <a:prstGeom prst="roundRect">
            <a:avLst>
              <a:gd name="adj" fmla="val 2081"/>
            </a:avLst>
          </a:prstGeom>
          <a:solidFill>
            <a:srgbClr val="EEEDF5"/>
          </a:solidFill>
          <a:ln w="12700">
            <a:solidFill>
              <a:srgbClr val="EEEDF5"/>
            </a:solidFill>
            <a:prstDash val="solid"/>
          </a:ln>
        </p:spPr>
      </p:sp>
      <p:sp>
        <p:nvSpPr>
          <p:cNvPr id="9" name="Shape 6"/>
          <p:cNvSpPr/>
          <p:nvPr/>
        </p:nvSpPr>
        <p:spPr>
          <a:xfrm>
            <a:off x="1803349" y="1828800"/>
            <a:ext cx="1005840" cy="1005840"/>
          </a:xfrm>
          <a:prstGeom prst="ellipse">
            <a:avLst/>
          </a:prstGeom>
          <a:solidFill>
            <a:srgbClr val="B3261E"/>
          </a:solidFill>
          <a:ln w="12700">
            <a:solidFill>
              <a:srgbClr val="B3261E"/>
            </a:solidFill>
            <a:prstDash val="solid"/>
          </a:ln>
        </p:spPr>
      </p:sp>
      <p:sp>
        <p:nvSpPr>
          <p:cNvPr id="10" name="Text 7"/>
          <p:cNvSpPr txBox="1"/>
          <p:nvPr/>
        </p:nvSpPr>
        <p:spPr>
          <a:xfrm>
            <a:off x="731520" y="3017520"/>
            <a:ext cx="3149498" cy="457200"/>
          </a:xfrm>
          <a:prstGeom prst="rect">
            <a:avLst/>
          </a:prstGeom>
          <a:noFill/>
          <a:ln/>
        </p:spPr>
        <p:txBody>
          <a:bodyPr wrap="square" lIns="0" tIns="0" rIns="0" bIns="0" rtlCol="0" anchor="ctr"/>
          <a:lstStyle/>
          <a:p>
            <a:pPr algn="ctr" indent="0" marL="0">
              <a:buNone/>
            </a:pPr>
            <a:r>
              <a:rPr lang="en-US" sz="1800" b="1" dirty="0">
                <a:solidFill>
                  <a:srgbClr val="0A032B"/>
                </a:solidFill>
                <a:latin typeface="Montserrat" pitchFamily="34" charset="0"/>
                <a:ea typeface="Montserrat" pitchFamily="34" charset="-122"/>
                <a:cs typeface="Montserrat" pitchFamily="34" charset="-120"/>
              </a:rPr>
              <a:t>À traiter en priorité</a:t>
            </a:r>
            <a:endParaRPr lang="en-US" sz="1800" dirty="0"/>
          </a:p>
        </p:txBody>
      </p:sp>
      <p:sp>
        <p:nvSpPr>
          <p:cNvPr id="11" name="Text 8"/>
          <p:cNvSpPr txBox="1"/>
          <p:nvPr/>
        </p:nvSpPr>
        <p:spPr>
          <a:xfrm>
            <a:off x="822960" y="3566160"/>
            <a:ext cx="2966618" cy="1280160"/>
          </a:xfrm>
          <a:prstGeom prst="rect">
            <a:avLst/>
          </a:prstGeom>
          <a:noFill/>
          <a:ln/>
        </p:spPr>
        <p:txBody>
          <a:bodyPr wrap="square" lIns="0" tIns="0" rIns="0" bIns="0" rtlCol="0" anchor="t"/>
          <a:lstStyle/>
          <a:p>
            <a:pPr indent="0" marL="0">
              <a:buNone/>
            </a:pPr>
            <a:r>
              <a:rPr lang="en-US" sz="1300" dirty="0">
                <a:solidFill>
                  <a:srgbClr val="35305C"/>
                </a:solidFill>
                <a:latin typeface="Arial" pitchFamily="34" charset="0"/>
                <a:ea typeface="Arial" pitchFamily="34" charset="-122"/>
                <a:cs typeface="Arial" pitchFamily="34" charset="-120"/>
              </a:rPr>
              <a:t>Charge lourde ou encombrante, portée seul, dans l'urgence, avec obstacles ou escaliers, sans aide technique.</a:t>
            </a:r>
            <a:endParaRPr lang="en-US" sz="1300" dirty="0"/>
          </a:p>
        </p:txBody>
      </p:sp>
      <p:sp>
        <p:nvSpPr>
          <p:cNvPr id="12" name="Shape 9"/>
          <p:cNvSpPr/>
          <p:nvPr/>
        </p:nvSpPr>
        <p:spPr>
          <a:xfrm>
            <a:off x="731520" y="4983480"/>
            <a:ext cx="3149498" cy="868680"/>
          </a:xfrm>
          <a:prstGeom prst="roundRect">
            <a:avLst>
              <a:gd name="adj" fmla="val 6316"/>
            </a:avLst>
          </a:prstGeom>
          <a:solidFill>
            <a:srgbClr val="FFFFFF"/>
          </a:solidFill>
          <a:ln w="12700">
            <a:solidFill>
              <a:srgbClr val="FFFFFF"/>
            </a:solidFill>
            <a:prstDash val="solid"/>
          </a:ln>
        </p:spPr>
      </p:sp>
      <p:sp>
        <p:nvSpPr>
          <p:cNvPr id="13" name="Text 10"/>
          <p:cNvSpPr txBox="1"/>
          <p:nvPr/>
        </p:nvSpPr>
        <p:spPr>
          <a:xfrm>
            <a:off x="868680" y="4983480"/>
            <a:ext cx="2875178" cy="868680"/>
          </a:xfrm>
          <a:prstGeom prst="rect">
            <a:avLst/>
          </a:prstGeom>
          <a:noFill/>
          <a:ln/>
        </p:spPr>
        <p:txBody>
          <a:bodyPr wrap="square" lIns="0" tIns="0" rIns="0" bIns="0" rtlCol="0" anchor="ctr"/>
          <a:lstStyle/>
          <a:p>
            <a:pPr indent="0" marL="0">
              <a:buNone/>
            </a:pPr>
            <a:r>
              <a:rPr lang="en-US" sz="1250" b="1" dirty="0">
                <a:solidFill>
                  <a:srgbClr val="0A032B"/>
                </a:solidFill>
                <a:latin typeface="Arial" pitchFamily="34" charset="0"/>
                <a:ea typeface="Arial" pitchFamily="34" charset="-122"/>
                <a:cs typeface="Arial" pitchFamily="34" charset="-120"/>
              </a:rPr>
              <a:t>On n'agit pas en l'état : on réorganise, on s'équipe, on se fait aider.</a:t>
            </a:r>
            <a:endParaRPr lang="en-US" sz="1250" dirty="0"/>
          </a:p>
        </p:txBody>
      </p:sp>
      <p:sp>
        <p:nvSpPr>
          <p:cNvPr id="14" name="Shape 11"/>
          <p:cNvSpPr/>
          <p:nvPr/>
        </p:nvSpPr>
        <p:spPr>
          <a:xfrm>
            <a:off x="4338218" y="1554480"/>
            <a:ext cx="3515258" cy="4480560"/>
          </a:xfrm>
          <a:prstGeom prst="roundRect">
            <a:avLst>
              <a:gd name="adj" fmla="val 2081"/>
            </a:avLst>
          </a:prstGeom>
          <a:solidFill>
            <a:srgbClr val="EEEDF5"/>
          </a:solidFill>
          <a:ln w="12700">
            <a:solidFill>
              <a:srgbClr val="EEEDF5"/>
            </a:solidFill>
            <a:prstDash val="solid"/>
          </a:ln>
        </p:spPr>
      </p:sp>
      <p:sp>
        <p:nvSpPr>
          <p:cNvPr id="15" name="Shape 12"/>
          <p:cNvSpPr/>
          <p:nvPr/>
        </p:nvSpPr>
        <p:spPr>
          <a:xfrm>
            <a:off x="5592928" y="1828800"/>
            <a:ext cx="1005840" cy="1005840"/>
          </a:xfrm>
          <a:prstGeom prst="ellipse">
            <a:avLst/>
          </a:prstGeom>
          <a:solidFill>
            <a:srgbClr val="E08A00"/>
          </a:solidFill>
          <a:ln w="12700">
            <a:solidFill>
              <a:srgbClr val="E08A00"/>
            </a:solidFill>
            <a:prstDash val="solid"/>
          </a:ln>
        </p:spPr>
      </p:sp>
      <p:sp>
        <p:nvSpPr>
          <p:cNvPr id="16" name="Text 13"/>
          <p:cNvSpPr txBox="1"/>
          <p:nvPr/>
        </p:nvSpPr>
        <p:spPr>
          <a:xfrm>
            <a:off x="4521098" y="3017520"/>
            <a:ext cx="3149498" cy="457200"/>
          </a:xfrm>
          <a:prstGeom prst="rect">
            <a:avLst/>
          </a:prstGeom>
          <a:noFill/>
          <a:ln/>
        </p:spPr>
        <p:txBody>
          <a:bodyPr wrap="square" lIns="0" tIns="0" rIns="0" bIns="0" rtlCol="0" anchor="ctr"/>
          <a:lstStyle/>
          <a:p>
            <a:pPr algn="ctr" indent="0" marL="0">
              <a:buNone/>
            </a:pPr>
            <a:r>
              <a:rPr lang="en-US" sz="1800" b="1" dirty="0">
                <a:solidFill>
                  <a:srgbClr val="0A032B"/>
                </a:solidFill>
                <a:latin typeface="Montserrat" pitchFamily="34" charset="0"/>
                <a:ea typeface="Montserrat" pitchFamily="34" charset="-122"/>
                <a:cs typeface="Montserrat" pitchFamily="34" charset="-120"/>
              </a:rPr>
              <a:t>À surveiller</a:t>
            </a:r>
            <a:endParaRPr lang="en-US" sz="1800" dirty="0"/>
          </a:p>
        </p:txBody>
      </p:sp>
      <p:sp>
        <p:nvSpPr>
          <p:cNvPr id="17" name="Text 14"/>
          <p:cNvSpPr txBox="1"/>
          <p:nvPr/>
        </p:nvSpPr>
        <p:spPr>
          <a:xfrm>
            <a:off x="4612538" y="3566160"/>
            <a:ext cx="2966618" cy="1280160"/>
          </a:xfrm>
          <a:prstGeom prst="rect">
            <a:avLst/>
          </a:prstGeom>
          <a:noFill/>
          <a:ln/>
        </p:spPr>
        <p:txBody>
          <a:bodyPr wrap="square" lIns="0" tIns="0" rIns="0" bIns="0" rtlCol="0" anchor="t"/>
          <a:lstStyle/>
          <a:p>
            <a:pPr indent="0" marL="0">
              <a:buNone/>
            </a:pPr>
            <a:r>
              <a:rPr lang="en-US" sz="1300" dirty="0">
                <a:solidFill>
                  <a:srgbClr val="35305C"/>
                </a:solidFill>
                <a:latin typeface="Arial" pitchFamily="34" charset="0"/>
                <a:ea typeface="Arial" pitchFamily="34" charset="-122"/>
                <a:cs typeface="Arial" pitchFamily="34" charset="-120"/>
              </a:rPr>
              <a:t>Charge moyenne, gestes répétés, trajet court mais postures contraignantes ou fatigue en fin de journée.</a:t>
            </a:r>
            <a:endParaRPr lang="en-US" sz="1300" dirty="0"/>
          </a:p>
        </p:txBody>
      </p:sp>
      <p:sp>
        <p:nvSpPr>
          <p:cNvPr id="18" name="Shape 15"/>
          <p:cNvSpPr/>
          <p:nvPr/>
        </p:nvSpPr>
        <p:spPr>
          <a:xfrm>
            <a:off x="4521098" y="4983480"/>
            <a:ext cx="3149498" cy="868680"/>
          </a:xfrm>
          <a:prstGeom prst="roundRect">
            <a:avLst>
              <a:gd name="adj" fmla="val 6316"/>
            </a:avLst>
          </a:prstGeom>
          <a:solidFill>
            <a:srgbClr val="FFFFFF"/>
          </a:solidFill>
          <a:ln w="12700">
            <a:solidFill>
              <a:srgbClr val="FFFFFF"/>
            </a:solidFill>
            <a:prstDash val="solid"/>
          </a:ln>
        </p:spPr>
      </p:sp>
      <p:sp>
        <p:nvSpPr>
          <p:cNvPr id="19" name="Text 16"/>
          <p:cNvSpPr txBox="1"/>
          <p:nvPr/>
        </p:nvSpPr>
        <p:spPr>
          <a:xfrm>
            <a:off x="4658258" y="4983480"/>
            <a:ext cx="2875178" cy="868680"/>
          </a:xfrm>
          <a:prstGeom prst="rect">
            <a:avLst/>
          </a:prstGeom>
          <a:noFill/>
          <a:ln/>
        </p:spPr>
        <p:txBody>
          <a:bodyPr wrap="square" lIns="0" tIns="0" rIns="0" bIns="0" rtlCol="0" anchor="ctr"/>
          <a:lstStyle/>
          <a:p>
            <a:pPr indent="0" marL="0">
              <a:buNone/>
            </a:pPr>
            <a:r>
              <a:rPr lang="en-US" sz="1250" b="1" dirty="0">
                <a:solidFill>
                  <a:srgbClr val="0A032B"/>
                </a:solidFill>
                <a:latin typeface="Arial" pitchFamily="34" charset="0"/>
                <a:ea typeface="Arial" pitchFamily="34" charset="-122"/>
                <a:cs typeface="Arial" pitchFamily="34" charset="-120"/>
              </a:rPr>
              <a:t>On améliore : aide technique, travail à deux, pauses, rotation.</a:t>
            </a:r>
            <a:endParaRPr lang="en-US" sz="1250" dirty="0"/>
          </a:p>
        </p:txBody>
      </p:sp>
      <p:sp>
        <p:nvSpPr>
          <p:cNvPr id="20" name="Shape 17"/>
          <p:cNvSpPr/>
          <p:nvPr/>
        </p:nvSpPr>
        <p:spPr>
          <a:xfrm>
            <a:off x="8127797" y="1554480"/>
            <a:ext cx="3515258" cy="4480560"/>
          </a:xfrm>
          <a:prstGeom prst="roundRect">
            <a:avLst>
              <a:gd name="adj" fmla="val 2081"/>
            </a:avLst>
          </a:prstGeom>
          <a:solidFill>
            <a:srgbClr val="EEEDF5"/>
          </a:solidFill>
          <a:ln w="12700">
            <a:solidFill>
              <a:srgbClr val="EEEDF5"/>
            </a:solidFill>
            <a:prstDash val="solid"/>
          </a:ln>
        </p:spPr>
      </p:sp>
      <p:sp>
        <p:nvSpPr>
          <p:cNvPr id="21" name="Shape 18"/>
          <p:cNvSpPr/>
          <p:nvPr/>
        </p:nvSpPr>
        <p:spPr>
          <a:xfrm>
            <a:off x="9382506" y="1828800"/>
            <a:ext cx="1005840" cy="1005840"/>
          </a:xfrm>
          <a:prstGeom prst="ellipse">
            <a:avLst/>
          </a:prstGeom>
          <a:solidFill>
            <a:srgbClr val="2E7D32"/>
          </a:solidFill>
          <a:ln w="12700">
            <a:solidFill>
              <a:srgbClr val="2E7D32"/>
            </a:solidFill>
            <a:prstDash val="solid"/>
          </a:ln>
        </p:spPr>
      </p:sp>
      <p:sp>
        <p:nvSpPr>
          <p:cNvPr id="22" name="Text 19"/>
          <p:cNvSpPr txBox="1"/>
          <p:nvPr/>
        </p:nvSpPr>
        <p:spPr>
          <a:xfrm>
            <a:off x="8310677" y="3017520"/>
            <a:ext cx="3149498" cy="457200"/>
          </a:xfrm>
          <a:prstGeom prst="rect">
            <a:avLst/>
          </a:prstGeom>
          <a:noFill/>
          <a:ln/>
        </p:spPr>
        <p:txBody>
          <a:bodyPr wrap="square" lIns="0" tIns="0" rIns="0" bIns="0" rtlCol="0" anchor="ctr"/>
          <a:lstStyle/>
          <a:p>
            <a:pPr algn="ctr" indent="0" marL="0">
              <a:buNone/>
            </a:pPr>
            <a:r>
              <a:rPr lang="en-US" sz="1800" b="1" dirty="0">
                <a:solidFill>
                  <a:srgbClr val="0A032B"/>
                </a:solidFill>
                <a:latin typeface="Montserrat" pitchFamily="34" charset="0"/>
                <a:ea typeface="Montserrat" pitchFamily="34" charset="-122"/>
                <a:cs typeface="Montserrat" pitchFamily="34" charset="-120"/>
              </a:rPr>
              <a:t>Risque maîtrisé</a:t>
            </a:r>
            <a:endParaRPr lang="en-US" sz="1800" dirty="0"/>
          </a:p>
        </p:txBody>
      </p:sp>
      <p:sp>
        <p:nvSpPr>
          <p:cNvPr id="23" name="Text 20"/>
          <p:cNvSpPr txBox="1"/>
          <p:nvPr/>
        </p:nvSpPr>
        <p:spPr>
          <a:xfrm>
            <a:off x="8402117" y="3566160"/>
            <a:ext cx="2966618" cy="1280160"/>
          </a:xfrm>
          <a:prstGeom prst="rect">
            <a:avLst/>
          </a:prstGeom>
          <a:noFill/>
          <a:ln/>
        </p:spPr>
        <p:txBody>
          <a:bodyPr wrap="square" lIns="0" tIns="0" rIns="0" bIns="0" rtlCol="0" anchor="t"/>
          <a:lstStyle/>
          <a:p>
            <a:pPr indent="0" marL="0">
              <a:buNone/>
            </a:pPr>
            <a:r>
              <a:rPr lang="en-US" sz="1300" dirty="0">
                <a:solidFill>
                  <a:srgbClr val="35305C"/>
                </a:solidFill>
                <a:latin typeface="Arial" pitchFamily="34" charset="0"/>
                <a:ea typeface="Arial" pitchFamily="34" charset="-122"/>
                <a:cs typeface="Arial" pitchFamily="34" charset="-120"/>
              </a:rPr>
              <a:t>Charge légère, prise facile, trajet dégagé, bonne hauteur, aide disponible et utilisée.</a:t>
            </a:r>
            <a:endParaRPr lang="en-US" sz="1300" dirty="0"/>
          </a:p>
        </p:txBody>
      </p:sp>
      <p:sp>
        <p:nvSpPr>
          <p:cNvPr id="24" name="Shape 21"/>
          <p:cNvSpPr/>
          <p:nvPr/>
        </p:nvSpPr>
        <p:spPr>
          <a:xfrm>
            <a:off x="8310677" y="4983480"/>
            <a:ext cx="3149498" cy="868680"/>
          </a:xfrm>
          <a:prstGeom prst="roundRect">
            <a:avLst>
              <a:gd name="adj" fmla="val 6316"/>
            </a:avLst>
          </a:prstGeom>
          <a:solidFill>
            <a:srgbClr val="FFFFFF"/>
          </a:solidFill>
          <a:ln w="12700">
            <a:solidFill>
              <a:srgbClr val="FFFFFF"/>
            </a:solidFill>
            <a:prstDash val="solid"/>
          </a:ln>
        </p:spPr>
      </p:sp>
      <p:sp>
        <p:nvSpPr>
          <p:cNvPr id="25" name="Text 22"/>
          <p:cNvSpPr txBox="1"/>
          <p:nvPr/>
        </p:nvSpPr>
        <p:spPr>
          <a:xfrm>
            <a:off x="8447837" y="4983480"/>
            <a:ext cx="2875178" cy="868680"/>
          </a:xfrm>
          <a:prstGeom prst="rect">
            <a:avLst/>
          </a:prstGeom>
          <a:noFill/>
          <a:ln/>
        </p:spPr>
        <p:txBody>
          <a:bodyPr wrap="square" lIns="0" tIns="0" rIns="0" bIns="0" rtlCol="0" anchor="ctr"/>
          <a:lstStyle/>
          <a:p>
            <a:pPr indent="0" marL="0">
              <a:buNone/>
            </a:pPr>
            <a:r>
              <a:rPr lang="en-US" sz="1250" b="1" dirty="0">
                <a:solidFill>
                  <a:srgbClr val="0A032B"/>
                </a:solidFill>
                <a:latin typeface="Arial" pitchFamily="34" charset="0"/>
                <a:ea typeface="Arial" pitchFamily="34" charset="-122"/>
                <a:cs typeface="Arial" pitchFamily="34" charset="-120"/>
              </a:rPr>
              <a:t>On maintient les bonnes pratiques.</a:t>
            </a:r>
            <a:endParaRPr lang="en-US" sz="1250" dirty="0"/>
          </a:p>
        </p:txBody>
      </p:sp>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14800" cy="6858000"/>
          </a:xfrm>
          <a:prstGeom prst="rect">
            <a:avLst/>
          </a:prstGeom>
          <a:solidFill>
            <a:srgbClr val="F0EF96"/>
          </a:solidFill>
          <a:ln w="12700">
            <a:solidFill>
              <a:srgbClr val="F0EF96"/>
            </a:solidFill>
            <a:prstDash val="solid"/>
          </a:ln>
        </p:spPr>
      </p:sp>
      <p:sp>
        <p:nvSpPr>
          <p:cNvPr id="3" name="Shape 1"/>
          <p:cNvSpPr/>
          <p:nvPr/>
        </p:nvSpPr>
        <p:spPr>
          <a:xfrm>
            <a:off x="548640" y="502920"/>
            <a:ext cx="1600200" cy="347472"/>
          </a:xfrm>
          <a:prstGeom prst="roundRect">
            <a:avLst>
              <a:gd name="adj" fmla="val 50000"/>
            </a:avLst>
          </a:prstGeom>
          <a:solidFill>
            <a:srgbClr val="F0EF96"/>
          </a:solidFill>
          <a:ln w="12700">
            <a:solidFill>
              <a:srgbClr val="F0EF96"/>
            </a:solidFill>
            <a:prstDash val="solid"/>
          </a:ln>
        </p:spPr>
      </p:sp>
      <p:sp>
        <p:nvSpPr>
          <p:cNvPr id="4" name="Text 2"/>
          <p:cNvSpPr txBox="1"/>
          <p:nvPr/>
        </p:nvSpPr>
        <p:spPr>
          <a:xfrm>
            <a:off x="548640" y="502920"/>
            <a:ext cx="1600200" cy="347472"/>
          </a:xfrm>
          <a:prstGeom prst="rect">
            <a:avLst/>
          </a:prstGeom>
          <a:noFill/>
          <a:ln/>
        </p:spPr>
        <p:txBody>
          <a:bodyPr wrap="square" lIns="0" tIns="0" rIns="0" bIns="0" rtlCol="0" anchor="ctr"/>
          <a:lstStyle/>
          <a:p>
            <a:pPr algn="ctr" indent="0" marL="0">
              <a:buNone/>
            </a:pPr>
            <a:r>
              <a:rPr lang="en-US" sz="1100" b="1" spc="200" kern="0" dirty="0">
                <a:solidFill>
                  <a:srgbClr val="0A032B"/>
                </a:solidFill>
                <a:latin typeface="Montserrat" pitchFamily="34" charset="0"/>
                <a:ea typeface="Montserrat" pitchFamily="34" charset="-122"/>
                <a:cs typeface="Montserrat" pitchFamily="34" charset="-120"/>
              </a:rPr>
              <a:t>PRATIQUE</a:t>
            </a:r>
            <a:endParaRPr lang="en-US" sz="1100" dirty="0"/>
          </a:p>
        </p:txBody>
      </p:sp>
      <p:sp>
        <p:nvSpPr>
          <p:cNvPr id="5" name="Text 3"/>
          <p:cNvSpPr txBox="1"/>
          <p:nvPr/>
        </p:nvSpPr>
        <p:spPr>
          <a:xfrm>
            <a:off x="548640" y="1005840"/>
            <a:ext cx="3108960" cy="365760"/>
          </a:xfrm>
          <a:prstGeom prst="rect">
            <a:avLst/>
          </a:prstGeom>
          <a:noFill/>
          <a:ln/>
        </p:spPr>
        <p:txBody>
          <a:bodyPr wrap="square" lIns="0" tIns="0" rIns="0" bIns="0" rtlCol="0" anchor="ctr"/>
          <a:lstStyle/>
          <a:p>
            <a:pPr indent="0" marL="0">
              <a:buNone/>
            </a:pPr>
            <a:r>
              <a:rPr lang="en-US" sz="1300" b="1" spc="100" kern="0" dirty="0">
                <a:solidFill>
                  <a:srgbClr val="35305C"/>
                </a:solidFill>
                <a:latin typeface="Montserrat" pitchFamily="34" charset="0"/>
                <a:ea typeface="Montserrat" pitchFamily="34" charset="-122"/>
                <a:cs typeface="Montserrat" pitchFamily="34" charset="-120"/>
              </a:rPr>
              <a:t>EXERCICE EN SOUS-GROUPES</a:t>
            </a:r>
            <a:endParaRPr lang="en-US" sz="1300" dirty="0"/>
          </a:p>
        </p:txBody>
      </p:sp>
      <p:sp>
        <p:nvSpPr>
          <p:cNvPr id="6" name="Text 4"/>
          <p:cNvSpPr txBox="1"/>
          <p:nvPr/>
        </p:nvSpPr>
        <p:spPr>
          <a:xfrm>
            <a:off x="548640" y="1371600"/>
            <a:ext cx="3200400" cy="1371600"/>
          </a:xfrm>
          <a:prstGeom prst="rect">
            <a:avLst/>
          </a:prstGeom>
          <a:noFill/>
          <a:ln/>
        </p:spPr>
        <p:txBody>
          <a:bodyPr wrap="square" lIns="0" tIns="0" rIns="0" bIns="0" rtlCol="0" anchor="t"/>
          <a:lstStyle/>
          <a:p>
            <a:pPr indent="0" marL="0">
              <a:buNone/>
            </a:pPr>
            <a:r>
              <a:rPr lang="en-US" sz="2400" b="1" dirty="0">
                <a:solidFill>
                  <a:srgbClr val="0A032B"/>
                </a:solidFill>
                <a:latin typeface="Montserrat" pitchFamily="34" charset="0"/>
                <a:ea typeface="Montserrat" pitchFamily="34" charset="-122"/>
                <a:cs typeface="Montserrat" pitchFamily="34" charset="-120"/>
              </a:rPr>
              <a:t>Le mandat à la loupe : repérer les situations à risque</a:t>
            </a:r>
            <a:endParaRPr lang="en-US" sz="2400" dirty="0"/>
          </a:p>
        </p:txBody>
      </p:sp>
      <p:sp>
        <p:nvSpPr>
          <p:cNvPr id="7" name="Shape 5"/>
          <p:cNvSpPr/>
          <p:nvPr/>
        </p:nvSpPr>
        <p:spPr>
          <a:xfrm>
            <a:off x="548640" y="2971800"/>
            <a:ext cx="457200" cy="457200"/>
          </a:xfrm>
          <a:prstGeom prst="ellipse">
            <a:avLst/>
          </a:prstGeom>
          <a:solidFill>
            <a:srgbClr val="0A032B"/>
          </a:solidFill>
          <a:ln w="12700">
            <a:solidFill>
              <a:srgbClr val="0A032B"/>
            </a:solidFill>
            <a:prstDash val="solid"/>
          </a:ln>
        </p:spPr>
      </p:sp>
      <p:pic>
        <p:nvPicPr>
          <p:cNvPr id="8" name="Image 0" descr="preencoded.png">    </p:cNvPr>
          <p:cNvPicPr>
            <a:picLocks noChangeAspect="1"/>
          </p:cNvPicPr>
          <p:nvPr/>
        </p:nvPicPr>
        <p:blipFill>
          <a:blip r:embed="rId1"/>
          <a:stretch>
            <a:fillRect/>
          </a:stretch>
        </p:blipFill>
        <p:spPr>
          <a:xfrm>
            <a:off x="662940" y="3086100"/>
            <a:ext cx="228600" cy="228600"/>
          </a:xfrm>
          <a:prstGeom prst="rect">
            <a:avLst/>
          </a:prstGeom>
        </p:spPr>
      </p:pic>
      <p:sp>
        <p:nvSpPr>
          <p:cNvPr id="9" name="Text 6"/>
          <p:cNvSpPr txBox="1"/>
          <p:nvPr/>
        </p:nvSpPr>
        <p:spPr>
          <a:xfrm>
            <a:off x="1188720" y="2926080"/>
            <a:ext cx="2468880" cy="868680"/>
          </a:xfrm>
          <a:prstGeom prst="rect">
            <a:avLst/>
          </a:prstGeom>
          <a:noFill/>
          <a:ln/>
        </p:spPr>
        <p:txBody>
          <a:bodyPr wrap="square" lIns="0" tIns="0" rIns="0" bIns="0" rtlCol="0" anchor="t"/>
          <a:lstStyle/>
          <a:p>
            <a:pPr indent="0" marL="0">
              <a:buNone/>
            </a:pPr>
            <a:r>
              <a:rPr lang="en-US" sz="1000" b="1" spc="100" kern="0" dirty="0">
                <a:solidFill>
                  <a:srgbClr val="35305C"/>
                </a:solidFill>
                <a:latin typeface="Montserrat" pitchFamily="34" charset="0"/>
                <a:ea typeface="Montserrat" pitchFamily="34" charset="-122"/>
                <a:cs typeface="Montserrat" pitchFamily="34" charset="-120"/>
              </a:rPr>
              <a:t>DURÉE</a:t>
            </a:r>
            <a:endParaRPr lang="en-US" sz="1000" dirty="0"/>
          </a:p>
          <a:p>
            <a:pPr indent="0" marL="0">
              <a:buNone/>
            </a:pPr>
            <a:r>
              <a:rPr lang="en-US" sz="1250" dirty="0">
                <a:solidFill>
                  <a:srgbClr val="0A032B"/>
                </a:solidFill>
                <a:latin typeface="Arial" pitchFamily="34" charset="0"/>
                <a:ea typeface="Arial" pitchFamily="34" charset="-122"/>
                <a:cs typeface="Arial" pitchFamily="34" charset="-120"/>
              </a:rPr>
              <a:t>15 minutes (10 min + 5 min de restitution)</a:t>
            </a:r>
            <a:endParaRPr lang="en-US" sz="1000" dirty="0"/>
          </a:p>
        </p:txBody>
      </p:sp>
      <p:sp>
        <p:nvSpPr>
          <p:cNvPr id="10" name="Shape 7"/>
          <p:cNvSpPr/>
          <p:nvPr/>
        </p:nvSpPr>
        <p:spPr>
          <a:xfrm>
            <a:off x="548640" y="3931920"/>
            <a:ext cx="457200" cy="457200"/>
          </a:xfrm>
          <a:prstGeom prst="ellipse">
            <a:avLst/>
          </a:prstGeom>
          <a:solidFill>
            <a:srgbClr val="0A032B"/>
          </a:solidFill>
          <a:ln w="12700">
            <a:solidFill>
              <a:srgbClr val="0A032B"/>
            </a:solidFill>
            <a:prstDash val="solid"/>
          </a:ln>
        </p:spPr>
      </p:sp>
      <p:pic>
        <p:nvPicPr>
          <p:cNvPr id="11" name="Image 1" descr="preencoded.png">    </p:cNvPr>
          <p:cNvPicPr>
            <a:picLocks noChangeAspect="1"/>
          </p:cNvPicPr>
          <p:nvPr/>
        </p:nvPicPr>
        <p:blipFill>
          <a:blip r:embed="rId2"/>
          <a:stretch>
            <a:fillRect/>
          </a:stretch>
        </p:blipFill>
        <p:spPr>
          <a:xfrm>
            <a:off x="662940" y="4046220"/>
            <a:ext cx="228600" cy="228600"/>
          </a:xfrm>
          <a:prstGeom prst="rect">
            <a:avLst/>
          </a:prstGeom>
        </p:spPr>
      </p:pic>
      <p:sp>
        <p:nvSpPr>
          <p:cNvPr id="12" name="Text 8"/>
          <p:cNvSpPr txBox="1"/>
          <p:nvPr/>
        </p:nvSpPr>
        <p:spPr>
          <a:xfrm>
            <a:off x="1188720" y="3886200"/>
            <a:ext cx="2468880" cy="868680"/>
          </a:xfrm>
          <a:prstGeom prst="rect">
            <a:avLst/>
          </a:prstGeom>
          <a:noFill/>
          <a:ln/>
        </p:spPr>
        <p:txBody>
          <a:bodyPr wrap="square" lIns="0" tIns="0" rIns="0" bIns="0" rtlCol="0" anchor="t"/>
          <a:lstStyle/>
          <a:p>
            <a:pPr indent="0" marL="0">
              <a:buNone/>
            </a:pPr>
            <a:r>
              <a:rPr lang="en-US" sz="1000" b="1" spc="100" kern="0" dirty="0">
                <a:solidFill>
                  <a:srgbClr val="35305C"/>
                </a:solidFill>
                <a:latin typeface="Montserrat" pitchFamily="34" charset="0"/>
                <a:ea typeface="Montserrat" pitchFamily="34" charset="-122"/>
                <a:cs typeface="Montserrat" pitchFamily="34" charset="-120"/>
              </a:rPr>
              <a:t>FORMAT</a:t>
            </a:r>
            <a:endParaRPr lang="en-US" sz="1000" dirty="0"/>
          </a:p>
          <a:p>
            <a:pPr indent="0" marL="0">
              <a:buNone/>
            </a:pPr>
            <a:r>
              <a:rPr lang="en-US" sz="1250" dirty="0">
                <a:solidFill>
                  <a:srgbClr val="0A032B"/>
                </a:solidFill>
                <a:latin typeface="Arial" pitchFamily="34" charset="0"/>
                <a:ea typeface="Arial" pitchFamily="34" charset="-122"/>
                <a:cs typeface="Arial" pitchFamily="34" charset="-120"/>
              </a:rPr>
              <a:t>Sous-groupes de 3 à 4 élus</a:t>
            </a:r>
            <a:endParaRPr lang="en-US" sz="1000" dirty="0"/>
          </a:p>
        </p:txBody>
      </p:sp>
      <p:sp>
        <p:nvSpPr>
          <p:cNvPr id="13" name="Shape 9"/>
          <p:cNvSpPr/>
          <p:nvPr/>
        </p:nvSpPr>
        <p:spPr>
          <a:xfrm>
            <a:off x="548640" y="4892040"/>
            <a:ext cx="457200" cy="457200"/>
          </a:xfrm>
          <a:prstGeom prst="ellipse">
            <a:avLst/>
          </a:prstGeom>
          <a:solidFill>
            <a:srgbClr val="0A032B"/>
          </a:solidFill>
          <a:ln w="12700">
            <a:solidFill>
              <a:srgbClr val="0A032B"/>
            </a:solidFill>
            <a:prstDash val="solid"/>
          </a:ln>
        </p:spPr>
      </p:sp>
      <p:pic>
        <p:nvPicPr>
          <p:cNvPr id="14" name="Image 2" descr="preencoded.png">    </p:cNvPr>
          <p:cNvPicPr>
            <a:picLocks noChangeAspect="1"/>
          </p:cNvPicPr>
          <p:nvPr/>
        </p:nvPicPr>
        <p:blipFill>
          <a:blip r:embed="rId3"/>
          <a:stretch>
            <a:fillRect/>
          </a:stretch>
        </p:blipFill>
        <p:spPr>
          <a:xfrm>
            <a:off x="662940" y="5006340"/>
            <a:ext cx="228600" cy="228600"/>
          </a:xfrm>
          <a:prstGeom prst="rect">
            <a:avLst/>
          </a:prstGeom>
        </p:spPr>
      </p:pic>
      <p:sp>
        <p:nvSpPr>
          <p:cNvPr id="15" name="Text 10"/>
          <p:cNvSpPr txBox="1"/>
          <p:nvPr/>
        </p:nvSpPr>
        <p:spPr>
          <a:xfrm>
            <a:off x="1188720" y="4846320"/>
            <a:ext cx="2468880" cy="868680"/>
          </a:xfrm>
          <a:prstGeom prst="rect">
            <a:avLst/>
          </a:prstGeom>
          <a:noFill/>
          <a:ln/>
        </p:spPr>
        <p:txBody>
          <a:bodyPr wrap="square" lIns="0" tIns="0" rIns="0" bIns="0" rtlCol="0" anchor="t"/>
          <a:lstStyle/>
          <a:p>
            <a:pPr indent="0" marL="0">
              <a:buNone/>
            </a:pPr>
            <a:r>
              <a:rPr lang="en-US" sz="1000" b="1" spc="100" kern="0" dirty="0">
                <a:solidFill>
                  <a:srgbClr val="35305C"/>
                </a:solidFill>
                <a:latin typeface="Montserrat" pitchFamily="34" charset="0"/>
                <a:ea typeface="Montserrat" pitchFamily="34" charset="-122"/>
                <a:cs typeface="Montserrat" pitchFamily="34" charset="-120"/>
              </a:rPr>
              <a:t>MATÉRIEL</a:t>
            </a:r>
            <a:endParaRPr lang="en-US" sz="1000" dirty="0"/>
          </a:p>
          <a:p>
            <a:pPr indent="0" marL="0">
              <a:buNone/>
            </a:pPr>
            <a:r>
              <a:rPr lang="en-US" sz="1250" dirty="0">
                <a:solidFill>
                  <a:srgbClr val="0A032B"/>
                </a:solidFill>
                <a:latin typeface="Arial" pitchFamily="34" charset="0"/>
                <a:ea typeface="Arial" pitchFamily="34" charset="-122"/>
                <a:cs typeface="Arial" pitchFamily="34" charset="-120"/>
              </a:rPr>
              <a:t>Paperboard, feutres, livret stagiaire</a:t>
            </a:r>
            <a:endParaRPr lang="en-US" sz="1000" dirty="0"/>
          </a:p>
        </p:txBody>
      </p:sp>
      <p:sp>
        <p:nvSpPr>
          <p:cNvPr id="16" name="Text 11"/>
          <p:cNvSpPr txBox="1"/>
          <p:nvPr/>
        </p:nvSpPr>
        <p:spPr>
          <a:xfrm>
            <a:off x="4663440" y="457200"/>
            <a:ext cx="6979615" cy="502920"/>
          </a:xfrm>
          <a:prstGeom prst="rect">
            <a:avLst/>
          </a:prstGeom>
          <a:noFill/>
          <a:ln/>
        </p:spPr>
        <p:txBody>
          <a:bodyPr wrap="square" lIns="0" tIns="0" rIns="0" bIns="0" rtlCol="0" anchor="ctr"/>
          <a:lstStyle/>
          <a:p>
            <a:pPr indent="0" marL="0">
              <a:buNone/>
            </a:pPr>
            <a:r>
              <a:rPr lang="en-US" sz="2200" b="1" dirty="0">
                <a:solidFill>
                  <a:srgbClr val="0A032B"/>
                </a:solidFill>
                <a:latin typeface="Montserrat" pitchFamily="34" charset="0"/>
                <a:ea typeface="Montserrat" pitchFamily="34" charset="-122"/>
                <a:cs typeface="Montserrat" pitchFamily="34" charset="-120"/>
              </a:rPr>
              <a:t>Consignes</a:t>
            </a:r>
            <a:endParaRPr lang="en-US" sz="2200" dirty="0"/>
          </a:p>
        </p:txBody>
      </p:sp>
      <p:sp>
        <p:nvSpPr>
          <p:cNvPr id="17" name="Shape 12"/>
          <p:cNvSpPr/>
          <p:nvPr/>
        </p:nvSpPr>
        <p:spPr>
          <a:xfrm>
            <a:off x="4663440" y="1234440"/>
            <a:ext cx="457200" cy="457200"/>
          </a:xfrm>
          <a:prstGeom prst="ellipse">
            <a:avLst/>
          </a:prstGeom>
          <a:solidFill>
            <a:srgbClr val="0A032B"/>
          </a:solidFill>
          <a:ln w="12700">
            <a:solidFill>
              <a:srgbClr val="0A032B"/>
            </a:solidFill>
            <a:prstDash val="solid"/>
          </a:ln>
        </p:spPr>
      </p:sp>
      <p:sp>
        <p:nvSpPr>
          <p:cNvPr id="18" name="Text 13"/>
          <p:cNvSpPr txBox="1"/>
          <p:nvPr/>
        </p:nvSpPr>
        <p:spPr>
          <a:xfrm>
            <a:off x="4663440" y="12344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1</a:t>
            </a:r>
            <a:endParaRPr lang="en-US" sz="1300" dirty="0"/>
          </a:p>
        </p:txBody>
      </p:sp>
      <p:sp>
        <p:nvSpPr>
          <p:cNvPr id="19" name="Text 14"/>
          <p:cNvSpPr txBox="1"/>
          <p:nvPr/>
        </p:nvSpPr>
        <p:spPr>
          <a:xfrm>
            <a:off x="5349240" y="1216152"/>
            <a:ext cx="6293815" cy="745236"/>
          </a:xfrm>
          <a:prstGeom prst="rect">
            <a:avLst/>
          </a:prstGeom>
          <a:noFill/>
          <a:ln/>
        </p:spPr>
        <p:txBody>
          <a:bodyPr wrap="square" lIns="0" tIns="0" rIns="0" bIns="0" rtlCol="0" anchor="t"/>
          <a:lstStyle/>
          <a:p>
            <a:pPr indent="0" marL="0">
              <a:spcAft>
                <a:spcPts val="300"/>
              </a:spcAft>
              <a:buNone/>
            </a:pPr>
            <a:r>
              <a:rPr lang="en-US" sz="1500" b="1" dirty="0">
                <a:solidFill>
                  <a:srgbClr val="0A032B"/>
                </a:solidFill>
                <a:latin typeface="Montserrat" pitchFamily="34" charset="0"/>
                <a:ea typeface="Montserrat" pitchFamily="34" charset="-122"/>
                <a:cs typeface="Montserrat" pitchFamily="34" charset="-120"/>
              </a:rPr>
              <a:t>Listez vos situations</a:t>
            </a:r>
            <a:endParaRPr lang="en-US" sz="1500" dirty="0"/>
          </a:p>
          <a:p>
            <a:pPr indent="0" marL="0">
              <a:spcAft>
                <a:spcPts val="300"/>
              </a:spcAft>
              <a:buNone/>
            </a:pPr>
            <a:r>
              <a:rPr lang="en-US" sz="1300" dirty="0">
                <a:solidFill>
                  <a:srgbClr val="35305C"/>
                </a:solidFill>
                <a:latin typeface="Arial" pitchFamily="34" charset="0"/>
                <a:ea typeface="Arial" pitchFamily="34" charset="-122"/>
                <a:cs typeface="Arial" pitchFamily="34" charset="-120"/>
              </a:rPr>
              <a:t>Toutes les situations du mandat où votre corps est sollicité : installation de salles, cérémonies, marchés, élections, visites de chantier, conseils, trajets…</a:t>
            </a:r>
            <a:endParaRPr lang="en-US" sz="1500" dirty="0"/>
          </a:p>
        </p:txBody>
      </p:sp>
      <p:sp>
        <p:nvSpPr>
          <p:cNvPr id="20" name="Shape 15"/>
          <p:cNvSpPr/>
          <p:nvPr/>
        </p:nvSpPr>
        <p:spPr>
          <a:xfrm>
            <a:off x="4663440" y="2144268"/>
            <a:ext cx="457200" cy="457200"/>
          </a:xfrm>
          <a:prstGeom prst="ellipse">
            <a:avLst/>
          </a:prstGeom>
          <a:solidFill>
            <a:srgbClr val="0A032B"/>
          </a:solidFill>
          <a:ln w="12700">
            <a:solidFill>
              <a:srgbClr val="0A032B"/>
            </a:solidFill>
            <a:prstDash val="solid"/>
          </a:ln>
        </p:spPr>
      </p:sp>
      <p:sp>
        <p:nvSpPr>
          <p:cNvPr id="21" name="Text 16"/>
          <p:cNvSpPr txBox="1"/>
          <p:nvPr/>
        </p:nvSpPr>
        <p:spPr>
          <a:xfrm>
            <a:off x="4663440" y="214426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2</a:t>
            </a:r>
            <a:endParaRPr lang="en-US" sz="1300" dirty="0"/>
          </a:p>
        </p:txBody>
      </p:sp>
      <p:sp>
        <p:nvSpPr>
          <p:cNvPr id="22" name="Text 17"/>
          <p:cNvSpPr txBox="1"/>
          <p:nvPr/>
        </p:nvSpPr>
        <p:spPr>
          <a:xfrm>
            <a:off x="5349240" y="2125980"/>
            <a:ext cx="6293815" cy="745236"/>
          </a:xfrm>
          <a:prstGeom prst="rect">
            <a:avLst/>
          </a:prstGeom>
          <a:noFill/>
          <a:ln/>
        </p:spPr>
        <p:txBody>
          <a:bodyPr wrap="square" lIns="0" tIns="0" rIns="0" bIns="0" rtlCol="0" anchor="t"/>
          <a:lstStyle/>
          <a:p>
            <a:pPr indent="0" marL="0">
              <a:spcAft>
                <a:spcPts val="300"/>
              </a:spcAft>
              <a:buNone/>
            </a:pPr>
            <a:r>
              <a:rPr lang="en-US" sz="1500" b="1" dirty="0">
                <a:solidFill>
                  <a:srgbClr val="0A032B"/>
                </a:solidFill>
                <a:latin typeface="Montserrat" pitchFamily="34" charset="0"/>
                <a:ea typeface="Montserrat" pitchFamily="34" charset="-122"/>
                <a:cs typeface="Montserrat" pitchFamily="34" charset="-120"/>
              </a:rPr>
              <a:t>Classez-les par facteur de risque</a:t>
            </a:r>
            <a:endParaRPr lang="en-US" sz="1500" dirty="0"/>
          </a:p>
          <a:p>
            <a:pPr indent="0" marL="0">
              <a:spcAft>
                <a:spcPts val="300"/>
              </a:spcAft>
              <a:buNone/>
            </a:pPr>
            <a:r>
              <a:rPr lang="en-US" sz="1300" dirty="0">
                <a:solidFill>
                  <a:srgbClr val="35305C"/>
                </a:solidFill>
                <a:latin typeface="Arial" pitchFamily="34" charset="0"/>
                <a:ea typeface="Arial" pitchFamily="34" charset="-122"/>
                <a:cs typeface="Arial" pitchFamily="34" charset="-120"/>
              </a:rPr>
              <a:t>Port de charges, gestes répétitifs, postures contraignantes, station assise prolongée, stress.</a:t>
            </a:r>
            <a:endParaRPr lang="en-US" sz="1500" dirty="0"/>
          </a:p>
        </p:txBody>
      </p:sp>
      <p:sp>
        <p:nvSpPr>
          <p:cNvPr id="23" name="Shape 18"/>
          <p:cNvSpPr/>
          <p:nvPr/>
        </p:nvSpPr>
        <p:spPr>
          <a:xfrm>
            <a:off x="4663440" y="3054096"/>
            <a:ext cx="457200" cy="457200"/>
          </a:xfrm>
          <a:prstGeom prst="ellipse">
            <a:avLst/>
          </a:prstGeom>
          <a:solidFill>
            <a:srgbClr val="0A032B"/>
          </a:solidFill>
          <a:ln w="12700">
            <a:solidFill>
              <a:srgbClr val="0A032B"/>
            </a:solidFill>
            <a:prstDash val="solid"/>
          </a:ln>
        </p:spPr>
      </p:sp>
      <p:sp>
        <p:nvSpPr>
          <p:cNvPr id="24" name="Text 19"/>
          <p:cNvSpPr txBox="1"/>
          <p:nvPr/>
        </p:nvSpPr>
        <p:spPr>
          <a:xfrm>
            <a:off x="4663440" y="305409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3</a:t>
            </a:r>
            <a:endParaRPr lang="en-US" sz="1300" dirty="0"/>
          </a:p>
        </p:txBody>
      </p:sp>
      <p:sp>
        <p:nvSpPr>
          <p:cNvPr id="25" name="Text 20"/>
          <p:cNvSpPr txBox="1"/>
          <p:nvPr/>
        </p:nvSpPr>
        <p:spPr>
          <a:xfrm>
            <a:off x="5349240" y="3035808"/>
            <a:ext cx="6293815" cy="745236"/>
          </a:xfrm>
          <a:prstGeom prst="rect">
            <a:avLst/>
          </a:prstGeom>
          <a:noFill/>
          <a:ln/>
        </p:spPr>
        <p:txBody>
          <a:bodyPr wrap="square" lIns="0" tIns="0" rIns="0" bIns="0" rtlCol="0" anchor="t"/>
          <a:lstStyle/>
          <a:p>
            <a:pPr indent="0" marL="0">
              <a:spcAft>
                <a:spcPts val="300"/>
              </a:spcAft>
              <a:buNone/>
            </a:pPr>
            <a:r>
              <a:rPr lang="en-US" sz="1500" b="1" dirty="0">
                <a:solidFill>
                  <a:srgbClr val="0A032B"/>
                </a:solidFill>
                <a:latin typeface="Montserrat" pitchFamily="34" charset="0"/>
                <a:ea typeface="Montserrat" pitchFamily="34" charset="-122"/>
                <a:cs typeface="Montserrat" pitchFamily="34" charset="-120"/>
              </a:rPr>
              <a:t>Identifiez la plus fréquente</a:t>
            </a:r>
            <a:endParaRPr lang="en-US" sz="1500" dirty="0"/>
          </a:p>
          <a:p>
            <a:pPr indent="0" marL="0">
              <a:spcAft>
                <a:spcPts val="300"/>
              </a:spcAft>
              <a:buNone/>
            </a:pPr>
            <a:r>
              <a:rPr lang="en-US" sz="1300" dirty="0">
                <a:solidFill>
                  <a:srgbClr val="35305C"/>
                </a:solidFill>
                <a:latin typeface="Arial" pitchFamily="34" charset="0"/>
                <a:ea typeface="Arial" pitchFamily="34" charset="-122"/>
                <a:cs typeface="Arial" pitchFamily="34" charset="-120"/>
              </a:rPr>
              <a:t>Et la plus pénible : entourez-les.</a:t>
            </a:r>
            <a:endParaRPr lang="en-US" sz="1500" dirty="0"/>
          </a:p>
        </p:txBody>
      </p:sp>
      <p:sp>
        <p:nvSpPr>
          <p:cNvPr id="26" name="Shape 21"/>
          <p:cNvSpPr/>
          <p:nvPr/>
        </p:nvSpPr>
        <p:spPr>
          <a:xfrm>
            <a:off x="4663440" y="3963924"/>
            <a:ext cx="457200" cy="457200"/>
          </a:xfrm>
          <a:prstGeom prst="ellipse">
            <a:avLst/>
          </a:prstGeom>
          <a:solidFill>
            <a:srgbClr val="0A032B"/>
          </a:solidFill>
          <a:ln w="12700">
            <a:solidFill>
              <a:srgbClr val="0A032B"/>
            </a:solidFill>
            <a:prstDash val="solid"/>
          </a:ln>
        </p:spPr>
      </p:sp>
      <p:sp>
        <p:nvSpPr>
          <p:cNvPr id="27" name="Text 22"/>
          <p:cNvSpPr txBox="1"/>
          <p:nvPr/>
        </p:nvSpPr>
        <p:spPr>
          <a:xfrm>
            <a:off x="4663440" y="396392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4</a:t>
            </a:r>
            <a:endParaRPr lang="en-US" sz="1300" dirty="0"/>
          </a:p>
        </p:txBody>
      </p:sp>
      <p:sp>
        <p:nvSpPr>
          <p:cNvPr id="28" name="Text 23"/>
          <p:cNvSpPr txBox="1"/>
          <p:nvPr/>
        </p:nvSpPr>
        <p:spPr>
          <a:xfrm>
            <a:off x="5349240" y="3945636"/>
            <a:ext cx="6293815" cy="745236"/>
          </a:xfrm>
          <a:prstGeom prst="rect">
            <a:avLst/>
          </a:prstGeom>
          <a:noFill/>
          <a:ln/>
        </p:spPr>
        <p:txBody>
          <a:bodyPr wrap="square" lIns="0" tIns="0" rIns="0" bIns="0" rtlCol="0" anchor="t"/>
          <a:lstStyle/>
          <a:p>
            <a:pPr indent="0" marL="0">
              <a:spcAft>
                <a:spcPts val="300"/>
              </a:spcAft>
              <a:buNone/>
            </a:pPr>
            <a:r>
              <a:rPr lang="en-US" sz="1500" b="1" dirty="0">
                <a:solidFill>
                  <a:srgbClr val="0A032B"/>
                </a:solidFill>
                <a:latin typeface="Montserrat" pitchFamily="34" charset="0"/>
                <a:ea typeface="Montserrat" pitchFamily="34" charset="-122"/>
                <a:cs typeface="Montserrat" pitchFamily="34" charset="-120"/>
              </a:rPr>
              <a:t>Restituez au groupe</a:t>
            </a:r>
            <a:endParaRPr lang="en-US" sz="1500" dirty="0"/>
          </a:p>
          <a:p>
            <a:pPr indent="0" marL="0">
              <a:spcAft>
                <a:spcPts val="300"/>
              </a:spcAft>
              <a:buNone/>
            </a:pPr>
            <a:r>
              <a:rPr lang="en-US" sz="1300" dirty="0">
                <a:solidFill>
                  <a:srgbClr val="35305C"/>
                </a:solidFill>
                <a:latin typeface="Arial" pitchFamily="34" charset="0"/>
                <a:ea typeface="Arial" pitchFamily="34" charset="-122"/>
                <a:cs typeface="Arial" pitchFamily="34" charset="-120"/>
              </a:rPr>
              <a:t>Un rapporteur par sous-groupe présente ses 2 situations entourées.</a:t>
            </a:r>
            <a:endParaRPr lang="en-US" sz="1500" dirty="0"/>
          </a:p>
        </p:txBody>
      </p:sp>
      <p:sp>
        <p:nvSpPr>
          <p:cNvPr id="29" name="Shape 24"/>
          <p:cNvSpPr/>
          <p:nvPr/>
        </p:nvSpPr>
        <p:spPr>
          <a:xfrm>
            <a:off x="4663440" y="4983480"/>
            <a:ext cx="6979615" cy="1051560"/>
          </a:xfrm>
          <a:prstGeom prst="roundRect">
            <a:avLst>
              <a:gd name="adj" fmla="val 6957"/>
            </a:avLst>
          </a:prstGeom>
          <a:solidFill>
            <a:srgbClr val="EEEDF5"/>
          </a:solidFill>
          <a:ln w="12700">
            <a:solidFill>
              <a:srgbClr val="EEEDF5"/>
            </a:solidFill>
            <a:prstDash val="solid"/>
          </a:ln>
        </p:spPr>
      </p:sp>
      <p:sp>
        <p:nvSpPr>
          <p:cNvPr id="30" name="Shape 25"/>
          <p:cNvSpPr/>
          <p:nvPr/>
        </p:nvSpPr>
        <p:spPr>
          <a:xfrm>
            <a:off x="4846320" y="5230368"/>
            <a:ext cx="548640" cy="548640"/>
          </a:xfrm>
          <a:prstGeom prst="ellipse">
            <a:avLst/>
          </a:prstGeom>
          <a:solidFill>
            <a:srgbClr val="0A032B"/>
          </a:solidFill>
          <a:ln w="12700">
            <a:solidFill>
              <a:srgbClr val="0A032B"/>
            </a:solidFill>
            <a:prstDash val="solid"/>
          </a:ln>
        </p:spPr>
      </p:sp>
      <p:pic>
        <p:nvPicPr>
          <p:cNvPr id="31" name="Image 3" descr="preencoded.png">    </p:cNvPr>
          <p:cNvPicPr>
            <a:picLocks noChangeAspect="1"/>
          </p:cNvPicPr>
          <p:nvPr/>
        </p:nvPicPr>
        <p:blipFill>
          <a:blip r:embed="rId4"/>
          <a:stretch>
            <a:fillRect/>
          </a:stretch>
        </p:blipFill>
        <p:spPr>
          <a:xfrm>
            <a:off x="4983480" y="5367528"/>
            <a:ext cx="274320" cy="274320"/>
          </a:xfrm>
          <a:prstGeom prst="rect">
            <a:avLst/>
          </a:prstGeom>
        </p:spPr>
      </p:pic>
      <p:sp>
        <p:nvSpPr>
          <p:cNvPr id="32" name="Text 26"/>
          <p:cNvSpPr txBox="1"/>
          <p:nvPr/>
        </p:nvSpPr>
        <p:spPr>
          <a:xfrm>
            <a:off x="5577840" y="5029200"/>
            <a:ext cx="5882335" cy="960120"/>
          </a:xfrm>
          <a:prstGeom prst="rect">
            <a:avLst/>
          </a:prstGeom>
          <a:noFill/>
          <a:ln/>
        </p:spPr>
        <p:txBody>
          <a:bodyPr wrap="square" lIns="0" tIns="0" rIns="0" bIns="0" rtlCol="0" anchor="ctr"/>
          <a:lstStyle/>
          <a:p>
            <a:pPr indent="0" marL="0">
              <a:buNone/>
            </a:pPr>
            <a:r>
              <a:rPr lang="en-US" sz="1200" b="1" dirty="0">
                <a:solidFill>
                  <a:srgbClr val="0A032B"/>
                </a:solidFill>
                <a:latin typeface="Montserrat" pitchFamily="34" charset="0"/>
                <a:ea typeface="Montserrat" pitchFamily="34" charset="-122"/>
                <a:cs typeface="Montserrat" pitchFamily="34" charset="-120"/>
              </a:rPr>
              <a:t>Point de vigilance  </a:t>
            </a:r>
            <a:endParaRPr lang="en-US" sz="1200" dirty="0"/>
          </a:p>
          <a:p>
            <a:pPr indent="0" marL="0">
              <a:buNone/>
            </a:pPr>
            <a:r>
              <a:rPr lang="en-US" sz="1200" dirty="0">
                <a:solidFill>
                  <a:srgbClr val="35305C"/>
                </a:solidFill>
                <a:latin typeface="Arial" pitchFamily="34" charset="0"/>
                <a:ea typeface="Arial" pitchFamily="34" charset="-122"/>
                <a:cs typeface="Arial" pitchFamily="34" charset="-120"/>
              </a:rPr>
              <a:t>Garder les situations entourées : elles serviront de base aux mises en situation des séquences 3 et 7.</a:t>
            </a:r>
            <a:endParaRPr lang="en-US" sz="1200" dirty="0"/>
          </a:p>
        </p:txBody>
      </p:sp>
      <p:sp>
        <p:nvSpPr>
          <p:cNvPr id="33" name="Text 27"/>
          <p:cNvSpPr txBox="1"/>
          <p:nvPr/>
        </p:nvSpPr>
        <p:spPr>
          <a:xfrm>
            <a:off x="548640" y="6355080"/>
            <a:ext cx="3291840" cy="274320"/>
          </a:xfrm>
          <a:prstGeom prst="rect">
            <a:avLst/>
          </a:prstGeom>
          <a:noFill/>
          <a:ln/>
        </p:spPr>
        <p:txBody>
          <a:bodyPr wrap="square" lIns="0" tIns="0" rIns="0" bIns="0" rtlCol="0" anchor="ctr"/>
          <a:lstStyle/>
          <a:p>
            <a:pPr indent="0" marL="0">
              <a:buNone/>
            </a:pPr>
            <a:r>
              <a:rPr lang="en-US" sz="900" dirty="0">
                <a:solidFill>
                  <a:srgbClr val="35305C"/>
                </a:solidFill>
                <a:latin typeface="Arial" pitchFamily="34" charset="0"/>
                <a:ea typeface="Arial" pitchFamily="34" charset="-122"/>
                <a:cs typeface="Arial" pitchFamily="34" charset="-120"/>
              </a:rPr>
              <a:t>Gestes et postures de l'élu  ·  Séquence 2</a:t>
            </a:r>
            <a:endParaRPr lang="en-US" sz="900" dirty="0"/>
          </a:p>
        </p:txBody>
      </p:sp>
      <p:pic>
        <p:nvPicPr>
          <p:cNvPr id="34" name="Image 4" descr="logo_light.png">    </p:cNvPr>
          <p:cNvPicPr>
            <a:picLocks noChangeAspect="1"/>
          </p:cNvPicPr>
          <p:nvPr/>
        </p:nvPicPr>
        <p:blipFill>
          <a:blip r:embed="rId5"/>
          <a:stretch>
            <a:fillRect/>
          </a:stretch>
        </p:blipFill>
        <p:spPr>
          <a:xfrm>
            <a:off x="10682935" y="6236208"/>
            <a:ext cx="960120" cy="398441"/>
          </a:xfrm>
          <a:prstGeom prst="rect">
            <a:avLst/>
          </a:prstGeom>
        </p:spPr>
      </p:pic>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235440" cy="685800"/>
          </a:xfrm>
          <a:prstGeom prst="rect">
            <a:avLst/>
          </a:prstGeom>
          <a:noFill/>
          <a:ln/>
        </p:spPr>
        <p:txBody>
          <a:bodyPr wrap="square" lIns="0" tIns="0" rIns="0" bIns="0" rtlCol="0" anchor="ctr"/>
          <a:lstStyle/>
          <a:p>
            <a:pPr indent="0" marL="0">
              <a:buNone/>
            </a:pPr>
            <a:r>
              <a:rPr lang="en-US" sz="2800" b="1" dirty="0">
                <a:solidFill>
                  <a:srgbClr val="0A032B"/>
                </a:solidFill>
                <a:latin typeface="Montserrat" pitchFamily="34" charset="0"/>
                <a:ea typeface="Montserrat" pitchFamily="34" charset="-122"/>
                <a:cs typeface="Montserrat" pitchFamily="34" charset="-120"/>
              </a:rPr>
              <a:t>Exercice : classer les situations</a:t>
            </a:r>
            <a:endParaRPr lang="en-US" sz="2800" dirty="0"/>
          </a:p>
        </p:txBody>
      </p:sp>
      <p:sp>
        <p:nvSpPr>
          <p:cNvPr id="3" name="Text 1"/>
          <p:cNvSpPr txBox="1"/>
          <p:nvPr/>
        </p:nvSpPr>
        <p:spPr>
          <a:xfrm>
            <a:off x="548640" y="1024128"/>
            <a:ext cx="9235440" cy="365760"/>
          </a:xfrm>
          <a:prstGeom prst="rect">
            <a:avLst/>
          </a:prstGeom>
          <a:noFill/>
          <a:ln/>
        </p:spPr>
        <p:txBody>
          <a:bodyPr wrap="square" lIns="0" tIns="0" rIns="0" bIns="0" rtlCol="0" anchor="ctr"/>
          <a:lstStyle/>
          <a:p>
            <a:pPr indent="0" marL="0">
              <a:buNone/>
            </a:pPr>
            <a:r>
              <a:rPr lang="en-US" sz="1400" i="1" dirty="0">
                <a:solidFill>
                  <a:srgbClr val="5E5A78"/>
                </a:solidFill>
                <a:latin typeface="Arial" pitchFamily="34" charset="0"/>
                <a:ea typeface="Arial" pitchFamily="34" charset="-122"/>
                <a:cs typeface="Arial" pitchFamily="34" charset="-120"/>
              </a:rPr>
              <a:t>En sous-groupes, placez chaque carte-situation sur le feu tricolore (10 min + 5 min de restitution)</a:t>
            </a:r>
            <a:endParaRPr lang="en-US" sz="1400" dirty="0"/>
          </a:p>
        </p:txBody>
      </p:sp>
      <p:sp>
        <p:nvSpPr>
          <p:cNvPr id="4" name="Shape 2"/>
          <p:cNvSpPr/>
          <p:nvPr/>
        </p:nvSpPr>
        <p:spPr>
          <a:xfrm>
            <a:off x="10042855" y="530352"/>
            <a:ext cx="1600200" cy="347472"/>
          </a:xfrm>
          <a:prstGeom prst="roundRect">
            <a:avLst>
              <a:gd name="adj" fmla="val 50000"/>
            </a:avLst>
          </a:prstGeom>
          <a:solidFill>
            <a:srgbClr val="F0EF96"/>
          </a:solidFill>
          <a:ln w="12700">
            <a:solidFill>
              <a:srgbClr val="F0EF96"/>
            </a:solidFill>
            <a:prstDash val="solid"/>
          </a:ln>
        </p:spPr>
      </p:sp>
      <p:sp>
        <p:nvSpPr>
          <p:cNvPr id="5" name="Text 3"/>
          <p:cNvSpPr txBox="1"/>
          <p:nvPr/>
        </p:nvSpPr>
        <p:spPr>
          <a:xfrm>
            <a:off x="10042855" y="530352"/>
            <a:ext cx="1600200" cy="347472"/>
          </a:xfrm>
          <a:prstGeom prst="rect">
            <a:avLst/>
          </a:prstGeom>
          <a:noFill/>
          <a:ln/>
        </p:spPr>
        <p:txBody>
          <a:bodyPr wrap="square" lIns="0" tIns="0" rIns="0" bIns="0" rtlCol="0" anchor="ctr"/>
          <a:lstStyle/>
          <a:p>
            <a:pPr algn="ctr" indent="0" marL="0">
              <a:buNone/>
            </a:pPr>
            <a:r>
              <a:rPr lang="en-US" sz="1100" b="1" spc="200" kern="0" dirty="0">
                <a:solidFill>
                  <a:srgbClr val="0A032B"/>
                </a:solidFill>
                <a:latin typeface="Montserrat" pitchFamily="34" charset="0"/>
                <a:ea typeface="Montserrat" pitchFamily="34" charset="-122"/>
                <a:cs typeface="Montserrat" pitchFamily="34" charset="-120"/>
              </a:rPr>
              <a:t>PRATIQUE</a:t>
            </a:r>
            <a:endParaRPr lang="en-US" sz="1100" dirty="0"/>
          </a:p>
        </p:txBody>
      </p:sp>
      <p:sp>
        <p:nvSpPr>
          <p:cNvPr id="6" name="Text 4"/>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5E5A78"/>
                </a:solidFill>
                <a:latin typeface="Arial" pitchFamily="34" charset="0"/>
                <a:ea typeface="Arial" pitchFamily="34" charset="-122"/>
                <a:cs typeface="Arial" pitchFamily="34" charset="-120"/>
              </a:rPr>
              <a:t>Gestes et postures de l'élu  ·  Séquence 2</a:t>
            </a:r>
            <a:endParaRPr lang="en-US" sz="900" dirty="0"/>
          </a:p>
        </p:txBody>
      </p:sp>
      <p:pic>
        <p:nvPicPr>
          <p:cNvPr id="7" name="Image 0" descr="logo_light.png">    </p:cNvPr>
          <p:cNvPicPr>
            <a:picLocks noChangeAspect="1"/>
          </p:cNvPicPr>
          <p:nvPr/>
        </p:nvPicPr>
        <p:blipFill>
          <a:blip r:embed="rId1"/>
          <a:stretch>
            <a:fillRect/>
          </a:stretch>
        </p:blipFill>
        <p:spPr>
          <a:xfrm>
            <a:off x="10682935" y="6236208"/>
            <a:ext cx="960120" cy="398441"/>
          </a:xfrm>
          <a:prstGeom prst="rect">
            <a:avLst/>
          </a:prstGeom>
        </p:spPr>
      </p:pic>
      <p:sp>
        <p:nvSpPr>
          <p:cNvPr id="8" name="Shape 5"/>
          <p:cNvSpPr/>
          <p:nvPr/>
        </p:nvSpPr>
        <p:spPr>
          <a:xfrm>
            <a:off x="548640" y="1600200"/>
            <a:ext cx="5410048" cy="932688"/>
          </a:xfrm>
          <a:prstGeom prst="roundRect">
            <a:avLst>
              <a:gd name="adj" fmla="val 7843"/>
            </a:avLst>
          </a:prstGeom>
          <a:solidFill>
            <a:srgbClr val="EEEDF5"/>
          </a:solidFill>
          <a:ln w="12700">
            <a:solidFill>
              <a:srgbClr val="EEEDF5"/>
            </a:solidFill>
            <a:prstDash val="solid"/>
          </a:ln>
        </p:spPr>
      </p:sp>
      <p:sp>
        <p:nvSpPr>
          <p:cNvPr id="9" name="Shape 6"/>
          <p:cNvSpPr/>
          <p:nvPr/>
        </p:nvSpPr>
        <p:spPr>
          <a:xfrm>
            <a:off x="731520" y="1819656"/>
            <a:ext cx="502920" cy="502920"/>
          </a:xfrm>
          <a:prstGeom prst="ellipse">
            <a:avLst/>
          </a:prstGeom>
          <a:solidFill>
            <a:srgbClr val="F0EF96"/>
          </a:solidFill>
          <a:ln w="12700">
            <a:solidFill>
              <a:srgbClr val="F0EF96"/>
            </a:solidFill>
            <a:prstDash val="solid"/>
          </a:ln>
        </p:spPr>
      </p:sp>
      <p:sp>
        <p:nvSpPr>
          <p:cNvPr id="10" name="Text 7"/>
          <p:cNvSpPr txBox="1"/>
          <p:nvPr/>
        </p:nvSpPr>
        <p:spPr>
          <a:xfrm>
            <a:off x="731520" y="1819656"/>
            <a:ext cx="502920" cy="502920"/>
          </a:xfrm>
          <a:prstGeom prst="rect">
            <a:avLst/>
          </a:prstGeom>
          <a:noFill/>
          <a:ln/>
        </p:spPr>
        <p:txBody>
          <a:bodyPr wrap="square" lIns="0" tIns="0" rIns="0" bIns="0" rtlCol="0" anchor="ctr"/>
          <a:lstStyle/>
          <a:p>
            <a:pPr algn="ctr" indent="0" marL="0">
              <a:buNone/>
            </a:pPr>
            <a:r>
              <a:rPr lang="en-US" sz="1800" b="1" dirty="0">
                <a:solidFill>
                  <a:srgbClr val="0A032B"/>
                </a:solidFill>
                <a:latin typeface="Montserrat" pitchFamily="34" charset="0"/>
                <a:ea typeface="Montserrat" pitchFamily="34" charset="-122"/>
                <a:cs typeface="Montserrat" pitchFamily="34" charset="-120"/>
              </a:rPr>
              <a:t>1</a:t>
            </a:r>
            <a:endParaRPr lang="en-US" sz="1800" dirty="0"/>
          </a:p>
        </p:txBody>
      </p:sp>
      <p:sp>
        <p:nvSpPr>
          <p:cNvPr id="11" name="Text 8"/>
          <p:cNvSpPr txBox="1"/>
          <p:nvPr/>
        </p:nvSpPr>
        <p:spPr>
          <a:xfrm>
            <a:off x="1417320" y="1600200"/>
            <a:ext cx="3672688" cy="932688"/>
          </a:xfrm>
          <a:prstGeom prst="rect">
            <a:avLst/>
          </a:prstGeom>
          <a:noFill/>
          <a:ln/>
        </p:spPr>
        <p:txBody>
          <a:bodyPr wrap="square" lIns="0" tIns="0" rIns="0" bIns="0" rtlCol="0" anchor="ctr"/>
          <a:lstStyle/>
          <a:p>
            <a:pPr indent="0" marL="0">
              <a:buNone/>
            </a:pPr>
            <a:r>
              <a:rPr lang="en-US" sz="1350" dirty="0">
                <a:solidFill>
                  <a:srgbClr val="0A032B"/>
                </a:solidFill>
                <a:latin typeface="Arial" pitchFamily="34" charset="0"/>
                <a:ea typeface="Arial" pitchFamily="34" charset="-122"/>
                <a:cs typeface="Arial" pitchFamily="34" charset="-120"/>
              </a:rPr>
              <a:t>Installer seul 40 chaises empilables dans la salle des fêtes, la veille au soir.</a:t>
            </a:r>
            <a:endParaRPr lang="en-US" sz="1350" dirty="0"/>
          </a:p>
        </p:txBody>
      </p:sp>
      <p:sp>
        <p:nvSpPr>
          <p:cNvPr id="12" name="Shape 9"/>
          <p:cNvSpPr/>
          <p:nvPr/>
        </p:nvSpPr>
        <p:spPr>
          <a:xfrm>
            <a:off x="5135728" y="1965960"/>
            <a:ext cx="182880" cy="182880"/>
          </a:xfrm>
          <a:prstGeom prst="ellipse">
            <a:avLst/>
          </a:prstGeom>
          <a:solidFill>
            <a:srgbClr val="B3261E"/>
          </a:solidFill>
          <a:ln w="12700">
            <a:solidFill>
              <a:srgbClr val="B3261E"/>
            </a:solidFill>
            <a:prstDash val="solid"/>
          </a:ln>
        </p:spPr>
      </p:sp>
      <p:sp>
        <p:nvSpPr>
          <p:cNvPr id="13" name="Shape 10"/>
          <p:cNvSpPr/>
          <p:nvPr/>
        </p:nvSpPr>
        <p:spPr>
          <a:xfrm>
            <a:off x="5382616" y="1965960"/>
            <a:ext cx="182880" cy="182880"/>
          </a:xfrm>
          <a:prstGeom prst="ellipse">
            <a:avLst/>
          </a:prstGeom>
          <a:solidFill>
            <a:srgbClr val="E08A00"/>
          </a:solidFill>
          <a:ln w="12700">
            <a:solidFill>
              <a:srgbClr val="E08A00"/>
            </a:solidFill>
            <a:prstDash val="solid"/>
          </a:ln>
        </p:spPr>
      </p:sp>
      <p:sp>
        <p:nvSpPr>
          <p:cNvPr id="14" name="Shape 11"/>
          <p:cNvSpPr/>
          <p:nvPr/>
        </p:nvSpPr>
        <p:spPr>
          <a:xfrm>
            <a:off x="5629504" y="1965960"/>
            <a:ext cx="182880" cy="182880"/>
          </a:xfrm>
          <a:prstGeom prst="ellipse">
            <a:avLst/>
          </a:prstGeom>
          <a:solidFill>
            <a:srgbClr val="2E7D32"/>
          </a:solidFill>
          <a:ln w="12700">
            <a:solidFill>
              <a:srgbClr val="2E7D32"/>
            </a:solidFill>
            <a:prstDash val="solid"/>
          </a:ln>
        </p:spPr>
      </p:sp>
      <p:sp>
        <p:nvSpPr>
          <p:cNvPr id="15" name="Shape 12"/>
          <p:cNvSpPr/>
          <p:nvPr/>
        </p:nvSpPr>
        <p:spPr>
          <a:xfrm>
            <a:off x="6233008" y="1600200"/>
            <a:ext cx="5410048" cy="932688"/>
          </a:xfrm>
          <a:prstGeom prst="roundRect">
            <a:avLst>
              <a:gd name="adj" fmla="val 7843"/>
            </a:avLst>
          </a:prstGeom>
          <a:solidFill>
            <a:srgbClr val="EEEDF5"/>
          </a:solidFill>
          <a:ln w="12700">
            <a:solidFill>
              <a:srgbClr val="EEEDF5"/>
            </a:solidFill>
            <a:prstDash val="solid"/>
          </a:ln>
        </p:spPr>
      </p:sp>
      <p:sp>
        <p:nvSpPr>
          <p:cNvPr id="16" name="Shape 13"/>
          <p:cNvSpPr/>
          <p:nvPr/>
        </p:nvSpPr>
        <p:spPr>
          <a:xfrm>
            <a:off x="6415888" y="1819656"/>
            <a:ext cx="502920" cy="502920"/>
          </a:xfrm>
          <a:prstGeom prst="ellipse">
            <a:avLst/>
          </a:prstGeom>
          <a:solidFill>
            <a:srgbClr val="F0EF96"/>
          </a:solidFill>
          <a:ln w="12700">
            <a:solidFill>
              <a:srgbClr val="F0EF96"/>
            </a:solidFill>
            <a:prstDash val="solid"/>
          </a:ln>
        </p:spPr>
      </p:sp>
      <p:sp>
        <p:nvSpPr>
          <p:cNvPr id="17" name="Text 14"/>
          <p:cNvSpPr txBox="1"/>
          <p:nvPr/>
        </p:nvSpPr>
        <p:spPr>
          <a:xfrm>
            <a:off x="6415888" y="1819656"/>
            <a:ext cx="502920" cy="502920"/>
          </a:xfrm>
          <a:prstGeom prst="rect">
            <a:avLst/>
          </a:prstGeom>
          <a:noFill/>
          <a:ln/>
        </p:spPr>
        <p:txBody>
          <a:bodyPr wrap="square" lIns="0" tIns="0" rIns="0" bIns="0" rtlCol="0" anchor="ctr"/>
          <a:lstStyle/>
          <a:p>
            <a:pPr algn="ctr" indent="0" marL="0">
              <a:buNone/>
            </a:pPr>
            <a:r>
              <a:rPr lang="en-US" sz="1800" b="1" dirty="0">
                <a:solidFill>
                  <a:srgbClr val="0A032B"/>
                </a:solidFill>
                <a:latin typeface="Montserrat" pitchFamily="34" charset="0"/>
                <a:ea typeface="Montserrat" pitchFamily="34" charset="-122"/>
                <a:cs typeface="Montserrat" pitchFamily="34" charset="-120"/>
              </a:rPr>
              <a:t>2</a:t>
            </a:r>
            <a:endParaRPr lang="en-US" sz="1800" dirty="0"/>
          </a:p>
        </p:txBody>
      </p:sp>
      <p:sp>
        <p:nvSpPr>
          <p:cNvPr id="18" name="Text 15"/>
          <p:cNvSpPr txBox="1"/>
          <p:nvPr/>
        </p:nvSpPr>
        <p:spPr>
          <a:xfrm>
            <a:off x="7101688" y="1600200"/>
            <a:ext cx="3672688" cy="932688"/>
          </a:xfrm>
          <a:prstGeom prst="rect">
            <a:avLst/>
          </a:prstGeom>
          <a:noFill/>
          <a:ln/>
        </p:spPr>
        <p:txBody>
          <a:bodyPr wrap="square" lIns="0" tIns="0" rIns="0" bIns="0" rtlCol="0" anchor="ctr"/>
          <a:lstStyle/>
          <a:p>
            <a:pPr indent="0" marL="0">
              <a:buNone/>
            </a:pPr>
            <a:r>
              <a:rPr lang="en-US" sz="1350" dirty="0">
                <a:solidFill>
                  <a:srgbClr val="0A032B"/>
                </a:solidFill>
                <a:latin typeface="Arial" pitchFamily="34" charset="0"/>
                <a:ea typeface="Arial" pitchFamily="34" charset="-122"/>
                <a:cs typeface="Arial" pitchFamily="34" charset="-120"/>
              </a:rPr>
              <a:t>Porter 3 cartons d'archives de 15 kg du grenier de la mairie par un escalier étroit.</a:t>
            </a:r>
            <a:endParaRPr lang="en-US" sz="1350" dirty="0"/>
          </a:p>
        </p:txBody>
      </p:sp>
      <p:sp>
        <p:nvSpPr>
          <p:cNvPr id="19" name="Shape 16"/>
          <p:cNvSpPr/>
          <p:nvPr/>
        </p:nvSpPr>
        <p:spPr>
          <a:xfrm>
            <a:off x="10820095" y="1965960"/>
            <a:ext cx="182880" cy="182880"/>
          </a:xfrm>
          <a:prstGeom prst="ellipse">
            <a:avLst/>
          </a:prstGeom>
          <a:solidFill>
            <a:srgbClr val="B3261E"/>
          </a:solidFill>
          <a:ln w="12700">
            <a:solidFill>
              <a:srgbClr val="B3261E"/>
            </a:solidFill>
            <a:prstDash val="solid"/>
          </a:ln>
        </p:spPr>
      </p:sp>
      <p:sp>
        <p:nvSpPr>
          <p:cNvPr id="20" name="Shape 17"/>
          <p:cNvSpPr/>
          <p:nvPr/>
        </p:nvSpPr>
        <p:spPr>
          <a:xfrm>
            <a:off x="11066983" y="1965960"/>
            <a:ext cx="182880" cy="182880"/>
          </a:xfrm>
          <a:prstGeom prst="ellipse">
            <a:avLst/>
          </a:prstGeom>
          <a:solidFill>
            <a:srgbClr val="E08A00"/>
          </a:solidFill>
          <a:ln w="12700">
            <a:solidFill>
              <a:srgbClr val="E08A00"/>
            </a:solidFill>
            <a:prstDash val="solid"/>
          </a:ln>
        </p:spPr>
      </p:sp>
      <p:sp>
        <p:nvSpPr>
          <p:cNvPr id="21" name="Shape 18"/>
          <p:cNvSpPr/>
          <p:nvPr/>
        </p:nvSpPr>
        <p:spPr>
          <a:xfrm>
            <a:off x="11313871" y="1965960"/>
            <a:ext cx="182880" cy="182880"/>
          </a:xfrm>
          <a:prstGeom prst="ellipse">
            <a:avLst/>
          </a:prstGeom>
          <a:solidFill>
            <a:srgbClr val="2E7D32"/>
          </a:solidFill>
          <a:ln w="12700">
            <a:solidFill>
              <a:srgbClr val="2E7D32"/>
            </a:solidFill>
            <a:prstDash val="solid"/>
          </a:ln>
        </p:spPr>
      </p:sp>
      <p:sp>
        <p:nvSpPr>
          <p:cNvPr id="22" name="Shape 19"/>
          <p:cNvSpPr/>
          <p:nvPr/>
        </p:nvSpPr>
        <p:spPr>
          <a:xfrm>
            <a:off x="548640" y="2697480"/>
            <a:ext cx="5410048" cy="932688"/>
          </a:xfrm>
          <a:prstGeom prst="roundRect">
            <a:avLst>
              <a:gd name="adj" fmla="val 7843"/>
            </a:avLst>
          </a:prstGeom>
          <a:solidFill>
            <a:srgbClr val="EEEDF5"/>
          </a:solidFill>
          <a:ln w="12700">
            <a:solidFill>
              <a:srgbClr val="EEEDF5"/>
            </a:solidFill>
            <a:prstDash val="solid"/>
          </a:ln>
        </p:spPr>
      </p:sp>
      <p:sp>
        <p:nvSpPr>
          <p:cNvPr id="23" name="Shape 20"/>
          <p:cNvSpPr/>
          <p:nvPr/>
        </p:nvSpPr>
        <p:spPr>
          <a:xfrm>
            <a:off x="731520" y="2916936"/>
            <a:ext cx="502920" cy="502920"/>
          </a:xfrm>
          <a:prstGeom prst="ellipse">
            <a:avLst/>
          </a:prstGeom>
          <a:solidFill>
            <a:srgbClr val="F0EF96"/>
          </a:solidFill>
          <a:ln w="12700">
            <a:solidFill>
              <a:srgbClr val="F0EF96"/>
            </a:solidFill>
            <a:prstDash val="solid"/>
          </a:ln>
        </p:spPr>
      </p:sp>
      <p:sp>
        <p:nvSpPr>
          <p:cNvPr id="24" name="Text 21"/>
          <p:cNvSpPr txBox="1"/>
          <p:nvPr/>
        </p:nvSpPr>
        <p:spPr>
          <a:xfrm>
            <a:off x="731520" y="2916936"/>
            <a:ext cx="502920" cy="502920"/>
          </a:xfrm>
          <a:prstGeom prst="rect">
            <a:avLst/>
          </a:prstGeom>
          <a:noFill/>
          <a:ln/>
        </p:spPr>
        <p:txBody>
          <a:bodyPr wrap="square" lIns="0" tIns="0" rIns="0" bIns="0" rtlCol="0" anchor="ctr"/>
          <a:lstStyle/>
          <a:p>
            <a:pPr algn="ctr" indent="0" marL="0">
              <a:buNone/>
            </a:pPr>
            <a:r>
              <a:rPr lang="en-US" sz="1800" b="1" dirty="0">
                <a:solidFill>
                  <a:srgbClr val="0A032B"/>
                </a:solidFill>
                <a:latin typeface="Montserrat" pitchFamily="34" charset="0"/>
                <a:ea typeface="Montserrat" pitchFamily="34" charset="-122"/>
                <a:cs typeface="Montserrat" pitchFamily="34" charset="-120"/>
              </a:rPr>
              <a:t>3</a:t>
            </a:r>
            <a:endParaRPr lang="en-US" sz="1800" dirty="0"/>
          </a:p>
        </p:txBody>
      </p:sp>
      <p:sp>
        <p:nvSpPr>
          <p:cNvPr id="25" name="Text 22"/>
          <p:cNvSpPr txBox="1"/>
          <p:nvPr/>
        </p:nvSpPr>
        <p:spPr>
          <a:xfrm>
            <a:off x="1417320" y="2697480"/>
            <a:ext cx="3672688" cy="932688"/>
          </a:xfrm>
          <a:prstGeom prst="rect">
            <a:avLst/>
          </a:prstGeom>
          <a:noFill/>
          <a:ln/>
        </p:spPr>
        <p:txBody>
          <a:bodyPr wrap="square" lIns="0" tIns="0" rIns="0" bIns="0" rtlCol="0" anchor="ctr"/>
          <a:lstStyle/>
          <a:p>
            <a:pPr indent="0" marL="0">
              <a:buNone/>
            </a:pPr>
            <a:r>
              <a:rPr lang="en-US" sz="1350" dirty="0">
                <a:solidFill>
                  <a:srgbClr val="0A032B"/>
                </a:solidFill>
                <a:latin typeface="Arial" pitchFamily="34" charset="0"/>
                <a:ea typeface="Arial" pitchFamily="34" charset="-122"/>
                <a:cs typeface="Arial" pitchFamily="34" charset="-120"/>
              </a:rPr>
              <a:t>Déplacer une urne et un isoloir à deux, avec un chariot, sur un sol plat.</a:t>
            </a:r>
            <a:endParaRPr lang="en-US" sz="1350" dirty="0"/>
          </a:p>
        </p:txBody>
      </p:sp>
      <p:sp>
        <p:nvSpPr>
          <p:cNvPr id="26" name="Shape 23"/>
          <p:cNvSpPr/>
          <p:nvPr/>
        </p:nvSpPr>
        <p:spPr>
          <a:xfrm>
            <a:off x="5135728" y="3063240"/>
            <a:ext cx="182880" cy="182880"/>
          </a:xfrm>
          <a:prstGeom prst="ellipse">
            <a:avLst/>
          </a:prstGeom>
          <a:solidFill>
            <a:srgbClr val="B3261E"/>
          </a:solidFill>
          <a:ln w="12700">
            <a:solidFill>
              <a:srgbClr val="B3261E"/>
            </a:solidFill>
            <a:prstDash val="solid"/>
          </a:ln>
        </p:spPr>
      </p:sp>
      <p:sp>
        <p:nvSpPr>
          <p:cNvPr id="27" name="Shape 24"/>
          <p:cNvSpPr/>
          <p:nvPr/>
        </p:nvSpPr>
        <p:spPr>
          <a:xfrm>
            <a:off x="5382616" y="3063240"/>
            <a:ext cx="182880" cy="182880"/>
          </a:xfrm>
          <a:prstGeom prst="ellipse">
            <a:avLst/>
          </a:prstGeom>
          <a:solidFill>
            <a:srgbClr val="E08A00"/>
          </a:solidFill>
          <a:ln w="12700">
            <a:solidFill>
              <a:srgbClr val="E08A00"/>
            </a:solidFill>
            <a:prstDash val="solid"/>
          </a:ln>
        </p:spPr>
      </p:sp>
      <p:sp>
        <p:nvSpPr>
          <p:cNvPr id="28" name="Shape 25"/>
          <p:cNvSpPr/>
          <p:nvPr/>
        </p:nvSpPr>
        <p:spPr>
          <a:xfrm>
            <a:off x="5629504" y="3063240"/>
            <a:ext cx="182880" cy="182880"/>
          </a:xfrm>
          <a:prstGeom prst="ellipse">
            <a:avLst/>
          </a:prstGeom>
          <a:solidFill>
            <a:srgbClr val="2E7D32"/>
          </a:solidFill>
          <a:ln w="12700">
            <a:solidFill>
              <a:srgbClr val="2E7D32"/>
            </a:solidFill>
            <a:prstDash val="solid"/>
          </a:ln>
        </p:spPr>
      </p:sp>
      <p:sp>
        <p:nvSpPr>
          <p:cNvPr id="29" name="Shape 26"/>
          <p:cNvSpPr/>
          <p:nvPr/>
        </p:nvSpPr>
        <p:spPr>
          <a:xfrm>
            <a:off x="6233008" y="2697480"/>
            <a:ext cx="5410048" cy="932688"/>
          </a:xfrm>
          <a:prstGeom prst="roundRect">
            <a:avLst>
              <a:gd name="adj" fmla="val 7843"/>
            </a:avLst>
          </a:prstGeom>
          <a:solidFill>
            <a:srgbClr val="EEEDF5"/>
          </a:solidFill>
          <a:ln w="12700">
            <a:solidFill>
              <a:srgbClr val="EEEDF5"/>
            </a:solidFill>
            <a:prstDash val="solid"/>
          </a:ln>
        </p:spPr>
      </p:sp>
      <p:sp>
        <p:nvSpPr>
          <p:cNvPr id="30" name="Shape 27"/>
          <p:cNvSpPr/>
          <p:nvPr/>
        </p:nvSpPr>
        <p:spPr>
          <a:xfrm>
            <a:off x="6415888" y="2916936"/>
            <a:ext cx="502920" cy="502920"/>
          </a:xfrm>
          <a:prstGeom prst="ellipse">
            <a:avLst/>
          </a:prstGeom>
          <a:solidFill>
            <a:srgbClr val="F0EF96"/>
          </a:solidFill>
          <a:ln w="12700">
            <a:solidFill>
              <a:srgbClr val="F0EF96"/>
            </a:solidFill>
            <a:prstDash val="solid"/>
          </a:ln>
        </p:spPr>
      </p:sp>
      <p:sp>
        <p:nvSpPr>
          <p:cNvPr id="31" name="Text 28"/>
          <p:cNvSpPr txBox="1"/>
          <p:nvPr/>
        </p:nvSpPr>
        <p:spPr>
          <a:xfrm>
            <a:off x="6415888" y="2916936"/>
            <a:ext cx="502920" cy="502920"/>
          </a:xfrm>
          <a:prstGeom prst="rect">
            <a:avLst/>
          </a:prstGeom>
          <a:noFill/>
          <a:ln/>
        </p:spPr>
        <p:txBody>
          <a:bodyPr wrap="square" lIns="0" tIns="0" rIns="0" bIns="0" rtlCol="0" anchor="ctr"/>
          <a:lstStyle/>
          <a:p>
            <a:pPr algn="ctr" indent="0" marL="0">
              <a:buNone/>
            </a:pPr>
            <a:r>
              <a:rPr lang="en-US" sz="1800" b="1" dirty="0">
                <a:solidFill>
                  <a:srgbClr val="0A032B"/>
                </a:solidFill>
                <a:latin typeface="Montserrat" pitchFamily="34" charset="0"/>
                <a:ea typeface="Montserrat" pitchFamily="34" charset="-122"/>
                <a:cs typeface="Montserrat" pitchFamily="34" charset="-120"/>
              </a:rPr>
              <a:t>4</a:t>
            </a:r>
            <a:endParaRPr lang="en-US" sz="1800" dirty="0"/>
          </a:p>
        </p:txBody>
      </p:sp>
      <p:sp>
        <p:nvSpPr>
          <p:cNvPr id="32" name="Text 29"/>
          <p:cNvSpPr txBox="1"/>
          <p:nvPr/>
        </p:nvSpPr>
        <p:spPr>
          <a:xfrm>
            <a:off x="7101688" y="2697480"/>
            <a:ext cx="3672688" cy="932688"/>
          </a:xfrm>
          <a:prstGeom prst="rect">
            <a:avLst/>
          </a:prstGeom>
          <a:noFill/>
          <a:ln/>
        </p:spPr>
        <p:txBody>
          <a:bodyPr wrap="square" lIns="0" tIns="0" rIns="0" bIns="0" rtlCol="0" anchor="ctr"/>
          <a:lstStyle/>
          <a:p>
            <a:pPr indent="0" marL="0">
              <a:buNone/>
            </a:pPr>
            <a:r>
              <a:rPr lang="en-US" sz="1350" dirty="0">
                <a:solidFill>
                  <a:srgbClr val="0A032B"/>
                </a:solidFill>
                <a:latin typeface="Arial" pitchFamily="34" charset="0"/>
                <a:ea typeface="Arial" pitchFamily="34" charset="-122"/>
                <a:cs typeface="Arial" pitchFamily="34" charset="-120"/>
              </a:rPr>
              <a:t>Monter un barnum avec 4 bénévoles, sous la pluie, sans consignes.</a:t>
            </a:r>
            <a:endParaRPr lang="en-US" sz="1350" dirty="0"/>
          </a:p>
        </p:txBody>
      </p:sp>
      <p:sp>
        <p:nvSpPr>
          <p:cNvPr id="33" name="Shape 30"/>
          <p:cNvSpPr/>
          <p:nvPr/>
        </p:nvSpPr>
        <p:spPr>
          <a:xfrm>
            <a:off x="10820095" y="3063240"/>
            <a:ext cx="182880" cy="182880"/>
          </a:xfrm>
          <a:prstGeom prst="ellipse">
            <a:avLst/>
          </a:prstGeom>
          <a:solidFill>
            <a:srgbClr val="B3261E"/>
          </a:solidFill>
          <a:ln w="12700">
            <a:solidFill>
              <a:srgbClr val="B3261E"/>
            </a:solidFill>
            <a:prstDash val="solid"/>
          </a:ln>
        </p:spPr>
      </p:sp>
      <p:sp>
        <p:nvSpPr>
          <p:cNvPr id="34" name="Shape 31"/>
          <p:cNvSpPr/>
          <p:nvPr/>
        </p:nvSpPr>
        <p:spPr>
          <a:xfrm>
            <a:off x="11066983" y="3063240"/>
            <a:ext cx="182880" cy="182880"/>
          </a:xfrm>
          <a:prstGeom prst="ellipse">
            <a:avLst/>
          </a:prstGeom>
          <a:solidFill>
            <a:srgbClr val="E08A00"/>
          </a:solidFill>
          <a:ln w="12700">
            <a:solidFill>
              <a:srgbClr val="E08A00"/>
            </a:solidFill>
            <a:prstDash val="solid"/>
          </a:ln>
        </p:spPr>
      </p:sp>
      <p:sp>
        <p:nvSpPr>
          <p:cNvPr id="35" name="Shape 32"/>
          <p:cNvSpPr/>
          <p:nvPr/>
        </p:nvSpPr>
        <p:spPr>
          <a:xfrm>
            <a:off x="11313871" y="3063240"/>
            <a:ext cx="182880" cy="182880"/>
          </a:xfrm>
          <a:prstGeom prst="ellipse">
            <a:avLst/>
          </a:prstGeom>
          <a:solidFill>
            <a:srgbClr val="2E7D32"/>
          </a:solidFill>
          <a:ln w="12700">
            <a:solidFill>
              <a:srgbClr val="2E7D32"/>
            </a:solidFill>
            <a:prstDash val="solid"/>
          </a:ln>
        </p:spPr>
      </p:sp>
      <p:sp>
        <p:nvSpPr>
          <p:cNvPr id="36" name="Shape 33"/>
          <p:cNvSpPr/>
          <p:nvPr/>
        </p:nvSpPr>
        <p:spPr>
          <a:xfrm>
            <a:off x="548640" y="3794760"/>
            <a:ext cx="5410048" cy="932688"/>
          </a:xfrm>
          <a:prstGeom prst="roundRect">
            <a:avLst>
              <a:gd name="adj" fmla="val 7843"/>
            </a:avLst>
          </a:prstGeom>
          <a:solidFill>
            <a:srgbClr val="EEEDF5"/>
          </a:solidFill>
          <a:ln w="12700">
            <a:solidFill>
              <a:srgbClr val="EEEDF5"/>
            </a:solidFill>
            <a:prstDash val="solid"/>
          </a:ln>
        </p:spPr>
      </p:sp>
      <p:sp>
        <p:nvSpPr>
          <p:cNvPr id="37" name="Shape 34"/>
          <p:cNvSpPr/>
          <p:nvPr/>
        </p:nvSpPr>
        <p:spPr>
          <a:xfrm>
            <a:off x="731520" y="4014216"/>
            <a:ext cx="502920" cy="502920"/>
          </a:xfrm>
          <a:prstGeom prst="ellipse">
            <a:avLst/>
          </a:prstGeom>
          <a:solidFill>
            <a:srgbClr val="F0EF96"/>
          </a:solidFill>
          <a:ln w="12700">
            <a:solidFill>
              <a:srgbClr val="F0EF96"/>
            </a:solidFill>
            <a:prstDash val="solid"/>
          </a:ln>
        </p:spPr>
      </p:sp>
      <p:sp>
        <p:nvSpPr>
          <p:cNvPr id="38" name="Text 35"/>
          <p:cNvSpPr txBox="1"/>
          <p:nvPr/>
        </p:nvSpPr>
        <p:spPr>
          <a:xfrm>
            <a:off x="731520" y="4014216"/>
            <a:ext cx="502920" cy="502920"/>
          </a:xfrm>
          <a:prstGeom prst="rect">
            <a:avLst/>
          </a:prstGeom>
          <a:noFill/>
          <a:ln/>
        </p:spPr>
        <p:txBody>
          <a:bodyPr wrap="square" lIns="0" tIns="0" rIns="0" bIns="0" rtlCol="0" anchor="ctr"/>
          <a:lstStyle/>
          <a:p>
            <a:pPr algn="ctr" indent="0" marL="0">
              <a:buNone/>
            </a:pPr>
            <a:r>
              <a:rPr lang="en-US" sz="1800" b="1" dirty="0">
                <a:solidFill>
                  <a:srgbClr val="0A032B"/>
                </a:solidFill>
                <a:latin typeface="Montserrat" pitchFamily="34" charset="0"/>
                <a:ea typeface="Montserrat" pitchFamily="34" charset="-122"/>
                <a:cs typeface="Montserrat" pitchFamily="34" charset="-120"/>
              </a:rPr>
              <a:t>5</a:t>
            </a:r>
            <a:endParaRPr lang="en-US" sz="1800" dirty="0"/>
          </a:p>
        </p:txBody>
      </p:sp>
      <p:sp>
        <p:nvSpPr>
          <p:cNvPr id="39" name="Text 36"/>
          <p:cNvSpPr txBox="1"/>
          <p:nvPr/>
        </p:nvSpPr>
        <p:spPr>
          <a:xfrm>
            <a:off x="1417320" y="3794760"/>
            <a:ext cx="3672688" cy="932688"/>
          </a:xfrm>
          <a:prstGeom prst="rect">
            <a:avLst/>
          </a:prstGeom>
          <a:noFill/>
          <a:ln/>
        </p:spPr>
        <p:txBody>
          <a:bodyPr wrap="square" lIns="0" tIns="0" rIns="0" bIns="0" rtlCol="0" anchor="ctr"/>
          <a:lstStyle/>
          <a:p>
            <a:pPr indent="0" marL="0">
              <a:buNone/>
            </a:pPr>
            <a:r>
              <a:rPr lang="en-US" sz="1350" dirty="0">
                <a:solidFill>
                  <a:srgbClr val="0A032B"/>
                </a:solidFill>
                <a:latin typeface="Arial" pitchFamily="34" charset="0"/>
                <a:ea typeface="Arial" pitchFamily="34" charset="-122"/>
                <a:cs typeface="Arial" pitchFamily="34" charset="-120"/>
              </a:rPr>
              <a:t>Sortir un pack d'eau du coffre de sa voiture, jambes fléchies.</a:t>
            </a:r>
            <a:endParaRPr lang="en-US" sz="1350" dirty="0"/>
          </a:p>
        </p:txBody>
      </p:sp>
      <p:sp>
        <p:nvSpPr>
          <p:cNvPr id="40" name="Shape 37"/>
          <p:cNvSpPr/>
          <p:nvPr/>
        </p:nvSpPr>
        <p:spPr>
          <a:xfrm>
            <a:off x="5135728" y="4160520"/>
            <a:ext cx="182880" cy="182880"/>
          </a:xfrm>
          <a:prstGeom prst="ellipse">
            <a:avLst/>
          </a:prstGeom>
          <a:solidFill>
            <a:srgbClr val="B3261E"/>
          </a:solidFill>
          <a:ln w="12700">
            <a:solidFill>
              <a:srgbClr val="B3261E"/>
            </a:solidFill>
            <a:prstDash val="solid"/>
          </a:ln>
        </p:spPr>
      </p:sp>
      <p:sp>
        <p:nvSpPr>
          <p:cNvPr id="41" name="Shape 38"/>
          <p:cNvSpPr/>
          <p:nvPr/>
        </p:nvSpPr>
        <p:spPr>
          <a:xfrm>
            <a:off x="5382616" y="4160520"/>
            <a:ext cx="182880" cy="182880"/>
          </a:xfrm>
          <a:prstGeom prst="ellipse">
            <a:avLst/>
          </a:prstGeom>
          <a:solidFill>
            <a:srgbClr val="E08A00"/>
          </a:solidFill>
          <a:ln w="12700">
            <a:solidFill>
              <a:srgbClr val="E08A00"/>
            </a:solidFill>
            <a:prstDash val="solid"/>
          </a:ln>
        </p:spPr>
      </p:sp>
      <p:sp>
        <p:nvSpPr>
          <p:cNvPr id="42" name="Shape 39"/>
          <p:cNvSpPr/>
          <p:nvPr/>
        </p:nvSpPr>
        <p:spPr>
          <a:xfrm>
            <a:off x="5629504" y="4160520"/>
            <a:ext cx="182880" cy="182880"/>
          </a:xfrm>
          <a:prstGeom prst="ellipse">
            <a:avLst/>
          </a:prstGeom>
          <a:solidFill>
            <a:srgbClr val="2E7D32"/>
          </a:solidFill>
          <a:ln w="12700">
            <a:solidFill>
              <a:srgbClr val="2E7D32"/>
            </a:solidFill>
            <a:prstDash val="solid"/>
          </a:ln>
        </p:spPr>
      </p:sp>
      <p:sp>
        <p:nvSpPr>
          <p:cNvPr id="43" name="Shape 40"/>
          <p:cNvSpPr/>
          <p:nvPr/>
        </p:nvSpPr>
        <p:spPr>
          <a:xfrm>
            <a:off x="6233008" y="3794760"/>
            <a:ext cx="5410048" cy="932688"/>
          </a:xfrm>
          <a:prstGeom prst="roundRect">
            <a:avLst>
              <a:gd name="adj" fmla="val 7843"/>
            </a:avLst>
          </a:prstGeom>
          <a:solidFill>
            <a:srgbClr val="EEEDF5"/>
          </a:solidFill>
          <a:ln w="12700">
            <a:solidFill>
              <a:srgbClr val="EEEDF5"/>
            </a:solidFill>
            <a:prstDash val="solid"/>
          </a:ln>
        </p:spPr>
      </p:sp>
      <p:sp>
        <p:nvSpPr>
          <p:cNvPr id="44" name="Shape 41"/>
          <p:cNvSpPr/>
          <p:nvPr/>
        </p:nvSpPr>
        <p:spPr>
          <a:xfrm>
            <a:off x="6415888" y="4014216"/>
            <a:ext cx="502920" cy="502920"/>
          </a:xfrm>
          <a:prstGeom prst="ellipse">
            <a:avLst/>
          </a:prstGeom>
          <a:solidFill>
            <a:srgbClr val="F0EF96"/>
          </a:solidFill>
          <a:ln w="12700">
            <a:solidFill>
              <a:srgbClr val="F0EF96"/>
            </a:solidFill>
            <a:prstDash val="solid"/>
          </a:ln>
        </p:spPr>
      </p:sp>
      <p:sp>
        <p:nvSpPr>
          <p:cNvPr id="45" name="Text 42"/>
          <p:cNvSpPr txBox="1"/>
          <p:nvPr/>
        </p:nvSpPr>
        <p:spPr>
          <a:xfrm>
            <a:off x="6415888" y="4014216"/>
            <a:ext cx="502920" cy="502920"/>
          </a:xfrm>
          <a:prstGeom prst="rect">
            <a:avLst/>
          </a:prstGeom>
          <a:noFill/>
          <a:ln/>
        </p:spPr>
        <p:txBody>
          <a:bodyPr wrap="square" lIns="0" tIns="0" rIns="0" bIns="0" rtlCol="0" anchor="ctr"/>
          <a:lstStyle/>
          <a:p>
            <a:pPr algn="ctr" indent="0" marL="0">
              <a:buNone/>
            </a:pPr>
            <a:r>
              <a:rPr lang="en-US" sz="1800" b="1" dirty="0">
                <a:solidFill>
                  <a:srgbClr val="0A032B"/>
                </a:solidFill>
                <a:latin typeface="Montserrat" pitchFamily="34" charset="0"/>
                <a:ea typeface="Montserrat" pitchFamily="34" charset="-122"/>
                <a:cs typeface="Montserrat" pitchFamily="34" charset="-120"/>
              </a:rPr>
              <a:t>6</a:t>
            </a:r>
            <a:endParaRPr lang="en-US" sz="1800" dirty="0"/>
          </a:p>
        </p:txBody>
      </p:sp>
      <p:sp>
        <p:nvSpPr>
          <p:cNvPr id="46" name="Text 43"/>
          <p:cNvSpPr txBox="1"/>
          <p:nvPr/>
        </p:nvSpPr>
        <p:spPr>
          <a:xfrm>
            <a:off x="7101688" y="3794760"/>
            <a:ext cx="3672688" cy="932688"/>
          </a:xfrm>
          <a:prstGeom prst="rect">
            <a:avLst/>
          </a:prstGeom>
          <a:noFill/>
          <a:ln/>
        </p:spPr>
        <p:txBody>
          <a:bodyPr wrap="square" lIns="0" tIns="0" rIns="0" bIns="0" rtlCol="0" anchor="ctr"/>
          <a:lstStyle/>
          <a:p>
            <a:pPr indent="0" marL="0">
              <a:buNone/>
            </a:pPr>
            <a:r>
              <a:rPr lang="en-US" sz="1350" dirty="0">
                <a:solidFill>
                  <a:srgbClr val="0A032B"/>
                </a:solidFill>
                <a:latin typeface="Arial" pitchFamily="34" charset="0"/>
                <a:ea typeface="Arial" pitchFamily="34" charset="-122"/>
                <a:cs typeface="Arial" pitchFamily="34" charset="-120"/>
              </a:rPr>
              <a:t>Déplacer un pupitre de cérémonie de 20 kg sur 50 mètres, seul.</a:t>
            </a:r>
            <a:endParaRPr lang="en-US" sz="1350" dirty="0"/>
          </a:p>
        </p:txBody>
      </p:sp>
      <p:sp>
        <p:nvSpPr>
          <p:cNvPr id="47" name="Shape 44"/>
          <p:cNvSpPr/>
          <p:nvPr/>
        </p:nvSpPr>
        <p:spPr>
          <a:xfrm>
            <a:off x="10820095" y="4160520"/>
            <a:ext cx="182880" cy="182880"/>
          </a:xfrm>
          <a:prstGeom prst="ellipse">
            <a:avLst/>
          </a:prstGeom>
          <a:solidFill>
            <a:srgbClr val="B3261E"/>
          </a:solidFill>
          <a:ln w="12700">
            <a:solidFill>
              <a:srgbClr val="B3261E"/>
            </a:solidFill>
            <a:prstDash val="solid"/>
          </a:ln>
        </p:spPr>
      </p:sp>
      <p:sp>
        <p:nvSpPr>
          <p:cNvPr id="48" name="Shape 45"/>
          <p:cNvSpPr/>
          <p:nvPr/>
        </p:nvSpPr>
        <p:spPr>
          <a:xfrm>
            <a:off x="11066983" y="4160520"/>
            <a:ext cx="182880" cy="182880"/>
          </a:xfrm>
          <a:prstGeom prst="ellipse">
            <a:avLst/>
          </a:prstGeom>
          <a:solidFill>
            <a:srgbClr val="E08A00"/>
          </a:solidFill>
          <a:ln w="12700">
            <a:solidFill>
              <a:srgbClr val="E08A00"/>
            </a:solidFill>
            <a:prstDash val="solid"/>
          </a:ln>
        </p:spPr>
      </p:sp>
      <p:sp>
        <p:nvSpPr>
          <p:cNvPr id="49" name="Shape 46"/>
          <p:cNvSpPr/>
          <p:nvPr/>
        </p:nvSpPr>
        <p:spPr>
          <a:xfrm>
            <a:off x="11313871" y="4160520"/>
            <a:ext cx="182880" cy="182880"/>
          </a:xfrm>
          <a:prstGeom prst="ellipse">
            <a:avLst/>
          </a:prstGeom>
          <a:solidFill>
            <a:srgbClr val="2E7D32"/>
          </a:solidFill>
          <a:ln w="12700">
            <a:solidFill>
              <a:srgbClr val="2E7D32"/>
            </a:solidFill>
            <a:prstDash val="solid"/>
          </a:ln>
        </p:spPr>
      </p:sp>
      <p:sp>
        <p:nvSpPr>
          <p:cNvPr id="50" name="Shape 47"/>
          <p:cNvSpPr/>
          <p:nvPr/>
        </p:nvSpPr>
        <p:spPr>
          <a:xfrm>
            <a:off x="548640" y="4892040"/>
            <a:ext cx="5410048" cy="932688"/>
          </a:xfrm>
          <a:prstGeom prst="roundRect">
            <a:avLst>
              <a:gd name="adj" fmla="val 7843"/>
            </a:avLst>
          </a:prstGeom>
          <a:solidFill>
            <a:srgbClr val="EEEDF5"/>
          </a:solidFill>
          <a:ln w="12700">
            <a:solidFill>
              <a:srgbClr val="EEEDF5"/>
            </a:solidFill>
            <a:prstDash val="solid"/>
          </a:ln>
        </p:spPr>
      </p:sp>
      <p:sp>
        <p:nvSpPr>
          <p:cNvPr id="51" name="Shape 48"/>
          <p:cNvSpPr/>
          <p:nvPr/>
        </p:nvSpPr>
        <p:spPr>
          <a:xfrm>
            <a:off x="731520" y="5111496"/>
            <a:ext cx="502920" cy="502920"/>
          </a:xfrm>
          <a:prstGeom prst="ellipse">
            <a:avLst/>
          </a:prstGeom>
          <a:solidFill>
            <a:srgbClr val="F0EF96"/>
          </a:solidFill>
          <a:ln w="12700">
            <a:solidFill>
              <a:srgbClr val="F0EF96"/>
            </a:solidFill>
            <a:prstDash val="solid"/>
          </a:ln>
        </p:spPr>
      </p:sp>
      <p:sp>
        <p:nvSpPr>
          <p:cNvPr id="52" name="Text 49"/>
          <p:cNvSpPr txBox="1"/>
          <p:nvPr/>
        </p:nvSpPr>
        <p:spPr>
          <a:xfrm>
            <a:off x="731520" y="5111496"/>
            <a:ext cx="502920" cy="502920"/>
          </a:xfrm>
          <a:prstGeom prst="rect">
            <a:avLst/>
          </a:prstGeom>
          <a:noFill/>
          <a:ln/>
        </p:spPr>
        <p:txBody>
          <a:bodyPr wrap="square" lIns="0" tIns="0" rIns="0" bIns="0" rtlCol="0" anchor="ctr"/>
          <a:lstStyle/>
          <a:p>
            <a:pPr algn="ctr" indent="0" marL="0">
              <a:buNone/>
            </a:pPr>
            <a:r>
              <a:rPr lang="en-US" sz="1800" b="1" dirty="0">
                <a:solidFill>
                  <a:srgbClr val="0A032B"/>
                </a:solidFill>
                <a:latin typeface="Montserrat" pitchFamily="34" charset="0"/>
                <a:ea typeface="Montserrat" pitchFamily="34" charset="-122"/>
                <a:cs typeface="Montserrat" pitchFamily="34" charset="-120"/>
              </a:rPr>
              <a:t>7</a:t>
            </a:r>
            <a:endParaRPr lang="en-US" sz="1800" dirty="0"/>
          </a:p>
        </p:txBody>
      </p:sp>
      <p:sp>
        <p:nvSpPr>
          <p:cNvPr id="53" name="Text 50"/>
          <p:cNvSpPr txBox="1"/>
          <p:nvPr/>
        </p:nvSpPr>
        <p:spPr>
          <a:xfrm>
            <a:off x="1417320" y="4892040"/>
            <a:ext cx="3672688" cy="932688"/>
          </a:xfrm>
          <a:prstGeom prst="rect">
            <a:avLst/>
          </a:prstGeom>
          <a:noFill/>
          <a:ln/>
        </p:spPr>
        <p:txBody>
          <a:bodyPr wrap="square" lIns="0" tIns="0" rIns="0" bIns="0" rtlCol="0" anchor="ctr"/>
          <a:lstStyle/>
          <a:p>
            <a:pPr indent="0" marL="0">
              <a:buNone/>
            </a:pPr>
            <a:r>
              <a:rPr lang="en-US" sz="1350" dirty="0">
                <a:solidFill>
                  <a:srgbClr val="0A032B"/>
                </a:solidFill>
                <a:latin typeface="Arial" pitchFamily="34" charset="0"/>
                <a:ea typeface="Arial" pitchFamily="34" charset="-122"/>
                <a:cs typeface="Arial" pitchFamily="34" charset="-120"/>
              </a:rPr>
              <a:t>Ranger des dossiers légers sur une étagère à hauteur de poitrine.</a:t>
            </a:r>
            <a:endParaRPr lang="en-US" sz="1350" dirty="0"/>
          </a:p>
        </p:txBody>
      </p:sp>
      <p:sp>
        <p:nvSpPr>
          <p:cNvPr id="54" name="Shape 51"/>
          <p:cNvSpPr/>
          <p:nvPr/>
        </p:nvSpPr>
        <p:spPr>
          <a:xfrm>
            <a:off x="5135728" y="5257800"/>
            <a:ext cx="182880" cy="182880"/>
          </a:xfrm>
          <a:prstGeom prst="ellipse">
            <a:avLst/>
          </a:prstGeom>
          <a:solidFill>
            <a:srgbClr val="B3261E"/>
          </a:solidFill>
          <a:ln w="12700">
            <a:solidFill>
              <a:srgbClr val="B3261E"/>
            </a:solidFill>
            <a:prstDash val="solid"/>
          </a:ln>
        </p:spPr>
      </p:sp>
      <p:sp>
        <p:nvSpPr>
          <p:cNvPr id="55" name="Shape 52"/>
          <p:cNvSpPr/>
          <p:nvPr/>
        </p:nvSpPr>
        <p:spPr>
          <a:xfrm>
            <a:off x="5382616" y="5257800"/>
            <a:ext cx="182880" cy="182880"/>
          </a:xfrm>
          <a:prstGeom prst="ellipse">
            <a:avLst/>
          </a:prstGeom>
          <a:solidFill>
            <a:srgbClr val="E08A00"/>
          </a:solidFill>
          <a:ln w="12700">
            <a:solidFill>
              <a:srgbClr val="E08A00"/>
            </a:solidFill>
            <a:prstDash val="solid"/>
          </a:ln>
        </p:spPr>
      </p:sp>
      <p:sp>
        <p:nvSpPr>
          <p:cNvPr id="56" name="Shape 53"/>
          <p:cNvSpPr/>
          <p:nvPr/>
        </p:nvSpPr>
        <p:spPr>
          <a:xfrm>
            <a:off x="5629504" y="5257800"/>
            <a:ext cx="182880" cy="182880"/>
          </a:xfrm>
          <a:prstGeom prst="ellipse">
            <a:avLst/>
          </a:prstGeom>
          <a:solidFill>
            <a:srgbClr val="2E7D32"/>
          </a:solidFill>
          <a:ln w="12700">
            <a:solidFill>
              <a:srgbClr val="2E7D32"/>
            </a:solidFill>
            <a:prstDash val="solid"/>
          </a:ln>
        </p:spPr>
      </p:sp>
      <p:sp>
        <p:nvSpPr>
          <p:cNvPr id="57" name="Shape 54"/>
          <p:cNvSpPr/>
          <p:nvPr/>
        </p:nvSpPr>
        <p:spPr>
          <a:xfrm>
            <a:off x="6233008" y="4892040"/>
            <a:ext cx="5410048" cy="932688"/>
          </a:xfrm>
          <a:prstGeom prst="roundRect">
            <a:avLst>
              <a:gd name="adj" fmla="val 7843"/>
            </a:avLst>
          </a:prstGeom>
          <a:solidFill>
            <a:srgbClr val="EEEDF5"/>
          </a:solidFill>
          <a:ln w="12700">
            <a:solidFill>
              <a:srgbClr val="EEEDF5"/>
            </a:solidFill>
            <a:prstDash val="solid"/>
          </a:ln>
        </p:spPr>
      </p:sp>
      <p:sp>
        <p:nvSpPr>
          <p:cNvPr id="58" name="Shape 55"/>
          <p:cNvSpPr/>
          <p:nvPr/>
        </p:nvSpPr>
        <p:spPr>
          <a:xfrm>
            <a:off x="6415888" y="5111496"/>
            <a:ext cx="502920" cy="502920"/>
          </a:xfrm>
          <a:prstGeom prst="ellipse">
            <a:avLst/>
          </a:prstGeom>
          <a:solidFill>
            <a:srgbClr val="F0EF96"/>
          </a:solidFill>
          <a:ln w="12700">
            <a:solidFill>
              <a:srgbClr val="F0EF96"/>
            </a:solidFill>
            <a:prstDash val="solid"/>
          </a:ln>
        </p:spPr>
      </p:sp>
      <p:sp>
        <p:nvSpPr>
          <p:cNvPr id="59" name="Text 56"/>
          <p:cNvSpPr txBox="1"/>
          <p:nvPr/>
        </p:nvSpPr>
        <p:spPr>
          <a:xfrm>
            <a:off x="6415888" y="5111496"/>
            <a:ext cx="502920" cy="502920"/>
          </a:xfrm>
          <a:prstGeom prst="rect">
            <a:avLst/>
          </a:prstGeom>
          <a:noFill/>
          <a:ln/>
        </p:spPr>
        <p:txBody>
          <a:bodyPr wrap="square" lIns="0" tIns="0" rIns="0" bIns="0" rtlCol="0" anchor="ctr"/>
          <a:lstStyle/>
          <a:p>
            <a:pPr algn="ctr" indent="0" marL="0">
              <a:buNone/>
            </a:pPr>
            <a:r>
              <a:rPr lang="en-US" sz="1800" b="1" dirty="0">
                <a:solidFill>
                  <a:srgbClr val="0A032B"/>
                </a:solidFill>
                <a:latin typeface="Montserrat" pitchFamily="34" charset="0"/>
                <a:ea typeface="Montserrat" pitchFamily="34" charset="-122"/>
                <a:cs typeface="Montserrat" pitchFamily="34" charset="-120"/>
              </a:rPr>
              <a:t>8</a:t>
            </a:r>
            <a:endParaRPr lang="en-US" sz="1800" dirty="0"/>
          </a:p>
        </p:txBody>
      </p:sp>
      <p:sp>
        <p:nvSpPr>
          <p:cNvPr id="60" name="Text 57"/>
          <p:cNvSpPr txBox="1"/>
          <p:nvPr/>
        </p:nvSpPr>
        <p:spPr>
          <a:xfrm>
            <a:off x="7101688" y="4892040"/>
            <a:ext cx="3672688" cy="932688"/>
          </a:xfrm>
          <a:prstGeom prst="rect">
            <a:avLst/>
          </a:prstGeom>
          <a:noFill/>
          <a:ln/>
        </p:spPr>
        <p:txBody>
          <a:bodyPr wrap="square" lIns="0" tIns="0" rIns="0" bIns="0" rtlCol="0" anchor="ctr"/>
          <a:lstStyle/>
          <a:p>
            <a:pPr indent="0" marL="0">
              <a:buNone/>
            </a:pPr>
            <a:r>
              <a:rPr lang="en-US" sz="1350" dirty="0">
                <a:solidFill>
                  <a:srgbClr val="0A032B"/>
                </a:solidFill>
                <a:latin typeface="Arial" pitchFamily="34" charset="0"/>
                <a:ea typeface="Arial" pitchFamily="34" charset="-122"/>
                <a:cs typeface="Arial" pitchFamily="34" charset="-120"/>
              </a:rPr>
              <a:t>Décharger un camion de tables pliantes en 30 minutes, à deux, sans diable.</a:t>
            </a:r>
            <a:endParaRPr lang="en-US" sz="1350" dirty="0"/>
          </a:p>
        </p:txBody>
      </p:sp>
      <p:sp>
        <p:nvSpPr>
          <p:cNvPr id="61" name="Shape 58"/>
          <p:cNvSpPr/>
          <p:nvPr/>
        </p:nvSpPr>
        <p:spPr>
          <a:xfrm>
            <a:off x="10820095" y="5257800"/>
            <a:ext cx="182880" cy="182880"/>
          </a:xfrm>
          <a:prstGeom prst="ellipse">
            <a:avLst/>
          </a:prstGeom>
          <a:solidFill>
            <a:srgbClr val="B3261E"/>
          </a:solidFill>
          <a:ln w="12700">
            <a:solidFill>
              <a:srgbClr val="B3261E"/>
            </a:solidFill>
            <a:prstDash val="solid"/>
          </a:ln>
        </p:spPr>
      </p:sp>
      <p:sp>
        <p:nvSpPr>
          <p:cNvPr id="62" name="Shape 59"/>
          <p:cNvSpPr/>
          <p:nvPr/>
        </p:nvSpPr>
        <p:spPr>
          <a:xfrm>
            <a:off x="11066983" y="5257800"/>
            <a:ext cx="182880" cy="182880"/>
          </a:xfrm>
          <a:prstGeom prst="ellipse">
            <a:avLst/>
          </a:prstGeom>
          <a:solidFill>
            <a:srgbClr val="E08A00"/>
          </a:solidFill>
          <a:ln w="12700">
            <a:solidFill>
              <a:srgbClr val="E08A00"/>
            </a:solidFill>
            <a:prstDash val="solid"/>
          </a:ln>
        </p:spPr>
      </p:sp>
      <p:sp>
        <p:nvSpPr>
          <p:cNvPr id="63" name="Shape 60"/>
          <p:cNvSpPr/>
          <p:nvPr/>
        </p:nvSpPr>
        <p:spPr>
          <a:xfrm>
            <a:off x="11313871" y="5257800"/>
            <a:ext cx="182880" cy="182880"/>
          </a:xfrm>
          <a:prstGeom prst="ellipse">
            <a:avLst/>
          </a:prstGeom>
          <a:solidFill>
            <a:srgbClr val="2E7D32"/>
          </a:solidFill>
          <a:ln w="12700">
            <a:solidFill>
              <a:srgbClr val="2E7D32"/>
            </a:solidFill>
            <a:prstDash val="solid"/>
          </a:ln>
        </p:spPr>
      </p:sp>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EEDF5"/>
        </a:solidFill>
      </p:bgPr>
    </p:bg>
    <p:spTree>
      <p:nvGrpSpPr>
        <p:cNvPr id="1" name=""/>
        <p:cNvGrpSpPr/>
        <p:nvPr/>
      </p:nvGrpSpPr>
      <p:grpSpPr>
        <a:xfrm>
          <a:off x="0" y="0"/>
          <a:ext cx="0" cy="0"/>
          <a:chOff x="0" y="0"/>
          <a:chExt cx="0" cy="0"/>
        </a:xfrm>
      </p:grpSpPr>
      <p:sp>
        <p:nvSpPr>
          <p:cNvPr id="2" name="Text 0"/>
          <p:cNvSpPr txBox="1"/>
          <p:nvPr/>
        </p:nvSpPr>
        <p:spPr>
          <a:xfrm>
            <a:off x="548640" y="365760"/>
            <a:ext cx="9235440" cy="685800"/>
          </a:xfrm>
          <a:prstGeom prst="rect">
            <a:avLst/>
          </a:prstGeom>
          <a:noFill/>
          <a:ln/>
        </p:spPr>
        <p:txBody>
          <a:bodyPr wrap="square" lIns="0" tIns="0" rIns="0" bIns="0" rtlCol="0" anchor="ctr"/>
          <a:lstStyle/>
          <a:p>
            <a:pPr indent="0" marL="0">
              <a:buNone/>
            </a:pPr>
            <a:r>
              <a:rPr lang="en-US" sz="2800" b="1" dirty="0">
                <a:solidFill>
                  <a:srgbClr val="0A032B"/>
                </a:solidFill>
                <a:latin typeface="Montserrat" pitchFamily="34" charset="0"/>
                <a:ea typeface="Montserrat" pitchFamily="34" charset="-122"/>
                <a:cs typeface="Montserrat" pitchFamily="34" charset="-120"/>
              </a:rPr>
              <a:t>À retenir</a:t>
            </a:r>
            <a:endParaRPr lang="en-US" sz="2800" dirty="0"/>
          </a:p>
        </p:txBody>
      </p:sp>
      <p:sp>
        <p:nvSpPr>
          <p:cNvPr id="3" name="Text 1"/>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5E5A78"/>
                </a:solidFill>
                <a:latin typeface="Arial" pitchFamily="34" charset="0"/>
                <a:ea typeface="Arial" pitchFamily="34" charset="-122"/>
                <a:cs typeface="Arial" pitchFamily="34" charset="-120"/>
              </a:rPr>
              <a:t>Gestes et postures de l'élu  ·  Séquence 2</a:t>
            </a:r>
            <a:endParaRPr lang="en-US" sz="900" dirty="0"/>
          </a:p>
        </p:txBody>
      </p:sp>
      <p:pic>
        <p:nvPicPr>
          <p:cNvPr id="4" name="Image 0" descr="logo_light.png">    </p:cNvPr>
          <p:cNvPicPr>
            <a:picLocks noChangeAspect="1"/>
          </p:cNvPicPr>
          <p:nvPr/>
        </p:nvPicPr>
        <p:blipFill>
          <a:blip r:embed="rId1"/>
          <a:stretch>
            <a:fillRect/>
          </a:stretch>
        </p:blipFill>
        <p:spPr>
          <a:xfrm>
            <a:off x="10682935" y="6236208"/>
            <a:ext cx="960120" cy="398441"/>
          </a:xfrm>
          <a:prstGeom prst="rect">
            <a:avLst/>
          </a:prstGeom>
        </p:spPr>
      </p:pic>
      <p:sp>
        <p:nvSpPr>
          <p:cNvPr id="5" name="Shape 2"/>
          <p:cNvSpPr/>
          <p:nvPr/>
        </p:nvSpPr>
        <p:spPr>
          <a:xfrm>
            <a:off x="548640" y="1417320"/>
            <a:ext cx="5410048" cy="1341120"/>
          </a:xfrm>
          <a:prstGeom prst="roundRect">
            <a:avLst>
              <a:gd name="adj" fmla="val 5455"/>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777240" y="1859280"/>
            <a:ext cx="457200" cy="457200"/>
          </a:xfrm>
          <a:prstGeom prst="ellipse">
            <a:avLst/>
          </a:prstGeom>
          <a:solidFill>
            <a:srgbClr val="F0EF96"/>
          </a:solidFill>
          <a:ln w="12700">
            <a:solidFill>
              <a:srgbClr val="F0EF96"/>
            </a:solidFill>
            <a:prstDash val="solid"/>
          </a:ln>
        </p:spPr>
      </p:sp>
      <p:pic>
        <p:nvPicPr>
          <p:cNvPr id="7" name="Image 1" descr="preencoded.png">    </p:cNvPr>
          <p:cNvPicPr>
            <a:picLocks noChangeAspect="1"/>
          </p:cNvPicPr>
          <p:nvPr/>
        </p:nvPicPr>
        <p:blipFill>
          <a:blip r:embed="rId2"/>
          <a:stretch>
            <a:fillRect/>
          </a:stretch>
        </p:blipFill>
        <p:spPr>
          <a:xfrm>
            <a:off x="891540" y="1973580"/>
            <a:ext cx="228600" cy="228600"/>
          </a:xfrm>
          <a:prstGeom prst="rect">
            <a:avLst/>
          </a:prstGeom>
        </p:spPr>
      </p:pic>
      <p:sp>
        <p:nvSpPr>
          <p:cNvPr id="8" name="Text 4"/>
          <p:cNvSpPr txBox="1"/>
          <p:nvPr/>
        </p:nvSpPr>
        <p:spPr>
          <a:xfrm>
            <a:off x="1417320" y="1508760"/>
            <a:ext cx="4358488" cy="1158240"/>
          </a:xfrm>
          <a:prstGeom prst="rect">
            <a:avLst/>
          </a:prstGeom>
          <a:noFill/>
          <a:ln/>
        </p:spPr>
        <p:txBody>
          <a:bodyPr wrap="square" lIns="0" tIns="0" rIns="0" bIns="0" rtlCol="0" anchor="ctr"/>
          <a:lstStyle/>
          <a:p>
            <a:pPr indent="0" marL="0">
              <a:buNone/>
            </a:pPr>
            <a:r>
              <a:rPr lang="en-US" sz="1400" dirty="0">
                <a:solidFill>
                  <a:srgbClr val="0A032B"/>
                </a:solidFill>
                <a:latin typeface="Arial" pitchFamily="34" charset="0"/>
                <a:ea typeface="Arial" pitchFamily="34" charset="-122"/>
                <a:cs typeface="Arial" pitchFamily="34" charset="-120"/>
              </a:rPr>
              <a:t>Le mandat comporte de nombreuses manutentions occasionnelles, rarement préparées.</a:t>
            </a:r>
            <a:endParaRPr lang="en-US" sz="1400" dirty="0"/>
          </a:p>
        </p:txBody>
      </p:sp>
      <p:sp>
        <p:nvSpPr>
          <p:cNvPr id="9" name="Shape 5"/>
          <p:cNvSpPr/>
          <p:nvPr/>
        </p:nvSpPr>
        <p:spPr>
          <a:xfrm>
            <a:off x="6233008" y="1417320"/>
            <a:ext cx="5410048" cy="1341120"/>
          </a:xfrm>
          <a:prstGeom prst="roundRect">
            <a:avLst>
              <a:gd name="adj" fmla="val 5455"/>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0" name="Shape 6"/>
          <p:cNvSpPr/>
          <p:nvPr/>
        </p:nvSpPr>
        <p:spPr>
          <a:xfrm>
            <a:off x="6461608" y="1859280"/>
            <a:ext cx="457200" cy="457200"/>
          </a:xfrm>
          <a:prstGeom prst="ellipse">
            <a:avLst/>
          </a:prstGeom>
          <a:solidFill>
            <a:srgbClr val="F0EF96"/>
          </a:solidFill>
          <a:ln w="12700">
            <a:solidFill>
              <a:srgbClr val="F0EF96"/>
            </a:solidFill>
            <a:prstDash val="solid"/>
          </a:ln>
        </p:spPr>
      </p:sp>
      <p:pic>
        <p:nvPicPr>
          <p:cNvPr id="11" name="Image 2" descr="preencoded.png">    </p:cNvPr>
          <p:cNvPicPr>
            <a:picLocks noChangeAspect="1"/>
          </p:cNvPicPr>
          <p:nvPr/>
        </p:nvPicPr>
        <p:blipFill>
          <a:blip r:embed="rId3"/>
          <a:stretch>
            <a:fillRect/>
          </a:stretch>
        </p:blipFill>
        <p:spPr>
          <a:xfrm>
            <a:off x="6575908" y="1973580"/>
            <a:ext cx="228600" cy="228600"/>
          </a:xfrm>
          <a:prstGeom prst="rect">
            <a:avLst/>
          </a:prstGeom>
        </p:spPr>
      </p:pic>
      <p:sp>
        <p:nvSpPr>
          <p:cNvPr id="12" name="Text 7"/>
          <p:cNvSpPr txBox="1"/>
          <p:nvPr/>
        </p:nvSpPr>
        <p:spPr>
          <a:xfrm>
            <a:off x="7101688" y="1508760"/>
            <a:ext cx="4358488" cy="1158240"/>
          </a:xfrm>
          <a:prstGeom prst="rect">
            <a:avLst/>
          </a:prstGeom>
          <a:noFill/>
          <a:ln/>
        </p:spPr>
        <p:txBody>
          <a:bodyPr wrap="square" lIns="0" tIns="0" rIns="0" bIns="0" rtlCol="0" anchor="ctr"/>
          <a:lstStyle/>
          <a:p>
            <a:pPr indent="0" marL="0">
              <a:buNone/>
            </a:pPr>
            <a:r>
              <a:rPr lang="en-US" sz="1400" dirty="0">
                <a:solidFill>
                  <a:srgbClr val="0A032B"/>
                </a:solidFill>
                <a:latin typeface="Arial" pitchFamily="34" charset="0"/>
                <a:ea typeface="Arial" pitchFamily="34" charset="-122"/>
                <a:cs typeface="Arial" pitchFamily="34" charset="-120"/>
              </a:rPr>
              <a:t>5 questions : la charge, la tâche, l'environnement, l'organisation, la personne.</a:t>
            </a:r>
            <a:endParaRPr lang="en-US" sz="1400" dirty="0"/>
          </a:p>
        </p:txBody>
      </p:sp>
      <p:sp>
        <p:nvSpPr>
          <p:cNvPr id="13" name="Shape 8"/>
          <p:cNvSpPr/>
          <p:nvPr/>
        </p:nvSpPr>
        <p:spPr>
          <a:xfrm>
            <a:off x="548640" y="3032760"/>
            <a:ext cx="5410048" cy="1341120"/>
          </a:xfrm>
          <a:prstGeom prst="roundRect">
            <a:avLst>
              <a:gd name="adj" fmla="val 5455"/>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4" name="Shape 9"/>
          <p:cNvSpPr/>
          <p:nvPr/>
        </p:nvSpPr>
        <p:spPr>
          <a:xfrm>
            <a:off x="777240" y="3474720"/>
            <a:ext cx="457200" cy="457200"/>
          </a:xfrm>
          <a:prstGeom prst="ellipse">
            <a:avLst/>
          </a:prstGeom>
          <a:solidFill>
            <a:srgbClr val="F0EF96"/>
          </a:solidFill>
          <a:ln w="12700">
            <a:solidFill>
              <a:srgbClr val="F0EF96"/>
            </a:solidFill>
            <a:prstDash val="solid"/>
          </a:ln>
        </p:spPr>
      </p:sp>
      <p:pic>
        <p:nvPicPr>
          <p:cNvPr id="15" name="Image 3" descr="preencoded.png">    </p:cNvPr>
          <p:cNvPicPr>
            <a:picLocks noChangeAspect="1"/>
          </p:cNvPicPr>
          <p:nvPr/>
        </p:nvPicPr>
        <p:blipFill>
          <a:blip r:embed="rId4"/>
          <a:stretch>
            <a:fillRect/>
          </a:stretch>
        </p:blipFill>
        <p:spPr>
          <a:xfrm>
            <a:off x="891540" y="3589020"/>
            <a:ext cx="228600" cy="228600"/>
          </a:xfrm>
          <a:prstGeom prst="rect">
            <a:avLst/>
          </a:prstGeom>
        </p:spPr>
      </p:pic>
      <p:sp>
        <p:nvSpPr>
          <p:cNvPr id="16" name="Text 10"/>
          <p:cNvSpPr txBox="1"/>
          <p:nvPr/>
        </p:nvSpPr>
        <p:spPr>
          <a:xfrm>
            <a:off x="1417320" y="3124200"/>
            <a:ext cx="4358488" cy="1158240"/>
          </a:xfrm>
          <a:prstGeom prst="rect">
            <a:avLst/>
          </a:prstGeom>
          <a:noFill/>
          <a:ln/>
        </p:spPr>
        <p:txBody>
          <a:bodyPr wrap="square" lIns="0" tIns="0" rIns="0" bIns="0" rtlCol="0" anchor="ctr"/>
          <a:lstStyle/>
          <a:p>
            <a:pPr indent="0" marL="0">
              <a:buNone/>
            </a:pPr>
            <a:r>
              <a:rPr lang="en-US" sz="1400" dirty="0">
                <a:solidFill>
                  <a:srgbClr val="0A032B"/>
                </a:solidFill>
                <a:latin typeface="Arial" pitchFamily="34" charset="0"/>
                <a:ea typeface="Arial" pitchFamily="34" charset="-122"/>
                <a:cs typeface="Arial" pitchFamily="34" charset="-120"/>
              </a:rPr>
              <a:t>Les limites légales sont des maxima, pas des objectifs.</a:t>
            </a:r>
            <a:endParaRPr lang="en-US" sz="1400" dirty="0"/>
          </a:p>
        </p:txBody>
      </p:sp>
      <p:sp>
        <p:nvSpPr>
          <p:cNvPr id="17" name="Shape 11"/>
          <p:cNvSpPr/>
          <p:nvPr/>
        </p:nvSpPr>
        <p:spPr>
          <a:xfrm>
            <a:off x="6233008" y="3032760"/>
            <a:ext cx="5410048" cy="1341120"/>
          </a:xfrm>
          <a:prstGeom prst="roundRect">
            <a:avLst>
              <a:gd name="adj" fmla="val 5455"/>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8" name="Shape 12"/>
          <p:cNvSpPr/>
          <p:nvPr/>
        </p:nvSpPr>
        <p:spPr>
          <a:xfrm>
            <a:off x="6461608" y="3474720"/>
            <a:ext cx="457200" cy="457200"/>
          </a:xfrm>
          <a:prstGeom prst="ellipse">
            <a:avLst/>
          </a:prstGeom>
          <a:solidFill>
            <a:srgbClr val="F0EF96"/>
          </a:solidFill>
          <a:ln w="12700">
            <a:solidFill>
              <a:srgbClr val="F0EF96"/>
            </a:solidFill>
            <a:prstDash val="solid"/>
          </a:ln>
        </p:spPr>
      </p:sp>
      <p:pic>
        <p:nvPicPr>
          <p:cNvPr id="19" name="Image 4" descr="preencoded.png">    </p:cNvPr>
          <p:cNvPicPr>
            <a:picLocks noChangeAspect="1"/>
          </p:cNvPicPr>
          <p:nvPr/>
        </p:nvPicPr>
        <p:blipFill>
          <a:blip r:embed="rId5"/>
          <a:stretch>
            <a:fillRect/>
          </a:stretch>
        </p:blipFill>
        <p:spPr>
          <a:xfrm>
            <a:off x="6575908" y="3589020"/>
            <a:ext cx="228600" cy="228600"/>
          </a:xfrm>
          <a:prstGeom prst="rect">
            <a:avLst/>
          </a:prstGeom>
        </p:spPr>
      </p:pic>
      <p:sp>
        <p:nvSpPr>
          <p:cNvPr id="20" name="Text 13"/>
          <p:cNvSpPr txBox="1"/>
          <p:nvPr/>
        </p:nvSpPr>
        <p:spPr>
          <a:xfrm>
            <a:off x="7101688" y="3124200"/>
            <a:ext cx="4358488" cy="1158240"/>
          </a:xfrm>
          <a:prstGeom prst="rect">
            <a:avLst/>
          </a:prstGeom>
          <a:noFill/>
          <a:ln/>
        </p:spPr>
        <p:txBody>
          <a:bodyPr wrap="square" lIns="0" tIns="0" rIns="0" bIns="0" rtlCol="0" anchor="ctr"/>
          <a:lstStyle/>
          <a:p>
            <a:pPr indent="0" marL="0">
              <a:buNone/>
            </a:pPr>
            <a:r>
              <a:rPr lang="en-US" sz="1400" dirty="0">
                <a:solidFill>
                  <a:srgbClr val="0A032B"/>
                </a:solidFill>
                <a:latin typeface="Arial" pitchFamily="34" charset="0"/>
                <a:ea typeface="Arial" pitchFamily="34" charset="-122"/>
                <a:cs typeface="Arial" pitchFamily="34" charset="-120"/>
              </a:rPr>
              <a:t>Le feu tricolore aide à décider où agir en premier.</a:t>
            </a:r>
            <a:endParaRPr lang="en-US" sz="1400" dirty="0"/>
          </a:p>
        </p:txBody>
      </p:sp>
      <p:sp>
        <p:nvSpPr>
          <p:cNvPr id="21" name="Shape 14"/>
          <p:cNvSpPr/>
          <p:nvPr/>
        </p:nvSpPr>
        <p:spPr>
          <a:xfrm>
            <a:off x="548640" y="4648200"/>
            <a:ext cx="5410048" cy="1341120"/>
          </a:xfrm>
          <a:prstGeom prst="roundRect">
            <a:avLst>
              <a:gd name="adj" fmla="val 5455"/>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22" name="Shape 15"/>
          <p:cNvSpPr/>
          <p:nvPr/>
        </p:nvSpPr>
        <p:spPr>
          <a:xfrm>
            <a:off x="777240" y="5090160"/>
            <a:ext cx="457200" cy="457200"/>
          </a:xfrm>
          <a:prstGeom prst="ellipse">
            <a:avLst/>
          </a:prstGeom>
          <a:solidFill>
            <a:srgbClr val="F0EF96"/>
          </a:solidFill>
          <a:ln w="12700">
            <a:solidFill>
              <a:srgbClr val="F0EF96"/>
            </a:solidFill>
            <a:prstDash val="solid"/>
          </a:ln>
        </p:spPr>
      </p:sp>
      <p:pic>
        <p:nvPicPr>
          <p:cNvPr id="23" name="Image 5" descr="preencoded.png">    </p:cNvPr>
          <p:cNvPicPr>
            <a:picLocks noChangeAspect="1"/>
          </p:cNvPicPr>
          <p:nvPr/>
        </p:nvPicPr>
        <p:blipFill>
          <a:blip r:embed="rId6"/>
          <a:stretch>
            <a:fillRect/>
          </a:stretch>
        </p:blipFill>
        <p:spPr>
          <a:xfrm>
            <a:off x="891540" y="5204460"/>
            <a:ext cx="228600" cy="228600"/>
          </a:xfrm>
          <a:prstGeom prst="rect">
            <a:avLst/>
          </a:prstGeom>
        </p:spPr>
      </p:pic>
      <p:sp>
        <p:nvSpPr>
          <p:cNvPr id="24" name="Text 16"/>
          <p:cNvSpPr txBox="1"/>
          <p:nvPr/>
        </p:nvSpPr>
        <p:spPr>
          <a:xfrm>
            <a:off x="1417320" y="4739640"/>
            <a:ext cx="4358488" cy="1158240"/>
          </a:xfrm>
          <a:prstGeom prst="rect">
            <a:avLst/>
          </a:prstGeom>
          <a:noFill/>
          <a:ln/>
        </p:spPr>
        <p:txBody>
          <a:bodyPr wrap="square" lIns="0" tIns="0" rIns="0" bIns="0" rtlCol="0" anchor="ctr"/>
          <a:lstStyle/>
          <a:p>
            <a:pPr indent="0" marL="0">
              <a:buNone/>
            </a:pPr>
            <a:r>
              <a:rPr lang="en-US" sz="1400" dirty="0">
                <a:solidFill>
                  <a:srgbClr val="0A032B"/>
                </a:solidFill>
                <a:latin typeface="Arial" pitchFamily="34" charset="0"/>
                <a:ea typeface="Arial" pitchFamily="34" charset="-122"/>
                <a:cs typeface="Arial" pitchFamily="34" charset="-120"/>
              </a:rPr>
              <a:t>L'urgence et l'absence d'aide technique transforment une tâche simple en risque.</a:t>
            </a:r>
            <a:endParaRPr lang="en-US" sz="1400" dirty="0"/>
          </a:p>
        </p:txBody>
      </p:sp>
      <p:sp>
        <p:nvSpPr>
          <p:cNvPr id="25" name="Shape 17"/>
          <p:cNvSpPr/>
          <p:nvPr/>
        </p:nvSpPr>
        <p:spPr>
          <a:xfrm>
            <a:off x="6233008" y="4648200"/>
            <a:ext cx="5410048" cy="1341120"/>
          </a:xfrm>
          <a:prstGeom prst="roundRect">
            <a:avLst>
              <a:gd name="adj" fmla="val 5455"/>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26" name="Shape 18"/>
          <p:cNvSpPr/>
          <p:nvPr/>
        </p:nvSpPr>
        <p:spPr>
          <a:xfrm>
            <a:off x="6461608" y="5090160"/>
            <a:ext cx="457200" cy="457200"/>
          </a:xfrm>
          <a:prstGeom prst="ellipse">
            <a:avLst/>
          </a:prstGeom>
          <a:solidFill>
            <a:srgbClr val="F0EF96"/>
          </a:solidFill>
          <a:ln w="12700">
            <a:solidFill>
              <a:srgbClr val="F0EF96"/>
            </a:solidFill>
            <a:prstDash val="solid"/>
          </a:ln>
        </p:spPr>
      </p:sp>
      <p:pic>
        <p:nvPicPr>
          <p:cNvPr id="27" name="Image 6" descr="preencoded.png">    </p:cNvPr>
          <p:cNvPicPr>
            <a:picLocks noChangeAspect="1"/>
          </p:cNvPicPr>
          <p:nvPr/>
        </p:nvPicPr>
        <p:blipFill>
          <a:blip r:embed="rId7"/>
          <a:stretch>
            <a:fillRect/>
          </a:stretch>
        </p:blipFill>
        <p:spPr>
          <a:xfrm>
            <a:off x="6575908" y="5204460"/>
            <a:ext cx="228600" cy="228600"/>
          </a:xfrm>
          <a:prstGeom prst="rect">
            <a:avLst/>
          </a:prstGeom>
        </p:spPr>
      </p:pic>
      <p:sp>
        <p:nvSpPr>
          <p:cNvPr id="28" name="Text 19"/>
          <p:cNvSpPr txBox="1"/>
          <p:nvPr/>
        </p:nvSpPr>
        <p:spPr>
          <a:xfrm>
            <a:off x="7101688" y="4739640"/>
            <a:ext cx="4358488" cy="1158240"/>
          </a:xfrm>
          <a:prstGeom prst="rect">
            <a:avLst/>
          </a:prstGeom>
          <a:noFill/>
          <a:ln/>
        </p:spPr>
        <p:txBody>
          <a:bodyPr wrap="square" lIns="0" tIns="0" rIns="0" bIns="0" rtlCol="0" anchor="ctr"/>
          <a:lstStyle/>
          <a:p>
            <a:pPr indent="0" marL="0">
              <a:buNone/>
            </a:pPr>
            <a:r>
              <a:rPr lang="en-US" sz="1400" dirty="0">
                <a:solidFill>
                  <a:srgbClr val="0A032B"/>
                </a:solidFill>
                <a:latin typeface="Arial" pitchFamily="34" charset="0"/>
                <a:ea typeface="Arial" pitchFamily="34" charset="-122"/>
                <a:cs typeface="Arial" pitchFamily="34" charset="-120"/>
              </a:rPr>
              <a:t>Repérer une situation, c'est déjà pouvoir la réorganiser.</a:t>
            </a:r>
            <a:endParaRPr lang="en-US" sz="1400" dirty="0"/>
          </a:p>
        </p:txBody>
      </p:sp>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0EF96"/>
        </a:solidFill>
      </p:bgPr>
    </p:bg>
    <p:spTree>
      <p:nvGrpSpPr>
        <p:cNvPr id="1" name=""/>
        <p:cNvGrpSpPr/>
        <p:nvPr/>
      </p:nvGrpSpPr>
      <p:grpSpPr>
        <a:xfrm>
          <a:off x="0" y="0"/>
          <a:ext cx="0" cy="0"/>
          <a:chOff x="0" y="0"/>
          <a:chExt cx="0" cy="0"/>
        </a:xfrm>
      </p:grpSpPr>
      <p:sp>
        <p:nvSpPr>
          <p:cNvPr id="2" name="Shape 0"/>
          <p:cNvSpPr/>
          <p:nvPr/>
        </p:nvSpPr>
        <p:spPr>
          <a:xfrm>
            <a:off x="5272888" y="1463040"/>
            <a:ext cx="1645920" cy="1645920"/>
          </a:xfrm>
          <a:prstGeom prst="ellipse">
            <a:avLst/>
          </a:prstGeom>
          <a:solidFill>
            <a:srgbClr val="0A032B"/>
          </a:solidFill>
          <a:ln w="12700">
            <a:solidFill>
              <a:srgbClr val="0A032B"/>
            </a:solidFill>
            <a:prstDash val="solid"/>
          </a:ln>
        </p:spPr>
      </p:sp>
      <p:pic>
        <p:nvPicPr>
          <p:cNvPr id="3" name="Image 0" descr="preencoded.png">    </p:cNvPr>
          <p:cNvPicPr>
            <a:picLocks noChangeAspect="1"/>
          </p:cNvPicPr>
          <p:nvPr/>
        </p:nvPicPr>
        <p:blipFill>
          <a:blip r:embed="rId1"/>
          <a:stretch>
            <a:fillRect/>
          </a:stretch>
        </p:blipFill>
        <p:spPr>
          <a:xfrm>
            <a:off x="5684368" y="1874520"/>
            <a:ext cx="822960" cy="822960"/>
          </a:xfrm>
          <a:prstGeom prst="rect">
            <a:avLst/>
          </a:prstGeom>
        </p:spPr>
      </p:pic>
      <p:sp>
        <p:nvSpPr>
          <p:cNvPr id="4" name="Text 1"/>
          <p:cNvSpPr txBox="1"/>
          <p:nvPr/>
        </p:nvSpPr>
        <p:spPr>
          <a:xfrm>
            <a:off x="548640" y="3383280"/>
            <a:ext cx="11094415" cy="822960"/>
          </a:xfrm>
          <a:prstGeom prst="rect">
            <a:avLst/>
          </a:prstGeom>
          <a:noFill/>
          <a:ln/>
        </p:spPr>
        <p:txBody>
          <a:bodyPr wrap="square" lIns="0" tIns="0" rIns="0" bIns="0" rtlCol="0" anchor="ctr"/>
          <a:lstStyle/>
          <a:p>
            <a:pPr algn="ctr" indent="0" marL="0">
              <a:buNone/>
            </a:pPr>
            <a:r>
              <a:rPr lang="en-US" sz="4400" b="1" dirty="0">
                <a:solidFill>
                  <a:srgbClr val="0A032B"/>
                </a:solidFill>
                <a:latin typeface="Montserrat" pitchFamily="34" charset="0"/>
                <a:ea typeface="Montserrat" pitchFamily="34" charset="-122"/>
                <a:cs typeface="Montserrat" pitchFamily="34" charset="-120"/>
              </a:rPr>
              <a:t>Pause</a:t>
            </a:r>
            <a:endParaRPr lang="en-US" sz="4400" dirty="0"/>
          </a:p>
        </p:txBody>
      </p:sp>
      <p:sp>
        <p:nvSpPr>
          <p:cNvPr id="5" name="Text 2"/>
          <p:cNvSpPr txBox="1"/>
          <p:nvPr/>
        </p:nvSpPr>
        <p:spPr>
          <a:xfrm>
            <a:off x="548640" y="4206240"/>
            <a:ext cx="11094415" cy="548640"/>
          </a:xfrm>
          <a:prstGeom prst="rect">
            <a:avLst/>
          </a:prstGeom>
          <a:noFill/>
          <a:ln/>
        </p:spPr>
        <p:txBody>
          <a:bodyPr wrap="square" lIns="0" tIns="0" rIns="0" bIns="0" rtlCol="0" anchor="ctr"/>
          <a:lstStyle/>
          <a:p>
            <a:pPr algn="ctr" indent="0" marL="0">
              <a:buNone/>
            </a:pPr>
            <a:r>
              <a:rPr lang="en-US" sz="2000" dirty="0">
                <a:solidFill>
                  <a:srgbClr val="35305C"/>
                </a:solidFill>
                <a:latin typeface="Arial" pitchFamily="34" charset="0"/>
                <a:ea typeface="Arial" pitchFamily="34" charset="-122"/>
                <a:cs typeface="Arial" pitchFamily="34" charset="-120"/>
              </a:rPr>
              <a:t>15 minutes</a:t>
            </a:r>
            <a:endParaRPr lang="en-US" sz="2000" dirty="0"/>
          </a:p>
        </p:txBody>
      </p:sp>
      <p:pic>
        <p:nvPicPr>
          <p:cNvPr id="6" name="Image 1" descr="logo_light.png">    </p:cNvPr>
          <p:cNvPicPr>
            <a:picLocks noChangeAspect="1"/>
          </p:cNvPicPr>
          <p:nvPr/>
        </p:nvPicPr>
        <p:blipFill>
          <a:blip r:embed="rId2"/>
          <a:stretch>
            <a:fillRect/>
          </a:stretch>
        </p:blipFill>
        <p:spPr>
          <a:xfrm>
            <a:off x="10682935" y="6236208"/>
            <a:ext cx="960120" cy="398441"/>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032B"/>
        </a:solidFill>
      </p:bgPr>
    </p:bg>
    <p:spTree>
      <p:nvGrpSpPr>
        <p:cNvPr id="1" name=""/>
        <p:cNvGrpSpPr/>
        <p:nvPr/>
      </p:nvGrpSpPr>
      <p:grpSpPr>
        <a:xfrm>
          <a:off x="0" y="0"/>
          <a:ext cx="0" cy="0"/>
          <a:chOff x="0" y="0"/>
          <a:chExt cx="0" cy="0"/>
        </a:xfrm>
      </p:grpSpPr>
      <p:sp>
        <p:nvSpPr>
          <p:cNvPr id="2" name="Text 0"/>
          <p:cNvSpPr txBox="1"/>
          <p:nvPr/>
        </p:nvSpPr>
        <p:spPr>
          <a:xfrm>
            <a:off x="548640" y="1371600"/>
            <a:ext cx="3657600" cy="2926080"/>
          </a:xfrm>
          <a:prstGeom prst="rect">
            <a:avLst/>
          </a:prstGeom>
          <a:noFill/>
          <a:ln/>
        </p:spPr>
        <p:txBody>
          <a:bodyPr wrap="square" lIns="0" tIns="0" rIns="0" bIns="0" rtlCol="0" anchor="ctr"/>
          <a:lstStyle/>
          <a:p>
            <a:pPr indent="0" marL="0">
              <a:buNone/>
            </a:pPr>
            <a:r>
              <a:rPr lang="en-US" sz="18000" b="1" dirty="0">
                <a:solidFill>
                  <a:srgbClr val="F0EF96"/>
                </a:solidFill>
                <a:latin typeface="Montserrat" pitchFamily="34" charset="0"/>
                <a:ea typeface="Montserrat" pitchFamily="34" charset="-122"/>
                <a:cs typeface="Montserrat" pitchFamily="34" charset="-120"/>
              </a:rPr>
              <a:t>03</a:t>
            </a:r>
            <a:endParaRPr lang="en-US" sz="18000" dirty="0"/>
          </a:p>
        </p:txBody>
      </p:sp>
      <p:sp>
        <p:nvSpPr>
          <p:cNvPr id="3" name="Text 1"/>
          <p:cNvSpPr txBox="1"/>
          <p:nvPr/>
        </p:nvSpPr>
        <p:spPr>
          <a:xfrm>
            <a:off x="4572000" y="1463040"/>
            <a:ext cx="7040880" cy="411480"/>
          </a:xfrm>
          <a:prstGeom prst="rect">
            <a:avLst/>
          </a:prstGeom>
          <a:noFill/>
          <a:ln/>
        </p:spPr>
        <p:txBody>
          <a:bodyPr wrap="square" lIns="0" tIns="0" rIns="0" bIns="0" rtlCol="0" anchor="ctr"/>
          <a:lstStyle/>
          <a:p>
            <a:pPr indent="0" marL="0">
              <a:buNone/>
            </a:pPr>
            <a:r>
              <a:rPr lang="en-US" sz="1600" b="1" spc="300" kern="0" dirty="0">
                <a:solidFill>
                  <a:srgbClr val="F0EF96"/>
                </a:solidFill>
                <a:latin typeface="Montserrat" pitchFamily="34" charset="0"/>
                <a:ea typeface="Montserrat" pitchFamily="34" charset="-122"/>
                <a:cs typeface="Montserrat" pitchFamily="34" charset="-120"/>
              </a:rPr>
              <a:t>SÉQUENCE 3</a:t>
            </a:r>
            <a:endParaRPr lang="en-US" sz="1600" dirty="0"/>
          </a:p>
        </p:txBody>
      </p:sp>
      <p:sp>
        <p:nvSpPr>
          <p:cNvPr id="4" name="Text 2"/>
          <p:cNvSpPr txBox="1"/>
          <p:nvPr/>
        </p:nvSpPr>
        <p:spPr>
          <a:xfrm>
            <a:off x="4572000" y="1920240"/>
            <a:ext cx="7040880" cy="1645920"/>
          </a:xfrm>
          <a:prstGeom prst="rect">
            <a:avLst/>
          </a:prstGeom>
          <a:noFill/>
          <a:ln/>
        </p:spPr>
        <p:txBody>
          <a:bodyPr wrap="square" lIns="0" tIns="0" rIns="0" bIns="0" rtlCol="0" anchor="t"/>
          <a:lstStyle/>
          <a:p>
            <a:pPr indent="0" marL="0">
              <a:buNone/>
            </a:pPr>
            <a:r>
              <a:rPr lang="en-US" sz="3400" b="1" dirty="0">
                <a:solidFill>
                  <a:srgbClr val="FFFFFF"/>
                </a:solidFill>
                <a:latin typeface="Montserrat" pitchFamily="34" charset="0"/>
                <a:ea typeface="Montserrat" pitchFamily="34" charset="-122"/>
                <a:cs typeface="Montserrat" pitchFamily="34" charset="-120"/>
              </a:rPr>
              <a:t>Principes de sécurité physique et d'économie d'effort</a:t>
            </a:r>
            <a:endParaRPr lang="en-US" sz="3400" dirty="0"/>
          </a:p>
        </p:txBody>
      </p:sp>
      <p:sp>
        <p:nvSpPr>
          <p:cNvPr id="5" name="Text 3"/>
          <p:cNvSpPr txBox="1"/>
          <p:nvPr/>
        </p:nvSpPr>
        <p:spPr>
          <a:xfrm>
            <a:off x="4572000" y="3657600"/>
            <a:ext cx="7040880" cy="914400"/>
          </a:xfrm>
          <a:prstGeom prst="rect">
            <a:avLst/>
          </a:prstGeom>
          <a:noFill/>
          <a:ln/>
        </p:spPr>
        <p:txBody>
          <a:bodyPr wrap="square" lIns="0" tIns="0" rIns="0" bIns="0" rtlCol="0" anchor="t"/>
          <a:lstStyle/>
          <a:p>
            <a:pPr indent="0" marL="0">
              <a:buNone/>
            </a:pPr>
            <a:r>
              <a:rPr lang="en-US" sz="1500" b="1" dirty="0">
                <a:solidFill>
                  <a:srgbClr val="F0EF96"/>
                </a:solidFill>
                <a:latin typeface="Arial" pitchFamily="34" charset="0"/>
                <a:ea typeface="Arial" pitchFamily="34" charset="-122"/>
                <a:cs typeface="Arial" pitchFamily="34" charset="-120"/>
              </a:rPr>
              <a:t>Objectif  </a:t>
            </a:r>
            <a:pPr indent="0" marL="0">
              <a:buNone/>
            </a:pPr>
            <a:r>
              <a:rPr lang="en-US" sz="1500" dirty="0">
                <a:solidFill>
                  <a:srgbClr val="FFFFFF"/>
                </a:solidFill>
                <a:latin typeface="Arial" pitchFamily="34" charset="0"/>
                <a:ea typeface="Arial" pitchFamily="34" charset="-122"/>
                <a:cs typeface="Arial" pitchFamily="34" charset="-120"/>
              </a:rPr>
              <a:t>Acquérir les principes de base de la manutention manuelle et les appliquer aux charges usuelles.</a:t>
            </a:r>
            <a:endParaRPr lang="en-US" sz="1500" dirty="0"/>
          </a:p>
        </p:txBody>
      </p:sp>
      <p:sp>
        <p:nvSpPr>
          <p:cNvPr id="6" name="Shape 4"/>
          <p:cNvSpPr/>
          <p:nvPr/>
        </p:nvSpPr>
        <p:spPr>
          <a:xfrm>
            <a:off x="4572000" y="4754880"/>
            <a:ext cx="1463040" cy="411480"/>
          </a:xfrm>
          <a:prstGeom prst="roundRect">
            <a:avLst>
              <a:gd name="adj" fmla="val 48889"/>
            </a:avLst>
          </a:prstGeom>
          <a:solidFill>
            <a:srgbClr val="F0EF96"/>
          </a:solidFill>
          <a:ln w="12700">
            <a:solidFill>
              <a:srgbClr val="F0EF96"/>
            </a:solidFill>
            <a:prstDash val="solid"/>
          </a:ln>
        </p:spPr>
      </p:sp>
      <p:sp>
        <p:nvSpPr>
          <p:cNvPr id="7" name="Text 5"/>
          <p:cNvSpPr txBox="1"/>
          <p:nvPr/>
        </p:nvSpPr>
        <p:spPr>
          <a:xfrm>
            <a:off x="4572000" y="4754880"/>
            <a:ext cx="1463040" cy="411480"/>
          </a:xfrm>
          <a:prstGeom prst="rect">
            <a:avLst/>
          </a:prstGeom>
          <a:noFill/>
          <a:ln/>
        </p:spPr>
        <p:txBody>
          <a:bodyPr wrap="square" lIns="0" tIns="0" rIns="0" bIns="0" rtlCol="0" anchor="ctr"/>
          <a:lstStyle/>
          <a:p>
            <a:pPr algn="ctr" indent="0" marL="0">
              <a:buNone/>
            </a:pPr>
            <a:r>
              <a:rPr lang="en-US" sz="1400" b="1" dirty="0">
                <a:solidFill>
                  <a:srgbClr val="0A032B"/>
                </a:solidFill>
                <a:latin typeface="Montserrat" pitchFamily="34" charset="0"/>
                <a:ea typeface="Montserrat" pitchFamily="34" charset="-122"/>
                <a:cs typeface="Montserrat" pitchFamily="34" charset="-120"/>
              </a:rPr>
              <a:t>80 min</a:t>
            </a:r>
            <a:endParaRPr lang="en-US" sz="1400" dirty="0"/>
          </a:p>
        </p:txBody>
      </p:sp>
      <p:sp>
        <p:nvSpPr>
          <p:cNvPr id="8" name="Text 6"/>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DCDAEA"/>
                </a:solidFill>
                <a:latin typeface="Arial" pitchFamily="34" charset="0"/>
                <a:ea typeface="Arial" pitchFamily="34" charset="-122"/>
                <a:cs typeface="Arial" pitchFamily="34" charset="-120"/>
              </a:rPr>
              <a:t>Gestes et postures de l'élu</a:t>
            </a:r>
            <a:endParaRPr lang="en-US" sz="900" dirty="0"/>
          </a:p>
        </p:txBody>
      </p:sp>
      <p:pic>
        <p:nvPicPr>
          <p:cNvPr id="9" name="Image 0" descr="logo_dark.png">    </p:cNvPr>
          <p:cNvPicPr>
            <a:picLocks noChangeAspect="1"/>
          </p:cNvPicPr>
          <p:nvPr/>
        </p:nvPicPr>
        <p:blipFill>
          <a:blip r:embed="rId1"/>
          <a:stretch>
            <a:fillRect/>
          </a:stretch>
        </p:blipFill>
        <p:spPr>
          <a:xfrm>
            <a:off x="10682935" y="6236208"/>
            <a:ext cx="960120" cy="398441"/>
          </a:xfrm>
          <a:prstGeom prst="rect">
            <a:avLst/>
          </a:prstGeom>
        </p:spPr>
      </p:pic>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DCDAEA"/>
                </a:solidFill>
                <a:latin typeface="Arial"/>
                <a:ea typeface="Arial"/>
                <a:cs typeface="Aria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235440" cy="685800"/>
          </a:xfrm>
          <a:prstGeom prst="rect">
            <a:avLst/>
          </a:prstGeom>
          <a:noFill/>
          <a:ln/>
        </p:spPr>
        <p:txBody>
          <a:bodyPr wrap="square" lIns="0" tIns="0" rIns="0" bIns="0" rtlCol="0" anchor="ctr"/>
          <a:lstStyle/>
          <a:p>
            <a:pPr indent="0" marL="0">
              <a:buNone/>
            </a:pPr>
            <a:r>
              <a:rPr lang="en-US" sz="2800" b="1" dirty="0">
                <a:solidFill>
                  <a:srgbClr val="0A032B"/>
                </a:solidFill>
                <a:latin typeface="Montserrat" pitchFamily="34" charset="0"/>
                <a:ea typeface="Montserrat" pitchFamily="34" charset="-122"/>
                <a:cs typeface="Montserrat" pitchFamily="34" charset="-120"/>
              </a:rPr>
              <a:t>Retour et évaluation collective : vrai ou faux ?</a:t>
            </a:r>
            <a:endParaRPr lang="en-US" sz="2800" dirty="0"/>
          </a:p>
        </p:txBody>
      </p:sp>
      <p:sp>
        <p:nvSpPr>
          <p:cNvPr id="3" name="Text 1"/>
          <p:cNvSpPr txBox="1"/>
          <p:nvPr/>
        </p:nvSpPr>
        <p:spPr>
          <a:xfrm>
            <a:off x="548640" y="1024128"/>
            <a:ext cx="9235440" cy="365760"/>
          </a:xfrm>
          <a:prstGeom prst="rect">
            <a:avLst/>
          </a:prstGeom>
          <a:noFill/>
          <a:ln/>
        </p:spPr>
        <p:txBody>
          <a:bodyPr wrap="square" lIns="0" tIns="0" rIns="0" bIns="0" rtlCol="0" anchor="ctr"/>
          <a:lstStyle/>
          <a:p>
            <a:pPr indent="0" marL="0">
              <a:buNone/>
            </a:pPr>
            <a:r>
              <a:rPr lang="en-US" sz="1400" i="1" dirty="0">
                <a:solidFill>
                  <a:srgbClr val="5E5A78"/>
                </a:solidFill>
                <a:latin typeface="Arial" pitchFamily="34" charset="0"/>
                <a:ea typeface="Arial" pitchFamily="34" charset="-122"/>
                <a:cs typeface="Arial" pitchFamily="34" charset="-120"/>
              </a:rPr>
              <a:t>Levez le carton vert pour VRAI, le carton rouge pour FAUX</a:t>
            </a:r>
            <a:endParaRPr lang="en-US" sz="1400" dirty="0"/>
          </a:p>
        </p:txBody>
      </p:sp>
      <p:sp>
        <p:nvSpPr>
          <p:cNvPr id="4" name="Shape 2"/>
          <p:cNvSpPr/>
          <p:nvPr/>
        </p:nvSpPr>
        <p:spPr>
          <a:xfrm>
            <a:off x="10042855" y="530352"/>
            <a:ext cx="1600200" cy="347472"/>
          </a:xfrm>
          <a:prstGeom prst="roundRect">
            <a:avLst>
              <a:gd name="adj" fmla="val 50000"/>
            </a:avLst>
          </a:prstGeom>
          <a:solidFill>
            <a:srgbClr val="35305C"/>
          </a:solidFill>
          <a:ln w="12700">
            <a:solidFill>
              <a:srgbClr val="35305C"/>
            </a:solidFill>
            <a:prstDash val="solid"/>
          </a:ln>
        </p:spPr>
      </p:sp>
      <p:sp>
        <p:nvSpPr>
          <p:cNvPr id="5" name="Text 3"/>
          <p:cNvSpPr txBox="1"/>
          <p:nvPr/>
        </p:nvSpPr>
        <p:spPr>
          <a:xfrm>
            <a:off x="10042855" y="530352"/>
            <a:ext cx="1600200" cy="347472"/>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Montserrat" pitchFamily="34" charset="0"/>
                <a:ea typeface="Montserrat" pitchFamily="34" charset="-122"/>
                <a:cs typeface="Montserrat" pitchFamily="34" charset="-120"/>
              </a:rPr>
              <a:t>ÉVALUATION</a:t>
            </a:r>
            <a:endParaRPr lang="en-US" sz="1100" dirty="0"/>
          </a:p>
        </p:txBody>
      </p:sp>
      <p:sp>
        <p:nvSpPr>
          <p:cNvPr id="6" name="Text 4"/>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5E5A78"/>
                </a:solidFill>
                <a:latin typeface="Arial" pitchFamily="34" charset="0"/>
                <a:ea typeface="Arial" pitchFamily="34" charset="-122"/>
                <a:cs typeface="Arial" pitchFamily="34" charset="-120"/>
              </a:rPr>
              <a:t>Gestes et postures de l'élu  ·  Séquence 3 · retour sur la matinée</a:t>
            </a:r>
            <a:endParaRPr lang="en-US" sz="900" dirty="0"/>
          </a:p>
        </p:txBody>
      </p:sp>
      <p:pic>
        <p:nvPicPr>
          <p:cNvPr id="7" name="Image 0" descr="logo_light.png">    </p:cNvPr>
          <p:cNvPicPr>
            <a:picLocks noChangeAspect="1"/>
          </p:cNvPicPr>
          <p:nvPr/>
        </p:nvPicPr>
        <p:blipFill>
          <a:blip r:embed="rId1"/>
          <a:stretch>
            <a:fillRect/>
          </a:stretch>
        </p:blipFill>
        <p:spPr>
          <a:xfrm>
            <a:off x="10682935" y="6236208"/>
            <a:ext cx="960120" cy="398441"/>
          </a:xfrm>
          <a:prstGeom prst="rect">
            <a:avLst/>
          </a:prstGeom>
        </p:spPr>
      </p:pic>
      <p:sp>
        <p:nvSpPr>
          <p:cNvPr id="8" name="Shape 5"/>
          <p:cNvSpPr/>
          <p:nvPr/>
        </p:nvSpPr>
        <p:spPr>
          <a:xfrm>
            <a:off x="548640" y="1600200"/>
            <a:ext cx="5410048" cy="1234440"/>
          </a:xfrm>
          <a:prstGeom prst="roundRect">
            <a:avLst>
              <a:gd name="adj" fmla="val 5926"/>
            </a:avLst>
          </a:prstGeom>
          <a:solidFill>
            <a:srgbClr val="EEEDF5"/>
          </a:solidFill>
          <a:ln w="12700">
            <a:solidFill>
              <a:srgbClr val="EEEDF5"/>
            </a:solidFill>
            <a:prstDash val="solid"/>
          </a:ln>
        </p:spPr>
      </p:sp>
      <p:sp>
        <p:nvSpPr>
          <p:cNvPr id="9" name="Shape 6"/>
          <p:cNvSpPr/>
          <p:nvPr/>
        </p:nvSpPr>
        <p:spPr>
          <a:xfrm>
            <a:off x="777240" y="1947672"/>
            <a:ext cx="548640" cy="548640"/>
          </a:xfrm>
          <a:prstGeom prst="ellipse">
            <a:avLst/>
          </a:prstGeom>
          <a:solidFill>
            <a:srgbClr val="F0EF96"/>
          </a:solidFill>
          <a:ln w="12700">
            <a:solidFill>
              <a:srgbClr val="F0EF96"/>
            </a:solidFill>
            <a:prstDash val="solid"/>
          </a:ln>
        </p:spPr>
      </p:sp>
      <p:sp>
        <p:nvSpPr>
          <p:cNvPr id="10" name="Text 7"/>
          <p:cNvSpPr txBox="1"/>
          <p:nvPr/>
        </p:nvSpPr>
        <p:spPr>
          <a:xfrm>
            <a:off x="777240" y="1947672"/>
            <a:ext cx="548640" cy="548640"/>
          </a:xfrm>
          <a:prstGeom prst="rect">
            <a:avLst/>
          </a:prstGeom>
          <a:noFill/>
          <a:ln/>
        </p:spPr>
        <p:txBody>
          <a:bodyPr wrap="square" lIns="0" tIns="0" rIns="0" bIns="0" rtlCol="0" anchor="ctr"/>
          <a:lstStyle/>
          <a:p>
            <a:pPr algn="ctr" indent="0" marL="0">
              <a:buNone/>
            </a:pPr>
            <a:r>
              <a:rPr lang="en-US" sz="1800" b="1" dirty="0">
                <a:solidFill>
                  <a:srgbClr val="0A032B"/>
                </a:solidFill>
                <a:latin typeface="Montserrat" pitchFamily="34" charset="0"/>
                <a:ea typeface="Montserrat" pitchFamily="34" charset="-122"/>
                <a:cs typeface="Montserrat" pitchFamily="34" charset="-120"/>
              </a:rPr>
              <a:t>1</a:t>
            </a:r>
            <a:endParaRPr lang="en-US" sz="1800" dirty="0"/>
          </a:p>
        </p:txBody>
      </p:sp>
      <p:sp>
        <p:nvSpPr>
          <p:cNvPr id="11" name="Text 8"/>
          <p:cNvSpPr txBox="1"/>
          <p:nvPr/>
        </p:nvSpPr>
        <p:spPr>
          <a:xfrm>
            <a:off x="1554480" y="1600200"/>
            <a:ext cx="4221328" cy="1234440"/>
          </a:xfrm>
          <a:prstGeom prst="rect">
            <a:avLst/>
          </a:prstGeom>
          <a:noFill/>
          <a:ln/>
        </p:spPr>
        <p:txBody>
          <a:bodyPr wrap="square" lIns="0" tIns="0" rIns="0" bIns="0" rtlCol="0" anchor="ctr"/>
          <a:lstStyle/>
          <a:p>
            <a:pPr indent="0" marL="0">
              <a:buNone/>
            </a:pPr>
            <a:r>
              <a:rPr lang="en-US" sz="1500" dirty="0">
                <a:solidFill>
                  <a:srgbClr val="0A032B"/>
                </a:solidFill>
                <a:latin typeface="Arial" pitchFamily="34" charset="0"/>
                <a:ea typeface="Arial" pitchFamily="34" charset="-122"/>
                <a:cs typeface="Arial" pitchFamily="34" charset="-120"/>
              </a:rPr>
              <a:t>Le dos est plus sollicité assis penché en avant que debout.</a:t>
            </a:r>
            <a:endParaRPr lang="en-US" sz="1500" dirty="0"/>
          </a:p>
        </p:txBody>
      </p:sp>
      <p:sp>
        <p:nvSpPr>
          <p:cNvPr id="12" name="Shape 9"/>
          <p:cNvSpPr/>
          <p:nvPr/>
        </p:nvSpPr>
        <p:spPr>
          <a:xfrm>
            <a:off x="6233008" y="1600200"/>
            <a:ext cx="5410048" cy="1234440"/>
          </a:xfrm>
          <a:prstGeom prst="roundRect">
            <a:avLst>
              <a:gd name="adj" fmla="val 5926"/>
            </a:avLst>
          </a:prstGeom>
          <a:solidFill>
            <a:srgbClr val="EEEDF5"/>
          </a:solidFill>
          <a:ln w="12700">
            <a:solidFill>
              <a:srgbClr val="EEEDF5"/>
            </a:solidFill>
            <a:prstDash val="solid"/>
          </a:ln>
        </p:spPr>
      </p:sp>
      <p:sp>
        <p:nvSpPr>
          <p:cNvPr id="13" name="Shape 10"/>
          <p:cNvSpPr/>
          <p:nvPr/>
        </p:nvSpPr>
        <p:spPr>
          <a:xfrm>
            <a:off x="6461608" y="1947672"/>
            <a:ext cx="548640" cy="548640"/>
          </a:xfrm>
          <a:prstGeom prst="ellipse">
            <a:avLst/>
          </a:prstGeom>
          <a:solidFill>
            <a:srgbClr val="F0EF96"/>
          </a:solidFill>
          <a:ln w="12700">
            <a:solidFill>
              <a:srgbClr val="F0EF96"/>
            </a:solidFill>
            <a:prstDash val="solid"/>
          </a:ln>
        </p:spPr>
      </p:sp>
      <p:sp>
        <p:nvSpPr>
          <p:cNvPr id="14" name="Text 11"/>
          <p:cNvSpPr txBox="1"/>
          <p:nvPr/>
        </p:nvSpPr>
        <p:spPr>
          <a:xfrm>
            <a:off x="6461608" y="1947672"/>
            <a:ext cx="548640" cy="548640"/>
          </a:xfrm>
          <a:prstGeom prst="rect">
            <a:avLst/>
          </a:prstGeom>
          <a:noFill/>
          <a:ln/>
        </p:spPr>
        <p:txBody>
          <a:bodyPr wrap="square" lIns="0" tIns="0" rIns="0" bIns="0" rtlCol="0" anchor="ctr"/>
          <a:lstStyle/>
          <a:p>
            <a:pPr algn="ctr" indent="0" marL="0">
              <a:buNone/>
            </a:pPr>
            <a:r>
              <a:rPr lang="en-US" sz="1800" b="1" dirty="0">
                <a:solidFill>
                  <a:srgbClr val="0A032B"/>
                </a:solidFill>
                <a:latin typeface="Montserrat" pitchFamily="34" charset="0"/>
                <a:ea typeface="Montserrat" pitchFamily="34" charset="-122"/>
                <a:cs typeface="Montserrat" pitchFamily="34" charset="-120"/>
              </a:rPr>
              <a:t>2</a:t>
            </a:r>
            <a:endParaRPr lang="en-US" sz="1800" dirty="0"/>
          </a:p>
        </p:txBody>
      </p:sp>
      <p:sp>
        <p:nvSpPr>
          <p:cNvPr id="15" name="Text 12"/>
          <p:cNvSpPr txBox="1"/>
          <p:nvPr/>
        </p:nvSpPr>
        <p:spPr>
          <a:xfrm>
            <a:off x="7238848" y="1600200"/>
            <a:ext cx="4221328" cy="1234440"/>
          </a:xfrm>
          <a:prstGeom prst="rect">
            <a:avLst/>
          </a:prstGeom>
          <a:noFill/>
          <a:ln/>
        </p:spPr>
        <p:txBody>
          <a:bodyPr wrap="square" lIns="0" tIns="0" rIns="0" bIns="0" rtlCol="0" anchor="ctr"/>
          <a:lstStyle/>
          <a:p>
            <a:pPr indent="0" marL="0">
              <a:buNone/>
            </a:pPr>
            <a:r>
              <a:rPr lang="en-US" sz="1500" dirty="0">
                <a:solidFill>
                  <a:srgbClr val="0A032B"/>
                </a:solidFill>
                <a:latin typeface="Arial" pitchFamily="34" charset="0"/>
                <a:ea typeface="Arial" pitchFamily="34" charset="-122"/>
                <a:cs typeface="Arial" pitchFamily="34" charset="-120"/>
              </a:rPr>
              <a:t>Une douleur qui disparaît au repos n'est pas un signal d'alerte.</a:t>
            </a:r>
            <a:endParaRPr lang="en-US" sz="1500" dirty="0"/>
          </a:p>
        </p:txBody>
      </p:sp>
      <p:sp>
        <p:nvSpPr>
          <p:cNvPr id="16" name="Shape 13"/>
          <p:cNvSpPr/>
          <p:nvPr/>
        </p:nvSpPr>
        <p:spPr>
          <a:xfrm>
            <a:off x="548640" y="3063240"/>
            <a:ext cx="5410048" cy="1234440"/>
          </a:xfrm>
          <a:prstGeom prst="roundRect">
            <a:avLst>
              <a:gd name="adj" fmla="val 5926"/>
            </a:avLst>
          </a:prstGeom>
          <a:solidFill>
            <a:srgbClr val="EEEDF5"/>
          </a:solidFill>
          <a:ln w="12700">
            <a:solidFill>
              <a:srgbClr val="EEEDF5"/>
            </a:solidFill>
            <a:prstDash val="solid"/>
          </a:ln>
        </p:spPr>
      </p:sp>
      <p:sp>
        <p:nvSpPr>
          <p:cNvPr id="17" name="Shape 14"/>
          <p:cNvSpPr/>
          <p:nvPr/>
        </p:nvSpPr>
        <p:spPr>
          <a:xfrm>
            <a:off x="777240" y="3410712"/>
            <a:ext cx="548640" cy="548640"/>
          </a:xfrm>
          <a:prstGeom prst="ellipse">
            <a:avLst/>
          </a:prstGeom>
          <a:solidFill>
            <a:srgbClr val="F0EF96"/>
          </a:solidFill>
          <a:ln w="12700">
            <a:solidFill>
              <a:srgbClr val="F0EF96"/>
            </a:solidFill>
            <a:prstDash val="solid"/>
          </a:ln>
        </p:spPr>
      </p:sp>
      <p:sp>
        <p:nvSpPr>
          <p:cNvPr id="18" name="Text 15"/>
          <p:cNvSpPr txBox="1"/>
          <p:nvPr/>
        </p:nvSpPr>
        <p:spPr>
          <a:xfrm>
            <a:off x="777240" y="3410712"/>
            <a:ext cx="548640" cy="548640"/>
          </a:xfrm>
          <a:prstGeom prst="rect">
            <a:avLst/>
          </a:prstGeom>
          <a:noFill/>
          <a:ln/>
        </p:spPr>
        <p:txBody>
          <a:bodyPr wrap="square" lIns="0" tIns="0" rIns="0" bIns="0" rtlCol="0" anchor="ctr"/>
          <a:lstStyle/>
          <a:p>
            <a:pPr algn="ctr" indent="0" marL="0">
              <a:buNone/>
            </a:pPr>
            <a:r>
              <a:rPr lang="en-US" sz="1800" b="1" dirty="0">
                <a:solidFill>
                  <a:srgbClr val="0A032B"/>
                </a:solidFill>
                <a:latin typeface="Montserrat" pitchFamily="34" charset="0"/>
                <a:ea typeface="Montserrat" pitchFamily="34" charset="-122"/>
                <a:cs typeface="Montserrat" pitchFamily="34" charset="-120"/>
              </a:rPr>
              <a:t>3</a:t>
            </a:r>
            <a:endParaRPr lang="en-US" sz="1800" dirty="0"/>
          </a:p>
        </p:txBody>
      </p:sp>
      <p:sp>
        <p:nvSpPr>
          <p:cNvPr id="19" name="Text 16"/>
          <p:cNvSpPr txBox="1"/>
          <p:nvPr/>
        </p:nvSpPr>
        <p:spPr>
          <a:xfrm>
            <a:off x="1554480" y="3063240"/>
            <a:ext cx="4221328" cy="1234440"/>
          </a:xfrm>
          <a:prstGeom prst="rect">
            <a:avLst/>
          </a:prstGeom>
          <a:noFill/>
          <a:ln/>
        </p:spPr>
        <p:txBody>
          <a:bodyPr wrap="square" lIns="0" tIns="0" rIns="0" bIns="0" rtlCol="0" anchor="ctr"/>
          <a:lstStyle/>
          <a:p>
            <a:pPr indent="0" marL="0">
              <a:buNone/>
            </a:pPr>
            <a:r>
              <a:rPr lang="en-US" sz="1500" dirty="0">
                <a:solidFill>
                  <a:srgbClr val="0A032B"/>
                </a:solidFill>
                <a:latin typeface="Arial" pitchFamily="34" charset="0"/>
                <a:ea typeface="Arial" pitchFamily="34" charset="-122"/>
                <a:cs typeface="Arial" pitchFamily="34" charset="-120"/>
              </a:rPr>
              <a:t>Les TMS ne concernent que les métiers manuels.</a:t>
            </a:r>
            <a:endParaRPr lang="en-US" sz="1500" dirty="0"/>
          </a:p>
        </p:txBody>
      </p:sp>
      <p:sp>
        <p:nvSpPr>
          <p:cNvPr id="20" name="Shape 17"/>
          <p:cNvSpPr/>
          <p:nvPr/>
        </p:nvSpPr>
        <p:spPr>
          <a:xfrm>
            <a:off x="6233008" y="3063240"/>
            <a:ext cx="5410048" cy="1234440"/>
          </a:xfrm>
          <a:prstGeom prst="roundRect">
            <a:avLst>
              <a:gd name="adj" fmla="val 5926"/>
            </a:avLst>
          </a:prstGeom>
          <a:solidFill>
            <a:srgbClr val="EEEDF5"/>
          </a:solidFill>
          <a:ln w="12700">
            <a:solidFill>
              <a:srgbClr val="EEEDF5"/>
            </a:solidFill>
            <a:prstDash val="solid"/>
          </a:ln>
        </p:spPr>
      </p:sp>
      <p:sp>
        <p:nvSpPr>
          <p:cNvPr id="21" name="Shape 18"/>
          <p:cNvSpPr/>
          <p:nvPr/>
        </p:nvSpPr>
        <p:spPr>
          <a:xfrm>
            <a:off x="6461608" y="3410712"/>
            <a:ext cx="548640" cy="548640"/>
          </a:xfrm>
          <a:prstGeom prst="ellipse">
            <a:avLst/>
          </a:prstGeom>
          <a:solidFill>
            <a:srgbClr val="F0EF96"/>
          </a:solidFill>
          <a:ln w="12700">
            <a:solidFill>
              <a:srgbClr val="F0EF96"/>
            </a:solidFill>
            <a:prstDash val="solid"/>
          </a:ln>
        </p:spPr>
      </p:sp>
      <p:sp>
        <p:nvSpPr>
          <p:cNvPr id="22" name="Text 19"/>
          <p:cNvSpPr txBox="1"/>
          <p:nvPr/>
        </p:nvSpPr>
        <p:spPr>
          <a:xfrm>
            <a:off x="6461608" y="3410712"/>
            <a:ext cx="548640" cy="548640"/>
          </a:xfrm>
          <a:prstGeom prst="rect">
            <a:avLst/>
          </a:prstGeom>
          <a:noFill/>
          <a:ln/>
        </p:spPr>
        <p:txBody>
          <a:bodyPr wrap="square" lIns="0" tIns="0" rIns="0" bIns="0" rtlCol="0" anchor="ctr"/>
          <a:lstStyle/>
          <a:p>
            <a:pPr algn="ctr" indent="0" marL="0">
              <a:buNone/>
            </a:pPr>
            <a:r>
              <a:rPr lang="en-US" sz="1800" b="1" dirty="0">
                <a:solidFill>
                  <a:srgbClr val="0A032B"/>
                </a:solidFill>
                <a:latin typeface="Montserrat" pitchFamily="34" charset="0"/>
                <a:ea typeface="Montserrat" pitchFamily="34" charset="-122"/>
                <a:cs typeface="Montserrat" pitchFamily="34" charset="-120"/>
              </a:rPr>
              <a:t>4</a:t>
            </a:r>
            <a:endParaRPr lang="en-US" sz="1800" dirty="0"/>
          </a:p>
        </p:txBody>
      </p:sp>
      <p:sp>
        <p:nvSpPr>
          <p:cNvPr id="23" name="Text 20"/>
          <p:cNvSpPr txBox="1"/>
          <p:nvPr/>
        </p:nvSpPr>
        <p:spPr>
          <a:xfrm>
            <a:off x="7238848" y="3063240"/>
            <a:ext cx="4221328" cy="1234440"/>
          </a:xfrm>
          <a:prstGeom prst="rect">
            <a:avLst/>
          </a:prstGeom>
          <a:noFill/>
          <a:ln/>
        </p:spPr>
        <p:txBody>
          <a:bodyPr wrap="square" lIns="0" tIns="0" rIns="0" bIns="0" rtlCol="0" anchor="ctr"/>
          <a:lstStyle/>
          <a:p>
            <a:pPr indent="0" marL="0">
              <a:buNone/>
            </a:pPr>
            <a:r>
              <a:rPr lang="en-US" sz="1500" dirty="0">
                <a:solidFill>
                  <a:srgbClr val="0A032B"/>
                </a:solidFill>
                <a:latin typeface="Arial" pitchFamily="34" charset="0"/>
                <a:ea typeface="Arial" pitchFamily="34" charset="-122"/>
                <a:cs typeface="Arial" pitchFamily="34" charset="-120"/>
              </a:rPr>
              <a:t>Le stress peut favoriser l'apparition des TMS.</a:t>
            </a:r>
            <a:endParaRPr lang="en-US" sz="1500" dirty="0"/>
          </a:p>
        </p:txBody>
      </p:sp>
      <p:sp>
        <p:nvSpPr>
          <p:cNvPr id="24" name="Shape 21"/>
          <p:cNvSpPr/>
          <p:nvPr/>
        </p:nvSpPr>
        <p:spPr>
          <a:xfrm>
            <a:off x="548640" y="4526280"/>
            <a:ext cx="5410048" cy="1234440"/>
          </a:xfrm>
          <a:prstGeom prst="roundRect">
            <a:avLst>
              <a:gd name="adj" fmla="val 5926"/>
            </a:avLst>
          </a:prstGeom>
          <a:solidFill>
            <a:srgbClr val="EEEDF5"/>
          </a:solidFill>
          <a:ln w="12700">
            <a:solidFill>
              <a:srgbClr val="EEEDF5"/>
            </a:solidFill>
            <a:prstDash val="solid"/>
          </a:ln>
        </p:spPr>
      </p:sp>
      <p:sp>
        <p:nvSpPr>
          <p:cNvPr id="25" name="Shape 22"/>
          <p:cNvSpPr/>
          <p:nvPr/>
        </p:nvSpPr>
        <p:spPr>
          <a:xfrm>
            <a:off x="777240" y="4873752"/>
            <a:ext cx="548640" cy="548640"/>
          </a:xfrm>
          <a:prstGeom prst="ellipse">
            <a:avLst/>
          </a:prstGeom>
          <a:solidFill>
            <a:srgbClr val="F0EF96"/>
          </a:solidFill>
          <a:ln w="12700">
            <a:solidFill>
              <a:srgbClr val="F0EF96"/>
            </a:solidFill>
            <a:prstDash val="solid"/>
          </a:ln>
        </p:spPr>
      </p:sp>
      <p:sp>
        <p:nvSpPr>
          <p:cNvPr id="26" name="Text 23"/>
          <p:cNvSpPr txBox="1"/>
          <p:nvPr/>
        </p:nvSpPr>
        <p:spPr>
          <a:xfrm>
            <a:off x="777240" y="4873752"/>
            <a:ext cx="548640" cy="548640"/>
          </a:xfrm>
          <a:prstGeom prst="rect">
            <a:avLst/>
          </a:prstGeom>
          <a:noFill/>
          <a:ln/>
        </p:spPr>
        <p:txBody>
          <a:bodyPr wrap="square" lIns="0" tIns="0" rIns="0" bIns="0" rtlCol="0" anchor="ctr"/>
          <a:lstStyle/>
          <a:p>
            <a:pPr algn="ctr" indent="0" marL="0">
              <a:buNone/>
            </a:pPr>
            <a:r>
              <a:rPr lang="en-US" sz="1800" b="1" dirty="0">
                <a:solidFill>
                  <a:srgbClr val="0A032B"/>
                </a:solidFill>
                <a:latin typeface="Montserrat" pitchFamily="34" charset="0"/>
                <a:ea typeface="Montserrat" pitchFamily="34" charset="-122"/>
                <a:cs typeface="Montserrat" pitchFamily="34" charset="-120"/>
              </a:rPr>
              <a:t>5</a:t>
            </a:r>
            <a:endParaRPr lang="en-US" sz="1800" dirty="0"/>
          </a:p>
        </p:txBody>
      </p:sp>
      <p:sp>
        <p:nvSpPr>
          <p:cNvPr id="27" name="Text 24"/>
          <p:cNvSpPr txBox="1"/>
          <p:nvPr/>
        </p:nvSpPr>
        <p:spPr>
          <a:xfrm>
            <a:off x="1554480" y="4526280"/>
            <a:ext cx="4221328" cy="1234440"/>
          </a:xfrm>
          <a:prstGeom prst="rect">
            <a:avLst/>
          </a:prstGeom>
          <a:noFill/>
          <a:ln/>
        </p:spPr>
        <p:txBody>
          <a:bodyPr wrap="square" lIns="0" tIns="0" rIns="0" bIns="0" rtlCol="0" anchor="ctr"/>
          <a:lstStyle/>
          <a:p>
            <a:pPr indent="0" marL="0">
              <a:buNone/>
            </a:pPr>
            <a:r>
              <a:rPr lang="en-US" sz="1500" dirty="0">
                <a:solidFill>
                  <a:srgbClr val="0A032B"/>
                </a:solidFill>
                <a:latin typeface="Arial" pitchFamily="34" charset="0"/>
                <a:ea typeface="Arial" pitchFamily="34" charset="-122"/>
                <a:cs typeface="Arial" pitchFamily="34" charset="-120"/>
              </a:rPr>
              <a:t>Nous avons 5 vertèbres lombaires.</a:t>
            </a:r>
            <a:endParaRPr lang="en-US" sz="1500" dirty="0"/>
          </a:p>
        </p:txBody>
      </p:sp>
      <p:sp>
        <p:nvSpPr>
          <p:cNvPr id="28" name="Shape 25"/>
          <p:cNvSpPr/>
          <p:nvPr/>
        </p:nvSpPr>
        <p:spPr>
          <a:xfrm>
            <a:off x="6233008" y="4526280"/>
            <a:ext cx="5410048" cy="1234440"/>
          </a:xfrm>
          <a:prstGeom prst="roundRect">
            <a:avLst>
              <a:gd name="adj" fmla="val 5926"/>
            </a:avLst>
          </a:prstGeom>
          <a:solidFill>
            <a:srgbClr val="EEEDF5"/>
          </a:solidFill>
          <a:ln w="12700">
            <a:solidFill>
              <a:srgbClr val="EEEDF5"/>
            </a:solidFill>
            <a:prstDash val="solid"/>
          </a:ln>
        </p:spPr>
      </p:sp>
      <p:sp>
        <p:nvSpPr>
          <p:cNvPr id="29" name="Shape 26"/>
          <p:cNvSpPr/>
          <p:nvPr/>
        </p:nvSpPr>
        <p:spPr>
          <a:xfrm>
            <a:off x="6461608" y="4873752"/>
            <a:ext cx="548640" cy="548640"/>
          </a:xfrm>
          <a:prstGeom prst="ellipse">
            <a:avLst/>
          </a:prstGeom>
          <a:solidFill>
            <a:srgbClr val="F0EF96"/>
          </a:solidFill>
          <a:ln w="12700">
            <a:solidFill>
              <a:srgbClr val="F0EF96"/>
            </a:solidFill>
            <a:prstDash val="solid"/>
          </a:ln>
        </p:spPr>
      </p:sp>
      <p:sp>
        <p:nvSpPr>
          <p:cNvPr id="30" name="Text 27"/>
          <p:cNvSpPr txBox="1"/>
          <p:nvPr/>
        </p:nvSpPr>
        <p:spPr>
          <a:xfrm>
            <a:off x="6461608" y="4873752"/>
            <a:ext cx="548640" cy="548640"/>
          </a:xfrm>
          <a:prstGeom prst="rect">
            <a:avLst/>
          </a:prstGeom>
          <a:noFill/>
          <a:ln/>
        </p:spPr>
        <p:txBody>
          <a:bodyPr wrap="square" lIns="0" tIns="0" rIns="0" bIns="0" rtlCol="0" anchor="ctr"/>
          <a:lstStyle/>
          <a:p>
            <a:pPr algn="ctr" indent="0" marL="0">
              <a:buNone/>
            </a:pPr>
            <a:r>
              <a:rPr lang="en-US" sz="1800" b="1" dirty="0">
                <a:solidFill>
                  <a:srgbClr val="0A032B"/>
                </a:solidFill>
                <a:latin typeface="Montserrat" pitchFamily="34" charset="0"/>
                <a:ea typeface="Montserrat" pitchFamily="34" charset="-122"/>
                <a:cs typeface="Montserrat" pitchFamily="34" charset="-120"/>
              </a:rPr>
              <a:t>6</a:t>
            </a:r>
            <a:endParaRPr lang="en-US" sz="1800" dirty="0"/>
          </a:p>
        </p:txBody>
      </p:sp>
      <p:sp>
        <p:nvSpPr>
          <p:cNvPr id="31" name="Text 28"/>
          <p:cNvSpPr txBox="1"/>
          <p:nvPr/>
        </p:nvSpPr>
        <p:spPr>
          <a:xfrm>
            <a:off x="7238848" y="4526280"/>
            <a:ext cx="4221328" cy="1234440"/>
          </a:xfrm>
          <a:prstGeom prst="rect">
            <a:avLst/>
          </a:prstGeom>
          <a:noFill/>
          <a:ln/>
        </p:spPr>
        <p:txBody>
          <a:bodyPr wrap="square" lIns="0" tIns="0" rIns="0" bIns="0" rtlCol="0" anchor="ctr"/>
          <a:lstStyle/>
          <a:p>
            <a:pPr indent="0" marL="0">
              <a:buNone/>
            </a:pPr>
            <a:r>
              <a:rPr lang="en-US" sz="1500" dirty="0">
                <a:solidFill>
                  <a:srgbClr val="0A032B"/>
                </a:solidFill>
                <a:latin typeface="Arial" pitchFamily="34" charset="0"/>
                <a:ea typeface="Arial" pitchFamily="34" charset="-122"/>
                <a:cs typeface="Arial" pitchFamily="34" charset="-120"/>
              </a:rPr>
              <a:t>Les lombaires sont la zone la moins sollicitée de la colonne.</a:t>
            </a:r>
            <a:endParaRPr lang="en-US" sz="1500" dirty="0"/>
          </a:p>
        </p:txBody>
      </p:sp>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235440" cy="685800"/>
          </a:xfrm>
          <a:prstGeom prst="rect">
            <a:avLst/>
          </a:prstGeom>
          <a:noFill/>
          <a:ln/>
        </p:spPr>
        <p:txBody>
          <a:bodyPr wrap="square" lIns="0" tIns="0" rIns="0" bIns="0" rtlCol="0" anchor="ctr"/>
          <a:lstStyle/>
          <a:p>
            <a:pPr indent="0" marL="0">
              <a:buNone/>
            </a:pPr>
            <a:r>
              <a:rPr lang="en-US" sz="2800" b="1" dirty="0">
                <a:solidFill>
                  <a:srgbClr val="0A032B"/>
                </a:solidFill>
                <a:latin typeface="Montserrat" pitchFamily="34" charset="0"/>
                <a:ea typeface="Montserrat" pitchFamily="34" charset="-122"/>
                <a:cs typeface="Montserrat" pitchFamily="34" charset="-120"/>
              </a:rPr>
              <a:t>Avant de soulever : observer la charge</a:t>
            </a:r>
            <a:endParaRPr lang="en-US" sz="2800" dirty="0"/>
          </a:p>
        </p:txBody>
      </p:sp>
      <p:sp>
        <p:nvSpPr>
          <p:cNvPr id="3" name="Text 1"/>
          <p:cNvSpPr txBox="1"/>
          <p:nvPr/>
        </p:nvSpPr>
        <p:spPr>
          <a:xfrm>
            <a:off x="548640" y="1024128"/>
            <a:ext cx="9235440" cy="365760"/>
          </a:xfrm>
          <a:prstGeom prst="rect">
            <a:avLst/>
          </a:prstGeom>
          <a:noFill/>
          <a:ln/>
        </p:spPr>
        <p:txBody>
          <a:bodyPr wrap="square" lIns="0" tIns="0" rIns="0" bIns="0" rtlCol="0" anchor="ctr"/>
          <a:lstStyle/>
          <a:p>
            <a:pPr indent="0" marL="0">
              <a:buNone/>
            </a:pPr>
            <a:r>
              <a:rPr lang="en-US" sz="1400" i="1" dirty="0">
                <a:solidFill>
                  <a:srgbClr val="5E5A78"/>
                </a:solidFill>
                <a:latin typeface="Arial" pitchFamily="34" charset="0"/>
                <a:ea typeface="Arial" pitchFamily="34" charset="-122"/>
                <a:cs typeface="Arial" pitchFamily="34" charset="-120"/>
              </a:rPr>
              <a:t>Une manutention se prépare : 5 étapes</a:t>
            </a:r>
            <a:endParaRPr lang="en-US" sz="1400" dirty="0"/>
          </a:p>
        </p:txBody>
      </p:sp>
      <p:sp>
        <p:nvSpPr>
          <p:cNvPr id="4" name="Shape 2"/>
          <p:cNvSpPr/>
          <p:nvPr/>
        </p:nvSpPr>
        <p:spPr>
          <a:xfrm>
            <a:off x="10042855" y="530352"/>
            <a:ext cx="1600200" cy="347472"/>
          </a:xfrm>
          <a:prstGeom prst="roundRect">
            <a:avLst>
              <a:gd name="adj" fmla="val 50000"/>
            </a:avLst>
          </a:prstGeom>
          <a:solidFill>
            <a:srgbClr val="0A032B"/>
          </a:solidFill>
          <a:ln w="12700">
            <a:solidFill>
              <a:srgbClr val="0A032B"/>
            </a:solidFill>
            <a:prstDash val="solid"/>
          </a:ln>
        </p:spPr>
      </p:sp>
      <p:sp>
        <p:nvSpPr>
          <p:cNvPr id="5" name="Text 3"/>
          <p:cNvSpPr txBox="1"/>
          <p:nvPr/>
        </p:nvSpPr>
        <p:spPr>
          <a:xfrm>
            <a:off x="10042855" y="530352"/>
            <a:ext cx="1600200" cy="347472"/>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Montserrat" pitchFamily="34" charset="0"/>
                <a:ea typeface="Montserrat" pitchFamily="34" charset="-122"/>
                <a:cs typeface="Montserrat" pitchFamily="34" charset="-120"/>
              </a:rPr>
              <a:t>THÉORIE</a:t>
            </a:r>
            <a:endParaRPr lang="en-US" sz="1100" dirty="0"/>
          </a:p>
        </p:txBody>
      </p:sp>
      <p:sp>
        <p:nvSpPr>
          <p:cNvPr id="6" name="Text 4"/>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5E5A78"/>
                </a:solidFill>
                <a:latin typeface="Arial" pitchFamily="34" charset="0"/>
                <a:ea typeface="Arial" pitchFamily="34" charset="-122"/>
                <a:cs typeface="Arial" pitchFamily="34" charset="-120"/>
              </a:rPr>
              <a:t>Gestes et postures de l'élu  ·  Séquence 3</a:t>
            </a:r>
            <a:endParaRPr lang="en-US" sz="900" dirty="0"/>
          </a:p>
        </p:txBody>
      </p:sp>
      <p:pic>
        <p:nvPicPr>
          <p:cNvPr id="7" name="Image 0" descr="logo_light.png">    </p:cNvPr>
          <p:cNvPicPr>
            <a:picLocks noChangeAspect="1"/>
          </p:cNvPicPr>
          <p:nvPr/>
        </p:nvPicPr>
        <p:blipFill>
          <a:blip r:embed="rId1"/>
          <a:stretch>
            <a:fillRect/>
          </a:stretch>
        </p:blipFill>
        <p:spPr>
          <a:xfrm>
            <a:off x="10682935" y="6236208"/>
            <a:ext cx="960120" cy="398441"/>
          </a:xfrm>
          <a:prstGeom prst="rect">
            <a:avLst/>
          </a:prstGeom>
        </p:spPr>
      </p:pic>
      <p:sp>
        <p:nvSpPr>
          <p:cNvPr id="8" name="Shape 5"/>
          <p:cNvSpPr/>
          <p:nvPr/>
        </p:nvSpPr>
        <p:spPr>
          <a:xfrm>
            <a:off x="548640" y="1783080"/>
            <a:ext cx="1962851" cy="3108960"/>
          </a:xfrm>
          <a:prstGeom prst="roundRect">
            <a:avLst>
              <a:gd name="adj" fmla="val 3727"/>
            </a:avLst>
          </a:prstGeom>
          <a:solidFill>
            <a:srgbClr val="0A032B"/>
          </a:solidFill>
          <a:ln w="12700">
            <a:solidFill>
              <a:srgbClr val="0A032B"/>
            </a:solidFill>
            <a:prstDash val="solid"/>
          </a:ln>
        </p:spPr>
      </p:sp>
      <p:sp>
        <p:nvSpPr>
          <p:cNvPr id="9" name="Shape 6"/>
          <p:cNvSpPr/>
          <p:nvPr/>
        </p:nvSpPr>
        <p:spPr>
          <a:xfrm>
            <a:off x="1141446" y="2103120"/>
            <a:ext cx="777240" cy="777240"/>
          </a:xfrm>
          <a:prstGeom prst="ellipse">
            <a:avLst/>
          </a:prstGeom>
          <a:solidFill>
            <a:srgbClr val="F0EF96"/>
          </a:solidFill>
          <a:ln w="12700">
            <a:solidFill>
              <a:srgbClr val="F0EF96"/>
            </a:solidFill>
            <a:prstDash val="solid"/>
          </a:ln>
        </p:spPr>
      </p:sp>
      <p:pic>
        <p:nvPicPr>
          <p:cNvPr id="10" name="Image 1" descr="preencoded.png">    </p:cNvPr>
          <p:cNvPicPr>
            <a:picLocks noChangeAspect="1"/>
          </p:cNvPicPr>
          <p:nvPr/>
        </p:nvPicPr>
        <p:blipFill>
          <a:blip r:embed="rId2"/>
          <a:stretch>
            <a:fillRect/>
          </a:stretch>
        </p:blipFill>
        <p:spPr>
          <a:xfrm>
            <a:off x="1335756" y="2297430"/>
            <a:ext cx="388620" cy="388620"/>
          </a:xfrm>
          <a:prstGeom prst="rect">
            <a:avLst/>
          </a:prstGeom>
        </p:spPr>
      </p:pic>
      <p:sp>
        <p:nvSpPr>
          <p:cNvPr id="11" name="Text 7"/>
          <p:cNvSpPr txBox="1"/>
          <p:nvPr/>
        </p:nvSpPr>
        <p:spPr>
          <a:xfrm>
            <a:off x="685800" y="3063240"/>
            <a:ext cx="1688531" cy="457200"/>
          </a:xfrm>
          <a:prstGeom prst="rect">
            <a:avLst/>
          </a:prstGeom>
          <a:noFill/>
          <a:ln/>
        </p:spPr>
        <p:txBody>
          <a:bodyPr wrap="square" lIns="0" tIns="0" rIns="0" bIns="0" rtlCol="0" anchor="ctr"/>
          <a:lstStyle/>
          <a:p>
            <a:pPr algn="ctr" indent="0" marL="0">
              <a:buNone/>
            </a:pPr>
            <a:r>
              <a:rPr lang="en-US" sz="1600" b="1" dirty="0">
                <a:solidFill>
                  <a:srgbClr val="F0EF96"/>
                </a:solidFill>
                <a:latin typeface="Montserrat" pitchFamily="34" charset="0"/>
                <a:ea typeface="Montserrat" pitchFamily="34" charset="-122"/>
                <a:cs typeface="Montserrat" pitchFamily="34" charset="-120"/>
              </a:rPr>
              <a:t>1. Observer</a:t>
            </a:r>
            <a:endParaRPr lang="en-US" sz="1600" dirty="0"/>
          </a:p>
        </p:txBody>
      </p:sp>
      <p:sp>
        <p:nvSpPr>
          <p:cNvPr id="12" name="Text 8"/>
          <p:cNvSpPr txBox="1"/>
          <p:nvPr/>
        </p:nvSpPr>
        <p:spPr>
          <a:xfrm>
            <a:off x="731520" y="3566160"/>
            <a:ext cx="1597091" cy="1188720"/>
          </a:xfrm>
          <a:prstGeom prst="rect">
            <a:avLst/>
          </a:prstGeom>
          <a:noFill/>
          <a:ln/>
        </p:spPr>
        <p:txBody>
          <a:bodyPr wrap="square" lIns="0" tIns="0" rIns="0" bIns="0" rtlCol="0" anchor="t"/>
          <a:lstStyle/>
          <a:p>
            <a:pPr algn="ctr" indent="0" marL="0">
              <a:buNone/>
            </a:pPr>
            <a:r>
              <a:rPr lang="en-US" sz="1300" dirty="0">
                <a:solidFill>
                  <a:srgbClr val="FFFFFF"/>
                </a:solidFill>
                <a:latin typeface="Arial" pitchFamily="34" charset="0"/>
                <a:ea typeface="Arial" pitchFamily="34" charset="-122"/>
                <a:cs typeface="Arial" pitchFamily="34" charset="-120"/>
              </a:rPr>
              <a:t>Poids, volume, prise, centre de gravité, fragilité</a:t>
            </a:r>
            <a:endParaRPr lang="en-US" sz="1300" dirty="0"/>
          </a:p>
        </p:txBody>
      </p:sp>
      <p:sp>
        <p:nvSpPr>
          <p:cNvPr id="13" name="Shape 9"/>
          <p:cNvSpPr/>
          <p:nvPr/>
        </p:nvSpPr>
        <p:spPr>
          <a:xfrm>
            <a:off x="2557211" y="3154680"/>
            <a:ext cx="228600" cy="320040"/>
          </a:xfrm>
          <a:prstGeom prst="rightArrow">
            <a:avLst/>
          </a:prstGeom>
          <a:solidFill>
            <a:srgbClr val="5E5A78"/>
          </a:solidFill>
          <a:ln w="12700">
            <a:solidFill>
              <a:srgbClr val="5E5A78"/>
            </a:solidFill>
            <a:prstDash val="solid"/>
          </a:ln>
        </p:spPr>
      </p:sp>
      <p:sp>
        <p:nvSpPr>
          <p:cNvPr id="14" name="Shape 10"/>
          <p:cNvSpPr/>
          <p:nvPr/>
        </p:nvSpPr>
        <p:spPr>
          <a:xfrm>
            <a:off x="2831531" y="1783080"/>
            <a:ext cx="1962851" cy="3108960"/>
          </a:xfrm>
          <a:prstGeom prst="roundRect">
            <a:avLst>
              <a:gd name="adj" fmla="val 3727"/>
            </a:avLst>
          </a:prstGeom>
          <a:solidFill>
            <a:srgbClr val="EEEDF5"/>
          </a:solidFill>
          <a:ln w="12700">
            <a:solidFill>
              <a:srgbClr val="EEEDF5"/>
            </a:solidFill>
            <a:prstDash val="solid"/>
          </a:ln>
        </p:spPr>
      </p:sp>
      <p:sp>
        <p:nvSpPr>
          <p:cNvPr id="15" name="Shape 11"/>
          <p:cNvSpPr/>
          <p:nvPr/>
        </p:nvSpPr>
        <p:spPr>
          <a:xfrm>
            <a:off x="3424337" y="2103120"/>
            <a:ext cx="777240" cy="777240"/>
          </a:xfrm>
          <a:prstGeom prst="ellipse">
            <a:avLst/>
          </a:prstGeom>
          <a:solidFill>
            <a:srgbClr val="0A032B"/>
          </a:solidFill>
          <a:ln w="12700">
            <a:solidFill>
              <a:srgbClr val="0A032B"/>
            </a:solidFill>
            <a:prstDash val="solid"/>
          </a:ln>
        </p:spPr>
      </p:sp>
      <p:pic>
        <p:nvPicPr>
          <p:cNvPr id="16" name="Image 2" descr="preencoded.png">    </p:cNvPr>
          <p:cNvPicPr>
            <a:picLocks noChangeAspect="1"/>
          </p:cNvPicPr>
          <p:nvPr/>
        </p:nvPicPr>
        <p:blipFill>
          <a:blip r:embed="rId3"/>
          <a:stretch>
            <a:fillRect/>
          </a:stretch>
        </p:blipFill>
        <p:spPr>
          <a:xfrm>
            <a:off x="3618647" y="2297430"/>
            <a:ext cx="388620" cy="388620"/>
          </a:xfrm>
          <a:prstGeom prst="rect">
            <a:avLst/>
          </a:prstGeom>
        </p:spPr>
      </p:pic>
      <p:sp>
        <p:nvSpPr>
          <p:cNvPr id="17" name="Text 12"/>
          <p:cNvSpPr txBox="1"/>
          <p:nvPr/>
        </p:nvSpPr>
        <p:spPr>
          <a:xfrm>
            <a:off x="2968691" y="3063240"/>
            <a:ext cx="1688531" cy="457200"/>
          </a:xfrm>
          <a:prstGeom prst="rect">
            <a:avLst/>
          </a:prstGeom>
          <a:noFill/>
          <a:ln/>
        </p:spPr>
        <p:txBody>
          <a:bodyPr wrap="square" lIns="0" tIns="0" rIns="0" bIns="0" rtlCol="0" anchor="ctr"/>
          <a:lstStyle/>
          <a:p>
            <a:pPr algn="ctr" indent="0" marL="0">
              <a:buNone/>
            </a:pPr>
            <a:r>
              <a:rPr lang="en-US" sz="1600" b="1" dirty="0">
                <a:solidFill>
                  <a:srgbClr val="0A032B"/>
                </a:solidFill>
                <a:latin typeface="Montserrat" pitchFamily="34" charset="0"/>
                <a:ea typeface="Montserrat" pitchFamily="34" charset="-122"/>
                <a:cs typeface="Montserrat" pitchFamily="34" charset="-120"/>
              </a:rPr>
              <a:t>2. Préparer</a:t>
            </a:r>
            <a:endParaRPr lang="en-US" sz="1600" dirty="0"/>
          </a:p>
        </p:txBody>
      </p:sp>
      <p:sp>
        <p:nvSpPr>
          <p:cNvPr id="18" name="Text 13"/>
          <p:cNvSpPr txBox="1"/>
          <p:nvPr/>
        </p:nvSpPr>
        <p:spPr>
          <a:xfrm>
            <a:off x="3014411" y="3566160"/>
            <a:ext cx="1597091" cy="1188720"/>
          </a:xfrm>
          <a:prstGeom prst="rect">
            <a:avLst/>
          </a:prstGeom>
          <a:noFill/>
          <a:ln/>
        </p:spPr>
        <p:txBody>
          <a:bodyPr wrap="square" lIns="0" tIns="0" rIns="0" bIns="0" rtlCol="0" anchor="t"/>
          <a:lstStyle/>
          <a:p>
            <a:pPr algn="ctr" indent="0" marL="0">
              <a:buNone/>
            </a:pPr>
            <a:r>
              <a:rPr lang="en-US" sz="1300" dirty="0">
                <a:solidFill>
                  <a:srgbClr val="35305C"/>
                </a:solidFill>
                <a:latin typeface="Arial" pitchFamily="34" charset="0"/>
                <a:ea typeface="Arial" pitchFamily="34" charset="-122"/>
                <a:cs typeface="Arial" pitchFamily="34" charset="-120"/>
              </a:rPr>
              <a:t>Dégager le trajet, prévoir la dépose, chercher une aide</a:t>
            </a:r>
            <a:endParaRPr lang="en-US" sz="1300" dirty="0"/>
          </a:p>
        </p:txBody>
      </p:sp>
      <p:sp>
        <p:nvSpPr>
          <p:cNvPr id="19" name="Shape 14"/>
          <p:cNvSpPr/>
          <p:nvPr/>
        </p:nvSpPr>
        <p:spPr>
          <a:xfrm>
            <a:off x="4840102" y="3154680"/>
            <a:ext cx="228600" cy="320040"/>
          </a:xfrm>
          <a:prstGeom prst="rightArrow">
            <a:avLst/>
          </a:prstGeom>
          <a:solidFill>
            <a:srgbClr val="5E5A78"/>
          </a:solidFill>
          <a:ln w="12700">
            <a:solidFill>
              <a:srgbClr val="5E5A78"/>
            </a:solidFill>
            <a:prstDash val="solid"/>
          </a:ln>
        </p:spPr>
      </p:sp>
      <p:sp>
        <p:nvSpPr>
          <p:cNvPr id="20" name="Shape 15"/>
          <p:cNvSpPr/>
          <p:nvPr/>
        </p:nvSpPr>
        <p:spPr>
          <a:xfrm>
            <a:off x="5114422" y="1783080"/>
            <a:ext cx="1962851" cy="3108960"/>
          </a:xfrm>
          <a:prstGeom prst="roundRect">
            <a:avLst>
              <a:gd name="adj" fmla="val 3727"/>
            </a:avLst>
          </a:prstGeom>
          <a:solidFill>
            <a:srgbClr val="EEEDF5"/>
          </a:solidFill>
          <a:ln w="12700">
            <a:solidFill>
              <a:srgbClr val="EEEDF5"/>
            </a:solidFill>
            <a:prstDash val="solid"/>
          </a:ln>
        </p:spPr>
      </p:sp>
      <p:sp>
        <p:nvSpPr>
          <p:cNvPr id="21" name="Shape 16"/>
          <p:cNvSpPr/>
          <p:nvPr/>
        </p:nvSpPr>
        <p:spPr>
          <a:xfrm>
            <a:off x="5707228" y="2103120"/>
            <a:ext cx="777240" cy="777240"/>
          </a:xfrm>
          <a:prstGeom prst="ellipse">
            <a:avLst/>
          </a:prstGeom>
          <a:solidFill>
            <a:srgbClr val="0A032B"/>
          </a:solidFill>
          <a:ln w="12700">
            <a:solidFill>
              <a:srgbClr val="0A032B"/>
            </a:solidFill>
            <a:prstDash val="solid"/>
          </a:ln>
        </p:spPr>
      </p:sp>
      <p:pic>
        <p:nvPicPr>
          <p:cNvPr id="22" name="Image 3" descr="preencoded.png">    </p:cNvPr>
          <p:cNvPicPr>
            <a:picLocks noChangeAspect="1"/>
          </p:cNvPicPr>
          <p:nvPr/>
        </p:nvPicPr>
        <p:blipFill>
          <a:blip r:embed="rId4"/>
          <a:stretch>
            <a:fillRect/>
          </a:stretch>
        </p:blipFill>
        <p:spPr>
          <a:xfrm>
            <a:off x="5901538" y="2297430"/>
            <a:ext cx="388620" cy="388620"/>
          </a:xfrm>
          <a:prstGeom prst="rect">
            <a:avLst/>
          </a:prstGeom>
        </p:spPr>
      </p:pic>
      <p:sp>
        <p:nvSpPr>
          <p:cNvPr id="23" name="Text 17"/>
          <p:cNvSpPr txBox="1"/>
          <p:nvPr/>
        </p:nvSpPr>
        <p:spPr>
          <a:xfrm>
            <a:off x="5251582" y="3063240"/>
            <a:ext cx="1688531" cy="457200"/>
          </a:xfrm>
          <a:prstGeom prst="rect">
            <a:avLst/>
          </a:prstGeom>
          <a:noFill/>
          <a:ln/>
        </p:spPr>
        <p:txBody>
          <a:bodyPr wrap="square" lIns="0" tIns="0" rIns="0" bIns="0" rtlCol="0" anchor="ctr"/>
          <a:lstStyle/>
          <a:p>
            <a:pPr algn="ctr" indent="0" marL="0">
              <a:buNone/>
            </a:pPr>
            <a:r>
              <a:rPr lang="en-US" sz="1600" b="1" dirty="0">
                <a:solidFill>
                  <a:srgbClr val="0A032B"/>
                </a:solidFill>
                <a:latin typeface="Montserrat" pitchFamily="34" charset="0"/>
                <a:ea typeface="Montserrat" pitchFamily="34" charset="-122"/>
                <a:cs typeface="Montserrat" pitchFamily="34" charset="-120"/>
              </a:rPr>
              <a:t>3. Soulever</a:t>
            </a:r>
            <a:endParaRPr lang="en-US" sz="1600" dirty="0"/>
          </a:p>
        </p:txBody>
      </p:sp>
      <p:sp>
        <p:nvSpPr>
          <p:cNvPr id="24" name="Text 18"/>
          <p:cNvSpPr txBox="1"/>
          <p:nvPr/>
        </p:nvSpPr>
        <p:spPr>
          <a:xfrm>
            <a:off x="5297302" y="3566160"/>
            <a:ext cx="1597091" cy="1188720"/>
          </a:xfrm>
          <a:prstGeom prst="rect">
            <a:avLst/>
          </a:prstGeom>
          <a:noFill/>
          <a:ln/>
        </p:spPr>
        <p:txBody>
          <a:bodyPr wrap="square" lIns="0" tIns="0" rIns="0" bIns="0" rtlCol="0" anchor="t"/>
          <a:lstStyle/>
          <a:p>
            <a:pPr algn="ctr" indent="0" marL="0">
              <a:buNone/>
            </a:pPr>
            <a:r>
              <a:rPr lang="en-US" sz="1300" dirty="0">
                <a:solidFill>
                  <a:srgbClr val="35305C"/>
                </a:solidFill>
                <a:latin typeface="Arial" pitchFamily="34" charset="0"/>
                <a:ea typeface="Arial" pitchFamily="34" charset="-122"/>
                <a:cs typeface="Arial" pitchFamily="34" charset="-120"/>
              </a:rPr>
              <a:t>Principes de sécurité physique, jambes fléchies</a:t>
            </a:r>
            <a:endParaRPr lang="en-US" sz="1300" dirty="0"/>
          </a:p>
        </p:txBody>
      </p:sp>
      <p:sp>
        <p:nvSpPr>
          <p:cNvPr id="25" name="Shape 19"/>
          <p:cNvSpPr/>
          <p:nvPr/>
        </p:nvSpPr>
        <p:spPr>
          <a:xfrm>
            <a:off x="7122993" y="3154680"/>
            <a:ext cx="228600" cy="320040"/>
          </a:xfrm>
          <a:prstGeom prst="rightArrow">
            <a:avLst/>
          </a:prstGeom>
          <a:solidFill>
            <a:srgbClr val="5E5A78"/>
          </a:solidFill>
          <a:ln w="12700">
            <a:solidFill>
              <a:srgbClr val="5E5A78"/>
            </a:solidFill>
            <a:prstDash val="solid"/>
          </a:ln>
        </p:spPr>
      </p:sp>
      <p:sp>
        <p:nvSpPr>
          <p:cNvPr id="26" name="Shape 20"/>
          <p:cNvSpPr/>
          <p:nvPr/>
        </p:nvSpPr>
        <p:spPr>
          <a:xfrm>
            <a:off x="7397313" y="1783080"/>
            <a:ext cx="1962851" cy="3108960"/>
          </a:xfrm>
          <a:prstGeom prst="roundRect">
            <a:avLst>
              <a:gd name="adj" fmla="val 3727"/>
            </a:avLst>
          </a:prstGeom>
          <a:solidFill>
            <a:srgbClr val="EEEDF5"/>
          </a:solidFill>
          <a:ln w="12700">
            <a:solidFill>
              <a:srgbClr val="EEEDF5"/>
            </a:solidFill>
            <a:prstDash val="solid"/>
          </a:ln>
        </p:spPr>
      </p:sp>
      <p:sp>
        <p:nvSpPr>
          <p:cNvPr id="27" name="Shape 21"/>
          <p:cNvSpPr/>
          <p:nvPr/>
        </p:nvSpPr>
        <p:spPr>
          <a:xfrm>
            <a:off x="7990119" y="2103120"/>
            <a:ext cx="777240" cy="777240"/>
          </a:xfrm>
          <a:prstGeom prst="ellipse">
            <a:avLst/>
          </a:prstGeom>
          <a:solidFill>
            <a:srgbClr val="0A032B"/>
          </a:solidFill>
          <a:ln w="12700">
            <a:solidFill>
              <a:srgbClr val="0A032B"/>
            </a:solidFill>
            <a:prstDash val="solid"/>
          </a:ln>
        </p:spPr>
      </p:sp>
      <p:pic>
        <p:nvPicPr>
          <p:cNvPr id="28" name="Image 4" descr="preencoded.png">    </p:cNvPr>
          <p:cNvPicPr>
            <a:picLocks noChangeAspect="1"/>
          </p:cNvPicPr>
          <p:nvPr/>
        </p:nvPicPr>
        <p:blipFill>
          <a:blip r:embed="rId5"/>
          <a:stretch>
            <a:fillRect/>
          </a:stretch>
        </p:blipFill>
        <p:spPr>
          <a:xfrm>
            <a:off x="8184429" y="2297430"/>
            <a:ext cx="388620" cy="388620"/>
          </a:xfrm>
          <a:prstGeom prst="rect">
            <a:avLst/>
          </a:prstGeom>
        </p:spPr>
      </p:pic>
      <p:sp>
        <p:nvSpPr>
          <p:cNvPr id="29" name="Text 22"/>
          <p:cNvSpPr txBox="1"/>
          <p:nvPr/>
        </p:nvSpPr>
        <p:spPr>
          <a:xfrm>
            <a:off x="7534473" y="3063240"/>
            <a:ext cx="1688531" cy="457200"/>
          </a:xfrm>
          <a:prstGeom prst="rect">
            <a:avLst/>
          </a:prstGeom>
          <a:noFill/>
          <a:ln/>
        </p:spPr>
        <p:txBody>
          <a:bodyPr wrap="square" lIns="0" tIns="0" rIns="0" bIns="0" rtlCol="0" anchor="ctr"/>
          <a:lstStyle/>
          <a:p>
            <a:pPr algn="ctr" indent="0" marL="0">
              <a:buNone/>
            </a:pPr>
            <a:r>
              <a:rPr lang="en-US" sz="1600" b="1" dirty="0">
                <a:solidFill>
                  <a:srgbClr val="0A032B"/>
                </a:solidFill>
                <a:latin typeface="Montserrat" pitchFamily="34" charset="0"/>
                <a:ea typeface="Montserrat" pitchFamily="34" charset="-122"/>
                <a:cs typeface="Montserrat" pitchFamily="34" charset="-120"/>
              </a:rPr>
              <a:t>4. Déplacer</a:t>
            </a:r>
            <a:endParaRPr lang="en-US" sz="1600" dirty="0"/>
          </a:p>
        </p:txBody>
      </p:sp>
      <p:sp>
        <p:nvSpPr>
          <p:cNvPr id="30" name="Text 23"/>
          <p:cNvSpPr txBox="1"/>
          <p:nvPr/>
        </p:nvSpPr>
        <p:spPr>
          <a:xfrm>
            <a:off x="7580193" y="3566160"/>
            <a:ext cx="1597091" cy="1188720"/>
          </a:xfrm>
          <a:prstGeom prst="rect">
            <a:avLst/>
          </a:prstGeom>
          <a:noFill/>
          <a:ln/>
        </p:spPr>
        <p:txBody>
          <a:bodyPr wrap="square" lIns="0" tIns="0" rIns="0" bIns="0" rtlCol="0" anchor="t"/>
          <a:lstStyle/>
          <a:p>
            <a:pPr algn="ctr" indent="0" marL="0">
              <a:buNone/>
            </a:pPr>
            <a:r>
              <a:rPr lang="en-US" sz="1300" dirty="0">
                <a:solidFill>
                  <a:srgbClr val="35305C"/>
                </a:solidFill>
                <a:latin typeface="Arial" pitchFamily="34" charset="0"/>
                <a:ea typeface="Arial" pitchFamily="34" charset="-122"/>
                <a:cs typeface="Arial" pitchFamily="34" charset="-120"/>
              </a:rPr>
              <a:t>Charge contre soi, petits pas, pas de torsion</a:t>
            </a:r>
            <a:endParaRPr lang="en-US" sz="1300" dirty="0"/>
          </a:p>
        </p:txBody>
      </p:sp>
      <p:sp>
        <p:nvSpPr>
          <p:cNvPr id="31" name="Shape 24"/>
          <p:cNvSpPr/>
          <p:nvPr/>
        </p:nvSpPr>
        <p:spPr>
          <a:xfrm>
            <a:off x="9405884" y="3154680"/>
            <a:ext cx="228600" cy="320040"/>
          </a:xfrm>
          <a:prstGeom prst="rightArrow">
            <a:avLst/>
          </a:prstGeom>
          <a:solidFill>
            <a:srgbClr val="5E5A78"/>
          </a:solidFill>
          <a:ln w="12700">
            <a:solidFill>
              <a:srgbClr val="5E5A78"/>
            </a:solidFill>
            <a:prstDash val="solid"/>
          </a:ln>
        </p:spPr>
      </p:sp>
      <p:sp>
        <p:nvSpPr>
          <p:cNvPr id="32" name="Shape 25"/>
          <p:cNvSpPr/>
          <p:nvPr/>
        </p:nvSpPr>
        <p:spPr>
          <a:xfrm>
            <a:off x="9680204" y="1783080"/>
            <a:ext cx="1962851" cy="3108960"/>
          </a:xfrm>
          <a:prstGeom prst="roundRect">
            <a:avLst>
              <a:gd name="adj" fmla="val 3727"/>
            </a:avLst>
          </a:prstGeom>
          <a:solidFill>
            <a:srgbClr val="EEEDF5"/>
          </a:solidFill>
          <a:ln w="12700">
            <a:solidFill>
              <a:srgbClr val="EEEDF5"/>
            </a:solidFill>
            <a:prstDash val="solid"/>
          </a:ln>
        </p:spPr>
      </p:sp>
      <p:sp>
        <p:nvSpPr>
          <p:cNvPr id="33" name="Shape 26"/>
          <p:cNvSpPr/>
          <p:nvPr/>
        </p:nvSpPr>
        <p:spPr>
          <a:xfrm>
            <a:off x="10273010" y="2103120"/>
            <a:ext cx="777240" cy="777240"/>
          </a:xfrm>
          <a:prstGeom prst="ellipse">
            <a:avLst/>
          </a:prstGeom>
          <a:solidFill>
            <a:srgbClr val="0A032B"/>
          </a:solidFill>
          <a:ln w="12700">
            <a:solidFill>
              <a:srgbClr val="0A032B"/>
            </a:solidFill>
            <a:prstDash val="solid"/>
          </a:ln>
        </p:spPr>
      </p:sp>
      <p:pic>
        <p:nvPicPr>
          <p:cNvPr id="34" name="Image 5" descr="preencoded.png">    </p:cNvPr>
          <p:cNvPicPr>
            <a:picLocks noChangeAspect="1"/>
          </p:cNvPicPr>
          <p:nvPr/>
        </p:nvPicPr>
        <p:blipFill>
          <a:blip r:embed="rId6"/>
          <a:stretch>
            <a:fillRect/>
          </a:stretch>
        </p:blipFill>
        <p:spPr>
          <a:xfrm>
            <a:off x="10467320" y="2297430"/>
            <a:ext cx="388620" cy="388620"/>
          </a:xfrm>
          <a:prstGeom prst="rect">
            <a:avLst/>
          </a:prstGeom>
        </p:spPr>
      </p:pic>
      <p:sp>
        <p:nvSpPr>
          <p:cNvPr id="35" name="Text 27"/>
          <p:cNvSpPr txBox="1"/>
          <p:nvPr/>
        </p:nvSpPr>
        <p:spPr>
          <a:xfrm>
            <a:off x="9817364" y="3063240"/>
            <a:ext cx="1688531" cy="457200"/>
          </a:xfrm>
          <a:prstGeom prst="rect">
            <a:avLst/>
          </a:prstGeom>
          <a:noFill/>
          <a:ln/>
        </p:spPr>
        <p:txBody>
          <a:bodyPr wrap="square" lIns="0" tIns="0" rIns="0" bIns="0" rtlCol="0" anchor="ctr"/>
          <a:lstStyle/>
          <a:p>
            <a:pPr algn="ctr" indent="0" marL="0">
              <a:buNone/>
            </a:pPr>
            <a:r>
              <a:rPr lang="en-US" sz="1600" b="1" dirty="0">
                <a:solidFill>
                  <a:srgbClr val="0A032B"/>
                </a:solidFill>
                <a:latin typeface="Montserrat" pitchFamily="34" charset="0"/>
                <a:ea typeface="Montserrat" pitchFamily="34" charset="-122"/>
                <a:cs typeface="Montserrat" pitchFamily="34" charset="-120"/>
              </a:rPr>
              <a:t>5. Déposer</a:t>
            </a:r>
            <a:endParaRPr lang="en-US" sz="1600" dirty="0"/>
          </a:p>
        </p:txBody>
      </p:sp>
      <p:sp>
        <p:nvSpPr>
          <p:cNvPr id="36" name="Text 28"/>
          <p:cNvSpPr txBox="1"/>
          <p:nvPr/>
        </p:nvSpPr>
        <p:spPr>
          <a:xfrm>
            <a:off x="9863084" y="3566160"/>
            <a:ext cx="1597091" cy="1188720"/>
          </a:xfrm>
          <a:prstGeom prst="rect">
            <a:avLst/>
          </a:prstGeom>
          <a:noFill/>
          <a:ln/>
        </p:spPr>
        <p:txBody>
          <a:bodyPr wrap="square" lIns="0" tIns="0" rIns="0" bIns="0" rtlCol="0" anchor="t"/>
          <a:lstStyle/>
          <a:p>
            <a:pPr algn="ctr" indent="0" marL="0">
              <a:buNone/>
            </a:pPr>
            <a:r>
              <a:rPr lang="en-US" sz="1300" dirty="0">
                <a:solidFill>
                  <a:srgbClr val="35305C"/>
                </a:solidFill>
                <a:latin typeface="Arial" pitchFamily="34" charset="0"/>
                <a:ea typeface="Arial" pitchFamily="34" charset="-122"/>
                <a:cs typeface="Arial" pitchFamily="34" charset="-120"/>
              </a:rPr>
              <a:t>Même principes qu'au lever, en contrôlant la charge</a:t>
            </a:r>
            <a:endParaRPr lang="en-US" sz="1300" dirty="0"/>
          </a:p>
        </p:txBody>
      </p:sp>
      <p:sp>
        <p:nvSpPr>
          <p:cNvPr id="37" name="Shape 29"/>
          <p:cNvSpPr/>
          <p:nvPr/>
        </p:nvSpPr>
        <p:spPr>
          <a:xfrm>
            <a:off x="548640" y="5166360"/>
            <a:ext cx="11094415" cy="777240"/>
          </a:xfrm>
          <a:prstGeom prst="roundRect">
            <a:avLst>
              <a:gd name="adj" fmla="val 9412"/>
            </a:avLst>
          </a:prstGeom>
          <a:solidFill>
            <a:srgbClr val="F0EF96"/>
          </a:solidFill>
          <a:ln w="12700">
            <a:solidFill>
              <a:srgbClr val="F0EF96"/>
            </a:solidFill>
            <a:prstDash val="solid"/>
          </a:ln>
        </p:spPr>
      </p:sp>
      <p:sp>
        <p:nvSpPr>
          <p:cNvPr id="38" name="Text 30"/>
          <p:cNvSpPr txBox="1"/>
          <p:nvPr/>
        </p:nvSpPr>
        <p:spPr>
          <a:xfrm>
            <a:off x="777240" y="5166360"/>
            <a:ext cx="10637215" cy="7772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Le réflexe de l'élu : </a:t>
            </a:r>
            <a:pPr indent="0" marL="0">
              <a:buNone/>
            </a:pPr>
            <a:r>
              <a:rPr lang="en-US" sz="1500" i="1" dirty="0">
                <a:solidFill>
                  <a:srgbClr val="0A032B"/>
                </a:solidFill>
                <a:latin typeface="Arial" pitchFamily="34" charset="0"/>
                <a:ea typeface="Arial" pitchFamily="34" charset="-122"/>
                <a:cs typeface="Arial" pitchFamily="34" charset="-120"/>
              </a:rPr>
              <a:t>« Est-ce que je dois vraiment porter cela ? Seul ? Sans aide technique ? »</a:t>
            </a:r>
            <a:endParaRPr lang="en-US" sz="1500" dirty="0"/>
          </a:p>
        </p:txBody>
      </p:sp>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235440" cy="685800"/>
          </a:xfrm>
          <a:prstGeom prst="rect">
            <a:avLst/>
          </a:prstGeom>
          <a:noFill/>
          <a:ln/>
        </p:spPr>
        <p:txBody>
          <a:bodyPr wrap="square" lIns="0" tIns="0" rIns="0" bIns="0" rtlCol="0" anchor="ctr"/>
          <a:lstStyle/>
          <a:p>
            <a:pPr indent="0" marL="0">
              <a:buNone/>
            </a:pPr>
            <a:r>
              <a:rPr lang="en-US" sz="2800" b="1" dirty="0">
                <a:solidFill>
                  <a:srgbClr val="0A032B"/>
                </a:solidFill>
                <a:latin typeface="Montserrat" pitchFamily="34" charset="0"/>
                <a:ea typeface="Montserrat" pitchFamily="34" charset="-122"/>
                <a:cs typeface="Montserrat" pitchFamily="34" charset="-120"/>
              </a:rPr>
              <a:t>Les 5 principes de sécurité physique</a:t>
            </a:r>
            <a:endParaRPr lang="en-US" sz="2800" dirty="0"/>
          </a:p>
        </p:txBody>
      </p:sp>
      <p:sp>
        <p:nvSpPr>
          <p:cNvPr id="3" name="Shape 1"/>
          <p:cNvSpPr/>
          <p:nvPr/>
        </p:nvSpPr>
        <p:spPr>
          <a:xfrm>
            <a:off x="10042855" y="530352"/>
            <a:ext cx="1600200" cy="347472"/>
          </a:xfrm>
          <a:prstGeom prst="roundRect">
            <a:avLst>
              <a:gd name="adj" fmla="val 50000"/>
            </a:avLst>
          </a:prstGeom>
          <a:solidFill>
            <a:srgbClr val="0A032B"/>
          </a:solidFill>
          <a:ln w="12700">
            <a:solidFill>
              <a:srgbClr val="0A032B"/>
            </a:solidFill>
            <a:prstDash val="solid"/>
          </a:ln>
        </p:spPr>
      </p:sp>
      <p:sp>
        <p:nvSpPr>
          <p:cNvPr id="4" name="Text 2"/>
          <p:cNvSpPr txBox="1"/>
          <p:nvPr/>
        </p:nvSpPr>
        <p:spPr>
          <a:xfrm>
            <a:off x="10042855" y="530352"/>
            <a:ext cx="1600200" cy="347472"/>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Montserrat" pitchFamily="34" charset="0"/>
                <a:ea typeface="Montserrat" pitchFamily="34" charset="-122"/>
                <a:cs typeface="Montserrat" pitchFamily="34" charset="-120"/>
              </a:rPr>
              <a:t>THÉORIE</a:t>
            </a:r>
            <a:endParaRPr lang="en-US" sz="1100" dirty="0"/>
          </a:p>
        </p:txBody>
      </p:sp>
      <p:sp>
        <p:nvSpPr>
          <p:cNvPr id="5" name="Text 3"/>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5E5A78"/>
                </a:solidFill>
                <a:latin typeface="Arial" pitchFamily="34" charset="0"/>
                <a:ea typeface="Arial" pitchFamily="34" charset="-122"/>
                <a:cs typeface="Arial" pitchFamily="34" charset="-120"/>
              </a:rPr>
              <a:t>Gestes et postures de l'élu  ·  Séquence 3</a:t>
            </a:r>
            <a:endParaRPr lang="en-US" sz="900" dirty="0"/>
          </a:p>
        </p:txBody>
      </p:sp>
      <p:pic>
        <p:nvPicPr>
          <p:cNvPr id="6" name="Image 0" descr="logo_light.png">    </p:cNvPr>
          <p:cNvPicPr>
            <a:picLocks noChangeAspect="1"/>
          </p:cNvPicPr>
          <p:nvPr/>
        </p:nvPicPr>
        <p:blipFill>
          <a:blip r:embed="rId1"/>
          <a:stretch>
            <a:fillRect/>
          </a:stretch>
        </p:blipFill>
        <p:spPr>
          <a:xfrm>
            <a:off x="10682935" y="6236208"/>
            <a:ext cx="960120" cy="398441"/>
          </a:xfrm>
          <a:prstGeom prst="rect">
            <a:avLst/>
          </a:prstGeom>
        </p:spPr>
      </p:pic>
      <p:sp>
        <p:nvSpPr>
          <p:cNvPr id="7" name="Shape 4"/>
          <p:cNvSpPr/>
          <p:nvPr/>
        </p:nvSpPr>
        <p:spPr>
          <a:xfrm>
            <a:off x="548640" y="1417320"/>
            <a:ext cx="1999427" cy="4617720"/>
          </a:xfrm>
          <a:prstGeom prst="roundRect">
            <a:avLst>
              <a:gd name="adj" fmla="val 3659"/>
            </a:avLst>
          </a:prstGeom>
          <a:solidFill>
            <a:srgbClr val="EEEDF5"/>
          </a:solidFill>
          <a:ln w="12700">
            <a:solidFill>
              <a:srgbClr val="EEEDF5"/>
            </a:solidFill>
            <a:prstDash val="solid"/>
          </a:ln>
        </p:spPr>
      </p:sp>
      <p:sp>
        <p:nvSpPr>
          <p:cNvPr id="8" name="Shape 5"/>
          <p:cNvSpPr/>
          <p:nvPr/>
        </p:nvSpPr>
        <p:spPr>
          <a:xfrm>
            <a:off x="777240" y="1645920"/>
            <a:ext cx="457200" cy="457200"/>
          </a:xfrm>
          <a:prstGeom prst="ellipse">
            <a:avLst/>
          </a:prstGeom>
          <a:solidFill>
            <a:srgbClr val="F0EF96"/>
          </a:solidFill>
          <a:ln w="12700">
            <a:solidFill>
              <a:srgbClr val="F0EF96"/>
            </a:solidFill>
            <a:prstDash val="solid"/>
          </a:ln>
        </p:spPr>
      </p:sp>
      <p:sp>
        <p:nvSpPr>
          <p:cNvPr id="9" name="Text 6"/>
          <p:cNvSpPr txBox="1"/>
          <p:nvPr/>
        </p:nvSpPr>
        <p:spPr>
          <a:xfrm>
            <a:off x="777240" y="1645920"/>
            <a:ext cx="457200" cy="457200"/>
          </a:xfrm>
          <a:prstGeom prst="rect">
            <a:avLst/>
          </a:prstGeom>
          <a:noFill/>
          <a:ln/>
        </p:spPr>
        <p:txBody>
          <a:bodyPr wrap="square" lIns="0" tIns="0" rIns="0" bIns="0" rtlCol="0" anchor="ctr"/>
          <a:lstStyle/>
          <a:p>
            <a:pPr algn="ctr" indent="0" marL="0">
              <a:buNone/>
            </a:pPr>
            <a:r>
              <a:rPr lang="en-US" sz="1300" b="1" dirty="0">
                <a:solidFill>
                  <a:srgbClr val="0A032B"/>
                </a:solidFill>
                <a:latin typeface="Montserrat" pitchFamily="34" charset="0"/>
                <a:ea typeface="Montserrat" pitchFamily="34" charset="-122"/>
                <a:cs typeface="Montserrat" pitchFamily="34" charset="-120"/>
              </a:rPr>
              <a:t>1</a:t>
            </a:r>
            <a:endParaRPr lang="en-US" sz="1300" dirty="0"/>
          </a:p>
        </p:txBody>
      </p:sp>
      <p:sp>
        <p:nvSpPr>
          <p:cNvPr id="10" name="Shape 7"/>
          <p:cNvSpPr/>
          <p:nvPr/>
        </p:nvSpPr>
        <p:spPr>
          <a:xfrm>
            <a:off x="1045434" y="2286000"/>
            <a:ext cx="1005840" cy="1005840"/>
          </a:xfrm>
          <a:prstGeom prst="ellipse">
            <a:avLst/>
          </a:prstGeom>
          <a:solidFill>
            <a:srgbClr val="0A032B"/>
          </a:solidFill>
          <a:ln w="12700">
            <a:solidFill>
              <a:srgbClr val="0A032B"/>
            </a:solidFill>
            <a:prstDash val="solid"/>
          </a:ln>
        </p:spPr>
      </p:sp>
      <p:pic>
        <p:nvPicPr>
          <p:cNvPr id="11" name="Image 1" descr="preencoded.png">    </p:cNvPr>
          <p:cNvPicPr>
            <a:picLocks noChangeAspect="1"/>
          </p:cNvPicPr>
          <p:nvPr/>
        </p:nvPicPr>
        <p:blipFill>
          <a:blip r:embed="rId2"/>
          <a:stretch>
            <a:fillRect/>
          </a:stretch>
        </p:blipFill>
        <p:spPr>
          <a:xfrm>
            <a:off x="1296894" y="2537460"/>
            <a:ext cx="502920" cy="502920"/>
          </a:xfrm>
          <a:prstGeom prst="rect">
            <a:avLst/>
          </a:prstGeom>
        </p:spPr>
      </p:pic>
      <p:sp>
        <p:nvSpPr>
          <p:cNvPr id="12" name="Text 8"/>
          <p:cNvSpPr txBox="1"/>
          <p:nvPr/>
        </p:nvSpPr>
        <p:spPr>
          <a:xfrm>
            <a:off x="685800" y="3474720"/>
            <a:ext cx="1725107" cy="457200"/>
          </a:xfrm>
          <a:prstGeom prst="rect">
            <a:avLst/>
          </a:prstGeom>
          <a:noFill/>
          <a:ln/>
        </p:spPr>
        <p:txBody>
          <a:bodyPr wrap="square" lIns="0" tIns="0" rIns="0" bIns="0" rtlCol="0" anchor="ctr"/>
          <a:lstStyle/>
          <a:p>
            <a:pPr algn="ctr" indent="0" marL="0">
              <a:buNone/>
            </a:pPr>
            <a:r>
              <a:rPr lang="en-US" sz="1700" b="1" dirty="0">
                <a:solidFill>
                  <a:srgbClr val="0A032B"/>
                </a:solidFill>
                <a:latin typeface="Montserrat" pitchFamily="34" charset="0"/>
                <a:ea typeface="Montserrat" pitchFamily="34" charset="-122"/>
                <a:cs typeface="Montserrat" pitchFamily="34" charset="-120"/>
              </a:rPr>
              <a:t>Les pieds</a:t>
            </a:r>
            <a:endParaRPr lang="en-US" sz="1700" dirty="0"/>
          </a:p>
        </p:txBody>
      </p:sp>
      <p:sp>
        <p:nvSpPr>
          <p:cNvPr id="13" name="Text 9"/>
          <p:cNvSpPr txBox="1"/>
          <p:nvPr/>
        </p:nvSpPr>
        <p:spPr>
          <a:xfrm>
            <a:off x="749808" y="4023360"/>
            <a:ext cx="1597091" cy="1874520"/>
          </a:xfrm>
          <a:prstGeom prst="rect">
            <a:avLst/>
          </a:prstGeom>
          <a:noFill/>
          <a:ln/>
        </p:spPr>
        <p:txBody>
          <a:bodyPr wrap="square" lIns="0" tIns="0" rIns="0" bIns="0" rtlCol="0" anchor="t"/>
          <a:lstStyle/>
          <a:p>
            <a:pPr indent="0" marL="0">
              <a:buNone/>
            </a:pPr>
            <a:r>
              <a:rPr lang="en-US" sz="1300" dirty="0">
                <a:solidFill>
                  <a:srgbClr val="35305C"/>
                </a:solidFill>
                <a:latin typeface="Arial" pitchFamily="34" charset="0"/>
                <a:ea typeface="Arial" pitchFamily="34" charset="-122"/>
                <a:cs typeface="Arial" pitchFamily="34" charset="-120"/>
              </a:rPr>
              <a:t>Écartés à largeur du bassin, un pied en avant dans le sens du déplacement, au plus près de la charge.</a:t>
            </a:r>
            <a:endParaRPr lang="en-US" sz="1300" dirty="0"/>
          </a:p>
        </p:txBody>
      </p:sp>
      <p:sp>
        <p:nvSpPr>
          <p:cNvPr id="14" name="Shape 10"/>
          <p:cNvSpPr/>
          <p:nvPr/>
        </p:nvSpPr>
        <p:spPr>
          <a:xfrm>
            <a:off x="2822387" y="1417320"/>
            <a:ext cx="1999427" cy="4617720"/>
          </a:xfrm>
          <a:prstGeom prst="roundRect">
            <a:avLst>
              <a:gd name="adj" fmla="val 3659"/>
            </a:avLst>
          </a:prstGeom>
          <a:solidFill>
            <a:srgbClr val="EEEDF5"/>
          </a:solidFill>
          <a:ln w="12700">
            <a:solidFill>
              <a:srgbClr val="EEEDF5"/>
            </a:solidFill>
            <a:prstDash val="solid"/>
          </a:ln>
        </p:spPr>
      </p:sp>
      <p:sp>
        <p:nvSpPr>
          <p:cNvPr id="15" name="Shape 11"/>
          <p:cNvSpPr/>
          <p:nvPr/>
        </p:nvSpPr>
        <p:spPr>
          <a:xfrm>
            <a:off x="3050987" y="1645920"/>
            <a:ext cx="457200" cy="457200"/>
          </a:xfrm>
          <a:prstGeom prst="ellipse">
            <a:avLst/>
          </a:prstGeom>
          <a:solidFill>
            <a:srgbClr val="F0EF96"/>
          </a:solidFill>
          <a:ln w="12700">
            <a:solidFill>
              <a:srgbClr val="F0EF96"/>
            </a:solidFill>
            <a:prstDash val="solid"/>
          </a:ln>
        </p:spPr>
      </p:sp>
      <p:sp>
        <p:nvSpPr>
          <p:cNvPr id="16" name="Text 12"/>
          <p:cNvSpPr txBox="1"/>
          <p:nvPr/>
        </p:nvSpPr>
        <p:spPr>
          <a:xfrm>
            <a:off x="3050987" y="1645920"/>
            <a:ext cx="457200" cy="457200"/>
          </a:xfrm>
          <a:prstGeom prst="rect">
            <a:avLst/>
          </a:prstGeom>
          <a:noFill/>
          <a:ln/>
        </p:spPr>
        <p:txBody>
          <a:bodyPr wrap="square" lIns="0" tIns="0" rIns="0" bIns="0" rtlCol="0" anchor="ctr"/>
          <a:lstStyle/>
          <a:p>
            <a:pPr algn="ctr" indent="0" marL="0">
              <a:buNone/>
            </a:pPr>
            <a:r>
              <a:rPr lang="en-US" sz="1300" b="1" dirty="0">
                <a:solidFill>
                  <a:srgbClr val="0A032B"/>
                </a:solidFill>
                <a:latin typeface="Montserrat" pitchFamily="34" charset="0"/>
                <a:ea typeface="Montserrat" pitchFamily="34" charset="-122"/>
                <a:cs typeface="Montserrat" pitchFamily="34" charset="-120"/>
              </a:rPr>
              <a:t>2</a:t>
            </a:r>
            <a:endParaRPr lang="en-US" sz="1300" dirty="0"/>
          </a:p>
        </p:txBody>
      </p:sp>
      <p:sp>
        <p:nvSpPr>
          <p:cNvPr id="17" name="Shape 13"/>
          <p:cNvSpPr/>
          <p:nvPr/>
        </p:nvSpPr>
        <p:spPr>
          <a:xfrm>
            <a:off x="3319181" y="2286000"/>
            <a:ext cx="1005840" cy="1005840"/>
          </a:xfrm>
          <a:prstGeom prst="ellipse">
            <a:avLst/>
          </a:prstGeom>
          <a:solidFill>
            <a:srgbClr val="0A032B"/>
          </a:solidFill>
          <a:ln w="12700">
            <a:solidFill>
              <a:srgbClr val="0A032B"/>
            </a:solidFill>
            <a:prstDash val="solid"/>
          </a:ln>
        </p:spPr>
      </p:sp>
      <p:pic>
        <p:nvPicPr>
          <p:cNvPr id="18" name="Image 2" descr="preencoded.png">    </p:cNvPr>
          <p:cNvPicPr>
            <a:picLocks noChangeAspect="1"/>
          </p:cNvPicPr>
          <p:nvPr/>
        </p:nvPicPr>
        <p:blipFill>
          <a:blip r:embed="rId3"/>
          <a:stretch>
            <a:fillRect/>
          </a:stretch>
        </p:blipFill>
        <p:spPr>
          <a:xfrm>
            <a:off x="3570641" y="2537460"/>
            <a:ext cx="502920" cy="502920"/>
          </a:xfrm>
          <a:prstGeom prst="rect">
            <a:avLst/>
          </a:prstGeom>
        </p:spPr>
      </p:pic>
      <p:sp>
        <p:nvSpPr>
          <p:cNvPr id="19" name="Text 14"/>
          <p:cNvSpPr txBox="1"/>
          <p:nvPr/>
        </p:nvSpPr>
        <p:spPr>
          <a:xfrm>
            <a:off x="2959547" y="3474720"/>
            <a:ext cx="1725107" cy="457200"/>
          </a:xfrm>
          <a:prstGeom prst="rect">
            <a:avLst/>
          </a:prstGeom>
          <a:noFill/>
          <a:ln/>
        </p:spPr>
        <p:txBody>
          <a:bodyPr wrap="square" lIns="0" tIns="0" rIns="0" bIns="0" rtlCol="0" anchor="ctr"/>
          <a:lstStyle/>
          <a:p>
            <a:pPr algn="ctr" indent="0" marL="0">
              <a:buNone/>
            </a:pPr>
            <a:r>
              <a:rPr lang="en-US" sz="1700" b="1" dirty="0">
                <a:solidFill>
                  <a:srgbClr val="0A032B"/>
                </a:solidFill>
                <a:latin typeface="Montserrat" pitchFamily="34" charset="0"/>
                <a:ea typeface="Montserrat" pitchFamily="34" charset="-122"/>
                <a:cs typeface="Montserrat" pitchFamily="34" charset="-120"/>
              </a:rPr>
              <a:t>Le dos</a:t>
            </a:r>
            <a:endParaRPr lang="en-US" sz="1700" dirty="0"/>
          </a:p>
        </p:txBody>
      </p:sp>
      <p:sp>
        <p:nvSpPr>
          <p:cNvPr id="20" name="Text 15"/>
          <p:cNvSpPr txBox="1"/>
          <p:nvPr/>
        </p:nvSpPr>
        <p:spPr>
          <a:xfrm>
            <a:off x="3023555" y="4023360"/>
            <a:ext cx="1597091" cy="1874520"/>
          </a:xfrm>
          <a:prstGeom prst="rect">
            <a:avLst/>
          </a:prstGeom>
          <a:noFill/>
          <a:ln/>
        </p:spPr>
        <p:txBody>
          <a:bodyPr wrap="square" lIns="0" tIns="0" rIns="0" bIns="0" rtlCol="0" anchor="t"/>
          <a:lstStyle/>
          <a:p>
            <a:pPr indent="0" marL="0">
              <a:buNone/>
            </a:pPr>
            <a:r>
              <a:rPr lang="en-US" sz="1300" dirty="0">
                <a:solidFill>
                  <a:srgbClr val="35305C"/>
                </a:solidFill>
                <a:latin typeface="Arial" pitchFamily="34" charset="0"/>
                <a:ea typeface="Arial" pitchFamily="34" charset="-122"/>
                <a:cs typeface="Arial" pitchFamily="34" charset="-120"/>
              </a:rPr>
              <a:t>Droit, en gardant ses courbures naturelles. On fléchit les jambes, pas le dos. Pas de torsion.</a:t>
            </a:r>
            <a:endParaRPr lang="en-US" sz="1300" dirty="0"/>
          </a:p>
        </p:txBody>
      </p:sp>
      <p:sp>
        <p:nvSpPr>
          <p:cNvPr id="21" name="Shape 16"/>
          <p:cNvSpPr/>
          <p:nvPr/>
        </p:nvSpPr>
        <p:spPr>
          <a:xfrm>
            <a:off x="5096134" y="1417320"/>
            <a:ext cx="1999427" cy="4617720"/>
          </a:xfrm>
          <a:prstGeom prst="roundRect">
            <a:avLst>
              <a:gd name="adj" fmla="val 3659"/>
            </a:avLst>
          </a:prstGeom>
          <a:solidFill>
            <a:srgbClr val="EEEDF5"/>
          </a:solidFill>
          <a:ln w="12700">
            <a:solidFill>
              <a:srgbClr val="EEEDF5"/>
            </a:solidFill>
            <a:prstDash val="solid"/>
          </a:ln>
        </p:spPr>
      </p:sp>
      <p:sp>
        <p:nvSpPr>
          <p:cNvPr id="22" name="Shape 17"/>
          <p:cNvSpPr/>
          <p:nvPr/>
        </p:nvSpPr>
        <p:spPr>
          <a:xfrm>
            <a:off x="5324734" y="1645920"/>
            <a:ext cx="457200" cy="457200"/>
          </a:xfrm>
          <a:prstGeom prst="ellipse">
            <a:avLst/>
          </a:prstGeom>
          <a:solidFill>
            <a:srgbClr val="F0EF96"/>
          </a:solidFill>
          <a:ln w="12700">
            <a:solidFill>
              <a:srgbClr val="F0EF96"/>
            </a:solidFill>
            <a:prstDash val="solid"/>
          </a:ln>
        </p:spPr>
      </p:sp>
      <p:sp>
        <p:nvSpPr>
          <p:cNvPr id="23" name="Text 18"/>
          <p:cNvSpPr txBox="1"/>
          <p:nvPr/>
        </p:nvSpPr>
        <p:spPr>
          <a:xfrm>
            <a:off x="5324734" y="1645920"/>
            <a:ext cx="457200" cy="457200"/>
          </a:xfrm>
          <a:prstGeom prst="rect">
            <a:avLst/>
          </a:prstGeom>
          <a:noFill/>
          <a:ln/>
        </p:spPr>
        <p:txBody>
          <a:bodyPr wrap="square" lIns="0" tIns="0" rIns="0" bIns="0" rtlCol="0" anchor="ctr"/>
          <a:lstStyle/>
          <a:p>
            <a:pPr algn="ctr" indent="0" marL="0">
              <a:buNone/>
            </a:pPr>
            <a:r>
              <a:rPr lang="en-US" sz="1300" b="1" dirty="0">
                <a:solidFill>
                  <a:srgbClr val="0A032B"/>
                </a:solidFill>
                <a:latin typeface="Montserrat" pitchFamily="34" charset="0"/>
                <a:ea typeface="Montserrat" pitchFamily="34" charset="-122"/>
                <a:cs typeface="Montserrat" pitchFamily="34" charset="-120"/>
              </a:rPr>
              <a:t>3</a:t>
            </a:r>
            <a:endParaRPr lang="en-US" sz="1300" dirty="0"/>
          </a:p>
        </p:txBody>
      </p:sp>
      <p:sp>
        <p:nvSpPr>
          <p:cNvPr id="24" name="Shape 19"/>
          <p:cNvSpPr/>
          <p:nvPr/>
        </p:nvSpPr>
        <p:spPr>
          <a:xfrm>
            <a:off x="5592928" y="2286000"/>
            <a:ext cx="1005840" cy="1005840"/>
          </a:xfrm>
          <a:prstGeom prst="ellipse">
            <a:avLst/>
          </a:prstGeom>
          <a:solidFill>
            <a:srgbClr val="0A032B"/>
          </a:solidFill>
          <a:ln w="12700">
            <a:solidFill>
              <a:srgbClr val="0A032B"/>
            </a:solidFill>
            <a:prstDash val="solid"/>
          </a:ln>
        </p:spPr>
      </p:sp>
      <p:pic>
        <p:nvPicPr>
          <p:cNvPr id="25" name="Image 3" descr="preencoded.png">    </p:cNvPr>
          <p:cNvPicPr>
            <a:picLocks noChangeAspect="1"/>
          </p:cNvPicPr>
          <p:nvPr/>
        </p:nvPicPr>
        <p:blipFill>
          <a:blip r:embed="rId4"/>
          <a:stretch>
            <a:fillRect/>
          </a:stretch>
        </p:blipFill>
        <p:spPr>
          <a:xfrm>
            <a:off x="5844388" y="2537460"/>
            <a:ext cx="502920" cy="502920"/>
          </a:xfrm>
          <a:prstGeom prst="rect">
            <a:avLst/>
          </a:prstGeom>
        </p:spPr>
      </p:pic>
      <p:sp>
        <p:nvSpPr>
          <p:cNvPr id="26" name="Text 20"/>
          <p:cNvSpPr txBox="1"/>
          <p:nvPr/>
        </p:nvSpPr>
        <p:spPr>
          <a:xfrm>
            <a:off x="5233294" y="3474720"/>
            <a:ext cx="1725107" cy="457200"/>
          </a:xfrm>
          <a:prstGeom prst="rect">
            <a:avLst/>
          </a:prstGeom>
          <a:noFill/>
          <a:ln/>
        </p:spPr>
        <p:txBody>
          <a:bodyPr wrap="square" lIns="0" tIns="0" rIns="0" bIns="0" rtlCol="0" anchor="ctr"/>
          <a:lstStyle/>
          <a:p>
            <a:pPr algn="ctr" indent="0" marL="0">
              <a:buNone/>
            </a:pPr>
            <a:r>
              <a:rPr lang="en-US" sz="1700" b="1" dirty="0">
                <a:solidFill>
                  <a:srgbClr val="0A032B"/>
                </a:solidFill>
                <a:latin typeface="Montserrat" pitchFamily="34" charset="0"/>
                <a:ea typeface="Montserrat" pitchFamily="34" charset="-122"/>
                <a:cs typeface="Montserrat" pitchFamily="34" charset="-120"/>
              </a:rPr>
              <a:t>La prise</a:t>
            </a:r>
            <a:endParaRPr lang="en-US" sz="1700" dirty="0"/>
          </a:p>
        </p:txBody>
      </p:sp>
      <p:sp>
        <p:nvSpPr>
          <p:cNvPr id="27" name="Text 21"/>
          <p:cNvSpPr txBox="1"/>
          <p:nvPr/>
        </p:nvSpPr>
        <p:spPr>
          <a:xfrm>
            <a:off x="5297302" y="4023360"/>
            <a:ext cx="1597091" cy="1874520"/>
          </a:xfrm>
          <a:prstGeom prst="rect">
            <a:avLst/>
          </a:prstGeom>
          <a:noFill/>
          <a:ln/>
        </p:spPr>
        <p:txBody>
          <a:bodyPr wrap="square" lIns="0" tIns="0" rIns="0" bIns="0" rtlCol="0" anchor="t"/>
          <a:lstStyle/>
          <a:p>
            <a:pPr indent="0" marL="0">
              <a:buNone/>
            </a:pPr>
            <a:r>
              <a:rPr lang="en-US" sz="1300" dirty="0">
                <a:solidFill>
                  <a:srgbClr val="35305C"/>
                </a:solidFill>
                <a:latin typeface="Arial" pitchFamily="34" charset="0"/>
                <a:ea typeface="Arial" pitchFamily="34" charset="-122"/>
                <a:cs typeface="Arial" pitchFamily="34" charset="-120"/>
              </a:rPr>
              <a:t>Prise sûre avec la paume et les doigts, bras tendus sans crispation, charge collée au corps.</a:t>
            </a:r>
            <a:endParaRPr lang="en-US" sz="1300" dirty="0"/>
          </a:p>
        </p:txBody>
      </p:sp>
      <p:sp>
        <p:nvSpPr>
          <p:cNvPr id="28" name="Shape 22"/>
          <p:cNvSpPr/>
          <p:nvPr/>
        </p:nvSpPr>
        <p:spPr>
          <a:xfrm>
            <a:off x="7369881" y="1417320"/>
            <a:ext cx="1999427" cy="4617720"/>
          </a:xfrm>
          <a:prstGeom prst="roundRect">
            <a:avLst>
              <a:gd name="adj" fmla="val 3659"/>
            </a:avLst>
          </a:prstGeom>
          <a:solidFill>
            <a:srgbClr val="EEEDF5"/>
          </a:solidFill>
          <a:ln w="12700">
            <a:solidFill>
              <a:srgbClr val="EEEDF5"/>
            </a:solidFill>
            <a:prstDash val="solid"/>
          </a:ln>
        </p:spPr>
      </p:sp>
      <p:sp>
        <p:nvSpPr>
          <p:cNvPr id="29" name="Shape 23"/>
          <p:cNvSpPr/>
          <p:nvPr/>
        </p:nvSpPr>
        <p:spPr>
          <a:xfrm>
            <a:off x="7598481" y="1645920"/>
            <a:ext cx="457200" cy="457200"/>
          </a:xfrm>
          <a:prstGeom prst="ellipse">
            <a:avLst/>
          </a:prstGeom>
          <a:solidFill>
            <a:srgbClr val="F0EF96"/>
          </a:solidFill>
          <a:ln w="12700">
            <a:solidFill>
              <a:srgbClr val="F0EF96"/>
            </a:solidFill>
            <a:prstDash val="solid"/>
          </a:ln>
        </p:spPr>
      </p:sp>
      <p:sp>
        <p:nvSpPr>
          <p:cNvPr id="30" name="Text 24"/>
          <p:cNvSpPr txBox="1"/>
          <p:nvPr/>
        </p:nvSpPr>
        <p:spPr>
          <a:xfrm>
            <a:off x="7598481" y="1645920"/>
            <a:ext cx="457200" cy="457200"/>
          </a:xfrm>
          <a:prstGeom prst="rect">
            <a:avLst/>
          </a:prstGeom>
          <a:noFill/>
          <a:ln/>
        </p:spPr>
        <p:txBody>
          <a:bodyPr wrap="square" lIns="0" tIns="0" rIns="0" bIns="0" rtlCol="0" anchor="ctr"/>
          <a:lstStyle/>
          <a:p>
            <a:pPr algn="ctr" indent="0" marL="0">
              <a:buNone/>
            </a:pPr>
            <a:r>
              <a:rPr lang="en-US" sz="1300" b="1" dirty="0">
                <a:solidFill>
                  <a:srgbClr val="0A032B"/>
                </a:solidFill>
                <a:latin typeface="Montserrat" pitchFamily="34" charset="0"/>
                <a:ea typeface="Montserrat" pitchFamily="34" charset="-122"/>
                <a:cs typeface="Montserrat" pitchFamily="34" charset="-120"/>
              </a:rPr>
              <a:t>4</a:t>
            </a:r>
            <a:endParaRPr lang="en-US" sz="1300" dirty="0"/>
          </a:p>
        </p:txBody>
      </p:sp>
      <p:sp>
        <p:nvSpPr>
          <p:cNvPr id="31" name="Shape 25"/>
          <p:cNvSpPr/>
          <p:nvPr/>
        </p:nvSpPr>
        <p:spPr>
          <a:xfrm>
            <a:off x="7866675" y="2286000"/>
            <a:ext cx="1005840" cy="1005840"/>
          </a:xfrm>
          <a:prstGeom prst="ellipse">
            <a:avLst/>
          </a:prstGeom>
          <a:solidFill>
            <a:srgbClr val="0A032B"/>
          </a:solidFill>
          <a:ln w="12700">
            <a:solidFill>
              <a:srgbClr val="0A032B"/>
            </a:solidFill>
            <a:prstDash val="solid"/>
          </a:ln>
        </p:spPr>
      </p:sp>
      <p:pic>
        <p:nvPicPr>
          <p:cNvPr id="32" name="Image 4" descr="preencoded.png">    </p:cNvPr>
          <p:cNvPicPr>
            <a:picLocks noChangeAspect="1"/>
          </p:cNvPicPr>
          <p:nvPr/>
        </p:nvPicPr>
        <p:blipFill>
          <a:blip r:embed="rId5"/>
          <a:stretch>
            <a:fillRect/>
          </a:stretch>
        </p:blipFill>
        <p:spPr>
          <a:xfrm>
            <a:off x="8118135" y="2537460"/>
            <a:ext cx="502920" cy="502920"/>
          </a:xfrm>
          <a:prstGeom prst="rect">
            <a:avLst/>
          </a:prstGeom>
        </p:spPr>
      </p:pic>
      <p:sp>
        <p:nvSpPr>
          <p:cNvPr id="33" name="Text 26"/>
          <p:cNvSpPr txBox="1"/>
          <p:nvPr/>
        </p:nvSpPr>
        <p:spPr>
          <a:xfrm>
            <a:off x="7507041" y="3474720"/>
            <a:ext cx="1725107" cy="457200"/>
          </a:xfrm>
          <a:prstGeom prst="rect">
            <a:avLst/>
          </a:prstGeom>
          <a:noFill/>
          <a:ln/>
        </p:spPr>
        <p:txBody>
          <a:bodyPr wrap="square" lIns="0" tIns="0" rIns="0" bIns="0" rtlCol="0" anchor="ctr"/>
          <a:lstStyle/>
          <a:p>
            <a:pPr algn="ctr" indent="0" marL="0">
              <a:buNone/>
            </a:pPr>
            <a:r>
              <a:rPr lang="en-US" sz="1700" b="1" dirty="0">
                <a:solidFill>
                  <a:srgbClr val="0A032B"/>
                </a:solidFill>
                <a:latin typeface="Montserrat" pitchFamily="34" charset="0"/>
                <a:ea typeface="Montserrat" pitchFamily="34" charset="-122"/>
                <a:cs typeface="Montserrat" pitchFamily="34" charset="-120"/>
              </a:rPr>
              <a:t>L'appui</a:t>
            </a:r>
            <a:endParaRPr lang="en-US" sz="1700" dirty="0"/>
          </a:p>
        </p:txBody>
      </p:sp>
      <p:sp>
        <p:nvSpPr>
          <p:cNvPr id="34" name="Text 27"/>
          <p:cNvSpPr txBox="1"/>
          <p:nvPr/>
        </p:nvSpPr>
        <p:spPr>
          <a:xfrm>
            <a:off x="7571049" y="4023360"/>
            <a:ext cx="1597091" cy="1874520"/>
          </a:xfrm>
          <a:prstGeom prst="rect">
            <a:avLst/>
          </a:prstGeom>
          <a:noFill/>
          <a:ln/>
        </p:spPr>
        <p:txBody>
          <a:bodyPr wrap="square" lIns="0" tIns="0" rIns="0" bIns="0" rtlCol="0" anchor="t"/>
          <a:lstStyle/>
          <a:p>
            <a:pPr indent="0" marL="0">
              <a:buNone/>
            </a:pPr>
            <a:r>
              <a:rPr lang="en-US" sz="1300" dirty="0">
                <a:solidFill>
                  <a:srgbClr val="35305C"/>
                </a:solidFill>
                <a:latin typeface="Arial" pitchFamily="34" charset="0"/>
                <a:ea typeface="Arial" pitchFamily="34" charset="-122"/>
                <a:cs typeface="Arial" pitchFamily="34" charset="-120"/>
              </a:rPr>
              <a:t>Prendre appui sur la cuisse, le genou ou un support pour soulager le dos.</a:t>
            </a:r>
            <a:endParaRPr lang="en-US" sz="1300" dirty="0"/>
          </a:p>
        </p:txBody>
      </p:sp>
      <p:sp>
        <p:nvSpPr>
          <p:cNvPr id="35" name="Shape 28"/>
          <p:cNvSpPr/>
          <p:nvPr/>
        </p:nvSpPr>
        <p:spPr>
          <a:xfrm>
            <a:off x="9643628" y="1417320"/>
            <a:ext cx="1999427" cy="4617720"/>
          </a:xfrm>
          <a:prstGeom prst="roundRect">
            <a:avLst>
              <a:gd name="adj" fmla="val 3659"/>
            </a:avLst>
          </a:prstGeom>
          <a:solidFill>
            <a:srgbClr val="EEEDF5"/>
          </a:solidFill>
          <a:ln w="12700">
            <a:solidFill>
              <a:srgbClr val="EEEDF5"/>
            </a:solidFill>
            <a:prstDash val="solid"/>
          </a:ln>
        </p:spPr>
      </p:sp>
      <p:sp>
        <p:nvSpPr>
          <p:cNvPr id="36" name="Shape 29"/>
          <p:cNvSpPr/>
          <p:nvPr/>
        </p:nvSpPr>
        <p:spPr>
          <a:xfrm>
            <a:off x="9872228" y="1645920"/>
            <a:ext cx="457200" cy="457200"/>
          </a:xfrm>
          <a:prstGeom prst="ellipse">
            <a:avLst/>
          </a:prstGeom>
          <a:solidFill>
            <a:srgbClr val="F0EF96"/>
          </a:solidFill>
          <a:ln w="12700">
            <a:solidFill>
              <a:srgbClr val="F0EF96"/>
            </a:solidFill>
            <a:prstDash val="solid"/>
          </a:ln>
        </p:spPr>
      </p:sp>
      <p:sp>
        <p:nvSpPr>
          <p:cNvPr id="37" name="Text 30"/>
          <p:cNvSpPr txBox="1"/>
          <p:nvPr/>
        </p:nvSpPr>
        <p:spPr>
          <a:xfrm>
            <a:off x="9872228" y="1645920"/>
            <a:ext cx="457200" cy="457200"/>
          </a:xfrm>
          <a:prstGeom prst="rect">
            <a:avLst/>
          </a:prstGeom>
          <a:noFill/>
          <a:ln/>
        </p:spPr>
        <p:txBody>
          <a:bodyPr wrap="square" lIns="0" tIns="0" rIns="0" bIns="0" rtlCol="0" anchor="ctr"/>
          <a:lstStyle/>
          <a:p>
            <a:pPr algn="ctr" indent="0" marL="0">
              <a:buNone/>
            </a:pPr>
            <a:r>
              <a:rPr lang="en-US" sz="1300" b="1" dirty="0">
                <a:solidFill>
                  <a:srgbClr val="0A032B"/>
                </a:solidFill>
                <a:latin typeface="Montserrat" pitchFamily="34" charset="0"/>
                <a:ea typeface="Montserrat" pitchFamily="34" charset="-122"/>
                <a:cs typeface="Montserrat" pitchFamily="34" charset="-120"/>
              </a:rPr>
              <a:t>5</a:t>
            </a:r>
            <a:endParaRPr lang="en-US" sz="1300" dirty="0"/>
          </a:p>
        </p:txBody>
      </p:sp>
      <p:sp>
        <p:nvSpPr>
          <p:cNvPr id="38" name="Shape 31"/>
          <p:cNvSpPr/>
          <p:nvPr/>
        </p:nvSpPr>
        <p:spPr>
          <a:xfrm>
            <a:off x="10140422" y="2286000"/>
            <a:ext cx="1005840" cy="1005840"/>
          </a:xfrm>
          <a:prstGeom prst="ellipse">
            <a:avLst/>
          </a:prstGeom>
          <a:solidFill>
            <a:srgbClr val="0A032B"/>
          </a:solidFill>
          <a:ln w="12700">
            <a:solidFill>
              <a:srgbClr val="0A032B"/>
            </a:solidFill>
            <a:prstDash val="solid"/>
          </a:ln>
        </p:spPr>
      </p:sp>
      <p:pic>
        <p:nvPicPr>
          <p:cNvPr id="39" name="Image 5" descr="preencoded.png">    </p:cNvPr>
          <p:cNvPicPr>
            <a:picLocks noChangeAspect="1"/>
          </p:cNvPicPr>
          <p:nvPr/>
        </p:nvPicPr>
        <p:blipFill>
          <a:blip r:embed="rId6"/>
          <a:stretch>
            <a:fillRect/>
          </a:stretch>
        </p:blipFill>
        <p:spPr>
          <a:xfrm>
            <a:off x="10391882" y="2537460"/>
            <a:ext cx="502920" cy="502920"/>
          </a:xfrm>
          <a:prstGeom prst="rect">
            <a:avLst/>
          </a:prstGeom>
        </p:spPr>
      </p:pic>
      <p:sp>
        <p:nvSpPr>
          <p:cNvPr id="40" name="Text 32"/>
          <p:cNvSpPr txBox="1"/>
          <p:nvPr/>
        </p:nvSpPr>
        <p:spPr>
          <a:xfrm>
            <a:off x="9780788" y="3474720"/>
            <a:ext cx="1725107" cy="457200"/>
          </a:xfrm>
          <a:prstGeom prst="rect">
            <a:avLst/>
          </a:prstGeom>
          <a:noFill/>
          <a:ln/>
        </p:spPr>
        <p:txBody>
          <a:bodyPr wrap="square" lIns="0" tIns="0" rIns="0" bIns="0" rtlCol="0" anchor="ctr"/>
          <a:lstStyle/>
          <a:p>
            <a:pPr algn="ctr" indent="0" marL="0">
              <a:buNone/>
            </a:pPr>
            <a:r>
              <a:rPr lang="en-US" sz="1700" b="1" dirty="0">
                <a:solidFill>
                  <a:srgbClr val="0A032B"/>
                </a:solidFill>
                <a:latin typeface="Montserrat" pitchFamily="34" charset="0"/>
                <a:ea typeface="Montserrat" pitchFamily="34" charset="-122"/>
                <a:cs typeface="Montserrat" pitchFamily="34" charset="-120"/>
              </a:rPr>
              <a:t>Le contrepoids</a:t>
            </a:r>
            <a:endParaRPr lang="en-US" sz="1700" dirty="0"/>
          </a:p>
        </p:txBody>
      </p:sp>
      <p:sp>
        <p:nvSpPr>
          <p:cNvPr id="41" name="Text 33"/>
          <p:cNvSpPr txBox="1"/>
          <p:nvPr/>
        </p:nvSpPr>
        <p:spPr>
          <a:xfrm>
            <a:off x="9844796" y="4023360"/>
            <a:ext cx="1597091" cy="1874520"/>
          </a:xfrm>
          <a:prstGeom prst="rect">
            <a:avLst/>
          </a:prstGeom>
          <a:noFill/>
          <a:ln/>
        </p:spPr>
        <p:txBody>
          <a:bodyPr wrap="square" lIns="0" tIns="0" rIns="0" bIns="0" rtlCol="0" anchor="t"/>
          <a:lstStyle/>
          <a:p>
            <a:pPr indent="0" marL="0">
              <a:buNone/>
            </a:pPr>
            <a:r>
              <a:rPr lang="en-US" sz="1300" dirty="0">
                <a:solidFill>
                  <a:srgbClr val="35305C"/>
                </a:solidFill>
                <a:latin typeface="Arial" pitchFamily="34" charset="0"/>
                <a:ea typeface="Arial" pitchFamily="34" charset="-122"/>
                <a:cs typeface="Arial" pitchFamily="34" charset="-120"/>
              </a:rPr>
              <a:t>Utiliser le poids de son corps pour déséquilibrer et déplacer la charge plutôt que la force des bras.</a:t>
            </a:r>
            <a:endParaRPr lang="en-US" sz="1300" dirty="0"/>
          </a:p>
        </p:txBody>
      </p:sp>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235440" cy="685800"/>
          </a:xfrm>
          <a:prstGeom prst="rect">
            <a:avLst/>
          </a:prstGeom>
          <a:noFill/>
          <a:ln/>
        </p:spPr>
        <p:txBody>
          <a:bodyPr wrap="square" lIns="0" tIns="0" rIns="0" bIns="0" rtlCol="0" anchor="ctr"/>
          <a:lstStyle/>
          <a:p>
            <a:pPr indent="0" marL="0">
              <a:buNone/>
            </a:pPr>
            <a:r>
              <a:rPr lang="en-US" sz="2800" b="1" dirty="0">
                <a:solidFill>
                  <a:srgbClr val="0A032B"/>
                </a:solidFill>
                <a:latin typeface="Montserrat" pitchFamily="34" charset="0"/>
                <a:ea typeface="Montserrat" pitchFamily="34" charset="-122"/>
                <a:cs typeface="Montserrat" pitchFamily="34" charset="-120"/>
              </a:rPr>
              <a:t>Économiser son effort</a:t>
            </a:r>
            <a:endParaRPr lang="en-US" sz="2800" dirty="0"/>
          </a:p>
        </p:txBody>
      </p:sp>
      <p:sp>
        <p:nvSpPr>
          <p:cNvPr id="3" name="Text 1"/>
          <p:cNvSpPr txBox="1"/>
          <p:nvPr/>
        </p:nvSpPr>
        <p:spPr>
          <a:xfrm>
            <a:off x="548640" y="1024128"/>
            <a:ext cx="9235440" cy="365760"/>
          </a:xfrm>
          <a:prstGeom prst="rect">
            <a:avLst/>
          </a:prstGeom>
          <a:noFill/>
          <a:ln/>
        </p:spPr>
        <p:txBody>
          <a:bodyPr wrap="square" lIns="0" tIns="0" rIns="0" bIns="0" rtlCol="0" anchor="ctr"/>
          <a:lstStyle/>
          <a:p>
            <a:pPr indent="0" marL="0">
              <a:buNone/>
            </a:pPr>
            <a:r>
              <a:rPr lang="en-US" sz="1400" i="1" dirty="0">
                <a:solidFill>
                  <a:srgbClr val="5E5A78"/>
                </a:solidFill>
                <a:latin typeface="Arial" pitchFamily="34" charset="0"/>
                <a:ea typeface="Arial" pitchFamily="34" charset="-122"/>
                <a:cs typeface="Arial" pitchFamily="34" charset="-120"/>
              </a:rPr>
              <a:t>Travailler avec son corps, pas contre lui</a:t>
            </a:r>
            <a:endParaRPr lang="en-US" sz="1400" dirty="0"/>
          </a:p>
        </p:txBody>
      </p:sp>
      <p:sp>
        <p:nvSpPr>
          <p:cNvPr id="4" name="Shape 2"/>
          <p:cNvSpPr/>
          <p:nvPr/>
        </p:nvSpPr>
        <p:spPr>
          <a:xfrm>
            <a:off x="10042855" y="530352"/>
            <a:ext cx="1600200" cy="347472"/>
          </a:xfrm>
          <a:prstGeom prst="roundRect">
            <a:avLst>
              <a:gd name="adj" fmla="val 50000"/>
            </a:avLst>
          </a:prstGeom>
          <a:solidFill>
            <a:srgbClr val="0A032B"/>
          </a:solidFill>
          <a:ln w="12700">
            <a:solidFill>
              <a:srgbClr val="0A032B"/>
            </a:solidFill>
            <a:prstDash val="solid"/>
          </a:ln>
        </p:spPr>
      </p:sp>
      <p:sp>
        <p:nvSpPr>
          <p:cNvPr id="5" name="Text 3"/>
          <p:cNvSpPr txBox="1"/>
          <p:nvPr/>
        </p:nvSpPr>
        <p:spPr>
          <a:xfrm>
            <a:off x="10042855" y="530352"/>
            <a:ext cx="1600200" cy="347472"/>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Montserrat" pitchFamily="34" charset="0"/>
                <a:ea typeface="Montserrat" pitchFamily="34" charset="-122"/>
                <a:cs typeface="Montserrat" pitchFamily="34" charset="-120"/>
              </a:rPr>
              <a:t>THÉORIE</a:t>
            </a:r>
            <a:endParaRPr lang="en-US" sz="1100" dirty="0"/>
          </a:p>
        </p:txBody>
      </p:sp>
      <p:sp>
        <p:nvSpPr>
          <p:cNvPr id="6" name="Text 4"/>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5E5A78"/>
                </a:solidFill>
                <a:latin typeface="Arial" pitchFamily="34" charset="0"/>
                <a:ea typeface="Arial" pitchFamily="34" charset="-122"/>
                <a:cs typeface="Arial" pitchFamily="34" charset="-120"/>
              </a:rPr>
              <a:t>Gestes et postures de l'élu  ·  Séquence 3</a:t>
            </a:r>
            <a:endParaRPr lang="en-US" sz="900" dirty="0"/>
          </a:p>
        </p:txBody>
      </p:sp>
      <p:pic>
        <p:nvPicPr>
          <p:cNvPr id="7" name="Image 0" descr="logo_light.png">    </p:cNvPr>
          <p:cNvPicPr>
            <a:picLocks noChangeAspect="1"/>
          </p:cNvPicPr>
          <p:nvPr/>
        </p:nvPicPr>
        <p:blipFill>
          <a:blip r:embed="rId1"/>
          <a:stretch>
            <a:fillRect/>
          </a:stretch>
        </p:blipFill>
        <p:spPr>
          <a:xfrm>
            <a:off x="10682935" y="6236208"/>
            <a:ext cx="960120" cy="398441"/>
          </a:xfrm>
          <a:prstGeom prst="rect">
            <a:avLst/>
          </a:prstGeom>
        </p:spPr>
      </p:pic>
      <p:sp>
        <p:nvSpPr>
          <p:cNvPr id="8" name="Shape 5"/>
          <p:cNvSpPr/>
          <p:nvPr/>
        </p:nvSpPr>
        <p:spPr>
          <a:xfrm>
            <a:off x="548640" y="1554480"/>
            <a:ext cx="4937760" cy="4480560"/>
          </a:xfrm>
          <a:prstGeom prst="roundRect">
            <a:avLst>
              <a:gd name="adj" fmla="val 1633"/>
            </a:avLst>
          </a:prstGeom>
          <a:solidFill>
            <a:srgbClr val="0A032B"/>
          </a:solidFill>
          <a:ln w="12700">
            <a:solidFill>
              <a:srgbClr val="0A032B"/>
            </a:solidFill>
            <a:prstDash val="solid"/>
          </a:ln>
        </p:spPr>
      </p:sp>
      <p:sp>
        <p:nvSpPr>
          <p:cNvPr id="9" name="Text 6"/>
          <p:cNvSpPr txBox="1"/>
          <p:nvPr/>
        </p:nvSpPr>
        <p:spPr>
          <a:xfrm>
            <a:off x="822960" y="1783080"/>
            <a:ext cx="4389120" cy="457200"/>
          </a:xfrm>
          <a:prstGeom prst="rect">
            <a:avLst/>
          </a:prstGeom>
          <a:noFill/>
          <a:ln/>
        </p:spPr>
        <p:txBody>
          <a:bodyPr wrap="square" lIns="0" tIns="0" rIns="0" bIns="0" rtlCol="0" anchor="ctr"/>
          <a:lstStyle/>
          <a:p>
            <a:pPr indent="0" marL="0">
              <a:buNone/>
            </a:pPr>
            <a:r>
              <a:rPr lang="en-US" sz="1800" b="1" dirty="0">
                <a:solidFill>
                  <a:srgbClr val="F0EF96"/>
                </a:solidFill>
                <a:latin typeface="Montserrat" pitchFamily="34" charset="0"/>
                <a:ea typeface="Montserrat" pitchFamily="34" charset="-122"/>
                <a:cs typeface="Montserrat" pitchFamily="34" charset="-120"/>
              </a:rPr>
              <a:t>L'effet bras de levier</a:t>
            </a:r>
            <a:endParaRPr lang="en-US" sz="1800" dirty="0"/>
          </a:p>
        </p:txBody>
      </p:sp>
      <p:sp>
        <p:nvSpPr>
          <p:cNvPr id="10" name="Text 7"/>
          <p:cNvSpPr txBox="1"/>
          <p:nvPr/>
        </p:nvSpPr>
        <p:spPr>
          <a:xfrm>
            <a:off x="822960" y="2468880"/>
            <a:ext cx="1828800" cy="54864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Charge collée au corps</a:t>
            </a:r>
            <a:endParaRPr lang="en-US" sz="1250" dirty="0"/>
          </a:p>
        </p:txBody>
      </p:sp>
      <p:sp>
        <p:nvSpPr>
          <p:cNvPr id="11" name="Shape 8"/>
          <p:cNvSpPr/>
          <p:nvPr/>
        </p:nvSpPr>
        <p:spPr>
          <a:xfrm>
            <a:off x="2697480" y="2578608"/>
            <a:ext cx="731520" cy="329184"/>
          </a:xfrm>
          <a:prstGeom prst="rect">
            <a:avLst/>
          </a:prstGeom>
          <a:solidFill>
            <a:srgbClr val="F0EF96"/>
          </a:solidFill>
          <a:ln w="12700">
            <a:solidFill>
              <a:srgbClr val="F0EF96"/>
            </a:solidFill>
            <a:prstDash val="solid"/>
          </a:ln>
        </p:spPr>
      </p:sp>
      <p:sp>
        <p:nvSpPr>
          <p:cNvPr id="12" name="Text 9"/>
          <p:cNvSpPr txBox="1"/>
          <p:nvPr/>
        </p:nvSpPr>
        <p:spPr>
          <a:xfrm>
            <a:off x="822960" y="3337560"/>
            <a:ext cx="1828800" cy="54864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Charge à 30 cm</a:t>
            </a:r>
            <a:endParaRPr lang="en-US" sz="1250" dirty="0"/>
          </a:p>
        </p:txBody>
      </p:sp>
      <p:sp>
        <p:nvSpPr>
          <p:cNvPr id="13" name="Shape 10"/>
          <p:cNvSpPr/>
          <p:nvPr/>
        </p:nvSpPr>
        <p:spPr>
          <a:xfrm>
            <a:off x="2697480" y="3447288"/>
            <a:ext cx="1536192" cy="329184"/>
          </a:xfrm>
          <a:prstGeom prst="rect">
            <a:avLst/>
          </a:prstGeom>
          <a:solidFill>
            <a:srgbClr val="F0EF96"/>
          </a:solidFill>
          <a:ln w="12700">
            <a:solidFill>
              <a:srgbClr val="F0EF96"/>
            </a:solidFill>
            <a:prstDash val="solid"/>
          </a:ln>
        </p:spPr>
      </p:sp>
      <p:sp>
        <p:nvSpPr>
          <p:cNvPr id="14" name="Text 11"/>
          <p:cNvSpPr txBox="1"/>
          <p:nvPr/>
        </p:nvSpPr>
        <p:spPr>
          <a:xfrm>
            <a:off x="822960" y="4206240"/>
            <a:ext cx="1828800" cy="54864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Charge bras tendus</a:t>
            </a:r>
            <a:endParaRPr lang="en-US" sz="1250" dirty="0"/>
          </a:p>
        </p:txBody>
      </p:sp>
      <p:sp>
        <p:nvSpPr>
          <p:cNvPr id="15" name="Shape 12"/>
          <p:cNvSpPr/>
          <p:nvPr/>
        </p:nvSpPr>
        <p:spPr>
          <a:xfrm>
            <a:off x="2697480" y="4315968"/>
            <a:ext cx="2487168" cy="329184"/>
          </a:xfrm>
          <a:prstGeom prst="rect">
            <a:avLst/>
          </a:prstGeom>
          <a:solidFill>
            <a:srgbClr val="F0EF96"/>
          </a:solidFill>
          <a:ln w="12700">
            <a:solidFill>
              <a:srgbClr val="F0EF96"/>
            </a:solidFill>
            <a:prstDash val="solid"/>
          </a:ln>
        </p:spPr>
      </p:sp>
      <p:sp>
        <p:nvSpPr>
          <p:cNvPr id="16" name="Text 13"/>
          <p:cNvSpPr txBox="1"/>
          <p:nvPr/>
        </p:nvSpPr>
        <p:spPr>
          <a:xfrm>
            <a:off x="822960" y="5120640"/>
            <a:ext cx="4389120" cy="777240"/>
          </a:xfrm>
          <a:prstGeom prst="rect">
            <a:avLst/>
          </a:prstGeom>
          <a:noFill/>
          <a:ln/>
        </p:spPr>
        <p:txBody>
          <a:bodyPr wrap="square" lIns="0" tIns="0" rIns="0" bIns="0" rtlCol="0" anchor="t"/>
          <a:lstStyle/>
          <a:p>
            <a:pPr indent="0" marL="0">
              <a:buNone/>
            </a:pPr>
            <a:r>
              <a:rPr lang="en-US" sz="1300" i="1" dirty="0">
                <a:solidFill>
                  <a:srgbClr val="DCDAEA"/>
                </a:solidFill>
                <a:latin typeface="Arial" pitchFamily="34" charset="0"/>
                <a:ea typeface="Arial" pitchFamily="34" charset="-122"/>
                <a:cs typeface="Arial" pitchFamily="34" charset="-120"/>
              </a:rPr>
              <a:t>Plus la charge s'éloigne du corps, plus l'effort sur les lombaires augmente, pour un poids identique.</a:t>
            </a:r>
            <a:endParaRPr lang="en-US" sz="1300" dirty="0"/>
          </a:p>
        </p:txBody>
      </p:sp>
      <p:sp>
        <p:nvSpPr>
          <p:cNvPr id="17" name="Shape 14"/>
          <p:cNvSpPr/>
          <p:nvPr/>
        </p:nvSpPr>
        <p:spPr>
          <a:xfrm>
            <a:off x="5760720" y="1554480"/>
            <a:ext cx="2804008" cy="2103120"/>
          </a:xfrm>
          <a:prstGeom prst="roundRect">
            <a:avLst>
              <a:gd name="adj" fmla="val 3478"/>
            </a:avLst>
          </a:prstGeom>
          <a:solidFill>
            <a:srgbClr val="EEEDF5"/>
          </a:solidFill>
          <a:ln w="12700">
            <a:solidFill>
              <a:srgbClr val="EEEDF5"/>
            </a:solidFill>
            <a:prstDash val="solid"/>
          </a:ln>
        </p:spPr>
      </p:sp>
      <p:sp>
        <p:nvSpPr>
          <p:cNvPr id="18" name="Shape 15"/>
          <p:cNvSpPr/>
          <p:nvPr/>
        </p:nvSpPr>
        <p:spPr>
          <a:xfrm>
            <a:off x="5989320" y="1783080"/>
            <a:ext cx="548640" cy="548640"/>
          </a:xfrm>
          <a:prstGeom prst="ellipse">
            <a:avLst/>
          </a:prstGeom>
          <a:solidFill>
            <a:srgbClr val="0A032B"/>
          </a:solidFill>
          <a:ln w="12700">
            <a:solidFill>
              <a:srgbClr val="0A032B"/>
            </a:solidFill>
            <a:prstDash val="solid"/>
          </a:ln>
        </p:spPr>
      </p:sp>
      <p:pic>
        <p:nvPicPr>
          <p:cNvPr id="19" name="Image 1" descr="preencoded.png">    </p:cNvPr>
          <p:cNvPicPr>
            <a:picLocks noChangeAspect="1"/>
          </p:cNvPicPr>
          <p:nvPr/>
        </p:nvPicPr>
        <p:blipFill>
          <a:blip r:embed="rId2"/>
          <a:stretch>
            <a:fillRect/>
          </a:stretch>
        </p:blipFill>
        <p:spPr>
          <a:xfrm>
            <a:off x="6126480" y="1920240"/>
            <a:ext cx="274320" cy="274320"/>
          </a:xfrm>
          <a:prstGeom prst="rect">
            <a:avLst/>
          </a:prstGeom>
        </p:spPr>
      </p:pic>
      <p:sp>
        <p:nvSpPr>
          <p:cNvPr id="20" name="Text 16"/>
          <p:cNvSpPr txBox="1"/>
          <p:nvPr/>
        </p:nvSpPr>
        <p:spPr>
          <a:xfrm>
            <a:off x="6720840" y="1783080"/>
            <a:ext cx="1615288" cy="548640"/>
          </a:xfrm>
          <a:prstGeom prst="rect">
            <a:avLst/>
          </a:prstGeom>
          <a:noFill/>
          <a:ln/>
        </p:spPr>
        <p:txBody>
          <a:bodyPr wrap="square" lIns="0" tIns="0" rIns="0" bIns="0" rtlCol="0" anchor="ctr"/>
          <a:lstStyle/>
          <a:p>
            <a:pPr indent="0" marL="0">
              <a:buNone/>
            </a:pPr>
            <a:r>
              <a:rPr lang="en-US" sz="1400" b="1" dirty="0">
                <a:solidFill>
                  <a:srgbClr val="0A032B"/>
                </a:solidFill>
                <a:latin typeface="Montserrat" pitchFamily="34" charset="0"/>
                <a:ea typeface="Montserrat" pitchFamily="34" charset="-122"/>
                <a:cs typeface="Montserrat" pitchFamily="34" charset="-120"/>
              </a:rPr>
              <a:t>La force des jambes</a:t>
            </a:r>
            <a:endParaRPr lang="en-US" sz="1400" dirty="0"/>
          </a:p>
        </p:txBody>
      </p:sp>
      <p:sp>
        <p:nvSpPr>
          <p:cNvPr id="21" name="Text 17"/>
          <p:cNvSpPr txBox="1"/>
          <p:nvPr/>
        </p:nvSpPr>
        <p:spPr>
          <a:xfrm>
            <a:off x="5989320" y="2468880"/>
            <a:ext cx="2346808" cy="1051560"/>
          </a:xfrm>
          <a:prstGeom prst="rect">
            <a:avLst/>
          </a:prstGeom>
          <a:noFill/>
          <a:ln/>
        </p:spPr>
        <p:txBody>
          <a:bodyPr wrap="square" lIns="0" tIns="0" rIns="0" bIns="0" rtlCol="0" anchor="t"/>
          <a:lstStyle/>
          <a:p>
            <a:pPr indent="0" marL="0">
              <a:buNone/>
            </a:pPr>
            <a:r>
              <a:rPr lang="en-US" sz="1250" dirty="0">
                <a:solidFill>
                  <a:srgbClr val="35305C"/>
                </a:solidFill>
                <a:latin typeface="Arial" pitchFamily="34" charset="0"/>
                <a:ea typeface="Arial" pitchFamily="34" charset="-122"/>
                <a:cs typeface="Arial" pitchFamily="34" charset="-120"/>
              </a:rPr>
              <a:t>Les cuisses sont les muscles les plus puissants : ce sont elles qui soulèvent.</a:t>
            </a:r>
            <a:endParaRPr lang="en-US" sz="1250" dirty="0"/>
          </a:p>
        </p:txBody>
      </p:sp>
      <p:sp>
        <p:nvSpPr>
          <p:cNvPr id="22" name="Shape 18"/>
          <p:cNvSpPr/>
          <p:nvPr/>
        </p:nvSpPr>
        <p:spPr>
          <a:xfrm>
            <a:off x="8839048" y="1554480"/>
            <a:ext cx="2804008" cy="2103120"/>
          </a:xfrm>
          <a:prstGeom prst="roundRect">
            <a:avLst>
              <a:gd name="adj" fmla="val 3478"/>
            </a:avLst>
          </a:prstGeom>
          <a:solidFill>
            <a:srgbClr val="EEEDF5"/>
          </a:solidFill>
          <a:ln w="12700">
            <a:solidFill>
              <a:srgbClr val="EEEDF5"/>
            </a:solidFill>
            <a:prstDash val="solid"/>
          </a:ln>
        </p:spPr>
      </p:sp>
      <p:sp>
        <p:nvSpPr>
          <p:cNvPr id="23" name="Shape 19"/>
          <p:cNvSpPr/>
          <p:nvPr/>
        </p:nvSpPr>
        <p:spPr>
          <a:xfrm>
            <a:off x="9067648" y="1783080"/>
            <a:ext cx="548640" cy="548640"/>
          </a:xfrm>
          <a:prstGeom prst="ellipse">
            <a:avLst/>
          </a:prstGeom>
          <a:solidFill>
            <a:srgbClr val="0A032B"/>
          </a:solidFill>
          <a:ln w="12700">
            <a:solidFill>
              <a:srgbClr val="0A032B"/>
            </a:solidFill>
            <a:prstDash val="solid"/>
          </a:ln>
        </p:spPr>
      </p:sp>
      <p:pic>
        <p:nvPicPr>
          <p:cNvPr id="24" name="Image 2" descr="preencoded.png">    </p:cNvPr>
          <p:cNvPicPr>
            <a:picLocks noChangeAspect="1"/>
          </p:cNvPicPr>
          <p:nvPr/>
        </p:nvPicPr>
        <p:blipFill>
          <a:blip r:embed="rId3"/>
          <a:stretch>
            <a:fillRect/>
          </a:stretch>
        </p:blipFill>
        <p:spPr>
          <a:xfrm>
            <a:off x="9204808" y="1920240"/>
            <a:ext cx="274320" cy="274320"/>
          </a:xfrm>
          <a:prstGeom prst="rect">
            <a:avLst/>
          </a:prstGeom>
        </p:spPr>
      </p:pic>
      <p:sp>
        <p:nvSpPr>
          <p:cNvPr id="25" name="Text 20"/>
          <p:cNvSpPr txBox="1"/>
          <p:nvPr/>
        </p:nvSpPr>
        <p:spPr>
          <a:xfrm>
            <a:off x="9799168" y="1783080"/>
            <a:ext cx="1615288" cy="548640"/>
          </a:xfrm>
          <a:prstGeom prst="rect">
            <a:avLst/>
          </a:prstGeom>
          <a:noFill/>
          <a:ln/>
        </p:spPr>
        <p:txBody>
          <a:bodyPr wrap="square" lIns="0" tIns="0" rIns="0" bIns="0" rtlCol="0" anchor="ctr"/>
          <a:lstStyle/>
          <a:p>
            <a:pPr indent="0" marL="0">
              <a:buNone/>
            </a:pPr>
            <a:r>
              <a:rPr lang="en-US" sz="1400" b="1" dirty="0">
                <a:solidFill>
                  <a:srgbClr val="0A032B"/>
                </a:solidFill>
                <a:latin typeface="Montserrat" pitchFamily="34" charset="0"/>
                <a:ea typeface="Montserrat" pitchFamily="34" charset="-122"/>
                <a:cs typeface="Montserrat" pitchFamily="34" charset="-120"/>
              </a:rPr>
              <a:t>Pivoter avec les pieds</a:t>
            </a:r>
            <a:endParaRPr lang="en-US" sz="1400" dirty="0"/>
          </a:p>
        </p:txBody>
      </p:sp>
      <p:sp>
        <p:nvSpPr>
          <p:cNvPr id="26" name="Text 21"/>
          <p:cNvSpPr txBox="1"/>
          <p:nvPr/>
        </p:nvSpPr>
        <p:spPr>
          <a:xfrm>
            <a:off x="9067648" y="2468880"/>
            <a:ext cx="2346808" cy="1051560"/>
          </a:xfrm>
          <a:prstGeom prst="rect">
            <a:avLst/>
          </a:prstGeom>
          <a:noFill/>
          <a:ln/>
        </p:spPr>
        <p:txBody>
          <a:bodyPr wrap="square" lIns="0" tIns="0" rIns="0" bIns="0" rtlCol="0" anchor="t"/>
          <a:lstStyle/>
          <a:p>
            <a:pPr indent="0" marL="0">
              <a:buNone/>
            </a:pPr>
            <a:r>
              <a:rPr lang="en-US" sz="1250" dirty="0">
                <a:solidFill>
                  <a:srgbClr val="35305C"/>
                </a:solidFill>
                <a:latin typeface="Arial" pitchFamily="34" charset="0"/>
                <a:ea typeface="Arial" pitchFamily="34" charset="-122"/>
                <a:cs typeface="Arial" pitchFamily="34" charset="-120"/>
              </a:rPr>
              <a:t>Pour tourner, on déplace les pieds. Jamais de torsion du tronc sous la charge.</a:t>
            </a:r>
            <a:endParaRPr lang="en-US" sz="1250" dirty="0"/>
          </a:p>
        </p:txBody>
      </p:sp>
      <p:sp>
        <p:nvSpPr>
          <p:cNvPr id="27" name="Shape 22"/>
          <p:cNvSpPr/>
          <p:nvPr/>
        </p:nvSpPr>
        <p:spPr>
          <a:xfrm>
            <a:off x="5760720" y="3931920"/>
            <a:ext cx="2804008" cy="2103120"/>
          </a:xfrm>
          <a:prstGeom prst="roundRect">
            <a:avLst>
              <a:gd name="adj" fmla="val 3478"/>
            </a:avLst>
          </a:prstGeom>
          <a:solidFill>
            <a:srgbClr val="EEEDF5"/>
          </a:solidFill>
          <a:ln w="12700">
            <a:solidFill>
              <a:srgbClr val="EEEDF5"/>
            </a:solidFill>
            <a:prstDash val="solid"/>
          </a:ln>
        </p:spPr>
      </p:sp>
      <p:sp>
        <p:nvSpPr>
          <p:cNvPr id="28" name="Shape 23"/>
          <p:cNvSpPr/>
          <p:nvPr/>
        </p:nvSpPr>
        <p:spPr>
          <a:xfrm>
            <a:off x="5989320" y="4160520"/>
            <a:ext cx="548640" cy="548640"/>
          </a:xfrm>
          <a:prstGeom prst="ellipse">
            <a:avLst/>
          </a:prstGeom>
          <a:solidFill>
            <a:srgbClr val="0A032B"/>
          </a:solidFill>
          <a:ln w="12700">
            <a:solidFill>
              <a:srgbClr val="0A032B"/>
            </a:solidFill>
            <a:prstDash val="solid"/>
          </a:ln>
        </p:spPr>
      </p:sp>
      <p:pic>
        <p:nvPicPr>
          <p:cNvPr id="29" name="Image 3" descr="preencoded.png">    </p:cNvPr>
          <p:cNvPicPr>
            <a:picLocks noChangeAspect="1"/>
          </p:cNvPicPr>
          <p:nvPr/>
        </p:nvPicPr>
        <p:blipFill>
          <a:blip r:embed="rId4"/>
          <a:stretch>
            <a:fillRect/>
          </a:stretch>
        </p:blipFill>
        <p:spPr>
          <a:xfrm>
            <a:off x="6126480" y="4297680"/>
            <a:ext cx="274320" cy="274320"/>
          </a:xfrm>
          <a:prstGeom prst="rect">
            <a:avLst/>
          </a:prstGeom>
        </p:spPr>
      </p:pic>
      <p:sp>
        <p:nvSpPr>
          <p:cNvPr id="30" name="Text 24"/>
          <p:cNvSpPr txBox="1"/>
          <p:nvPr/>
        </p:nvSpPr>
        <p:spPr>
          <a:xfrm>
            <a:off x="6720840" y="4160520"/>
            <a:ext cx="1615288" cy="548640"/>
          </a:xfrm>
          <a:prstGeom prst="rect">
            <a:avLst/>
          </a:prstGeom>
          <a:noFill/>
          <a:ln/>
        </p:spPr>
        <p:txBody>
          <a:bodyPr wrap="square" lIns="0" tIns="0" rIns="0" bIns="0" rtlCol="0" anchor="ctr"/>
          <a:lstStyle/>
          <a:p>
            <a:pPr indent="0" marL="0">
              <a:buNone/>
            </a:pPr>
            <a:r>
              <a:rPr lang="en-US" sz="1400" b="1" dirty="0">
                <a:solidFill>
                  <a:srgbClr val="0A032B"/>
                </a:solidFill>
                <a:latin typeface="Montserrat" pitchFamily="34" charset="0"/>
                <a:ea typeface="Montserrat" pitchFamily="34" charset="-122"/>
                <a:cs typeface="Montserrat" pitchFamily="34" charset="-120"/>
              </a:rPr>
              <a:t>Choisir la trajectoire</a:t>
            </a:r>
            <a:endParaRPr lang="en-US" sz="1400" dirty="0"/>
          </a:p>
        </p:txBody>
      </p:sp>
      <p:sp>
        <p:nvSpPr>
          <p:cNvPr id="31" name="Text 25"/>
          <p:cNvSpPr txBox="1"/>
          <p:nvPr/>
        </p:nvSpPr>
        <p:spPr>
          <a:xfrm>
            <a:off x="5989320" y="4846320"/>
            <a:ext cx="2346808" cy="1051560"/>
          </a:xfrm>
          <a:prstGeom prst="rect">
            <a:avLst/>
          </a:prstGeom>
          <a:noFill/>
          <a:ln/>
        </p:spPr>
        <p:txBody>
          <a:bodyPr wrap="square" lIns="0" tIns="0" rIns="0" bIns="0" rtlCol="0" anchor="t"/>
          <a:lstStyle/>
          <a:p>
            <a:pPr indent="0" marL="0">
              <a:buNone/>
            </a:pPr>
            <a:r>
              <a:rPr lang="en-US" sz="1250" dirty="0">
                <a:solidFill>
                  <a:srgbClr val="35305C"/>
                </a:solidFill>
                <a:latin typeface="Arial" pitchFamily="34" charset="0"/>
                <a:ea typeface="Arial" pitchFamily="34" charset="-122"/>
                <a:cs typeface="Arial" pitchFamily="34" charset="-120"/>
              </a:rPr>
              <a:t>La plus courte, sans obstacle, entre mi-cuisses et épaules, sans lever au-dessus de la tête.</a:t>
            </a:r>
            <a:endParaRPr lang="en-US" sz="1250" dirty="0"/>
          </a:p>
        </p:txBody>
      </p:sp>
      <p:sp>
        <p:nvSpPr>
          <p:cNvPr id="32" name="Shape 26"/>
          <p:cNvSpPr/>
          <p:nvPr/>
        </p:nvSpPr>
        <p:spPr>
          <a:xfrm>
            <a:off x="8839048" y="3931920"/>
            <a:ext cx="2804008" cy="2103120"/>
          </a:xfrm>
          <a:prstGeom prst="roundRect">
            <a:avLst>
              <a:gd name="adj" fmla="val 3478"/>
            </a:avLst>
          </a:prstGeom>
          <a:solidFill>
            <a:srgbClr val="EEEDF5"/>
          </a:solidFill>
          <a:ln w="12700">
            <a:solidFill>
              <a:srgbClr val="EEEDF5"/>
            </a:solidFill>
            <a:prstDash val="solid"/>
          </a:ln>
        </p:spPr>
      </p:sp>
      <p:sp>
        <p:nvSpPr>
          <p:cNvPr id="33" name="Shape 27"/>
          <p:cNvSpPr/>
          <p:nvPr/>
        </p:nvSpPr>
        <p:spPr>
          <a:xfrm>
            <a:off x="9067648" y="4160520"/>
            <a:ext cx="548640" cy="548640"/>
          </a:xfrm>
          <a:prstGeom prst="ellipse">
            <a:avLst/>
          </a:prstGeom>
          <a:solidFill>
            <a:srgbClr val="0A032B"/>
          </a:solidFill>
          <a:ln w="12700">
            <a:solidFill>
              <a:srgbClr val="0A032B"/>
            </a:solidFill>
            <a:prstDash val="solid"/>
          </a:ln>
        </p:spPr>
      </p:sp>
      <p:pic>
        <p:nvPicPr>
          <p:cNvPr id="34" name="Image 4" descr="preencoded.png">    </p:cNvPr>
          <p:cNvPicPr>
            <a:picLocks noChangeAspect="1"/>
          </p:cNvPicPr>
          <p:nvPr/>
        </p:nvPicPr>
        <p:blipFill>
          <a:blip r:embed="rId5"/>
          <a:stretch>
            <a:fillRect/>
          </a:stretch>
        </p:blipFill>
        <p:spPr>
          <a:xfrm>
            <a:off x="9204808" y="4297680"/>
            <a:ext cx="274320" cy="274320"/>
          </a:xfrm>
          <a:prstGeom prst="rect">
            <a:avLst/>
          </a:prstGeom>
        </p:spPr>
      </p:pic>
      <p:sp>
        <p:nvSpPr>
          <p:cNvPr id="35" name="Text 28"/>
          <p:cNvSpPr txBox="1"/>
          <p:nvPr/>
        </p:nvSpPr>
        <p:spPr>
          <a:xfrm>
            <a:off x="9799168" y="4160520"/>
            <a:ext cx="1615288" cy="548640"/>
          </a:xfrm>
          <a:prstGeom prst="rect">
            <a:avLst/>
          </a:prstGeom>
          <a:noFill/>
          <a:ln/>
        </p:spPr>
        <p:txBody>
          <a:bodyPr wrap="square" lIns="0" tIns="0" rIns="0" bIns="0" rtlCol="0" anchor="ctr"/>
          <a:lstStyle/>
          <a:p>
            <a:pPr indent="0" marL="0">
              <a:buNone/>
            </a:pPr>
            <a:r>
              <a:rPr lang="en-US" sz="1400" b="1" dirty="0">
                <a:solidFill>
                  <a:srgbClr val="0A032B"/>
                </a:solidFill>
                <a:latin typeface="Montserrat" pitchFamily="34" charset="0"/>
                <a:ea typeface="Montserrat" pitchFamily="34" charset="-122"/>
                <a:cs typeface="Montserrat" pitchFamily="34" charset="-120"/>
              </a:rPr>
              <a:t>Doser l'effort</a:t>
            </a:r>
            <a:endParaRPr lang="en-US" sz="1400" dirty="0"/>
          </a:p>
        </p:txBody>
      </p:sp>
      <p:sp>
        <p:nvSpPr>
          <p:cNvPr id="36" name="Text 29"/>
          <p:cNvSpPr txBox="1"/>
          <p:nvPr/>
        </p:nvSpPr>
        <p:spPr>
          <a:xfrm>
            <a:off x="9067648" y="4846320"/>
            <a:ext cx="2346808" cy="1051560"/>
          </a:xfrm>
          <a:prstGeom prst="rect">
            <a:avLst/>
          </a:prstGeom>
          <a:noFill/>
          <a:ln/>
        </p:spPr>
        <p:txBody>
          <a:bodyPr wrap="square" lIns="0" tIns="0" rIns="0" bIns="0" rtlCol="0" anchor="t"/>
          <a:lstStyle/>
          <a:p>
            <a:pPr indent="0" marL="0">
              <a:buNone/>
            </a:pPr>
            <a:r>
              <a:rPr lang="en-US" sz="1250" dirty="0">
                <a:solidFill>
                  <a:srgbClr val="35305C"/>
                </a:solidFill>
                <a:latin typeface="Arial" pitchFamily="34" charset="0"/>
                <a:ea typeface="Arial" pitchFamily="34" charset="-122"/>
                <a:cs typeface="Arial" pitchFamily="34" charset="-120"/>
              </a:rPr>
              <a:t>Fractionner les charges, alterner les tâches, s'accorder des micro-pauses.</a:t>
            </a:r>
            <a:endParaRPr lang="en-US" sz="1250" dirty="0"/>
          </a:p>
        </p:txBody>
      </p:sp>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14800" cy="6858000"/>
          </a:xfrm>
          <a:prstGeom prst="rect">
            <a:avLst/>
          </a:prstGeom>
          <a:solidFill>
            <a:srgbClr val="F0EF96"/>
          </a:solidFill>
          <a:ln w="12700">
            <a:solidFill>
              <a:srgbClr val="F0EF96"/>
            </a:solidFill>
            <a:prstDash val="solid"/>
          </a:ln>
        </p:spPr>
      </p:sp>
      <p:sp>
        <p:nvSpPr>
          <p:cNvPr id="3" name="Shape 1"/>
          <p:cNvSpPr/>
          <p:nvPr/>
        </p:nvSpPr>
        <p:spPr>
          <a:xfrm>
            <a:off x="548640" y="502920"/>
            <a:ext cx="1600200" cy="347472"/>
          </a:xfrm>
          <a:prstGeom prst="roundRect">
            <a:avLst>
              <a:gd name="adj" fmla="val 50000"/>
            </a:avLst>
          </a:prstGeom>
          <a:solidFill>
            <a:srgbClr val="F0EF96"/>
          </a:solidFill>
          <a:ln w="12700">
            <a:solidFill>
              <a:srgbClr val="F0EF96"/>
            </a:solidFill>
            <a:prstDash val="solid"/>
          </a:ln>
        </p:spPr>
      </p:sp>
      <p:sp>
        <p:nvSpPr>
          <p:cNvPr id="4" name="Text 2"/>
          <p:cNvSpPr txBox="1"/>
          <p:nvPr/>
        </p:nvSpPr>
        <p:spPr>
          <a:xfrm>
            <a:off x="548640" y="502920"/>
            <a:ext cx="1600200" cy="347472"/>
          </a:xfrm>
          <a:prstGeom prst="rect">
            <a:avLst/>
          </a:prstGeom>
          <a:noFill/>
          <a:ln/>
        </p:spPr>
        <p:txBody>
          <a:bodyPr wrap="square" lIns="0" tIns="0" rIns="0" bIns="0" rtlCol="0" anchor="ctr"/>
          <a:lstStyle/>
          <a:p>
            <a:pPr algn="ctr" indent="0" marL="0">
              <a:buNone/>
            </a:pPr>
            <a:r>
              <a:rPr lang="en-US" sz="1100" b="1" spc="200" kern="0" dirty="0">
                <a:solidFill>
                  <a:srgbClr val="0A032B"/>
                </a:solidFill>
                <a:latin typeface="Montserrat" pitchFamily="34" charset="0"/>
                <a:ea typeface="Montserrat" pitchFamily="34" charset="-122"/>
                <a:cs typeface="Montserrat" pitchFamily="34" charset="-120"/>
              </a:rPr>
              <a:t>PRATIQUE</a:t>
            </a:r>
            <a:endParaRPr lang="en-US" sz="1100" dirty="0"/>
          </a:p>
        </p:txBody>
      </p:sp>
      <p:sp>
        <p:nvSpPr>
          <p:cNvPr id="5" name="Text 3"/>
          <p:cNvSpPr txBox="1"/>
          <p:nvPr/>
        </p:nvSpPr>
        <p:spPr>
          <a:xfrm>
            <a:off x="548640" y="1005840"/>
            <a:ext cx="3108960" cy="365760"/>
          </a:xfrm>
          <a:prstGeom prst="rect">
            <a:avLst/>
          </a:prstGeom>
          <a:noFill/>
          <a:ln/>
        </p:spPr>
        <p:txBody>
          <a:bodyPr wrap="square" lIns="0" tIns="0" rIns="0" bIns="0" rtlCol="0" anchor="ctr"/>
          <a:lstStyle/>
          <a:p>
            <a:pPr indent="0" marL="0">
              <a:buNone/>
            </a:pPr>
            <a:r>
              <a:rPr lang="en-US" sz="1300" b="1" spc="100" kern="0" dirty="0">
                <a:solidFill>
                  <a:srgbClr val="35305C"/>
                </a:solidFill>
                <a:latin typeface="Montserrat" pitchFamily="34" charset="0"/>
                <a:ea typeface="Montserrat" pitchFamily="34" charset="-122"/>
                <a:cs typeface="Montserrat" pitchFamily="34" charset="-120"/>
              </a:rPr>
              <a:t>MÉTHODE DÉMONSTRATIVE</a:t>
            </a:r>
            <a:endParaRPr lang="en-US" sz="1300" dirty="0"/>
          </a:p>
        </p:txBody>
      </p:sp>
      <p:sp>
        <p:nvSpPr>
          <p:cNvPr id="6" name="Text 4"/>
          <p:cNvSpPr txBox="1"/>
          <p:nvPr/>
        </p:nvSpPr>
        <p:spPr>
          <a:xfrm>
            <a:off x="548640" y="1371600"/>
            <a:ext cx="3200400" cy="1371600"/>
          </a:xfrm>
          <a:prstGeom prst="rect">
            <a:avLst/>
          </a:prstGeom>
          <a:noFill/>
          <a:ln/>
        </p:spPr>
        <p:txBody>
          <a:bodyPr wrap="square" lIns="0" tIns="0" rIns="0" bIns="0" rtlCol="0" anchor="t"/>
          <a:lstStyle/>
          <a:p>
            <a:pPr indent="0" marL="0">
              <a:buNone/>
            </a:pPr>
            <a:r>
              <a:rPr lang="en-US" sz="2400" b="1" dirty="0">
                <a:solidFill>
                  <a:srgbClr val="0A032B"/>
                </a:solidFill>
                <a:latin typeface="Montserrat" pitchFamily="34" charset="0"/>
                <a:ea typeface="Montserrat" pitchFamily="34" charset="-122"/>
                <a:cs typeface="Montserrat" pitchFamily="34" charset="-120"/>
              </a:rPr>
              <a:t>Démonstration commentée en 4 temps</a:t>
            </a:r>
            <a:endParaRPr lang="en-US" sz="2400" dirty="0"/>
          </a:p>
        </p:txBody>
      </p:sp>
      <p:sp>
        <p:nvSpPr>
          <p:cNvPr id="7" name="Shape 5"/>
          <p:cNvSpPr/>
          <p:nvPr/>
        </p:nvSpPr>
        <p:spPr>
          <a:xfrm>
            <a:off x="548640" y="2971800"/>
            <a:ext cx="457200" cy="457200"/>
          </a:xfrm>
          <a:prstGeom prst="ellipse">
            <a:avLst/>
          </a:prstGeom>
          <a:solidFill>
            <a:srgbClr val="0A032B"/>
          </a:solidFill>
          <a:ln w="12700">
            <a:solidFill>
              <a:srgbClr val="0A032B"/>
            </a:solidFill>
            <a:prstDash val="solid"/>
          </a:ln>
        </p:spPr>
      </p:sp>
      <p:pic>
        <p:nvPicPr>
          <p:cNvPr id="8" name="Image 0" descr="preencoded.png">    </p:cNvPr>
          <p:cNvPicPr>
            <a:picLocks noChangeAspect="1"/>
          </p:cNvPicPr>
          <p:nvPr/>
        </p:nvPicPr>
        <p:blipFill>
          <a:blip r:embed="rId1"/>
          <a:stretch>
            <a:fillRect/>
          </a:stretch>
        </p:blipFill>
        <p:spPr>
          <a:xfrm>
            <a:off x="662940" y="3086100"/>
            <a:ext cx="228600" cy="228600"/>
          </a:xfrm>
          <a:prstGeom prst="rect">
            <a:avLst/>
          </a:prstGeom>
        </p:spPr>
      </p:pic>
      <p:sp>
        <p:nvSpPr>
          <p:cNvPr id="9" name="Text 6"/>
          <p:cNvSpPr txBox="1"/>
          <p:nvPr/>
        </p:nvSpPr>
        <p:spPr>
          <a:xfrm>
            <a:off x="1188720" y="2926080"/>
            <a:ext cx="2468880" cy="868680"/>
          </a:xfrm>
          <a:prstGeom prst="rect">
            <a:avLst/>
          </a:prstGeom>
          <a:noFill/>
          <a:ln/>
        </p:spPr>
        <p:txBody>
          <a:bodyPr wrap="square" lIns="0" tIns="0" rIns="0" bIns="0" rtlCol="0" anchor="t"/>
          <a:lstStyle/>
          <a:p>
            <a:pPr indent="0" marL="0">
              <a:buNone/>
            </a:pPr>
            <a:r>
              <a:rPr lang="en-US" sz="1000" b="1" spc="100" kern="0" dirty="0">
                <a:solidFill>
                  <a:srgbClr val="35305C"/>
                </a:solidFill>
                <a:latin typeface="Montserrat" pitchFamily="34" charset="0"/>
                <a:ea typeface="Montserrat" pitchFamily="34" charset="-122"/>
                <a:cs typeface="Montserrat" pitchFamily="34" charset="-120"/>
              </a:rPr>
              <a:t>DURÉE</a:t>
            </a:r>
            <a:endParaRPr lang="en-US" sz="1000" dirty="0"/>
          </a:p>
          <a:p>
            <a:pPr indent="0" marL="0">
              <a:buNone/>
            </a:pPr>
            <a:r>
              <a:rPr lang="en-US" sz="1250" dirty="0">
                <a:solidFill>
                  <a:srgbClr val="0A032B"/>
                </a:solidFill>
                <a:latin typeface="Arial" pitchFamily="34" charset="0"/>
                <a:ea typeface="Arial" pitchFamily="34" charset="-122"/>
                <a:cs typeface="Arial" pitchFamily="34" charset="-120"/>
              </a:rPr>
              <a:t>15 minutes</a:t>
            </a:r>
            <a:endParaRPr lang="en-US" sz="1000" dirty="0"/>
          </a:p>
        </p:txBody>
      </p:sp>
      <p:sp>
        <p:nvSpPr>
          <p:cNvPr id="10" name="Shape 7"/>
          <p:cNvSpPr/>
          <p:nvPr/>
        </p:nvSpPr>
        <p:spPr>
          <a:xfrm>
            <a:off x="548640" y="3931920"/>
            <a:ext cx="457200" cy="457200"/>
          </a:xfrm>
          <a:prstGeom prst="ellipse">
            <a:avLst/>
          </a:prstGeom>
          <a:solidFill>
            <a:srgbClr val="0A032B"/>
          </a:solidFill>
          <a:ln w="12700">
            <a:solidFill>
              <a:srgbClr val="0A032B"/>
            </a:solidFill>
            <a:prstDash val="solid"/>
          </a:ln>
        </p:spPr>
      </p:sp>
      <p:pic>
        <p:nvPicPr>
          <p:cNvPr id="11" name="Image 1" descr="preencoded.png">    </p:cNvPr>
          <p:cNvPicPr>
            <a:picLocks noChangeAspect="1"/>
          </p:cNvPicPr>
          <p:nvPr/>
        </p:nvPicPr>
        <p:blipFill>
          <a:blip r:embed="rId2"/>
          <a:stretch>
            <a:fillRect/>
          </a:stretch>
        </p:blipFill>
        <p:spPr>
          <a:xfrm>
            <a:off x="662940" y="4046220"/>
            <a:ext cx="228600" cy="228600"/>
          </a:xfrm>
          <a:prstGeom prst="rect">
            <a:avLst/>
          </a:prstGeom>
        </p:spPr>
      </p:pic>
      <p:sp>
        <p:nvSpPr>
          <p:cNvPr id="12" name="Text 8"/>
          <p:cNvSpPr txBox="1"/>
          <p:nvPr/>
        </p:nvSpPr>
        <p:spPr>
          <a:xfrm>
            <a:off x="1188720" y="3886200"/>
            <a:ext cx="2468880" cy="868680"/>
          </a:xfrm>
          <a:prstGeom prst="rect">
            <a:avLst/>
          </a:prstGeom>
          <a:noFill/>
          <a:ln/>
        </p:spPr>
        <p:txBody>
          <a:bodyPr wrap="square" lIns="0" tIns="0" rIns="0" bIns="0" rtlCol="0" anchor="t"/>
          <a:lstStyle/>
          <a:p>
            <a:pPr indent="0" marL="0">
              <a:buNone/>
            </a:pPr>
            <a:r>
              <a:rPr lang="en-US" sz="1000" b="1" spc="100" kern="0" dirty="0">
                <a:solidFill>
                  <a:srgbClr val="35305C"/>
                </a:solidFill>
                <a:latin typeface="Montserrat" pitchFamily="34" charset="0"/>
                <a:ea typeface="Montserrat" pitchFamily="34" charset="-122"/>
                <a:cs typeface="Montserrat" pitchFamily="34" charset="-120"/>
              </a:rPr>
              <a:t>FORMAT</a:t>
            </a:r>
            <a:endParaRPr lang="en-US" sz="1000" dirty="0"/>
          </a:p>
          <a:p>
            <a:pPr indent="0" marL="0">
              <a:buNone/>
            </a:pPr>
            <a:r>
              <a:rPr lang="en-US" sz="1250" dirty="0">
                <a:solidFill>
                  <a:srgbClr val="0A032B"/>
                </a:solidFill>
                <a:latin typeface="Arial" pitchFamily="34" charset="0"/>
                <a:ea typeface="Arial" pitchFamily="34" charset="-122"/>
                <a:cs typeface="Arial" pitchFamily="34" charset="-120"/>
              </a:rPr>
              <a:t>Grand groupe, puis volontaires</a:t>
            </a:r>
            <a:endParaRPr lang="en-US" sz="1000" dirty="0"/>
          </a:p>
        </p:txBody>
      </p:sp>
      <p:sp>
        <p:nvSpPr>
          <p:cNvPr id="13" name="Shape 9"/>
          <p:cNvSpPr/>
          <p:nvPr/>
        </p:nvSpPr>
        <p:spPr>
          <a:xfrm>
            <a:off x="548640" y="4892040"/>
            <a:ext cx="457200" cy="457200"/>
          </a:xfrm>
          <a:prstGeom prst="ellipse">
            <a:avLst/>
          </a:prstGeom>
          <a:solidFill>
            <a:srgbClr val="0A032B"/>
          </a:solidFill>
          <a:ln w="12700">
            <a:solidFill>
              <a:srgbClr val="0A032B"/>
            </a:solidFill>
            <a:prstDash val="solid"/>
          </a:ln>
        </p:spPr>
      </p:sp>
      <p:pic>
        <p:nvPicPr>
          <p:cNvPr id="14" name="Image 2" descr="preencoded.png">    </p:cNvPr>
          <p:cNvPicPr>
            <a:picLocks noChangeAspect="1"/>
          </p:cNvPicPr>
          <p:nvPr/>
        </p:nvPicPr>
        <p:blipFill>
          <a:blip r:embed="rId3"/>
          <a:stretch>
            <a:fillRect/>
          </a:stretch>
        </p:blipFill>
        <p:spPr>
          <a:xfrm>
            <a:off x="662940" y="5006340"/>
            <a:ext cx="228600" cy="228600"/>
          </a:xfrm>
          <a:prstGeom prst="rect">
            <a:avLst/>
          </a:prstGeom>
        </p:spPr>
      </p:pic>
      <p:sp>
        <p:nvSpPr>
          <p:cNvPr id="15" name="Text 10"/>
          <p:cNvSpPr txBox="1"/>
          <p:nvPr/>
        </p:nvSpPr>
        <p:spPr>
          <a:xfrm>
            <a:off x="1188720" y="4846320"/>
            <a:ext cx="2468880" cy="868680"/>
          </a:xfrm>
          <a:prstGeom prst="rect">
            <a:avLst/>
          </a:prstGeom>
          <a:noFill/>
          <a:ln/>
        </p:spPr>
        <p:txBody>
          <a:bodyPr wrap="square" lIns="0" tIns="0" rIns="0" bIns="0" rtlCol="0" anchor="t"/>
          <a:lstStyle/>
          <a:p>
            <a:pPr indent="0" marL="0">
              <a:buNone/>
            </a:pPr>
            <a:r>
              <a:rPr lang="en-US" sz="1000" b="1" spc="100" kern="0" dirty="0">
                <a:solidFill>
                  <a:srgbClr val="35305C"/>
                </a:solidFill>
                <a:latin typeface="Montserrat" pitchFamily="34" charset="0"/>
                <a:ea typeface="Montserrat" pitchFamily="34" charset="-122"/>
                <a:cs typeface="Montserrat" pitchFamily="34" charset="-120"/>
              </a:rPr>
              <a:t>MATÉRIEL</a:t>
            </a:r>
            <a:endParaRPr lang="en-US" sz="1000" dirty="0"/>
          </a:p>
          <a:p>
            <a:pPr indent="0" marL="0">
              <a:buNone/>
            </a:pPr>
            <a:r>
              <a:rPr lang="en-US" sz="1250" dirty="0">
                <a:solidFill>
                  <a:srgbClr val="0A032B"/>
                </a:solidFill>
                <a:latin typeface="Arial" pitchFamily="34" charset="0"/>
                <a:ea typeface="Arial" pitchFamily="34" charset="-122"/>
                <a:cs typeface="Arial" pitchFamily="34" charset="-120"/>
              </a:rPr>
              <a:t>Carton de 8 à 10 kg, table</a:t>
            </a:r>
            <a:endParaRPr lang="en-US" sz="1000" dirty="0"/>
          </a:p>
        </p:txBody>
      </p:sp>
      <p:sp>
        <p:nvSpPr>
          <p:cNvPr id="16" name="Text 11"/>
          <p:cNvSpPr txBox="1"/>
          <p:nvPr/>
        </p:nvSpPr>
        <p:spPr>
          <a:xfrm>
            <a:off x="4663440" y="457200"/>
            <a:ext cx="6979615" cy="502920"/>
          </a:xfrm>
          <a:prstGeom prst="rect">
            <a:avLst/>
          </a:prstGeom>
          <a:noFill/>
          <a:ln/>
        </p:spPr>
        <p:txBody>
          <a:bodyPr wrap="square" lIns="0" tIns="0" rIns="0" bIns="0" rtlCol="0" anchor="ctr"/>
          <a:lstStyle/>
          <a:p>
            <a:pPr indent="0" marL="0">
              <a:buNone/>
            </a:pPr>
            <a:r>
              <a:rPr lang="en-US" sz="2200" b="1" dirty="0">
                <a:solidFill>
                  <a:srgbClr val="0A032B"/>
                </a:solidFill>
                <a:latin typeface="Montserrat" pitchFamily="34" charset="0"/>
                <a:ea typeface="Montserrat" pitchFamily="34" charset="-122"/>
                <a:cs typeface="Montserrat" pitchFamily="34" charset="-120"/>
              </a:rPr>
              <a:t>Consignes</a:t>
            </a:r>
            <a:endParaRPr lang="en-US" sz="2200" dirty="0"/>
          </a:p>
        </p:txBody>
      </p:sp>
      <p:sp>
        <p:nvSpPr>
          <p:cNvPr id="17" name="Shape 12"/>
          <p:cNvSpPr/>
          <p:nvPr/>
        </p:nvSpPr>
        <p:spPr>
          <a:xfrm>
            <a:off x="4663440" y="1234440"/>
            <a:ext cx="457200" cy="457200"/>
          </a:xfrm>
          <a:prstGeom prst="ellipse">
            <a:avLst/>
          </a:prstGeom>
          <a:solidFill>
            <a:srgbClr val="0A032B"/>
          </a:solidFill>
          <a:ln w="12700">
            <a:solidFill>
              <a:srgbClr val="0A032B"/>
            </a:solidFill>
            <a:prstDash val="solid"/>
          </a:ln>
        </p:spPr>
      </p:sp>
      <p:sp>
        <p:nvSpPr>
          <p:cNvPr id="18" name="Text 13"/>
          <p:cNvSpPr txBox="1"/>
          <p:nvPr/>
        </p:nvSpPr>
        <p:spPr>
          <a:xfrm>
            <a:off x="4663440" y="12344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1</a:t>
            </a:r>
            <a:endParaRPr lang="en-US" sz="1300" dirty="0"/>
          </a:p>
        </p:txBody>
      </p:sp>
      <p:sp>
        <p:nvSpPr>
          <p:cNvPr id="19" name="Text 14"/>
          <p:cNvSpPr txBox="1"/>
          <p:nvPr/>
        </p:nvSpPr>
        <p:spPr>
          <a:xfrm>
            <a:off x="5349240" y="1216152"/>
            <a:ext cx="6293815" cy="745236"/>
          </a:xfrm>
          <a:prstGeom prst="rect">
            <a:avLst/>
          </a:prstGeom>
          <a:noFill/>
          <a:ln/>
        </p:spPr>
        <p:txBody>
          <a:bodyPr wrap="square" lIns="0" tIns="0" rIns="0" bIns="0" rtlCol="0" anchor="t"/>
          <a:lstStyle/>
          <a:p>
            <a:pPr indent="0" marL="0">
              <a:spcAft>
                <a:spcPts val="300"/>
              </a:spcAft>
              <a:buNone/>
            </a:pPr>
            <a:r>
              <a:rPr lang="en-US" sz="1500" b="1" dirty="0">
                <a:solidFill>
                  <a:srgbClr val="0A032B"/>
                </a:solidFill>
                <a:latin typeface="Montserrat" pitchFamily="34" charset="0"/>
                <a:ea typeface="Montserrat" pitchFamily="34" charset="-122"/>
                <a:cs typeface="Montserrat" pitchFamily="34" charset="-120"/>
              </a:rPr>
              <a:t>Le formateur réalise le geste</a:t>
            </a:r>
            <a:endParaRPr lang="en-US" sz="1500" dirty="0"/>
          </a:p>
          <a:p>
            <a:pPr indent="0" marL="0">
              <a:spcAft>
                <a:spcPts val="300"/>
              </a:spcAft>
              <a:buNone/>
            </a:pPr>
            <a:r>
              <a:rPr lang="en-US" sz="1300" dirty="0">
                <a:solidFill>
                  <a:srgbClr val="35305C"/>
                </a:solidFill>
                <a:latin typeface="Arial" pitchFamily="34" charset="0"/>
                <a:ea typeface="Arial" pitchFamily="34" charset="-122"/>
                <a:cs typeface="Arial" pitchFamily="34" charset="-120"/>
              </a:rPr>
              <a:t>Lever un carton du sol et le poser sur une table, à vitesse réelle, sans commentaire.</a:t>
            </a:r>
            <a:endParaRPr lang="en-US" sz="1500" dirty="0"/>
          </a:p>
        </p:txBody>
      </p:sp>
      <p:sp>
        <p:nvSpPr>
          <p:cNvPr id="20" name="Shape 15"/>
          <p:cNvSpPr/>
          <p:nvPr/>
        </p:nvSpPr>
        <p:spPr>
          <a:xfrm>
            <a:off x="4663440" y="2144268"/>
            <a:ext cx="457200" cy="457200"/>
          </a:xfrm>
          <a:prstGeom prst="ellipse">
            <a:avLst/>
          </a:prstGeom>
          <a:solidFill>
            <a:srgbClr val="0A032B"/>
          </a:solidFill>
          <a:ln w="12700">
            <a:solidFill>
              <a:srgbClr val="0A032B"/>
            </a:solidFill>
            <a:prstDash val="solid"/>
          </a:ln>
        </p:spPr>
      </p:sp>
      <p:sp>
        <p:nvSpPr>
          <p:cNvPr id="21" name="Text 16"/>
          <p:cNvSpPr txBox="1"/>
          <p:nvPr/>
        </p:nvSpPr>
        <p:spPr>
          <a:xfrm>
            <a:off x="4663440" y="214426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2</a:t>
            </a:r>
            <a:endParaRPr lang="en-US" sz="1300" dirty="0"/>
          </a:p>
        </p:txBody>
      </p:sp>
      <p:sp>
        <p:nvSpPr>
          <p:cNvPr id="22" name="Text 17"/>
          <p:cNvSpPr txBox="1"/>
          <p:nvPr/>
        </p:nvSpPr>
        <p:spPr>
          <a:xfrm>
            <a:off x="5349240" y="2125980"/>
            <a:ext cx="6293815" cy="745236"/>
          </a:xfrm>
          <a:prstGeom prst="rect">
            <a:avLst/>
          </a:prstGeom>
          <a:noFill/>
          <a:ln/>
        </p:spPr>
        <p:txBody>
          <a:bodyPr wrap="square" lIns="0" tIns="0" rIns="0" bIns="0" rtlCol="0" anchor="t"/>
          <a:lstStyle/>
          <a:p>
            <a:pPr indent="0" marL="0">
              <a:spcAft>
                <a:spcPts val="300"/>
              </a:spcAft>
              <a:buNone/>
            </a:pPr>
            <a:r>
              <a:rPr lang="en-US" sz="1500" b="1" dirty="0">
                <a:solidFill>
                  <a:srgbClr val="0A032B"/>
                </a:solidFill>
                <a:latin typeface="Montserrat" pitchFamily="34" charset="0"/>
                <a:ea typeface="Montserrat" pitchFamily="34" charset="-122"/>
                <a:cs typeface="Montserrat" pitchFamily="34" charset="-120"/>
              </a:rPr>
              <a:t>Le formateur réalise et commente</a:t>
            </a:r>
            <a:endParaRPr lang="en-US" sz="1500" dirty="0"/>
          </a:p>
          <a:p>
            <a:pPr indent="0" marL="0">
              <a:spcAft>
                <a:spcPts val="300"/>
              </a:spcAft>
              <a:buNone/>
            </a:pPr>
            <a:r>
              <a:rPr lang="en-US" sz="1300" dirty="0">
                <a:solidFill>
                  <a:srgbClr val="35305C"/>
                </a:solidFill>
                <a:latin typeface="Arial" pitchFamily="34" charset="0"/>
                <a:ea typeface="Arial" pitchFamily="34" charset="-122"/>
                <a:cs typeface="Arial" pitchFamily="34" charset="-120"/>
              </a:rPr>
              <a:t>Au ralenti, en nommant chaque principe : pieds, dos, prise, appui, contrepoids.</a:t>
            </a:r>
            <a:endParaRPr lang="en-US" sz="1500" dirty="0"/>
          </a:p>
        </p:txBody>
      </p:sp>
      <p:sp>
        <p:nvSpPr>
          <p:cNvPr id="23" name="Shape 18"/>
          <p:cNvSpPr/>
          <p:nvPr/>
        </p:nvSpPr>
        <p:spPr>
          <a:xfrm>
            <a:off x="4663440" y="3054096"/>
            <a:ext cx="457200" cy="457200"/>
          </a:xfrm>
          <a:prstGeom prst="ellipse">
            <a:avLst/>
          </a:prstGeom>
          <a:solidFill>
            <a:srgbClr val="0A032B"/>
          </a:solidFill>
          <a:ln w="12700">
            <a:solidFill>
              <a:srgbClr val="0A032B"/>
            </a:solidFill>
            <a:prstDash val="solid"/>
          </a:ln>
        </p:spPr>
      </p:sp>
      <p:sp>
        <p:nvSpPr>
          <p:cNvPr id="24" name="Text 19"/>
          <p:cNvSpPr txBox="1"/>
          <p:nvPr/>
        </p:nvSpPr>
        <p:spPr>
          <a:xfrm>
            <a:off x="4663440" y="305409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3</a:t>
            </a:r>
            <a:endParaRPr lang="en-US" sz="1300" dirty="0"/>
          </a:p>
        </p:txBody>
      </p:sp>
      <p:sp>
        <p:nvSpPr>
          <p:cNvPr id="25" name="Text 20"/>
          <p:cNvSpPr txBox="1"/>
          <p:nvPr/>
        </p:nvSpPr>
        <p:spPr>
          <a:xfrm>
            <a:off x="5349240" y="3035808"/>
            <a:ext cx="6293815" cy="745236"/>
          </a:xfrm>
          <a:prstGeom prst="rect">
            <a:avLst/>
          </a:prstGeom>
          <a:noFill/>
          <a:ln/>
        </p:spPr>
        <p:txBody>
          <a:bodyPr wrap="square" lIns="0" tIns="0" rIns="0" bIns="0" rtlCol="0" anchor="t"/>
          <a:lstStyle/>
          <a:p>
            <a:pPr indent="0" marL="0">
              <a:spcAft>
                <a:spcPts val="300"/>
              </a:spcAft>
              <a:buNone/>
            </a:pPr>
            <a:r>
              <a:rPr lang="en-US" sz="1500" b="1" dirty="0">
                <a:solidFill>
                  <a:srgbClr val="0A032B"/>
                </a:solidFill>
                <a:latin typeface="Montserrat" pitchFamily="34" charset="0"/>
                <a:ea typeface="Montserrat" pitchFamily="34" charset="-122"/>
                <a:cs typeface="Montserrat" pitchFamily="34" charset="-120"/>
              </a:rPr>
              <a:t>Le formateur réalise, un stagiaire commente</a:t>
            </a:r>
            <a:endParaRPr lang="en-US" sz="1500" dirty="0"/>
          </a:p>
          <a:p>
            <a:pPr indent="0" marL="0">
              <a:spcAft>
                <a:spcPts val="300"/>
              </a:spcAft>
              <a:buNone/>
            </a:pPr>
            <a:r>
              <a:rPr lang="en-US" sz="1300" dirty="0">
                <a:solidFill>
                  <a:srgbClr val="35305C"/>
                </a:solidFill>
                <a:latin typeface="Arial" pitchFamily="34" charset="0"/>
                <a:ea typeface="Arial" pitchFamily="34" charset="-122"/>
                <a:cs typeface="Arial" pitchFamily="34" charset="-120"/>
              </a:rPr>
              <a:t>Le stagiaire explique ce qu'il voit, le groupe complète.</a:t>
            </a:r>
            <a:endParaRPr lang="en-US" sz="1500" dirty="0"/>
          </a:p>
        </p:txBody>
      </p:sp>
      <p:sp>
        <p:nvSpPr>
          <p:cNvPr id="26" name="Shape 21"/>
          <p:cNvSpPr/>
          <p:nvPr/>
        </p:nvSpPr>
        <p:spPr>
          <a:xfrm>
            <a:off x="4663440" y="3963924"/>
            <a:ext cx="457200" cy="457200"/>
          </a:xfrm>
          <a:prstGeom prst="ellipse">
            <a:avLst/>
          </a:prstGeom>
          <a:solidFill>
            <a:srgbClr val="0A032B"/>
          </a:solidFill>
          <a:ln w="12700">
            <a:solidFill>
              <a:srgbClr val="0A032B"/>
            </a:solidFill>
            <a:prstDash val="solid"/>
          </a:ln>
        </p:spPr>
      </p:sp>
      <p:sp>
        <p:nvSpPr>
          <p:cNvPr id="27" name="Text 22"/>
          <p:cNvSpPr txBox="1"/>
          <p:nvPr/>
        </p:nvSpPr>
        <p:spPr>
          <a:xfrm>
            <a:off x="4663440" y="396392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4</a:t>
            </a:r>
            <a:endParaRPr lang="en-US" sz="1300" dirty="0"/>
          </a:p>
        </p:txBody>
      </p:sp>
      <p:sp>
        <p:nvSpPr>
          <p:cNvPr id="28" name="Text 23"/>
          <p:cNvSpPr txBox="1"/>
          <p:nvPr/>
        </p:nvSpPr>
        <p:spPr>
          <a:xfrm>
            <a:off x="5349240" y="3945636"/>
            <a:ext cx="6293815" cy="745236"/>
          </a:xfrm>
          <a:prstGeom prst="rect">
            <a:avLst/>
          </a:prstGeom>
          <a:noFill/>
          <a:ln/>
        </p:spPr>
        <p:txBody>
          <a:bodyPr wrap="square" lIns="0" tIns="0" rIns="0" bIns="0" rtlCol="0" anchor="t"/>
          <a:lstStyle/>
          <a:p>
            <a:pPr indent="0" marL="0">
              <a:spcAft>
                <a:spcPts val="300"/>
              </a:spcAft>
              <a:buNone/>
            </a:pPr>
            <a:r>
              <a:rPr lang="en-US" sz="1500" b="1" dirty="0">
                <a:solidFill>
                  <a:srgbClr val="0A032B"/>
                </a:solidFill>
                <a:latin typeface="Montserrat" pitchFamily="34" charset="0"/>
                <a:ea typeface="Montserrat" pitchFamily="34" charset="-122"/>
                <a:cs typeface="Montserrat" pitchFamily="34" charset="-120"/>
              </a:rPr>
              <a:t>Le stagiaire réalise et commente</a:t>
            </a:r>
            <a:endParaRPr lang="en-US" sz="1500" dirty="0"/>
          </a:p>
          <a:p>
            <a:pPr indent="0" marL="0">
              <a:spcAft>
                <a:spcPts val="300"/>
              </a:spcAft>
              <a:buNone/>
            </a:pPr>
            <a:r>
              <a:rPr lang="en-US" sz="1300" dirty="0">
                <a:solidFill>
                  <a:srgbClr val="35305C"/>
                </a:solidFill>
                <a:latin typeface="Arial" pitchFamily="34" charset="0"/>
                <a:ea typeface="Arial" pitchFamily="34" charset="-122"/>
                <a:cs typeface="Arial" pitchFamily="34" charset="-120"/>
              </a:rPr>
              <a:t>Plusieurs volontaires font le geste en l'expliquant. Le groupe observe et fait un retour positif.</a:t>
            </a:r>
            <a:endParaRPr lang="en-US" sz="1500" dirty="0"/>
          </a:p>
        </p:txBody>
      </p:sp>
      <p:sp>
        <p:nvSpPr>
          <p:cNvPr id="29" name="Shape 24"/>
          <p:cNvSpPr/>
          <p:nvPr/>
        </p:nvSpPr>
        <p:spPr>
          <a:xfrm>
            <a:off x="4663440" y="4983480"/>
            <a:ext cx="6979615" cy="1051560"/>
          </a:xfrm>
          <a:prstGeom prst="roundRect">
            <a:avLst>
              <a:gd name="adj" fmla="val 6957"/>
            </a:avLst>
          </a:prstGeom>
          <a:solidFill>
            <a:srgbClr val="EEEDF5"/>
          </a:solidFill>
          <a:ln w="12700">
            <a:solidFill>
              <a:srgbClr val="EEEDF5"/>
            </a:solidFill>
            <a:prstDash val="solid"/>
          </a:ln>
        </p:spPr>
      </p:sp>
      <p:sp>
        <p:nvSpPr>
          <p:cNvPr id="30" name="Shape 25"/>
          <p:cNvSpPr/>
          <p:nvPr/>
        </p:nvSpPr>
        <p:spPr>
          <a:xfrm>
            <a:off x="4846320" y="5230368"/>
            <a:ext cx="548640" cy="548640"/>
          </a:xfrm>
          <a:prstGeom prst="ellipse">
            <a:avLst/>
          </a:prstGeom>
          <a:solidFill>
            <a:srgbClr val="0A032B"/>
          </a:solidFill>
          <a:ln w="12700">
            <a:solidFill>
              <a:srgbClr val="0A032B"/>
            </a:solidFill>
            <a:prstDash val="solid"/>
          </a:ln>
        </p:spPr>
      </p:sp>
      <p:pic>
        <p:nvPicPr>
          <p:cNvPr id="31" name="Image 3" descr="preencoded.png">    </p:cNvPr>
          <p:cNvPicPr>
            <a:picLocks noChangeAspect="1"/>
          </p:cNvPicPr>
          <p:nvPr/>
        </p:nvPicPr>
        <p:blipFill>
          <a:blip r:embed="rId4"/>
          <a:stretch>
            <a:fillRect/>
          </a:stretch>
        </p:blipFill>
        <p:spPr>
          <a:xfrm>
            <a:off x="4983480" y="5367528"/>
            <a:ext cx="274320" cy="274320"/>
          </a:xfrm>
          <a:prstGeom prst="rect">
            <a:avLst/>
          </a:prstGeom>
        </p:spPr>
      </p:pic>
      <p:sp>
        <p:nvSpPr>
          <p:cNvPr id="32" name="Text 26"/>
          <p:cNvSpPr txBox="1"/>
          <p:nvPr/>
        </p:nvSpPr>
        <p:spPr>
          <a:xfrm>
            <a:off x="5577840" y="5029200"/>
            <a:ext cx="5882335" cy="960120"/>
          </a:xfrm>
          <a:prstGeom prst="rect">
            <a:avLst/>
          </a:prstGeom>
          <a:noFill/>
          <a:ln/>
        </p:spPr>
        <p:txBody>
          <a:bodyPr wrap="square" lIns="0" tIns="0" rIns="0" bIns="0" rtlCol="0" anchor="ctr"/>
          <a:lstStyle/>
          <a:p>
            <a:pPr indent="0" marL="0">
              <a:buNone/>
            </a:pPr>
            <a:r>
              <a:rPr lang="en-US" sz="1200" b="1" dirty="0">
                <a:solidFill>
                  <a:srgbClr val="0A032B"/>
                </a:solidFill>
                <a:latin typeface="Montserrat" pitchFamily="34" charset="0"/>
                <a:ea typeface="Montserrat" pitchFamily="34" charset="-122"/>
                <a:cs typeface="Montserrat" pitchFamily="34" charset="-120"/>
              </a:rPr>
              <a:t>Point de vigilance  </a:t>
            </a:r>
            <a:endParaRPr lang="en-US" sz="1200" dirty="0"/>
          </a:p>
          <a:p>
            <a:pPr indent="0" marL="0">
              <a:buNone/>
            </a:pPr>
            <a:r>
              <a:rPr lang="en-US" sz="1200" dirty="0">
                <a:solidFill>
                  <a:srgbClr val="35305C"/>
                </a:solidFill>
                <a:latin typeface="Arial" pitchFamily="34" charset="0"/>
                <a:ea typeface="Arial" pitchFamily="34" charset="-122"/>
                <a:cs typeface="Arial" pitchFamily="34" charset="-120"/>
              </a:rPr>
              <a:t>Commencer par une charge légère. Chaque stagiaire respecte ses limites physiques.</a:t>
            </a:r>
            <a:endParaRPr lang="en-US" sz="1200" dirty="0"/>
          </a:p>
        </p:txBody>
      </p:sp>
      <p:sp>
        <p:nvSpPr>
          <p:cNvPr id="33" name="Text 27"/>
          <p:cNvSpPr txBox="1"/>
          <p:nvPr/>
        </p:nvSpPr>
        <p:spPr>
          <a:xfrm>
            <a:off x="548640" y="6355080"/>
            <a:ext cx="3291840" cy="274320"/>
          </a:xfrm>
          <a:prstGeom prst="rect">
            <a:avLst/>
          </a:prstGeom>
          <a:noFill/>
          <a:ln/>
        </p:spPr>
        <p:txBody>
          <a:bodyPr wrap="square" lIns="0" tIns="0" rIns="0" bIns="0" rtlCol="0" anchor="ctr"/>
          <a:lstStyle/>
          <a:p>
            <a:pPr indent="0" marL="0">
              <a:buNone/>
            </a:pPr>
            <a:r>
              <a:rPr lang="en-US" sz="900" dirty="0">
                <a:solidFill>
                  <a:srgbClr val="35305C"/>
                </a:solidFill>
                <a:latin typeface="Arial" pitchFamily="34" charset="0"/>
                <a:ea typeface="Arial" pitchFamily="34" charset="-122"/>
                <a:cs typeface="Arial" pitchFamily="34" charset="-120"/>
              </a:rPr>
              <a:t>Gestes et postures de l'élu  ·  Séquence 3</a:t>
            </a:r>
            <a:endParaRPr lang="en-US" sz="900" dirty="0"/>
          </a:p>
        </p:txBody>
      </p:sp>
      <p:pic>
        <p:nvPicPr>
          <p:cNvPr id="34" name="Image 4" descr="logo_light.png">    </p:cNvPr>
          <p:cNvPicPr>
            <a:picLocks noChangeAspect="1"/>
          </p:cNvPicPr>
          <p:nvPr/>
        </p:nvPicPr>
        <p:blipFill>
          <a:blip r:embed="rId5"/>
          <a:stretch>
            <a:fillRect/>
          </a:stretch>
        </p:blipFill>
        <p:spPr>
          <a:xfrm>
            <a:off x="10682935" y="6236208"/>
            <a:ext cx="960120" cy="398441"/>
          </a:xfrm>
          <a:prstGeom prst="rect">
            <a:avLst/>
          </a:prstGeom>
        </p:spPr>
      </p:pic>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14800" cy="6858000"/>
          </a:xfrm>
          <a:prstGeom prst="rect">
            <a:avLst/>
          </a:prstGeom>
          <a:solidFill>
            <a:srgbClr val="F0EF96"/>
          </a:solidFill>
          <a:ln w="12700">
            <a:solidFill>
              <a:srgbClr val="F0EF96"/>
            </a:solidFill>
            <a:prstDash val="solid"/>
          </a:ln>
        </p:spPr>
      </p:sp>
      <p:sp>
        <p:nvSpPr>
          <p:cNvPr id="3" name="Shape 1"/>
          <p:cNvSpPr/>
          <p:nvPr/>
        </p:nvSpPr>
        <p:spPr>
          <a:xfrm>
            <a:off x="548640" y="502920"/>
            <a:ext cx="1600200" cy="347472"/>
          </a:xfrm>
          <a:prstGeom prst="roundRect">
            <a:avLst>
              <a:gd name="adj" fmla="val 50000"/>
            </a:avLst>
          </a:prstGeom>
          <a:solidFill>
            <a:srgbClr val="F0EF96"/>
          </a:solidFill>
          <a:ln w="12700">
            <a:solidFill>
              <a:srgbClr val="F0EF96"/>
            </a:solidFill>
            <a:prstDash val="solid"/>
          </a:ln>
        </p:spPr>
      </p:sp>
      <p:sp>
        <p:nvSpPr>
          <p:cNvPr id="4" name="Text 2"/>
          <p:cNvSpPr txBox="1"/>
          <p:nvPr/>
        </p:nvSpPr>
        <p:spPr>
          <a:xfrm>
            <a:off x="548640" y="502920"/>
            <a:ext cx="1600200" cy="347472"/>
          </a:xfrm>
          <a:prstGeom prst="rect">
            <a:avLst/>
          </a:prstGeom>
          <a:noFill/>
          <a:ln/>
        </p:spPr>
        <p:txBody>
          <a:bodyPr wrap="square" lIns="0" tIns="0" rIns="0" bIns="0" rtlCol="0" anchor="ctr"/>
          <a:lstStyle/>
          <a:p>
            <a:pPr algn="ctr" indent="0" marL="0">
              <a:buNone/>
            </a:pPr>
            <a:r>
              <a:rPr lang="en-US" sz="1100" b="1" spc="200" kern="0" dirty="0">
                <a:solidFill>
                  <a:srgbClr val="0A032B"/>
                </a:solidFill>
                <a:latin typeface="Montserrat" pitchFamily="34" charset="0"/>
                <a:ea typeface="Montserrat" pitchFamily="34" charset="-122"/>
                <a:cs typeface="Montserrat" pitchFamily="34" charset="-120"/>
              </a:rPr>
              <a:t>PRATIQUE</a:t>
            </a:r>
            <a:endParaRPr lang="en-US" sz="1100" dirty="0"/>
          </a:p>
        </p:txBody>
      </p:sp>
      <p:sp>
        <p:nvSpPr>
          <p:cNvPr id="5" name="Text 3"/>
          <p:cNvSpPr txBox="1"/>
          <p:nvPr/>
        </p:nvSpPr>
        <p:spPr>
          <a:xfrm>
            <a:off x="548640" y="1005840"/>
            <a:ext cx="3108960" cy="365760"/>
          </a:xfrm>
          <a:prstGeom prst="rect">
            <a:avLst/>
          </a:prstGeom>
          <a:noFill/>
          <a:ln/>
        </p:spPr>
        <p:txBody>
          <a:bodyPr wrap="square" lIns="0" tIns="0" rIns="0" bIns="0" rtlCol="0" anchor="ctr"/>
          <a:lstStyle/>
          <a:p>
            <a:pPr indent="0" marL="0">
              <a:buNone/>
            </a:pPr>
            <a:r>
              <a:rPr lang="en-US" sz="1300" b="1" spc="100" kern="0" dirty="0">
                <a:solidFill>
                  <a:srgbClr val="35305C"/>
                </a:solidFill>
                <a:latin typeface="Montserrat" pitchFamily="34" charset="0"/>
                <a:ea typeface="Montserrat" pitchFamily="34" charset="-122"/>
                <a:cs typeface="Montserrat" pitchFamily="34" charset="-120"/>
              </a:rPr>
              <a:t>ATELIER DE MANUTENTION</a:t>
            </a:r>
            <a:endParaRPr lang="en-US" sz="1300" dirty="0"/>
          </a:p>
        </p:txBody>
      </p:sp>
      <p:sp>
        <p:nvSpPr>
          <p:cNvPr id="6" name="Text 4"/>
          <p:cNvSpPr txBox="1"/>
          <p:nvPr/>
        </p:nvSpPr>
        <p:spPr>
          <a:xfrm>
            <a:off x="548640" y="1371600"/>
            <a:ext cx="3200400" cy="1371600"/>
          </a:xfrm>
          <a:prstGeom prst="rect">
            <a:avLst/>
          </a:prstGeom>
          <a:noFill/>
          <a:ln/>
        </p:spPr>
        <p:txBody>
          <a:bodyPr wrap="square" lIns="0" tIns="0" rIns="0" bIns="0" rtlCol="0" anchor="t"/>
          <a:lstStyle/>
          <a:p>
            <a:pPr indent="0" marL="0">
              <a:buNone/>
            </a:pPr>
            <a:r>
              <a:rPr lang="en-US" sz="2400" b="1" dirty="0">
                <a:solidFill>
                  <a:srgbClr val="0A032B"/>
                </a:solidFill>
                <a:latin typeface="Montserrat" pitchFamily="34" charset="0"/>
                <a:ea typeface="Montserrat" pitchFamily="34" charset="-122"/>
                <a:cs typeface="Montserrat" pitchFamily="34" charset="-120"/>
              </a:rPr>
              <a:t>Atelier 1 : lever et poser une charge du sol</a:t>
            </a:r>
            <a:endParaRPr lang="en-US" sz="2400" dirty="0"/>
          </a:p>
        </p:txBody>
      </p:sp>
      <p:sp>
        <p:nvSpPr>
          <p:cNvPr id="7" name="Shape 5"/>
          <p:cNvSpPr/>
          <p:nvPr/>
        </p:nvSpPr>
        <p:spPr>
          <a:xfrm>
            <a:off x="548640" y="2971800"/>
            <a:ext cx="457200" cy="457200"/>
          </a:xfrm>
          <a:prstGeom prst="ellipse">
            <a:avLst/>
          </a:prstGeom>
          <a:solidFill>
            <a:srgbClr val="0A032B"/>
          </a:solidFill>
          <a:ln w="12700">
            <a:solidFill>
              <a:srgbClr val="0A032B"/>
            </a:solidFill>
            <a:prstDash val="solid"/>
          </a:ln>
        </p:spPr>
      </p:sp>
      <p:pic>
        <p:nvPicPr>
          <p:cNvPr id="8" name="Image 0" descr="preencoded.png">    </p:cNvPr>
          <p:cNvPicPr>
            <a:picLocks noChangeAspect="1"/>
          </p:cNvPicPr>
          <p:nvPr/>
        </p:nvPicPr>
        <p:blipFill>
          <a:blip r:embed="rId1"/>
          <a:stretch>
            <a:fillRect/>
          </a:stretch>
        </p:blipFill>
        <p:spPr>
          <a:xfrm>
            <a:off x="662940" y="3086100"/>
            <a:ext cx="228600" cy="228600"/>
          </a:xfrm>
          <a:prstGeom prst="rect">
            <a:avLst/>
          </a:prstGeom>
        </p:spPr>
      </p:pic>
      <p:sp>
        <p:nvSpPr>
          <p:cNvPr id="9" name="Text 6"/>
          <p:cNvSpPr txBox="1"/>
          <p:nvPr/>
        </p:nvSpPr>
        <p:spPr>
          <a:xfrm>
            <a:off x="1188720" y="2926080"/>
            <a:ext cx="2468880" cy="868680"/>
          </a:xfrm>
          <a:prstGeom prst="rect">
            <a:avLst/>
          </a:prstGeom>
          <a:noFill/>
          <a:ln/>
        </p:spPr>
        <p:txBody>
          <a:bodyPr wrap="square" lIns="0" tIns="0" rIns="0" bIns="0" rtlCol="0" anchor="t"/>
          <a:lstStyle/>
          <a:p>
            <a:pPr indent="0" marL="0">
              <a:buNone/>
            </a:pPr>
            <a:r>
              <a:rPr lang="en-US" sz="1000" b="1" spc="100" kern="0" dirty="0">
                <a:solidFill>
                  <a:srgbClr val="35305C"/>
                </a:solidFill>
                <a:latin typeface="Montserrat" pitchFamily="34" charset="0"/>
                <a:ea typeface="Montserrat" pitchFamily="34" charset="-122"/>
                <a:cs typeface="Montserrat" pitchFamily="34" charset="-120"/>
              </a:rPr>
              <a:t>DURÉE</a:t>
            </a:r>
            <a:endParaRPr lang="en-US" sz="1000" dirty="0"/>
          </a:p>
          <a:p>
            <a:pPr indent="0" marL="0">
              <a:buNone/>
            </a:pPr>
            <a:r>
              <a:rPr lang="en-US" sz="1250" dirty="0">
                <a:solidFill>
                  <a:srgbClr val="0A032B"/>
                </a:solidFill>
                <a:latin typeface="Arial" pitchFamily="34" charset="0"/>
                <a:ea typeface="Arial" pitchFamily="34" charset="-122"/>
                <a:cs typeface="Arial" pitchFamily="34" charset="-120"/>
              </a:rPr>
              <a:t>20 minutes</a:t>
            </a:r>
            <a:endParaRPr lang="en-US" sz="1000" dirty="0"/>
          </a:p>
        </p:txBody>
      </p:sp>
      <p:sp>
        <p:nvSpPr>
          <p:cNvPr id="10" name="Shape 7"/>
          <p:cNvSpPr/>
          <p:nvPr/>
        </p:nvSpPr>
        <p:spPr>
          <a:xfrm>
            <a:off x="548640" y="3931920"/>
            <a:ext cx="457200" cy="457200"/>
          </a:xfrm>
          <a:prstGeom prst="ellipse">
            <a:avLst/>
          </a:prstGeom>
          <a:solidFill>
            <a:srgbClr val="0A032B"/>
          </a:solidFill>
          <a:ln w="12700">
            <a:solidFill>
              <a:srgbClr val="0A032B"/>
            </a:solidFill>
            <a:prstDash val="solid"/>
          </a:ln>
        </p:spPr>
      </p:sp>
      <p:pic>
        <p:nvPicPr>
          <p:cNvPr id="11" name="Image 1" descr="preencoded.png">    </p:cNvPr>
          <p:cNvPicPr>
            <a:picLocks noChangeAspect="1"/>
          </p:cNvPicPr>
          <p:nvPr/>
        </p:nvPicPr>
        <p:blipFill>
          <a:blip r:embed="rId2"/>
          <a:stretch>
            <a:fillRect/>
          </a:stretch>
        </p:blipFill>
        <p:spPr>
          <a:xfrm>
            <a:off x="662940" y="4046220"/>
            <a:ext cx="228600" cy="228600"/>
          </a:xfrm>
          <a:prstGeom prst="rect">
            <a:avLst/>
          </a:prstGeom>
        </p:spPr>
      </p:pic>
      <p:sp>
        <p:nvSpPr>
          <p:cNvPr id="12" name="Text 8"/>
          <p:cNvSpPr txBox="1"/>
          <p:nvPr/>
        </p:nvSpPr>
        <p:spPr>
          <a:xfrm>
            <a:off x="1188720" y="3886200"/>
            <a:ext cx="2468880" cy="868680"/>
          </a:xfrm>
          <a:prstGeom prst="rect">
            <a:avLst/>
          </a:prstGeom>
          <a:noFill/>
          <a:ln/>
        </p:spPr>
        <p:txBody>
          <a:bodyPr wrap="square" lIns="0" tIns="0" rIns="0" bIns="0" rtlCol="0" anchor="t"/>
          <a:lstStyle/>
          <a:p>
            <a:pPr indent="0" marL="0">
              <a:buNone/>
            </a:pPr>
            <a:r>
              <a:rPr lang="en-US" sz="1000" b="1" spc="100" kern="0" dirty="0">
                <a:solidFill>
                  <a:srgbClr val="35305C"/>
                </a:solidFill>
                <a:latin typeface="Montserrat" pitchFamily="34" charset="0"/>
                <a:ea typeface="Montserrat" pitchFamily="34" charset="-122"/>
                <a:cs typeface="Montserrat" pitchFamily="34" charset="-120"/>
              </a:rPr>
              <a:t>FORMAT</a:t>
            </a:r>
            <a:endParaRPr lang="en-US" sz="1000" dirty="0"/>
          </a:p>
          <a:p>
            <a:pPr indent="0" marL="0">
              <a:buNone/>
            </a:pPr>
            <a:r>
              <a:rPr lang="en-US" sz="1250" dirty="0">
                <a:solidFill>
                  <a:srgbClr val="0A032B"/>
                </a:solidFill>
                <a:latin typeface="Arial" pitchFamily="34" charset="0"/>
                <a:ea typeface="Arial" pitchFamily="34" charset="-122"/>
                <a:cs typeface="Arial" pitchFamily="34" charset="-120"/>
              </a:rPr>
              <a:t>Binômes : un acteur, un observateur, puis inversion</a:t>
            </a:r>
            <a:endParaRPr lang="en-US" sz="1000" dirty="0"/>
          </a:p>
        </p:txBody>
      </p:sp>
      <p:sp>
        <p:nvSpPr>
          <p:cNvPr id="13" name="Shape 9"/>
          <p:cNvSpPr/>
          <p:nvPr/>
        </p:nvSpPr>
        <p:spPr>
          <a:xfrm>
            <a:off x="548640" y="4892040"/>
            <a:ext cx="457200" cy="457200"/>
          </a:xfrm>
          <a:prstGeom prst="ellipse">
            <a:avLst/>
          </a:prstGeom>
          <a:solidFill>
            <a:srgbClr val="0A032B"/>
          </a:solidFill>
          <a:ln w="12700">
            <a:solidFill>
              <a:srgbClr val="0A032B"/>
            </a:solidFill>
            <a:prstDash val="solid"/>
          </a:ln>
        </p:spPr>
      </p:sp>
      <p:pic>
        <p:nvPicPr>
          <p:cNvPr id="14" name="Image 2" descr="preencoded.png">    </p:cNvPr>
          <p:cNvPicPr>
            <a:picLocks noChangeAspect="1"/>
          </p:cNvPicPr>
          <p:nvPr/>
        </p:nvPicPr>
        <p:blipFill>
          <a:blip r:embed="rId3"/>
          <a:stretch>
            <a:fillRect/>
          </a:stretch>
        </p:blipFill>
        <p:spPr>
          <a:xfrm>
            <a:off x="662940" y="5006340"/>
            <a:ext cx="228600" cy="228600"/>
          </a:xfrm>
          <a:prstGeom prst="rect">
            <a:avLst/>
          </a:prstGeom>
        </p:spPr>
      </p:pic>
      <p:sp>
        <p:nvSpPr>
          <p:cNvPr id="15" name="Text 10"/>
          <p:cNvSpPr txBox="1"/>
          <p:nvPr/>
        </p:nvSpPr>
        <p:spPr>
          <a:xfrm>
            <a:off x="1188720" y="4846320"/>
            <a:ext cx="2468880" cy="868680"/>
          </a:xfrm>
          <a:prstGeom prst="rect">
            <a:avLst/>
          </a:prstGeom>
          <a:noFill/>
          <a:ln/>
        </p:spPr>
        <p:txBody>
          <a:bodyPr wrap="square" lIns="0" tIns="0" rIns="0" bIns="0" rtlCol="0" anchor="t"/>
          <a:lstStyle/>
          <a:p>
            <a:pPr indent="0" marL="0">
              <a:buNone/>
            </a:pPr>
            <a:r>
              <a:rPr lang="en-US" sz="1000" b="1" spc="100" kern="0" dirty="0">
                <a:solidFill>
                  <a:srgbClr val="35305C"/>
                </a:solidFill>
                <a:latin typeface="Montserrat" pitchFamily="34" charset="0"/>
                <a:ea typeface="Montserrat" pitchFamily="34" charset="-122"/>
                <a:cs typeface="Montserrat" pitchFamily="34" charset="-120"/>
              </a:rPr>
              <a:t>MATÉRIEL</a:t>
            </a:r>
            <a:endParaRPr lang="en-US" sz="1000" dirty="0"/>
          </a:p>
          <a:p>
            <a:pPr indent="0" marL="0">
              <a:buNone/>
            </a:pPr>
            <a:r>
              <a:rPr lang="en-US" sz="1250" dirty="0">
                <a:solidFill>
                  <a:srgbClr val="0A032B"/>
                </a:solidFill>
                <a:latin typeface="Arial" pitchFamily="34" charset="0"/>
                <a:ea typeface="Arial" pitchFamily="34" charset="-122"/>
                <a:cs typeface="Arial" pitchFamily="34" charset="-120"/>
              </a:rPr>
              <a:t>Cartons de 5, 8 et 12 kg, table, grille d'observation</a:t>
            </a:r>
            <a:endParaRPr lang="en-US" sz="1000" dirty="0"/>
          </a:p>
        </p:txBody>
      </p:sp>
      <p:sp>
        <p:nvSpPr>
          <p:cNvPr id="16" name="Text 11"/>
          <p:cNvSpPr txBox="1"/>
          <p:nvPr/>
        </p:nvSpPr>
        <p:spPr>
          <a:xfrm>
            <a:off x="4663440" y="457200"/>
            <a:ext cx="6979615" cy="502920"/>
          </a:xfrm>
          <a:prstGeom prst="rect">
            <a:avLst/>
          </a:prstGeom>
          <a:noFill/>
          <a:ln/>
        </p:spPr>
        <p:txBody>
          <a:bodyPr wrap="square" lIns="0" tIns="0" rIns="0" bIns="0" rtlCol="0" anchor="ctr"/>
          <a:lstStyle/>
          <a:p>
            <a:pPr indent="0" marL="0">
              <a:buNone/>
            </a:pPr>
            <a:r>
              <a:rPr lang="en-US" sz="2200" b="1" dirty="0">
                <a:solidFill>
                  <a:srgbClr val="0A032B"/>
                </a:solidFill>
                <a:latin typeface="Montserrat" pitchFamily="34" charset="0"/>
                <a:ea typeface="Montserrat" pitchFamily="34" charset="-122"/>
                <a:cs typeface="Montserrat" pitchFamily="34" charset="-120"/>
              </a:rPr>
              <a:t>Consignes</a:t>
            </a:r>
            <a:endParaRPr lang="en-US" sz="2200" dirty="0"/>
          </a:p>
        </p:txBody>
      </p:sp>
      <p:sp>
        <p:nvSpPr>
          <p:cNvPr id="17" name="Shape 12"/>
          <p:cNvSpPr/>
          <p:nvPr/>
        </p:nvSpPr>
        <p:spPr>
          <a:xfrm>
            <a:off x="4663440" y="1234440"/>
            <a:ext cx="457200" cy="457200"/>
          </a:xfrm>
          <a:prstGeom prst="ellipse">
            <a:avLst/>
          </a:prstGeom>
          <a:solidFill>
            <a:srgbClr val="0A032B"/>
          </a:solidFill>
          <a:ln w="12700">
            <a:solidFill>
              <a:srgbClr val="0A032B"/>
            </a:solidFill>
            <a:prstDash val="solid"/>
          </a:ln>
        </p:spPr>
      </p:sp>
      <p:sp>
        <p:nvSpPr>
          <p:cNvPr id="18" name="Text 13"/>
          <p:cNvSpPr txBox="1"/>
          <p:nvPr/>
        </p:nvSpPr>
        <p:spPr>
          <a:xfrm>
            <a:off x="4663440" y="12344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1</a:t>
            </a:r>
            <a:endParaRPr lang="en-US" sz="1300" dirty="0"/>
          </a:p>
        </p:txBody>
      </p:sp>
      <p:sp>
        <p:nvSpPr>
          <p:cNvPr id="19" name="Text 14"/>
          <p:cNvSpPr txBox="1"/>
          <p:nvPr/>
        </p:nvSpPr>
        <p:spPr>
          <a:xfrm>
            <a:off x="5349240" y="1216152"/>
            <a:ext cx="6293815" cy="745236"/>
          </a:xfrm>
          <a:prstGeom prst="rect">
            <a:avLst/>
          </a:prstGeom>
          <a:noFill/>
          <a:ln/>
        </p:spPr>
        <p:txBody>
          <a:bodyPr wrap="square" lIns="0" tIns="0" rIns="0" bIns="0" rtlCol="0" anchor="t"/>
          <a:lstStyle/>
          <a:p>
            <a:pPr indent="0" marL="0">
              <a:spcAft>
                <a:spcPts val="300"/>
              </a:spcAft>
              <a:buNone/>
            </a:pPr>
            <a:r>
              <a:rPr lang="en-US" sz="1500" b="1" dirty="0">
                <a:solidFill>
                  <a:srgbClr val="0A032B"/>
                </a:solidFill>
                <a:latin typeface="Montserrat" pitchFamily="34" charset="0"/>
                <a:ea typeface="Montserrat" pitchFamily="34" charset="-122"/>
                <a:cs typeface="Montserrat" pitchFamily="34" charset="-120"/>
              </a:rPr>
              <a:t>Observer et préparer</a:t>
            </a:r>
            <a:endParaRPr lang="en-US" sz="1500" dirty="0"/>
          </a:p>
          <a:p>
            <a:pPr indent="0" marL="0">
              <a:spcAft>
                <a:spcPts val="300"/>
              </a:spcAft>
              <a:buNone/>
            </a:pPr>
            <a:r>
              <a:rPr lang="en-US" sz="1300" dirty="0">
                <a:solidFill>
                  <a:srgbClr val="35305C"/>
                </a:solidFill>
                <a:latin typeface="Arial" pitchFamily="34" charset="0"/>
                <a:ea typeface="Arial" pitchFamily="34" charset="-122"/>
                <a:cs typeface="Arial" pitchFamily="34" charset="-120"/>
              </a:rPr>
              <a:t>L'acteur observe la charge et le trajet, puis annonce comment il va procéder.</a:t>
            </a:r>
            <a:endParaRPr lang="en-US" sz="1500" dirty="0"/>
          </a:p>
        </p:txBody>
      </p:sp>
      <p:sp>
        <p:nvSpPr>
          <p:cNvPr id="20" name="Shape 15"/>
          <p:cNvSpPr/>
          <p:nvPr/>
        </p:nvSpPr>
        <p:spPr>
          <a:xfrm>
            <a:off x="4663440" y="2144268"/>
            <a:ext cx="457200" cy="457200"/>
          </a:xfrm>
          <a:prstGeom prst="ellipse">
            <a:avLst/>
          </a:prstGeom>
          <a:solidFill>
            <a:srgbClr val="0A032B"/>
          </a:solidFill>
          <a:ln w="12700">
            <a:solidFill>
              <a:srgbClr val="0A032B"/>
            </a:solidFill>
            <a:prstDash val="solid"/>
          </a:ln>
        </p:spPr>
      </p:sp>
      <p:sp>
        <p:nvSpPr>
          <p:cNvPr id="21" name="Text 16"/>
          <p:cNvSpPr txBox="1"/>
          <p:nvPr/>
        </p:nvSpPr>
        <p:spPr>
          <a:xfrm>
            <a:off x="4663440" y="214426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2</a:t>
            </a:r>
            <a:endParaRPr lang="en-US" sz="1300" dirty="0"/>
          </a:p>
        </p:txBody>
      </p:sp>
      <p:sp>
        <p:nvSpPr>
          <p:cNvPr id="22" name="Text 17"/>
          <p:cNvSpPr txBox="1"/>
          <p:nvPr/>
        </p:nvSpPr>
        <p:spPr>
          <a:xfrm>
            <a:off x="5349240" y="2125980"/>
            <a:ext cx="6293815" cy="745236"/>
          </a:xfrm>
          <a:prstGeom prst="rect">
            <a:avLst/>
          </a:prstGeom>
          <a:noFill/>
          <a:ln/>
        </p:spPr>
        <p:txBody>
          <a:bodyPr wrap="square" lIns="0" tIns="0" rIns="0" bIns="0" rtlCol="0" anchor="t"/>
          <a:lstStyle/>
          <a:p>
            <a:pPr indent="0" marL="0">
              <a:spcAft>
                <a:spcPts val="300"/>
              </a:spcAft>
              <a:buNone/>
            </a:pPr>
            <a:r>
              <a:rPr lang="en-US" sz="1500" b="1" dirty="0">
                <a:solidFill>
                  <a:srgbClr val="0A032B"/>
                </a:solidFill>
                <a:latin typeface="Montserrat" pitchFamily="34" charset="0"/>
                <a:ea typeface="Montserrat" pitchFamily="34" charset="-122"/>
                <a:cs typeface="Montserrat" pitchFamily="34" charset="-120"/>
              </a:rPr>
              <a:t>Lever du sol, déplacer sur 5 mètres</a:t>
            </a:r>
            <a:endParaRPr lang="en-US" sz="1500" dirty="0"/>
          </a:p>
          <a:p>
            <a:pPr indent="0" marL="0">
              <a:spcAft>
                <a:spcPts val="300"/>
              </a:spcAft>
              <a:buNone/>
            </a:pPr>
            <a:r>
              <a:rPr lang="en-US" sz="1300" dirty="0">
                <a:solidFill>
                  <a:srgbClr val="35305C"/>
                </a:solidFill>
                <a:latin typeface="Arial" pitchFamily="34" charset="0"/>
                <a:ea typeface="Arial" pitchFamily="34" charset="-122"/>
                <a:cs typeface="Arial" pitchFamily="34" charset="-120"/>
              </a:rPr>
              <a:t>Avec un changement de direction, sans torsion.</a:t>
            </a:r>
            <a:endParaRPr lang="en-US" sz="1500" dirty="0"/>
          </a:p>
        </p:txBody>
      </p:sp>
      <p:sp>
        <p:nvSpPr>
          <p:cNvPr id="23" name="Shape 18"/>
          <p:cNvSpPr/>
          <p:nvPr/>
        </p:nvSpPr>
        <p:spPr>
          <a:xfrm>
            <a:off x="4663440" y="3054096"/>
            <a:ext cx="457200" cy="457200"/>
          </a:xfrm>
          <a:prstGeom prst="ellipse">
            <a:avLst/>
          </a:prstGeom>
          <a:solidFill>
            <a:srgbClr val="0A032B"/>
          </a:solidFill>
          <a:ln w="12700">
            <a:solidFill>
              <a:srgbClr val="0A032B"/>
            </a:solidFill>
            <a:prstDash val="solid"/>
          </a:ln>
        </p:spPr>
      </p:sp>
      <p:sp>
        <p:nvSpPr>
          <p:cNvPr id="24" name="Text 19"/>
          <p:cNvSpPr txBox="1"/>
          <p:nvPr/>
        </p:nvSpPr>
        <p:spPr>
          <a:xfrm>
            <a:off x="4663440" y="305409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3</a:t>
            </a:r>
            <a:endParaRPr lang="en-US" sz="1300" dirty="0"/>
          </a:p>
        </p:txBody>
      </p:sp>
      <p:sp>
        <p:nvSpPr>
          <p:cNvPr id="25" name="Text 20"/>
          <p:cNvSpPr txBox="1"/>
          <p:nvPr/>
        </p:nvSpPr>
        <p:spPr>
          <a:xfrm>
            <a:off x="5349240" y="3035808"/>
            <a:ext cx="6293815" cy="745236"/>
          </a:xfrm>
          <a:prstGeom prst="rect">
            <a:avLst/>
          </a:prstGeom>
          <a:noFill/>
          <a:ln/>
        </p:spPr>
        <p:txBody>
          <a:bodyPr wrap="square" lIns="0" tIns="0" rIns="0" bIns="0" rtlCol="0" anchor="t"/>
          <a:lstStyle/>
          <a:p>
            <a:pPr indent="0" marL="0">
              <a:spcAft>
                <a:spcPts val="300"/>
              </a:spcAft>
              <a:buNone/>
            </a:pPr>
            <a:r>
              <a:rPr lang="en-US" sz="1500" b="1" dirty="0">
                <a:solidFill>
                  <a:srgbClr val="0A032B"/>
                </a:solidFill>
                <a:latin typeface="Montserrat" pitchFamily="34" charset="0"/>
                <a:ea typeface="Montserrat" pitchFamily="34" charset="-122"/>
                <a:cs typeface="Montserrat" pitchFamily="34" charset="-120"/>
              </a:rPr>
              <a:t>Déposer sur la table, puis au sol</a:t>
            </a:r>
            <a:endParaRPr lang="en-US" sz="1500" dirty="0"/>
          </a:p>
          <a:p>
            <a:pPr indent="0" marL="0">
              <a:spcAft>
                <a:spcPts val="300"/>
              </a:spcAft>
              <a:buNone/>
            </a:pPr>
            <a:r>
              <a:rPr lang="en-US" sz="1300" dirty="0">
                <a:solidFill>
                  <a:srgbClr val="35305C"/>
                </a:solidFill>
                <a:latin typeface="Arial" pitchFamily="34" charset="0"/>
                <a:ea typeface="Arial" pitchFamily="34" charset="-122"/>
                <a:cs typeface="Arial" pitchFamily="34" charset="-120"/>
              </a:rPr>
              <a:t>Deux hauteurs de dépose différentes.</a:t>
            </a:r>
            <a:endParaRPr lang="en-US" sz="1500" dirty="0"/>
          </a:p>
        </p:txBody>
      </p:sp>
      <p:sp>
        <p:nvSpPr>
          <p:cNvPr id="26" name="Shape 21"/>
          <p:cNvSpPr/>
          <p:nvPr/>
        </p:nvSpPr>
        <p:spPr>
          <a:xfrm>
            <a:off x="4663440" y="3963924"/>
            <a:ext cx="457200" cy="457200"/>
          </a:xfrm>
          <a:prstGeom prst="ellipse">
            <a:avLst/>
          </a:prstGeom>
          <a:solidFill>
            <a:srgbClr val="0A032B"/>
          </a:solidFill>
          <a:ln w="12700">
            <a:solidFill>
              <a:srgbClr val="0A032B"/>
            </a:solidFill>
            <a:prstDash val="solid"/>
          </a:ln>
        </p:spPr>
      </p:sp>
      <p:sp>
        <p:nvSpPr>
          <p:cNvPr id="27" name="Text 22"/>
          <p:cNvSpPr txBox="1"/>
          <p:nvPr/>
        </p:nvSpPr>
        <p:spPr>
          <a:xfrm>
            <a:off x="4663440" y="396392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4</a:t>
            </a:r>
            <a:endParaRPr lang="en-US" sz="1300" dirty="0"/>
          </a:p>
        </p:txBody>
      </p:sp>
      <p:sp>
        <p:nvSpPr>
          <p:cNvPr id="28" name="Text 23"/>
          <p:cNvSpPr txBox="1"/>
          <p:nvPr/>
        </p:nvSpPr>
        <p:spPr>
          <a:xfrm>
            <a:off x="5349240" y="3945636"/>
            <a:ext cx="6293815" cy="745236"/>
          </a:xfrm>
          <a:prstGeom prst="rect">
            <a:avLst/>
          </a:prstGeom>
          <a:noFill/>
          <a:ln/>
        </p:spPr>
        <p:txBody>
          <a:bodyPr wrap="square" lIns="0" tIns="0" rIns="0" bIns="0" rtlCol="0" anchor="t"/>
          <a:lstStyle/>
          <a:p>
            <a:pPr indent="0" marL="0">
              <a:spcAft>
                <a:spcPts val="300"/>
              </a:spcAft>
              <a:buNone/>
            </a:pPr>
            <a:r>
              <a:rPr lang="en-US" sz="1500" b="1" dirty="0">
                <a:solidFill>
                  <a:srgbClr val="0A032B"/>
                </a:solidFill>
                <a:latin typeface="Montserrat" pitchFamily="34" charset="0"/>
                <a:ea typeface="Montserrat" pitchFamily="34" charset="-122"/>
                <a:cs typeface="Montserrat" pitchFamily="34" charset="-120"/>
              </a:rPr>
              <a:t>Observer avec la grille</a:t>
            </a:r>
            <a:endParaRPr lang="en-US" sz="1500" dirty="0"/>
          </a:p>
          <a:p>
            <a:pPr indent="0" marL="0">
              <a:spcAft>
                <a:spcPts val="300"/>
              </a:spcAft>
              <a:buNone/>
            </a:pPr>
            <a:r>
              <a:rPr lang="en-US" sz="1300" dirty="0">
                <a:solidFill>
                  <a:srgbClr val="35305C"/>
                </a:solidFill>
                <a:latin typeface="Arial" pitchFamily="34" charset="0"/>
                <a:ea typeface="Arial" pitchFamily="34" charset="-122"/>
                <a:cs typeface="Arial" pitchFamily="34" charset="-120"/>
              </a:rPr>
              <a:t>L'observateur coche chaque principe et donne un retour constructif, puis on inverse les rôles.</a:t>
            </a:r>
            <a:endParaRPr lang="en-US" sz="1500" dirty="0"/>
          </a:p>
        </p:txBody>
      </p:sp>
      <p:sp>
        <p:nvSpPr>
          <p:cNvPr id="29" name="Shape 24"/>
          <p:cNvSpPr/>
          <p:nvPr/>
        </p:nvSpPr>
        <p:spPr>
          <a:xfrm>
            <a:off x="4663440" y="4983480"/>
            <a:ext cx="6979615" cy="1051560"/>
          </a:xfrm>
          <a:prstGeom prst="roundRect">
            <a:avLst>
              <a:gd name="adj" fmla="val 6957"/>
            </a:avLst>
          </a:prstGeom>
          <a:solidFill>
            <a:srgbClr val="EEEDF5"/>
          </a:solidFill>
          <a:ln w="12700">
            <a:solidFill>
              <a:srgbClr val="EEEDF5"/>
            </a:solidFill>
            <a:prstDash val="solid"/>
          </a:ln>
        </p:spPr>
      </p:sp>
      <p:sp>
        <p:nvSpPr>
          <p:cNvPr id="30" name="Shape 25"/>
          <p:cNvSpPr/>
          <p:nvPr/>
        </p:nvSpPr>
        <p:spPr>
          <a:xfrm>
            <a:off x="4846320" y="5230368"/>
            <a:ext cx="548640" cy="548640"/>
          </a:xfrm>
          <a:prstGeom prst="ellipse">
            <a:avLst/>
          </a:prstGeom>
          <a:solidFill>
            <a:srgbClr val="0A032B"/>
          </a:solidFill>
          <a:ln w="12700">
            <a:solidFill>
              <a:srgbClr val="0A032B"/>
            </a:solidFill>
            <a:prstDash val="solid"/>
          </a:ln>
        </p:spPr>
      </p:sp>
      <p:pic>
        <p:nvPicPr>
          <p:cNvPr id="31" name="Image 3" descr="preencoded.png">    </p:cNvPr>
          <p:cNvPicPr>
            <a:picLocks noChangeAspect="1"/>
          </p:cNvPicPr>
          <p:nvPr/>
        </p:nvPicPr>
        <p:blipFill>
          <a:blip r:embed="rId4"/>
          <a:stretch>
            <a:fillRect/>
          </a:stretch>
        </p:blipFill>
        <p:spPr>
          <a:xfrm>
            <a:off x="4983480" y="5367528"/>
            <a:ext cx="274320" cy="274320"/>
          </a:xfrm>
          <a:prstGeom prst="rect">
            <a:avLst/>
          </a:prstGeom>
        </p:spPr>
      </p:pic>
      <p:sp>
        <p:nvSpPr>
          <p:cNvPr id="32" name="Text 26"/>
          <p:cNvSpPr txBox="1"/>
          <p:nvPr/>
        </p:nvSpPr>
        <p:spPr>
          <a:xfrm>
            <a:off x="5577840" y="5029200"/>
            <a:ext cx="5882335" cy="960120"/>
          </a:xfrm>
          <a:prstGeom prst="rect">
            <a:avLst/>
          </a:prstGeom>
          <a:noFill/>
          <a:ln/>
        </p:spPr>
        <p:txBody>
          <a:bodyPr wrap="square" lIns="0" tIns="0" rIns="0" bIns="0" rtlCol="0" anchor="ctr"/>
          <a:lstStyle/>
          <a:p>
            <a:pPr indent="0" marL="0">
              <a:buNone/>
            </a:pPr>
            <a:r>
              <a:rPr lang="en-US" sz="1200" b="1" dirty="0">
                <a:solidFill>
                  <a:srgbClr val="0A032B"/>
                </a:solidFill>
                <a:latin typeface="Montserrat" pitchFamily="34" charset="0"/>
                <a:ea typeface="Montserrat" pitchFamily="34" charset="-122"/>
                <a:cs typeface="Montserrat" pitchFamily="34" charset="-120"/>
              </a:rPr>
              <a:t>Point de vigilance  </a:t>
            </a:r>
            <a:endParaRPr lang="en-US" sz="1200" dirty="0"/>
          </a:p>
          <a:p>
            <a:pPr indent="0" marL="0">
              <a:buNone/>
            </a:pPr>
            <a:r>
              <a:rPr lang="en-US" sz="1200" dirty="0">
                <a:solidFill>
                  <a:srgbClr val="35305C"/>
                </a:solidFill>
                <a:latin typeface="Arial" pitchFamily="34" charset="0"/>
                <a:ea typeface="Arial" pitchFamily="34" charset="-122"/>
                <a:cs typeface="Arial" pitchFamily="34" charset="-120"/>
              </a:rPr>
              <a:t>Adapter la charge à chacun. On ne cherche pas la performance mais la qualité du geste.</a:t>
            </a:r>
            <a:endParaRPr lang="en-US" sz="1200" dirty="0"/>
          </a:p>
        </p:txBody>
      </p:sp>
      <p:sp>
        <p:nvSpPr>
          <p:cNvPr id="33" name="Text 27"/>
          <p:cNvSpPr txBox="1"/>
          <p:nvPr/>
        </p:nvSpPr>
        <p:spPr>
          <a:xfrm>
            <a:off x="548640" y="6355080"/>
            <a:ext cx="3291840" cy="274320"/>
          </a:xfrm>
          <a:prstGeom prst="rect">
            <a:avLst/>
          </a:prstGeom>
          <a:noFill/>
          <a:ln/>
        </p:spPr>
        <p:txBody>
          <a:bodyPr wrap="square" lIns="0" tIns="0" rIns="0" bIns="0" rtlCol="0" anchor="ctr"/>
          <a:lstStyle/>
          <a:p>
            <a:pPr indent="0" marL="0">
              <a:buNone/>
            </a:pPr>
            <a:r>
              <a:rPr lang="en-US" sz="900" dirty="0">
                <a:solidFill>
                  <a:srgbClr val="35305C"/>
                </a:solidFill>
                <a:latin typeface="Arial" pitchFamily="34" charset="0"/>
                <a:ea typeface="Arial" pitchFamily="34" charset="-122"/>
                <a:cs typeface="Arial" pitchFamily="34" charset="-120"/>
              </a:rPr>
              <a:t>Gestes et postures de l'élu  ·  Séquence 3</a:t>
            </a:r>
            <a:endParaRPr lang="en-US" sz="900" dirty="0"/>
          </a:p>
        </p:txBody>
      </p:sp>
      <p:pic>
        <p:nvPicPr>
          <p:cNvPr id="34" name="Image 4" descr="logo_light.png">    </p:cNvPr>
          <p:cNvPicPr>
            <a:picLocks noChangeAspect="1"/>
          </p:cNvPicPr>
          <p:nvPr/>
        </p:nvPicPr>
        <p:blipFill>
          <a:blip r:embed="rId5"/>
          <a:stretch>
            <a:fillRect/>
          </a:stretch>
        </p:blipFill>
        <p:spPr>
          <a:xfrm>
            <a:off x="10682935" y="6236208"/>
            <a:ext cx="960120" cy="398441"/>
          </a:xfrm>
          <a:prstGeom prst="rect">
            <a:avLst/>
          </a:prstGeom>
        </p:spPr>
      </p:pic>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235440" cy="685800"/>
          </a:xfrm>
          <a:prstGeom prst="rect">
            <a:avLst/>
          </a:prstGeom>
          <a:noFill/>
          <a:ln/>
        </p:spPr>
        <p:txBody>
          <a:bodyPr wrap="square" lIns="0" tIns="0" rIns="0" bIns="0" rtlCol="0" anchor="ctr"/>
          <a:lstStyle/>
          <a:p>
            <a:pPr indent="0" marL="0">
              <a:buNone/>
            </a:pPr>
            <a:r>
              <a:rPr lang="en-US" sz="2800" b="1" dirty="0">
                <a:solidFill>
                  <a:srgbClr val="0A032B"/>
                </a:solidFill>
                <a:latin typeface="Montserrat" pitchFamily="34" charset="0"/>
                <a:ea typeface="Montserrat" pitchFamily="34" charset="-122"/>
                <a:cs typeface="Montserrat" pitchFamily="34" charset="-120"/>
              </a:rPr>
              <a:t>Grille d'observation</a:t>
            </a:r>
            <a:endParaRPr lang="en-US" sz="2800" dirty="0"/>
          </a:p>
        </p:txBody>
      </p:sp>
      <p:sp>
        <p:nvSpPr>
          <p:cNvPr id="3" name="Text 1"/>
          <p:cNvSpPr txBox="1"/>
          <p:nvPr/>
        </p:nvSpPr>
        <p:spPr>
          <a:xfrm>
            <a:off x="548640" y="1024128"/>
            <a:ext cx="9235440" cy="365760"/>
          </a:xfrm>
          <a:prstGeom prst="rect">
            <a:avLst/>
          </a:prstGeom>
          <a:noFill/>
          <a:ln/>
        </p:spPr>
        <p:txBody>
          <a:bodyPr wrap="square" lIns="0" tIns="0" rIns="0" bIns="0" rtlCol="0" anchor="ctr"/>
          <a:lstStyle/>
          <a:p>
            <a:pPr indent="0" marL="0">
              <a:buNone/>
            </a:pPr>
            <a:r>
              <a:rPr lang="en-US" sz="1400" i="1" dirty="0">
                <a:solidFill>
                  <a:srgbClr val="5E5A78"/>
                </a:solidFill>
                <a:latin typeface="Arial" pitchFamily="34" charset="0"/>
                <a:ea typeface="Arial" pitchFamily="34" charset="-122"/>
                <a:cs typeface="Arial" pitchFamily="34" charset="-120"/>
              </a:rPr>
              <a:t>Utilisée par l'observateur pendant les ateliers</a:t>
            </a:r>
            <a:endParaRPr lang="en-US" sz="1400" dirty="0"/>
          </a:p>
        </p:txBody>
      </p:sp>
      <p:sp>
        <p:nvSpPr>
          <p:cNvPr id="4" name="Shape 2"/>
          <p:cNvSpPr/>
          <p:nvPr/>
        </p:nvSpPr>
        <p:spPr>
          <a:xfrm>
            <a:off x="10042855" y="530352"/>
            <a:ext cx="1600200" cy="347472"/>
          </a:xfrm>
          <a:prstGeom prst="roundRect">
            <a:avLst>
              <a:gd name="adj" fmla="val 50000"/>
            </a:avLst>
          </a:prstGeom>
          <a:solidFill>
            <a:srgbClr val="F0EF96"/>
          </a:solidFill>
          <a:ln w="12700">
            <a:solidFill>
              <a:srgbClr val="F0EF96"/>
            </a:solidFill>
            <a:prstDash val="solid"/>
          </a:ln>
        </p:spPr>
      </p:sp>
      <p:sp>
        <p:nvSpPr>
          <p:cNvPr id="5" name="Text 3"/>
          <p:cNvSpPr txBox="1"/>
          <p:nvPr/>
        </p:nvSpPr>
        <p:spPr>
          <a:xfrm>
            <a:off x="10042855" y="530352"/>
            <a:ext cx="1600200" cy="347472"/>
          </a:xfrm>
          <a:prstGeom prst="rect">
            <a:avLst/>
          </a:prstGeom>
          <a:noFill/>
          <a:ln/>
        </p:spPr>
        <p:txBody>
          <a:bodyPr wrap="square" lIns="0" tIns="0" rIns="0" bIns="0" rtlCol="0" anchor="ctr"/>
          <a:lstStyle/>
          <a:p>
            <a:pPr algn="ctr" indent="0" marL="0">
              <a:buNone/>
            </a:pPr>
            <a:r>
              <a:rPr lang="en-US" sz="1100" b="1" spc="200" kern="0" dirty="0">
                <a:solidFill>
                  <a:srgbClr val="0A032B"/>
                </a:solidFill>
                <a:latin typeface="Montserrat" pitchFamily="34" charset="0"/>
                <a:ea typeface="Montserrat" pitchFamily="34" charset="-122"/>
                <a:cs typeface="Montserrat" pitchFamily="34" charset="-120"/>
              </a:rPr>
              <a:t>PRATIQUE</a:t>
            </a:r>
            <a:endParaRPr lang="en-US" sz="1100" dirty="0"/>
          </a:p>
        </p:txBody>
      </p:sp>
      <p:sp>
        <p:nvSpPr>
          <p:cNvPr id="6" name="Text 4"/>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5E5A78"/>
                </a:solidFill>
                <a:latin typeface="Arial" pitchFamily="34" charset="0"/>
                <a:ea typeface="Arial" pitchFamily="34" charset="-122"/>
                <a:cs typeface="Arial" pitchFamily="34" charset="-120"/>
              </a:rPr>
              <a:t>Gestes et postures de l'élu  ·  Séquence 3</a:t>
            </a:r>
            <a:endParaRPr lang="en-US" sz="900" dirty="0"/>
          </a:p>
        </p:txBody>
      </p:sp>
      <p:pic>
        <p:nvPicPr>
          <p:cNvPr id="7" name="Image 0" descr="logo_light.png">    </p:cNvPr>
          <p:cNvPicPr>
            <a:picLocks noChangeAspect="1"/>
          </p:cNvPicPr>
          <p:nvPr/>
        </p:nvPicPr>
        <p:blipFill>
          <a:blip r:embed="rId1"/>
          <a:stretch>
            <a:fillRect/>
          </a:stretch>
        </p:blipFill>
        <p:spPr>
          <a:xfrm>
            <a:off x="10682935" y="6236208"/>
            <a:ext cx="960120" cy="398441"/>
          </a:xfrm>
          <a:prstGeom prst="rect">
            <a:avLst/>
          </a:prstGeom>
        </p:spPr>
      </p:pic>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1920240"/>
                <a:gridCol w="4480560"/>
                <a:gridCol w="1005840"/>
                <a:gridCol w="1280160"/>
                <a:gridCol w="2407615"/>
              </a:tblGrid>
              <a:tr h="512064">
                <a:tc>
                  <a:txBody>
                    <a:bodyPr/>
                    <a:lstStyle/>
                    <a:p>
                      <a:pPr indent="0" marL="0">
                        <a:buNone/>
                      </a:pPr>
                      <a:r>
                        <a:rPr lang="en-US" sz="1200" b="1" dirty="0">
                          <a:solidFill>
                            <a:srgbClr val="FFFFFF"/>
                          </a:solidFill>
                          <a:latin typeface="Montserrat" pitchFamily="34" charset="0"/>
                          <a:ea typeface="Montserrat" pitchFamily="34" charset="-122"/>
                          <a:cs typeface="Montserrat" pitchFamily="34" charset="-120"/>
                        </a:rPr>
                        <a:t>Critère observé</a:t>
                      </a:r>
                      <a:endParaRPr lang="en-US" sz="1200" dirty="0">
                        <a:latin typeface="Montserrat" charset="0"/>
                        <a:ea typeface="Montserrat" charset="0"/>
                        <a:cs typeface="Montserrat"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0A032B"/>
                    </a:solidFill>
                  </a:tcPr>
                </a:tc>
                <a:tc>
                  <a:txBody>
                    <a:bodyPr/>
                    <a:lstStyle/>
                    <a:p>
                      <a:pPr indent="0" marL="0">
                        <a:buNone/>
                      </a:pPr>
                      <a:r>
                        <a:rPr lang="en-US" sz="1200" b="1" dirty="0">
                          <a:solidFill>
                            <a:srgbClr val="FFFFFF"/>
                          </a:solidFill>
                          <a:latin typeface="Montserrat" pitchFamily="34" charset="0"/>
                          <a:ea typeface="Montserrat" pitchFamily="34" charset="-122"/>
                          <a:cs typeface="Montserrat" pitchFamily="34" charset="-120"/>
                        </a:rPr>
                        <a:t>Ce que je vérifie</a:t>
                      </a:r>
                      <a:endParaRPr lang="en-US" sz="1200" dirty="0">
                        <a:latin typeface="Montserrat" charset="0"/>
                        <a:ea typeface="Montserrat" charset="0"/>
                        <a:cs typeface="Montserrat"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0A032B"/>
                    </a:solidFill>
                  </a:tcPr>
                </a:tc>
                <a:tc>
                  <a:txBody>
                    <a:bodyPr/>
                    <a:lstStyle/>
                    <a:p>
                      <a:pPr indent="0" marL="0">
                        <a:buNone/>
                      </a:pPr>
                      <a:r>
                        <a:rPr lang="en-US" sz="1200" b="1" dirty="0">
                          <a:solidFill>
                            <a:srgbClr val="FFFFFF"/>
                          </a:solidFill>
                          <a:latin typeface="Montserrat" pitchFamily="34" charset="0"/>
                          <a:ea typeface="Montserrat" pitchFamily="34" charset="-122"/>
                          <a:cs typeface="Montserrat" pitchFamily="34" charset="-120"/>
                        </a:rPr>
                        <a:t>Acquis</a:t>
                      </a:r>
                      <a:endParaRPr lang="en-US" sz="1200" dirty="0">
                        <a:latin typeface="Montserrat" charset="0"/>
                        <a:ea typeface="Montserrat" charset="0"/>
                        <a:cs typeface="Montserrat"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0A032B"/>
                    </a:solidFill>
                  </a:tcPr>
                </a:tc>
                <a:tc>
                  <a:txBody>
                    <a:bodyPr/>
                    <a:lstStyle/>
                    <a:p>
                      <a:pPr indent="0" marL="0">
                        <a:buNone/>
                      </a:pPr>
                      <a:r>
                        <a:rPr lang="en-US" sz="1200" b="1" dirty="0">
                          <a:solidFill>
                            <a:srgbClr val="FFFFFF"/>
                          </a:solidFill>
                          <a:latin typeface="Montserrat" pitchFamily="34" charset="0"/>
                          <a:ea typeface="Montserrat" pitchFamily="34" charset="-122"/>
                          <a:cs typeface="Montserrat" pitchFamily="34" charset="-120"/>
                        </a:rPr>
                        <a:t>À améliorer</a:t>
                      </a:r>
                      <a:endParaRPr lang="en-US" sz="1200" dirty="0">
                        <a:latin typeface="Montserrat" charset="0"/>
                        <a:ea typeface="Montserrat" charset="0"/>
                        <a:cs typeface="Montserrat"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0A032B"/>
                    </a:solidFill>
                  </a:tcPr>
                </a:tc>
                <a:tc>
                  <a:txBody>
                    <a:bodyPr/>
                    <a:lstStyle/>
                    <a:p>
                      <a:pPr indent="0" marL="0">
                        <a:buNone/>
                      </a:pPr>
                      <a:r>
                        <a:rPr lang="en-US" sz="1200" b="1" dirty="0">
                          <a:solidFill>
                            <a:srgbClr val="FFFFFF"/>
                          </a:solidFill>
                          <a:latin typeface="Montserrat" pitchFamily="34" charset="0"/>
                          <a:ea typeface="Montserrat" pitchFamily="34" charset="-122"/>
                          <a:cs typeface="Montserrat" pitchFamily="34" charset="-120"/>
                        </a:rPr>
                        <a:t>Remarques</a:t>
                      </a:r>
                      <a:endParaRPr lang="en-US" sz="1200" dirty="0">
                        <a:latin typeface="Montserrat" charset="0"/>
                        <a:ea typeface="Montserrat" charset="0"/>
                        <a:cs typeface="Montserrat"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0A032B"/>
                    </a:solidFill>
                  </a:tcPr>
                </a:tc>
              </a:tr>
              <a:tr h="512064">
                <a:tc>
                  <a:txBody>
                    <a:bodyPr/>
                    <a:lstStyle/>
                    <a:p>
                      <a:pPr indent="0" marL="0">
                        <a:buNone/>
                      </a:pPr>
                      <a:r>
                        <a:rPr lang="en-US" sz="1300" b="1" dirty="0">
                          <a:solidFill>
                            <a:srgbClr val="0A032B"/>
                          </a:solidFill>
                          <a:latin typeface="Montserrat" pitchFamily="34" charset="0"/>
                          <a:ea typeface="Montserrat" pitchFamily="34" charset="-122"/>
                          <a:cs typeface="Montserrat" pitchFamily="34" charset="-120"/>
                        </a:rPr>
                        <a:t>Observation</a:t>
                      </a:r>
                      <a:endParaRPr lang="en-US" sz="1300" dirty="0">
                        <a:latin typeface="Montserrat" charset="0"/>
                        <a:ea typeface="Montserrat" charset="0"/>
                        <a:cs typeface="Montserrat"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EEEDF5"/>
                    </a:solidFill>
                  </a:tcPr>
                </a:tc>
                <a:tc>
                  <a:txBody>
                    <a:bodyPr/>
                    <a:lstStyle/>
                    <a:p>
                      <a:pPr indent="0" marL="0">
                        <a:buNone/>
                      </a:pPr>
                      <a:r>
                        <a:rPr lang="en-US" sz="1300" dirty="0">
                          <a:solidFill>
                            <a:srgbClr val="35305C"/>
                          </a:solidFill>
                          <a:latin typeface="Arial" pitchFamily="34" charset="0"/>
                          <a:ea typeface="Arial" pitchFamily="34" charset="-122"/>
                          <a:cs typeface="Arial" pitchFamily="34" charset="-120"/>
                        </a:rPr>
                        <a:t>Évalue la charge et dégage le trajet</a:t>
                      </a:r>
                      <a:endParaRPr lang="en-US" sz="13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EEEDF5"/>
                    </a:solidFill>
                  </a:tcPr>
                </a:tc>
                <a:tc>
                  <a:txBody>
                    <a:bodyPr/>
                    <a:lstStyle/>
                    <a:p>
                      <a:pPr algn="ctr" indent="0" marL="0">
                        <a:buNone/>
                      </a:pPr>
                      <a:r>
                        <a:rPr lang="en-US" sz="1300" dirty="0">
                          <a:solidFill>
                            <a:srgbClr val="0A032B"/>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EEEDF5"/>
                    </a:solidFill>
                  </a:tcPr>
                </a:tc>
                <a:tc>
                  <a:txBody>
                    <a:bodyPr/>
                    <a:lstStyle/>
                    <a:p>
                      <a:pPr algn="ctr" indent="0" marL="0">
                        <a:buNone/>
                      </a:pPr>
                      <a:r>
                        <a:rPr lang="en-US" sz="1300" dirty="0">
                          <a:solidFill>
                            <a:srgbClr val="0A032B"/>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EEEDF5"/>
                    </a:solidFill>
                  </a:tcPr>
                </a:tc>
                <a:tc>
                  <a:txBody>
                    <a:bodyPr/>
                    <a:lstStyle/>
                    <a:p>
                      <a:pPr indent="0" marL="0">
                        <a:buNone/>
                      </a:pPr>
                      <a:endParaRPr lang="en-US" sz="13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EEEDF5"/>
                    </a:solidFill>
                  </a:tcPr>
                </a:tc>
              </a:tr>
              <a:tr h="512064">
                <a:tc>
                  <a:txBody>
                    <a:bodyPr/>
                    <a:lstStyle/>
                    <a:p>
                      <a:pPr indent="0" marL="0">
                        <a:buNone/>
                      </a:pPr>
                      <a:r>
                        <a:rPr lang="en-US" sz="1300" b="1" dirty="0">
                          <a:solidFill>
                            <a:srgbClr val="0A032B"/>
                          </a:solidFill>
                          <a:latin typeface="Montserrat" pitchFamily="34" charset="0"/>
                          <a:ea typeface="Montserrat" pitchFamily="34" charset="-122"/>
                          <a:cs typeface="Montserrat" pitchFamily="34" charset="-120"/>
                        </a:rPr>
                        <a:t>Pieds</a:t>
                      </a:r>
                      <a:endParaRPr lang="en-US" sz="1300" dirty="0">
                        <a:latin typeface="Montserrat" charset="0"/>
                        <a:ea typeface="Montserrat" charset="0"/>
                        <a:cs typeface="Montserrat"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FFFFFF"/>
                    </a:solidFill>
                  </a:tcPr>
                </a:tc>
                <a:tc>
                  <a:txBody>
                    <a:bodyPr/>
                    <a:lstStyle/>
                    <a:p>
                      <a:pPr indent="0" marL="0">
                        <a:buNone/>
                      </a:pPr>
                      <a:r>
                        <a:rPr lang="en-US" sz="1300" dirty="0">
                          <a:solidFill>
                            <a:srgbClr val="35305C"/>
                          </a:solidFill>
                          <a:latin typeface="Arial" pitchFamily="34" charset="0"/>
                          <a:ea typeface="Arial" pitchFamily="34" charset="-122"/>
                          <a:cs typeface="Arial" pitchFamily="34" charset="-120"/>
                        </a:rPr>
                        <a:t>Écartés, un pied en avant, proches de la charge</a:t>
                      </a:r>
                      <a:endParaRPr lang="en-US" sz="13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A032B"/>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A032B"/>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FFFFFF"/>
                    </a:solidFill>
                  </a:tcPr>
                </a:tc>
                <a:tc>
                  <a:txBody>
                    <a:bodyPr/>
                    <a:lstStyle/>
                    <a:p>
                      <a:pPr indent="0" marL="0">
                        <a:buNone/>
                      </a:pPr>
                      <a:endParaRPr lang="en-US" sz="13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FFFFFF"/>
                    </a:solidFill>
                  </a:tcPr>
                </a:tc>
              </a:tr>
              <a:tr h="512064">
                <a:tc>
                  <a:txBody>
                    <a:bodyPr/>
                    <a:lstStyle/>
                    <a:p>
                      <a:pPr indent="0" marL="0">
                        <a:buNone/>
                      </a:pPr>
                      <a:r>
                        <a:rPr lang="en-US" sz="1300" b="1" dirty="0">
                          <a:solidFill>
                            <a:srgbClr val="0A032B"/>
                          </a:solidFill>
                          <a:latin typeface="Montserrat" pitchFamily="34" charset="0"/>
                          <a:ea typeface="Montserrat" pitchFamily="34" charset="-122"/>
                          <a:cs typeface="Montserrat" pitchFamily="34" charset="-120"/>
                        </a:rPr>
                        <a:t>Dos</a:t>
                      </a:r>
                      <a:endParaRPr lang="en-US" sz="1300" dirty="0">
                        <a:latin typeface="Montserrat" charset="0"/>
                        <a:ea typeface="Montserrat" charset="0"/>
                        <a:cs typeface="Montserrat"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EEEDF5"/>
                    </a:solidFill>
                  </a:tcPr>
                </a:tc>
                <a:tc>
                  <a:txBody>
                    <a:bodyPr/>
                    <a:lstStyle/>
                    <a:p>
                      <a:pPr indent="0" marL="0">
                        <a:buNone/>
                      </a:pPr>
                      <a:r>
                        <a:rPr lang="en-US" sz="1300" dirty="0">
                          <a:solidFill>
                            <a:srgbClr val="35305C"/>
                          </a:solidFill>
                          <a:latin typeface="Arial" pitchFamily="34" charset="0"/>
                          <a:ea typeface="Arial" pitchFamily="34" charset="-122"/>
                          <a:cs typeface="Arial" pitchFamily="34" charset="-120"/>
                        </a:rPr>
                        <a:t>Droit, courbures conservées, pas de torsion</a:t>
                      </a:r>
                      <a:endParaRPr lang="en-US" sz="13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EEEDF5"/>
                    </a:solidFill>
                  </a:tcPr>
                </a:tc>
                <a:tc>
                  <a:txBody>
                    <a:bodyPr/>
                    <a:lstStyle/>
                    <a:p>
                      <a:pPr algn="ctr" indent="0" marL="0">
                        <a:buNone/>
                      </a:pPr>
                      <a:r>
                        <a:rPr lang="en-US" sz="1300" dirty="0">
                          <a:solidFill>
                            <a:srgbClr val="0A032B"/>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EEEDF5"/>
                    </a:solidFill>
                  </a:tcPr>
                </a:tc>
                <a:tc>
                  <a:txBody>
                    <a:bodyPr/>
                    <a:lstStyle/>
                    <a:p>
                      <a:pPr algn="ctr" indent="0" marL="0">
                        <a:buNone/>
                      </a:pPr>
                      <a:r>
                        <a:rPr lang="en-US" sz="1300" dirty="0">
                          <a:solidFill>
                            <a:srgbClr val="0A032B"/>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EEEDF5"/>
                    </a:solidFill>
                  </a:tcPr>
                </a:tc>
                <a:tc>
                  <a:txBody>
                    <a:bodyPr/>
                    <a:lstStyle/>
                    <a:p>
                      <a:pPr indent="0" marL="0">
                        <a:buNone/>
                      </a:pPr>
                      <a:endParaRPr lang="en-US" sz="13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EEEDF5"/>
                    </a:solidFill>
                  </a:tcPr>
                </a:tc>
              </a:tr>
              <a:tr h="512064">
                <a:tc>
                  <a:txBody>
                    <a:bodyPr/>
                    <a:lstStyle/>
                    <a:p>
                      <a:pPr indent="0" marL="0">
                        <a:buNone/>
                      </a:pPr>
                      <a:r>
                        <a:rPr lang="en-US" sz="1300" b="1" dirty="0">
                          <a:solidFill>
                            <a:srgbClr val="0A032B"/>
                          </a:solidFill>
                          <a:latin typeface="Montserrat" pitchFamily="34" charset="0"/>
                          <a:ea typeface="Montserrat" pitchFamily="34" charset="-122"/>
                          <a:cs typeface="Montserrat" pitchFamily="34" charset="-120"/>
                        </a:rPr>
                        <a:t>Prise</a:t>
                      </a:r>
                      <a:endParaRPr lang="en-US" sz="1300" dirty="0">
                        <a:latin typeface="Montserrat" charset="0"/>
                        <a:ea typeface="Montserrat" charset="0"/>
                        <a:cs typeface="Montserrat"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FFFFFF"/>
                    </a:solidFill>
                  </a:tcPr>
                </a:tc>
                <a:tc>
                  <a:txBody>
                    <a:bodyPr/>
                    <a:lstStyle/>
                    <a:p>
                      <a:pPr indent="0" marL="0">
                        <a:buNone/>
                      </a:pPr>
                      <a:r>
                        <a:rPr lang="en-US" sz="1300" dirty="0">
                          <a:solidFill>
                            <a:srgbClr val="35305C"/>
                          </a:solidFill>
                          <a:latin typeface="Arial" pitchFamily="34" charset="0"/>
                          <a:ea typeface="Arial" pitchFamily="34" charset="-122"/>
                          <a:cs typeface="Arial" pitchFamily="34" charset="-120"/>
                        </a:rPr>
                        <a:t>Sûre, paume et doigts, charge collée au corps</a:t>
                      </a:r>
                      <a:endParaRPr lang="en-US" sz="13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A032B"/>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A032B"/>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FFFFFF"/>
                    </a:solidFill>
                  </a:tcPr>
                </a:tc>
                <a:tc>
                  <a:txBody>
                    <a:bodyPr/>
                    <a:lstStyle/>
                    <a:p>
                      <a:pPr indent="0" marL="0">
                        <a:buNone/>
                      </a:pPr>
                      <a:endParaRPr lang="en-US" sz="13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FFFFFF"/>
                    </a:solidFill>
                  </a:tcPr>
                </a:tc>
              </a:tr>
              <a:tr h="512064">
                <a:tc>
                  <a:txBody>
                    <a:bodyPr/>
                    <a:lstStyle/>
                    <a:p>
                      <a:pPr indent="0" marL="0">
                        <a:buNone/>
                      </a:pPr>
                      <a:r>
                        <a:rPr lang="en-US" sz="1300" b="1" dirty="0">
                          <a:solidFill>
                            <a:srgbClr val="0A032B"/>
                          </a:solidFill>
                          <a:latin typeface="Montserrat" pitchFamily="34" charset="0"/>
                          <a:ea typeface="Montserrat" pitchFamily="34" charset="-122"/>
                          <a:cs typeface="Montserrat" pitchFamily="34" charset="-120"/>
                        </a:rPr>
                        <a:t>Appui</a:t>
                      </a:r>
                      <a:endParaRPr lang="en-US" sz="1300" dirty="0">
                        <a:latin typeface="Montserrat" charset="0"/>
                        <a:ea typeface="Montserrat" charset="0"/>
                        <a:cs typeface="Montserrat"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EEEDF5"/>
                    </a:solidFill>
                  </a:tcPr>
                </a:tc>
                <a:tc>
                  <a:txBody>
                    <a:bodyPr/>
                    <a:lstStyle/>
                    <a:p>
                      <a:pPr indent="0" marL="0">
                        <a:buNone/>
                      </a:pPr>
                      <a:r>
                        <a:rPr lang="en-US" sz="1300" dirty="0">
                          <a:solidFill>
                            <a:srgbClr val="35305C"/>
                          </a:solidFill>
                          <a:latin typeface="Arial" pitchFamily="34" charset="0"/>
                          <a:ea typeface="Arial" pitchFamily="34" charset="-122"/>
                          <a:cs typeface="Arial" pitchFamily="34" charset="-120"/>
                        </a:rPr>
                        <a:t>Utilise cuisse, genou ou support</a:t>
                      </a:r>
                      <a:endParaRPr lang="en-US" sz="13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EEEDF5"/>
                    </a:solidFill>
                  </a:tcPr>
                </a:tc>
                <a:tc>
                  <a:txBody>
                    <a:bodyPr/>
                    <a:lstStyle/>
                    <a:p>
                      <a:pPr algn="ctr" indent="0" marL="0">
                        <a:buNone/>
                      </a:pPr>
                      <a:r>
                        <a:rPr lang="en-US" sz="1300" dirty="0">
                          <a:solidFill>
                            <a:srgbClr val="0A032B"/>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EEEDF5"/>
                    </a:solidFill>
                  </a:tcPr>
                </a:tc>
                <a:tc>
                  <a:txBody>
                    <a:bodyPr/>
                    <a:lstStyle/>
                    <a:p>
                      <a:pPr algn="ctr" indent="0" marL="0">
                        <a:buNone/>
                      </a:pPr>
                      <a:r>
                        <a:rPr lang="en-US" sz="1300" dirty="0">
                          <a:solidFill>
                            <a:srgbClr val="0A032B"/>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EEEDF5"/>
                    </a:solidFill>
                  </a:tcPr>
                </a:tc>
                <a:tc>
                  <a:txBody>
                    <a:bodyPr/>
                    <a:lstStyle/>
                    <a:p>
                      <a:pPr indent="0" marL="0">
                        <a:buNone/>
                      </a:pPr>
                      <a:endParaRPr lang="en-US" sz="13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EEEDF5"/>
                    </a:solidFill>
                  </a:tcPr>
                </a:tc>
              </a:tr>
              <a:tr h="512064">
                <a:tc>
                  <a:txBody>
                    <a:bodyPr/>
                    <a:lstStyle/>
                    <a:p>
                      <a:pPr indent="0" marL="0">
                        <a:buNone/>
                      </a:pPr>
                      <a:r>
                        <a:rPr lang="en-US" sz="1300" b="1" dirty="0">
                          <a:solidFill>
                            <a:srgbClr val="0A032B"/>
                          </a:solidFill>
                          <a:latin typeface="Montserrat" pitchFamily="34" charset="0"/>
                          <a:ea typeface="Montserrat" pitchFamily="34" charset="-122"/>
                          <a:cs typeface="Montserrat" pitchFamily="34" charset="-120"/>
                        </a:rPr>
                        <a:t>Contrepoids</a:t>
                      </a:r>
                      <a:endParaRPr lang="en-US" sz="1300" dirty="0">
                        <a:latin typeface="Montserrat" charset="0"/>
                        <a:ea typeface="Montserrat" charset="0"/>
                        <a:cs typeface="Montserrat"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FFFFFF"/>
                    </a:solidFill>
                  </a:tcPr>
                </a:tc>
                <a:tc>
                  <a:txBody>
                    <a:bodyPr/>
                    <a:lstStyle/>
                    <a:p>
                      <a:pPr indent="0" marL="0">
                        <a:buNone/>
                      </a:pPr>
                      <a:r>
                        <a:rPr lang="en-US" sz="1300" dirty="0">
                          <a:solidFill>
                            <a:srgbClr val="35305C"/>
                          </a:solidFill>
                          <a:latin typeface="Arial" pitchFamily="34" charset="0"/>
                          <a:ea typeface="Arial" pitchFamily="34" charset="-122"/>
                          <a:cs typeface="Arial" pitchFamily="34" charset="-120"/>
                        </a:rPr>
                        <a:t>Utilise le poids du corps</a:t>
                      </a:r>
                      <a:endParaRPr lang="en-US" sz="13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A032B"/>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A032B"/>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FFFFFF"/>
                    </a:solidFill>
                  </a:tcPr>
                </a:tc>
                <a:tc>
                  <a:txBody>
                    <a:bodyPr/>
                    <a:lstStyle/>
                    <a:p>
                      <a:pPr indent="0" marL="0">
                        <a:buNone/>
                      </a:pPr>
                      <a:endParaRPr lang="en-US" sz="13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FFFFFF"/>
                    </a:solidFill>
                  </a:tcPr>
                </a:tc>
              </a:tr>
              <a:tr h="512064">
                <a:tc>
                  <a:txBody>
                    <a:bodyPr/>
                    <a:lstStyle/>
                    <a:p>
                      <a:pPr indent="0" marL="0">
                        <a:buNone/>
                      </a:pPr>
                      <a:r>
                        <a:rPr lang="en-US" sz="1300" b="1" dirty="0">
                          <a:solidFill>
                            <a:srgbClr val="0A032B"/>
                          </a:solidFill>
                          <a:latin typeface="Montserrat" pitchFamily="34" charset="0"/>
                          <a:ea typeface="Montserrat" pitchFamily="34" charset="-122"/>
                          <a:cs typeface="Montserrat" pitchFamily="34" charset="-120"/>
                        </a:rPr>
                        <a:t>Trajectoire</a:t>
                      </a:r>
                      <a:endParaRPr lang="en-US" sz="1300" dirty="0">
                        <a:latin typeface="Montserrat" charset="0"/>
                        <a:ea typeface="Montserrat" charset="0"/>
                        <a:cs typeface="Montserrat"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EEEDF5"/>
                    </a:solidFill>
                  </a:tcPr>
                </a:tc>
                <a:tc>
                  <a:txBody>
                    <a:bodyPr/>
                    <a:lstStyle/>
                    <a:p>
                      <a:pPr indent="0" marL="0">
                        <a:buNone/>
                      </a:pPr>
                      <a:r>
                        <a:rPr lang="en-US" sz="1300" dirty="0">
                          <a:solidFill>
                            <a:srgbClr val="35305C"/>
                          </a:solidFill>
                          <a:latin typeface="Arial" pitchFamily="34" charset="0"/>
                          <a:ea typeface="Arial" pitchFamily="34" charset="-122"/>
                          <a:cs typeface="Arial" pitchFamily="34" charset="-120"/>
                        </a:rPr>
                        <a:t>Courte, fluide, pivote avec les pieds</a:t>
                      </a:r>
                      <a:endParaRPr lang="en-US" sz="13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EEEDF5"/>
                    </a:solidFill>
                  </a:tcPr>
                </a:tc>
                <a:tc>
                  <a:txBody>
                    <a:bodyPr/>
                    <a:lstStyle/>
                    <a:p>
                      <a:pPr algn="ctr" indent="0" marL="0">
                        <a:buNone/>
                      </a:pPr>
                      <a:r>
                        <a:rPr lang="en-US" sz="1300" dirty="0">
                          <a:solidFill>
                            <a:srgbClr val="0A032B"/>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EEEDF5"/>
                    </a:solidFill>
                  </a:tcPr>
                </a:tc>
                <a:tc>
                  <a:txBody>
                    <a:bodyPr/>
                    <a:lstStyle/>
                    <a:p>
                      <a:pPr algn="ctr" indent="0" marL="0">
                        <a:buNone/>
                      </a:pPr>
                      <a:r>
                        <a:rPr lang="en-US" sz="1300" dirty="0">
                          <a:solidFill>
                            <a:srgbClr val="0A032B"/>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EEEDF5"/>
                    </a:solidFill>
                  </a:tcPr>
                </a:tc>
                <a:tc>
                  <a:txBody>
                    <a:bodyPr/>
                    <a:lstStyle/>
                    <a:p>
                      <a:pPr indent="0" marL="0">
                        <a:buNone/>
                      </a:pPr>
                      <a:endParaRPr lang="en-US" sz="13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EEEDF5"/>
                    </a:solidFill>
                  </a:tcPr>
                </a:tc>
              </a:tr>
            </a:tbl>
          </a:graphicData>
        </a:graphic>
      </p:graphicFrame>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235440" cy="685800"/>
          </a:xfrm>
          <a:prstGeom prst="rect">
            <a:avLst/>
          </a:prstGeom>
          <a:noFill/>
          <a:ln/>
        </p:spPr>
        <p:txBody>
          <a:bodyPr wrap="square" lIns="0" tIns="0" rIns="0" bIns="0" rtlCol="0" anchor="ctr"/>
          <a:lstStyle/>
          <a:p>
            <a:pPr indent="0" marL="0">
              <a:buNone/>
            </a:pPr>
            <a:r>
              <a:rPr lang="en-US" sz="2800" b="1" dirty="0">
                <a:solidFill>
                  <a:srgbClr val="0A032B"/>
                </a:solidFill>
                <a:latin typeface="Montserrat" pitchFamily="34" charset="0"/>
                <a:ea typeface="Montserrat" pitchFamily="34" charset="-122"/>
                <a:cs typeface="Montserrat" pitchFamily="34" charset="-120"/>
              </a:rPr>
              <a:t>La manutention à deux</a:t>
            </a:r>
            <a:endParaRPr lang="en-US" sz="2800" dirty="0"/>
          </a:p>
        </p:txBody>
      </p:sp>
      <p:sp>
        <p:nvSpPr>
          <p:cNvPr id="3" name="Text 1"/>
          <p:cNvSpPr txBox="1"/>
          <p:nvPr/>
        </p:nvSpPr>
        <p:spPr>
          <a:xfrm>
            <a:off x="548640" y="1024128"/>
            <a:ext cx="9235440" cy="365760"/>
          </a:xfrm>
          <a:prstGeom prst="rect">
            <a:avLst/>
          </a:prstGeom>
          <a:noFill/>
          <a:ln/>
        </p:spPr>
        <p:txBody>
          <a:bodyPr wrap="square" lIns="0" tIns="0" rIns="0" bIns="0" rtlCol="0" anchor="ctr"/>
          <a:lstStyle/>
          <a:p>
            <a:pPr indent="0" marL="0">
              <a:buNone/>
            </a:pPr>
            <a:r>
              <a:rPr lang="en-US" sz="1400" i="1" dirty="0">
                <a:solidFill>
                  <a:srgbClr val="5E5A78"/>
                </a:solidFill>
                <a:latin typeface="Arial" pitchFamily="34" charset="0"/>
                <a:ea typeface="Arial" pitchFamily="34" charset="-122"/>
                <a:cs typeface="Arial" pitchFamily="34" charset="-120"/>
              </a:rPr>
              <a:t>Deux personnes, un seul geste : la réussite tient à la communication</a:t>
            </a:r>
            <a:endParaRPr lang="en-US" sz="1400" dirty="0"/>
          </a:p>
        </p:txBody>
      </p:sp>
      <p:sp>
        <p:nvSpPr>
          <p:cNvPr id="4" name="Shape 2"/>
          <p:cNvSpPr/>
          <p:nvPr/>
        </p:nvSpPr>
        <p:spPr>
          <a:xfrm>
            <a:off x="10042855" y="530352"/>
            <a:ext cx="1600200" cy="347472"/>
          </a:xfrm>
          <a:prstGeom prst="roundRect">
            <a:avLst>
              <a:gd name="adj" fmla="val 50000"/>
            </a:avLst>
          </a:prstGeom>
          <a:solidFill>
            <a:srgbClr val="0A032B"/>
          </a:solidFill>
          <a:ln w="12700">
            <a:solidFill>
              <a:srgbClr val="0A032B"/>
            </a:solidFill>
            <a:prstDash val="solid"/>
          </a:ln>
        </p:spPr>
      </p:sp>
      <p:sp>
        <p:nvSpPr>
          <p:cNvPr id="5" name="Text 3"/>
          <p:cNvSpPr txBox="1"/>
          <p:nvPr/>
        </p:nvSpPr>
        <p:spPr>
          <a:xfrm>
            <a:off x="10042855" y="530352"/>
            <a:ext cx="1600200" cy="347472"/>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Montserrat" pitchFamily="34" charset="0"/>
                <a:ea typeface="Montserrat" pitchFamily="34" charset="-122"/>
                <a:cs typeface="Montserrat" pitchFamily="34" charset="-120"/>
              </a:rPr>
              <a:t>THÉORIE</a:t>
            </a:r>
            <a:endParaRPr lang="en-US" sz="1100" dirty="0"/>
          </a:p>
        </p:txBody>
      </p:sp>
      <p:sp>
        <p:nvSpPr>
          <p:cNvPr id="6" name="Text 4"/>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5E5A78"/>
                </a:solidFill>
                <a:latin typeface="Arial" pitchFamily="34" charset="0"/>
                <a:ea typeface="Arial" pitchFamily="34" charset="-122"/>
                <a:cs typeface="Arial" pitchFamily="34" charset="-120"/>
              </a:rPr>
              <a:t>Gestes et postures de l'élu  ·  Séquence 3</a:t>
            </a:r>
            <a:endParaRPr lang="en-US" sz="900" dirty="0"/>
          </a:p>
        </p:txBody>
      </p:sp>
      <p:pic>
        <p:nvPicPr>
          <p:cNvPr id="7" name="Image 0" descr="logo_light.png">    </p:cNvPr>
          <p:cNvPicPr>
            <a:picLocks noChangeAspect="1"/>
          </p:cNvPicPr>
          <p:nvPr/>
        </p:nvPicPr>
        <p:blipFill>
          <a:blip r:embed="rId1"/>
          <a:stretch>
            <a:fillRect/>
          </a:stretch>
        </p:blipFill>
        <p:spPr>
          <a:xfrm>
            <a:off x="10682935" y="6236208"/>
            <a:ext cx="960120" cy="398441"/>
          </a:xfrm>
          <a:prstGeom prst="rect">
            <a:avLst/>
          </a:prstGeom>
        </p:spPr>
      </p:pic>
      <p:sp>
        <p:nvSpPr>
          <p:cNvPr id="8" name="Shape 5"/>
          <p:cNvSpPr/>
          <p:nvPr/>
        </p:nvSpPr>
        <p:spPr>
          <a:xfrm>
            <a:off x="548640" y="1600200"/>
            <a:ext cx="3337560" cy="2080260"/>
          </a:xfrm>
          <a:prstGeom prst="roundRect">
            <a:avLst>
              <a:gd name="adj" fmla="val 3516"/>
            </a:avLst>
          </a:prstGeom>
          <a:solidFill>
            <a:srgbClr val="EEEDF5"/>
          </a:solidFill>
          <a:ln w="12700">
            <a:solidFill>
              <a:srgbClr val="EEEDF5"/>
            </a:solidFill>
            <a:prstDash val="solid"/>
          </a:ln>
        </p:spPr>
      </p:sp>
      <p:sp>
        <p:nvSpPr>
          <p:cNvPr id="9" name="Shape 6"/>
          <p:cNvSpPr/>
          <p:nvPr/>
        </p:nvSpPr>
        <p:spPr>
          <a:xfrm>
            <a:off x="777240" y="1828800"/>
            <a:ext cx="548640" cy="548640"/>
          </a:xfrm>
          <a:prstGeom prst="ellipse">
            <a:avLst/>
          </a:prstGeom>
          <a:solidFill>
            <a:srgbClr val="0A032B"/>
          </a:solidFill>
          <a:ln w="12700">
            <a:solidFill>
              <a:srgbClr val="0A032B"/>
            </a:solidFill>
            <a:prstDash val="solid"/>
          </a:ln>
        </p:spPr>
      </p:sp>
      <p:pic>
        <p:nvPicPr>
          <p:cNvPr id="10" name="Image 1" descr="preencoded.png">    </p:cNvPr>
          <p:cNvPicPr>
            <a:picLocks noChangeAspect="1"/>
          </p:cNvPicPr>
          <p:nvPr/>
        </p:nvPicPr>
        <p:blipFill>
          <a:blip r:embed="rId2"/>
          <a:stretch>
            <a:fillRect/>
          </a:stretch>
        </p:blipFill>
        <p:spPr>
          <a:xfrm>
            <a:off x="914400" y="1965960"/>
            <a:ext cx="274320" cy="274320"/>
          </a:xfrm>
          <a:prstGeom prst="rect">
            <a:avLst/>
          </a:prstGeom>
        </p:spPr>
      </p:pic>
      <p:sp>
        <p:nvSpPr>
          <p:cNvPr id="11" name="Text 7"/>
          <p:cNvSpPr txBox="1"/>
          <p:nvPr/>
        </p:nvSpPr>
        <p:spPr>
          <a:xfrm>
            <a:off x="1508760" y="1828800"/>
            <a:ext cx="2148840" cy="5486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Un meneur</a:t>
            </a:r>
            <a:endParaRPr lang="en-US" sz="1500" dirty="0"/>
          </a:p>
        </p:txBody>
      </p:sp>
      <p:sp>
        <p:nvSpPr>
          <p:cNvPr id="12" name="Text 8"/>
          <p:cNvSpPr txBox="1"/>
          <p:nvPr/>
        </p:nvSpPr>
        <p:spPr>
          <a:xfrm>
            <a:off x="777240" y="2514600"/>
            <a:ext cx="2880360" cy="1028700"/>
          </a:xfrm>
          <a:prstGeom prst="rect">
            <a:avLst/>
          </a:prstGeom>
          <a:noFill/>
          <a:ln/>
        </p:spPr>
        <p:txBody>
          <a:bodyPr wrap="square" lIns="0" tIns="0" rIns="0" bIns="0" rtlCol="0" anchor="t"/>
          <a:lstStyle/>
          <a:p>
            <a:pPr indent="0" marL="0">
              <a:buNone/>
            </a:pPr>
            <a:r>
              <a:rPr lang="en-US" sz="1300" dirty="0">
                <a:solidFill>
                  <a:srgbClr val="35305C"/>
                </a:solidFill>
                <a:latin typeface="Arial" pitchFamily="34" charset="0"/>
                <a:ea typeface="Arial" pitchFamily="34" charset="-122"/>
                <a:cs typeface="Arial" pitchFamily="34" charset="-120"/>
              </a:rPr>
              <a:t>Une seule personne donne les ordres. Elle est placée là où elle voit le mieux le trajet.</a:t>
            </a:r>
            <a:endParaRPr lang="en-US" sz="1300" dirty="0"/>
          </a:p>
        </p:txBody>
      </p:sp>
      <p:sp>
        <p:nvSpPr>
          <p:cNvPr id="13" name="Shape 9"/>
          <p:cNvSpPr/>
          <p:nvPr/>
        </p:nvSpPr>
        <p:spPr>
          <a:xfrm>
            <a:off x="4160520" y="1600200"/>
            <a:ext cx="3337560" cy="2080260"/>
          </a:xfrm>
          <a:prstGeom prst="roundRect">
            <a:avLst>
              <a:gd name="adj" fmla="val 3516"/>
            </a:avLst>
          </a:prstGeom>
          <a:solidFill>
            <a:srgbClr val="EEEDF5"/>
          </a:solidFill>
          <a:ln w="12700">
            <a:solidFill>
              <a:srgbClr val="EEEDF5"/>
            </a:solidFill>
            <a:prstDash val="solid"/>
          </a:ln>
        </p:spPr>
      </p:sp>
      <p:sp>
        <p:nvSpPr>
          <p:cNvPr id="14" name="Shape 10"/>
          <p:cNvSpPr/>
          <p:nvPr/>
        </p:nvSpPr>
        <p:spPr>
          <a:xfrm>
            <a:off x="4389120" y="1828800"/>
            <a:ext cx="548640" cy="548640"/>
          </a:xfrm>
          <a:prstGeom prst="ellipse">
            <a:avLst/>
          </a:prstGeom>
          <a:solidFill>
            <a:srgbClr val="0A032B"/>
          </a:solidFill>
          <a:ln w="12700">
            <a:solidFill>
              <a:srgbClr val="0A032B"/>
            </a:solidFill>
            <a:prstDash val="solid"/>
          </a:ln>
        </p:spPr>
      </p:sp>
      <p:pic>
        <p:nvPicPr>
          <p:cNvPr id="15" name="Image 2" descr="preencoded.png">    </p:cNvPr>
          <p:cNvPicPr>
            <a:picLocks noChangeAspect="1"/>
          </p:cNvPicPr>
          <p:nvPr/>
        </p:nvPicPr>
        <p:blipFill>
          <a:blip r:embed="rId3"/>
          <a:stretch>
            <a:fillRect/>
          </a:stretch>
        </p:blipFill>
        <p:spPr>
          <a:xfrm>
            <a:off x="4526280" y="1965960"/>
            <a:ext cx="274320" cy="274320"/>
          </a:xfrm>
          <a:prstGeom prst="rect">
            <a:avLst/>
          </a:prstGeom>
        </p:spPr>
      </p:pic>
      <p:sp>
        <p:nvSpPr>
          <p:cNvPr id="16" name="Text 11"/>
          <p:cNvSpPr txBox="1"/>
          <p:nvPr/>
        </p:nvSpPr>
        <p:spPr>
          <a:xfrm>
            <a:off x="5120640" y="1828800"/>
            <a:ext cx="2148840" cy="5486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Des annonces claires</a:t>
            </a:r>
            <a:endParaRPr lang="en-US" sz="1500" dirty="0"/>
          </a:p>
        </p:txBody>
      </p:sp>
      <p:sp>
        <p:nvSpPr>
          <p:cNvPr id="17" name="Text 12"/>
          <p:cNvSpPr txBox="1"/>
          <p:nvPr/>
        </p:nvSpPr>
        <p:spPr>
          <a:xfrm>
            <a:off x="4389120" y="2514600"/>
            <a:ext cx="2880360" cy="1028700"/>
          </a:xfrm>
          <a:prstGeom prst="rect">
            <a:avLst/>
          </a:prstGeom>
          <a:noFill/>
          <a:ln/>
        </p:spPr>
        <p:txBody>
          <a:bodyPr wrap="square" lIns="0" tIns="0" rIns="0" bIns="0" rtlCol="0" anchor="t"/>
          <a:lstStyle/>
          <a:p>
            <a:pPr indent="0" marL="0">
              <a:buNone/>
            </a:pPr>
            <a:r>
              <a:rPr lang="en-US" sz="1300" dirty="0">
                <a:solidFill>
                  <a:srgbClr val="35305C"/>
                </a:solidFill>
                <a:latin typeface="Arial" pitchFamily="34" charset="0"/>
                <a:ea typeface="Arial" pitchFamily="34" charset="-122"/>
                <a:cs typeface="Arial" pitchFamily="34" charset="-120"/>
              </a:rPr>
              <a:t>« Prêt ? … On soulève. » « On avance. » « Stop. » « On pose. »</a:t>
            </a:r>
            <a:endParaRPr lang="en-US" sz="1300" dirty="0"/>
          </a:p>
        </p:txBody>
      </p:sp>
      <p:sp>
        <p:nvSpPr>
          <p:cNvPr id="18" name="Shape 13"/>
          <p:cNvSpPr/>
          <p:nvPr/>
        </p:nvSpPr>
        <p:spPr>
          <a:xfrm>
            <a:off x="548640" y="3954780"/>
            <a:ext cx="3337560" cy="2080260"/>
          </a:xfrm>
          <a:prstGeom prst="roundRect">
            <a:avLst>
              <a:gd name="adj" fmla="val 3516"/>
            </a:avLst>
          </a:prstGeom>
          <a:solidFill>
            <a:srgbClr val="EEEDF5"/>
          </a:solidFill>
          <a:ln w="12700">
            <a:solidFill>
              <a:srgbClr val="EEEDF5"/>
            </a:solidFill>
            <a:prstDash val="solid"/>
          </a:ln>
        </p:spPr>
      </p:sp>
      <p:sp>
        <p:nvSpPr>
          <p:cNvPr id="19" name="Shape 14"/>
          <p:cNvSpPr/>
          <p:nvPr/>
        </p:nvSpPr>
        <p:spPr>
          <a:xfrm>
            <a:off x="777240" y="4183380"/>
            <a:ext cx="548640" cy="548640"/>
          </a:xfrm>
          <a:prstGeom prst="ellipse">
            <a:avLst/>
          </a:prstGeom>
          <a:solidFill>
            <a:srgbClr val="0A032B"/>
          </a:solidFill>
          <a:ln w="12700">
            <a:solidFill>
              <a:srgbClr val="0A032B"/>
            </a:solidFill>
            <a:prstDash val="solid"/>
          </a:ln>
        </p:spPr>
      </p:sp>
      <p:pic>
        <p:nvPicPr>
          <p:cNvPr id="20" name="Image 3" descr="preencoded.png">    </p:cNvPr>
          <p:cNvPicPr>
            <a:picLocks noChangeAspect="1"/>
          </p:cNvPicPr>
          <p:nvPr/>
        </p:nvPicPr>
        <p:blipFill>
          <a:blip r:embed="rId4"/>
          <a:stretch>
            <a:fillRect/>
          </a:stretch>
        </p:blipFill>
        <p:spPr>
          <a:xfrm>
            <a:off x="914400" y="4320540"/>
            <a:ext cx="274320" cy="274320"/>
          </a:xfrm>
          <a:prstGeom prst="rect">
            <a:avLst/>
          </a:prstGeom>
        </p:spPr>
      </p:pic>
      <p:sp>
        <p:nvSpPr>
          <p:cNvPr id="21" name="Text 15"/>
          <p:cNvSpPr txBox="1"/>
          <p:nvPr/>
        </p:nvSpPr>
        <p:spPr>
          <a:xfrm>
            <a:off x="1508760" y="4183380"/>
            <a:ext cx="2148840" cy="5486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Des gestes synchronisés</a:t>
            </a:r>
            <a:endParaRPr lang="en-US" sz="1500" dirty="0"/>
          </a:p>
        </p:txBody>
      </p:sp>
      <p:sp>
        <p:nvSpPr>
          <p:cNvPr id="22" name="Text 16"/>
          <p:cNvSpPr txBox="1"/>
          <p:nvPr/>
        </p:nvSpPr>
        <p:spPr>
          <a:xfrm>
            <a:off x="777240" y="4869180"/>
            <a:ext cx="2880360" cy="1028700"/>
          </a:xfrm>
          <a:prstGeom prst="rect">
            <a:avLst/>
          </a:prstGeom>
          <a:noFill/>
          <a:ln/>
        </p:spPr>
        <p:txBody>
          <a:bodyPr wrap="square" lIns="0" tIns="0" rIns="0" bIns="0" rtlCol="0" anchor="t"/>
          <a:lstStyle/>
          <a:p>
            <a:pPr indent="0" marL="0">
              <a:buNone/>
            </a:pPr>
            <a:r>
              <a:rPr lang="en-US" sz="1300" dirty="0">
                <a:solidFill>
                  <a:srgbClr val="35305C"/>
                </a:solidFill>
                <a:latin typeface="Arial" pitchFamily="34" charset="0"/>
                <a:ea typeface="Arial" pitchFamily="34" charset="-122"/>
                <a:cs typeface="Arial" pitchFamily="34" charset="-120"/>
              </a:rPr>
              <a:t>Même rythme, même hauteur, départ du même pied, pas de mouvement brusque.</a:t>
            </a:r>
            <a:endParaRPr lang="en-US" sz="1300" dirty="0"/>
          </a:p>
        </p:txBody>
      </p:sp>
      <p:sp>
        <p:nvSpPr>
          <p:cNvPr id="23" name="Shape 17"/>
          <p:cNvSpPr/>
          <p:nvPr/>
        </p:nvSpPr>
        <p:spPr>
          <a:xfrm>
            <a:off x="4160520" y="3954780"/>
            <a:ext cx="3337560" cy="2080260"/>
          </a:xfrm>
          <a:prstGeom prst="roundRect">
            <a:avLst>
              <a:gd name="adj" fmla="val 3516"/>
            </a:avLst>
          </a:prstGeom>
          <a:solidFill>
            <a:srgbClr val="EEEDF5"/>
          </a:solidFill>
          <a:ln w="12700">
            <a:solidFill>
              <a:srgbClr val="EEEDF5"/>
            </a:solidFill>
            <a:prstDash val="solid"/>
          </a:ln>
        </p:spPr>
      </p:sp>
      <p:sp>
        <p:nvSpPr>
          <p:cNvPr id="24" name="Shape 18"/>
          <p:cNvSpPr/>
          <p:nvPr/>
        </p:nvSpPr>
        <p:spPr>
          <a:xfrm>
            <a:off x="4389120" y="4183380"/>
            <a:ext cx="548640" cy="548640"/>
          </a:xfrm>
          <a:prstGeom prst="ellipse">
            <a:avLst/>
          </a:prstGeom>
          <a:solidFill>
            <a:srgbClr val="0A032B"/>
          </a:solidFill>
          <a:ln w="12700">
            <a:solidFill>
              <a:srgbClr val="0A032B"/>
            </a:solidFill>
            <a:prstDash val="solid"/>
          </a:ln>
        </p:spPr>
      </p:sp>
      <p:pic>
        <p:nvPicPr>
          <p:cNvPr id="25" name="Image 4" descr="preencoded.png">    </p:cNvPr>
          <p:cNvPicPr>
            <a:picLocks noChangeAspect="1"/>
          </p:cNvPicPr>
          <p:nvPr/>
        </p:nvPicPr>
        <p:blipFill>
          <a:blip r:embed="rId5"/>
          <a:stretch>
            <a:fillRect/>
          </a:stretch>
        </p:blipFill>
        <p:spPr>
          <a:xfrm>
            <a:off x="4526280" y="4320540"/>
            <a:ext cx="274320" cy="274320"/>
          </a:xfrm>
          <a:prstGeom prst="rect">
            <a:avLst/>
          </a:prstGeom>
        </p:spPr>
      </p:pic>
      <p:sp>
        <p:nvSpPr>
          <p:cNvPr id="26" name="Text 19"/>
          <p:cNvSpPr txBox="1"/>
          <p:nvPr/>
        </p:nvSpPr>
        <p:spPr>
          <a:xfrm>
            <a:off x="5120640" y="4183380"/>
            <a:ext cx="2148840" cy="5486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Une charge partagée</a:t>
            </a:r>
            <a:endParaRPr lang="en-US" sz="1500" dirty="0"/>
          </a:p>
        </p:txBody>
      </p:sp>
      <p:sp>
        <p:nvSpPr>
          <p:cNvPr id="27" name="Text 20"/>
          <p:cNvSpPr txBox="1"/>
          <p:nvPr/>
        </p:nvSpPr>
        <p:spPr>
          <a:xfrm>
            <a:off x="4389120" y="4869180"/>
            <a:ext cx="2880360" cy="1028700"/>
          </a:xfrm>
          <a:prstGeom prst="rect">
            <a:avLst/>
          </a:prstGeom>
          <a:noFill/>
          <a:ln/>
        </p:spPr>
        <p:txBody>
          <a:bodyPr wrap="square" lIns="0" tIns="0" rIns="0" bIns="0" rtlCol="0" anchor="t"/>
          <a:lstStyle/>
          <a:p>
            <a:pPr indent="0" marL="0">
              <a:buNone/>
            </a:pPr>
            <a:r>
              <a:rPr lang="en-US" sz="1300" dirty="0">
                <a:solidFill>
                  <a:srgbClr val="35305C"/>
                </a:solidFill>
                <a:latin typeface="Arial" pitchFamily="34" charset="0"/>
                <a:ea typeface="Arial" pitchFamily="34" charset="-122"/>
                <a:cs typeface="Arial" pitchFamily="34" charset="-120"/>
              </a:rPr>
              <a:t>Porteurs de taille proche si possible. Le plus fort côté le plus lourd.</a:t>
            </a:r>
            <a:endParaRPr lang="en-US" sz="1300" dirty="0"/>
          </a:p>
        </p:txBody>
      </p:sp>
      <p:sp>
        <p:nvSpPr>
          <p:cNvPr id="28" name="Shape 21"/>
          <p:cNvSpPr/>
          <p:nvPr/>
        </p:nvSpPr>
        <p:spPr>
          <a:xfrm>
            <a:off x="7818120" y="1600200"/>
            <a:ext cx="3824935" cy="4434840"/>
          </a:xfrm>
          <a:prstGeom prst="roundRect">
            <a:avLst>
              <a:gd name="adj" fmla="val 1913"/>
            </a:avLst>
          </a:prstGeom>
          <a:solidFill>
            <a:srgbClr val="0A032B"/>
          </a:solidFill>
          <a:ln w="12700">
            <a:solidFill>
              <a:srgbClr val="0A032B"/>
            </a:solidFill>
            <a:prstDash val="solid"/>
          </a:ln>
        </p:spPr>
      </p:sp>
      <p:sp>
        <p:nvSpPr>
          <p:cNvPr id="29" name="Text 22"/>
          <p:cNvSpPr txBox="1"/>
          <p:nvPr/>
        </p:nvSpPr>
        <p:spPr>
          <a:xfrm>
            <a:off x="8092440" y="1828800"/>
            <a:ext cx="3276295" cy="457200"/>
          </a:xfrm>
          <a:prstGeom prst="rect">
            <a:avLst/>
          </a:prstGeom>
          <a:noFill/>
          <a:ln/>
        </p:spPr>
        <p:txBody>
          <a:bodyPr wrap="square" lIns="0" tIns="0" rIns="0" bIns="0" rtlCol="0" anchor="ctr"/>
          <a:lstStyle/>
          <a:p>
            <a:pPr indent="0" marL="0">
              <a:buNone/>
            </a:pPr>
            <a:r>
              <a:rPr lang="en-US" sz="1800" b="1" dirty="0">
                <a:solidFill>
                  <a:srgbClr val="F0EF96"/>
                </a:solidFill>
                <a:latin typeface="Montserrat" pitchFamily="34" charset="0"/>
                <a:ea typeface="Montserrat" pitchFamily="34" charset="-122"/>
                <a:cs typeface="Montserrat" pitchFamily="34" charset="-120"/>
              </a:rPr>
              <a:t>Les 4 annonces</a:t>
            </a:r>
            <a:endParaRPr lang="en-US" sz="1800" dirty="0"/>
          </a:p>
        </p:txBody>
      </p:sp>
      <p:sp>
        <p:nvSpPr>
          <p:cNvPr id="30" name="Shape 23"/>
          <p:cNvSpPr/>
          <p:nvPr/>
        </p:nvSpPr>
        <p:spPr>
          <a:xfrm>
            <a:off x="8092440" y="2514600"/>
            <a:ext cx="457200" cy="457200"/>
          </a:xfrm>
          <a:prstGeom prst="ellipse">
            <a:avLst/>
          </a:prstGeom>
          <a:solidFill>
            <a:srgbClr val="F0EF96"/>
          </a:solidFill>
          <a:ln w="12700">
            <a:solidFill>
              <a:srgbClr val="F0EF96"/>
            </a:solidFill>
            <a:prstDash val="solid"/>
          </a:ln>
        </p:spPr>
      </p:sp>
      <p:sp>
        <p:nvSpPr>
          <p:cNvPr id="31" name="Text 24"/>
          <p:cNvSpPr txBox="1"/>
          <p:nvPr/>
        </p:nvSpPr>
        <p:spPr>
          <a:xfrm>
            <a:off x="8092440" y="2514600"/>
            <a:ext cx="457200" cy="457200"/>
          </a:xfrm>
          <a:prstGeom prst="rect">
            <a:avLst/>
          </a:prstGeom>
          <a:noFill/>
          <a:ln/>
        </p:spPr>
        <p:txBody>
          <a:bodyPr wrap="square" lIns="0" tIns="0" rIns="0" bIns="0" rtlCol="0" anchor="ctr"/>
          <a:lstStyle/>
          <a:p>
            <a:pPr algn="ctr" indent="0" marL="0">
              <a:buNone/>
            </a:pPr>
            <a:r>
              <a:rPr lang="en-US" sz="1300" b="1" dirty="0">
                <a:solidFill>
                  <a:srgbClr val="0A032B"/>
                </a:solidFill>
                <a:latin typeface="Montserrat" pitchFamily="34" charset="0"/>
                <a:ea typeface="Montserrat" pitchFamily="34" charset="-122"/>
                <a:cs typeface="Montserrat" pitchFamily="34" charset="-120"/>
              </a:rPr>
              <a:t>1</a:t>
            </a:r>
            <a:endParaRPr lang="en-US" sz="1300" dirty="0"/>
          </a:p>
        </p:txBody>
      </p:sp>
      <p:sp>
        <p:nvSpPr>
          <p:cNvPr id="32" name="Text 25"/>
          <p:cNvSpPr txBox="1"/>
          <p:nvPr/>
        </p:nvSpPr>
        <p:spPr>
          <a:xfrm>
            <a:off x="8732520" y="2514600"/>
            <a:ext cx="2773375" cy="45720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 Attention… prêts ? »</a:t>
            </a:r>
            <a:endParaRPr lang="en-US" sz="1500" dirty="0"/>
          </a:p>
        </p:txBody>
      </p:sp>
      <p:sp>
        <p:nvSpPr>
          <p:cNvPr id="33" name="Shape 26"/>
          <p:cNvSpPr/>
          <p:nvPr/>
        </p:nvSpPr>
        <p:spPr>
          <a:xfrm>
            <a:off x="8092440" y="3337560"/>
            <a:ext cx="457200" cy="457200"/>
          </a:xfrm>
          <a:prstGeom prst="ellipse">
            <a:avLst/>
          </a:prstGeom>
          <a:solidFill>
            <a:srgbClr val="F0EF96"/>
          </a:solidFill>
          <a:ln w="12700">
            <a:solidFill>
              <a:srgbClr val="F0EF96"/>
            </a:solidFill>
            <a:prstDash val="solid"/>
          </a:ln>
        </p:spPr>
      </p:sp>
      <p:sp>
        <p:nvSpPr>
          <p:cNvPr id="34" name="Text 27"/>
          <p:cNvSpPr txBox="1"/>
          <p:nvPr/>
        </p:nvSpPr>
        <p:spPr>
          <a:xfrm>
            <a:off x="8092440" y="3337560"/>
            <a:ext cx="457200" cy="457200"/>
          </a:xfrm>
          <a:prstGeom prst="rect">
            <a:avLst/>
          </a:prstGeom>
          <a:noFill/>
          <a:ln/>
        </p:spPr>
        <p:txBody>
          <a:bodyPr wrap="square" lIns="0" tIns="0" rIns="0" bIns="0" rtlCol="0" anchor="ctr"/>
          <a:lstStyle/>
          <a:p>
            <a:pPr algn="ctr" indent="0" marL="0">
              <a:buNone/>
            </a:pPr>
            <a:r>
              <a:rPr lang="en-US" sz="1300" b="1" dirty="0">
                <a:solidFill>
                  <a:srgbClr val="0A032B"/>
                </a:solidFill>
                <a:latin typeface="Montserrat" pitchFamily="34" charset="0"/>
                <a:ea typeface="Montserrat" pitchFamily="34" charset="-122"/>
                <a:cs typeface="Montserrat" pitchFamily="34" charset="-120"/>
              </a:rPr>
              <a:t>2</a:t>
            </a:r>
            <a:endParaRPr lang="en-US" sz="1300" dirty="0"/>
          </a:p>
        </p:txBody>
      </p:sp>
      <p:sp>
        <p:nvSpPr>
          <p:cNvPr id="35" name="Text 28"/>
          <p:cNvSpPr txBox="1"/>
          <p:nvPr/>
        </p:nvSpPr>
        <p:spPr>
          <a:xfrm>
            <a:off x="8732520" y="3337560"/>
            <a:ext cx="2773375" cy="45720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 On soulève ! »</a:t>
            </a:r>
            <a:endParaRPr lang="en-US" sz="1500" dirty="0"/>
          </a:p>
        </p:txBody>
      </p:sp>
      <p:sp>
        <p:nvSpPr>
          <p:cNvPr id="36" name="Shape 29"/>
          <p:cNvSpPr/>
          <p:nvPr/>
        </p:nvSpPr>
        <p:spPr>
          <a:xfrm>
            <a:off x="8092440" y="4160520"/>
            <a:ext cx="457200" cy="457200"/>
          </a:xfrm>
          <a:prstGeom prst="ellipse">
            <a:avLst/>
          </a:prstGeom>
          <a:solidFill>
            <a:srgbClr val="F0EF96"/>
          </a:solidFill>
          <a:ln w="12700">
            <a:solidFill>
              <a:srgbClr val="F0EF96"/>
            </a:solidFill>
            <a:prstDash val="solid"/>
          </a:ln>
        </p:spPr>
      </p:sp>
      <p:sp>
        <p:nvSpPr>
          <p:cNvPr id="37" name="Text 30"/>
          <p:cNvSpPr txBox="1"/>
          <p:nvPr/>
        </p:nvSpPr>
        <p:spPr>
          <a:xfrm>
            <a:off x="8092440" y="4160520"/>
            <a:ext cx="457200" cy="457200"/>
          </a:xfrm>
          <a:prstGeom prst="rect">
            <a:avLst/>
          </a:prstGeom>
          <a:noFill/>
          <a:ln/>
        </p:spPr>
        <p:txBody>
          <a:bodyPr wrap="square" lIns="0" tIns="0" rIns="0" bIns="0" rtlCol="0" anchor="ctr"/>
          <a:lstStyle/>
          <a:p>
            <a:pPr algn="ctr" indent="0" marL="0">
              <a:buNone/>
            </a:pPr>
            <a:r>
              <a:rPr lang="en-US" sz="1300" b="1" dirty="0">
                <a:solidFill>
                  <a:srgbClr val="0A032B"/>
                </a:solidFill>
                <a:latin typeface="Montserrat" pitchFamily="34" charset="0"/>
                <a:ea typeface="Montserrat" pitchFamily="34" charset="-122"/>
                <a:cs typeface="Montserrat" pitchFamily="34" charset="-120"/>
              </a:rPr>
              <a:t>3</a:t>
            </a:r>
            <a:endParaRPr lang="en-US" sz="1300" dirty="0"/>
          </a:p>
        </p:txBody>
      </p:sp>
      <p:sp>
        <p:nvSpPr>
          <p:cNvPr id="38" name="Text 31"/>
          <p:cNvSpPr txBox="1"/>
          <p:nvPr/>
        </p:nvSpPr>
        <p:spPr>
          <a:xfrm>
            <a:off x="8732520" y="4160520"/>
            <a:ext cx="2773375" cy="45720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 On avance… stop ! »</a:t>
            </a:r>
            <a:endParaRPr lang="en-US" sz="1500" dirty="0"/>
          </a:p>
        </p:txBody>
      </p:sp>
      <p:sp>
        <p:nvSpPr>
          <p:cNvPr id="39" name="Shape 32"/>
          <p:cNvSpPr/>
          <p:nvPr/>
        </p:nvSpPr>
        <p:spPr>
          <a:xfrm>
            <a:off x="8092440" y="4983480"/>
            <a:ext cx="457200" cy="457200"/>
          </a:xfrm>
          <a:prstGeom prst="ellipse">
            <a:avLst/>
          </a:prstGeom>
          <a:solidFill>
            <a:srgbClr val="F0EF96"/>
          </a:solidFill>
          <a:ln w="12700">
            <a:solidFill>
              <a:srgbClr val="F0EF96"/>
            </a:solidFill>
            <a:prstDash val="solid"/>
          </a:ln>
        </p:spPr>
      </p:sp>
      <p:sp>
        <p:nvSpPr>
          <p:cNvPr id="40" name="Text 33"/>
          <p:cNvSpPr txBox="1"/>
          <p:nvPr/>
        </p:nvSpPr>
        <p:spPr>
          <a:xfrm>
            <a:off x="8092440" y="4983480"/>
            <a:ext cx="457200" cy="457200"/>
          </a:xfrm>
          <a:prstGeom prst="rect">
            <a:avLst/>
          </a:prstGeom>
          <a:noFill/>
          <a:ln/>
        </p:spPr>
        <p:txBody>
          <a:bodyPr wrap="square" lIns="0" tIns="0" rIns="0" bIns="0" rtlCol="0" anchor="ctr"/>
          <a:lstStyle/>
          <a:p>
            <a:pPr algn="ctr" indent="0" marL="0">
              <a:buNone/>
            </a:pPr>
            <a:r>
              <a:rPr lang="en-US" sz="1300" b="1" dirty="0">
                <a:solidFill>
                  <a:srgbClr val="0A032B"/>
                </a:solidFill>
                <a:latin typeface="Montserrat" pitchFamily="34" charset="0"/>
                <a:ea typeface="Montserrat" pitchFamily="34" charset="-122"/>
                <a:cs typeface="Montserrat" pitchFamily="34" charset="-120"/>
              </a:rPr>
              <a:t>4</a:t>
            </a:r>
            <a:endParaRPr lang="en-US" sz="1300" dirty="0"/>
          </a:p>
        </p:txBody>
      </p:sp>
      <p:sp>
        <p:nvSpPr>
          <p:cNvPr id="41" name="Text 34"/>
          <p:cNvSpPr txBox="1"/>
          <p:nvPr/>
        </p:nvSpPr>
        <p:spPr>
          <a:xfrm>
            <a:off x="8732520" y="4983480"/>
            <a:ext cx="2773375" cy="45720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 On pose ! »</a:t>
            </a:r>
            <a:endParaRPr lang="en-US" sz="1500" dirty="0"/>
          </a:p>
        </p:txBody>
      </p:sp>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14800" cy="6858000"/>
          </a:xfrm>
          <a:prstGeom prst="rect">
            <a:avLst/>
          </a:prstGeom>
          <a:solidFill>
            <a:srgbClr val="F0EF96"/>
          </a:solidFill>
          <a:ln w="12700">
            <a:solidFill>
              <a:srgbClr val="F0EF96"/>
            </a:solidFill>
            <a:prstDash val="solid"/>
          </a:ln>
        </p:spPr>
      </p:sp>
      <p:sp>
        <p:nvSpPr>
          <p:cNvPr id="3" name="Shape 1"/>
          <p:cNvSpPr/>
          <p:nvPr/>
        </p:nvSpPr>
        <p:spPr>
          <a:xfrm>
            <a:off x="548640" y="502920"/>
            <a:ext cx="1600200" cy="347472"/>
          </a:xfrm>
          <a:prstGeom prst="roundRect">
            <a:avLst>
              <a:gd name="adj" fmla="val 50000"/>
            </a:avLst>
          </a:prstGeom>
          <a:solidFill>
            <a:srgbClr val="F0EF96"/>
          </a:solidFill>
          <a:ln w="12700">
            <a:solidFill>
              <a:srgbClr val="F0EF96"/>
            </a:solidFill>
            <a:prstDash val="solid"/>
          </a:ln>
        </p:spPr>
      </p:sp>
      <p:sp>
        <p:nvSpPr>
          <p:cNvPr id="4" name="Text 2"/>
          <p:cNvSpPr txBox="1"/>
          <p:nvPr/>
        </p:nvSpPr>
        <p:spPr>
          <a:xfrm>
            <a:off x="548640" y="502920"/>
            <a:ext cx="1600200" cy="347472"/>
          </a:xfrm>
          <a:prstGeom prst="rect">
            <a:avLst/>
          </a:prstGeom>
          <a:noFill/>
          <a:ln/>
        </p:spPr>
        <p:txBody>
          <a:bodyPr wrap="square" lIns="0" tIns="0" rIns="0" bIns="0" rtlCol="0" anchor="ctr"/>
          <a:lstStyle/>
          <a:p>
            <a:pPr algn="ctr" indent="0" marL="0">
              <a:buNone/>
            </a:pPr>
            <a:r>
              <a:rPr lang="en-US" sz="1100" b="1" spc="200" kern="0" dirty="0">
                <a:solidFill>
                  <a:srgbClr val="0A032B"/>
                </a:solidFill>
                <a:latin typeface="Montserrat" pitchFamily="34" charset="0"/>
                <a:ea typeface="Montserrat" pitchFamily="34" charset="-122"/>
                <a:cs typeface="Montserrat" pitchFamily="34" charset="-120"/>
              </a:rPr>
              <a:t>PRATIQUE</a:t>
            </a:r>
            <a:endParaRPr lang="en-US" sz="1100" dirty="0"/>
          </a:p>
        </p:txBody>
      </p:sp>
      <p:sp>
        <p:nvSpPr>
          <p:cNvPr id="5" name="Text 3"/>
          <p:cNvSpPr txBox="1"/>
          <p:nvPr/>
        </p:nvSpPr>
        <p:spPr>
          <a:xfrm>
            <a:off x="548640" y="1005840"/>
            <a:ext cx="3108960" cy="365760"/>
          </a:xfrm>
          <a:prstGeom prst="rect">
            <a:avLst/>
          </a:prstGeom>
          <a:noFill/>
          <a:ln/>
        </p:spPr>
        <p:txBody>
          <a:bodyPr wrap="square" lIns="0" tIns="0" rIns="0" bIns="0" rtlCol="0" anchor="ctr"/>
          <a:lstStyle/>
          <a:p>
            <a:pPr indent="0" marL="0">
              <a:buNone/>
            </a:pPr>
            <a:r>
              <a:rPr lang="en-US" sz="1300" b="1" spc="100" kern="0" dirty="0">
                <a:solidFill>
                  <a:srgbClr val="35305C"/>
                </a:solidFill>
                <a:latin typeface="Montserrat" pitchFamily="34" charset="0"/>
                <a:ea typeface="Montserrat" pitchFamily="34" charset="-122"/>
                <a:cs typeface="Montserrat" pitchFamily="34" charset="-120"/>
              </a:rPr>
              <a:t>ATELIER DE MANUTENTION</a:t>
            </a:r>
            <a:endParaRPr lang="en-US" sz="1300" dirty="0"/>
          </a:p>
        </p:txBody>
      </p:sp>
      <p:sp>
        <p:nvSpPr>
          <p:cNvPr id="6" name="Text 4"/>
          <p:cNvSpPr txBox="1"/>
          <p:nvPr/>
        </p:nvSpPr>
        <p:spPr>
          <a:xfrm>
            <a:off x="548640" y="1371600"/>
            <a:ext cx="3200400" cy="1371600"/>
          </a:xfrm>
          <a:prstGeom prst="rect">
            <a:avLst/>
          </a:prstGeom>
          <a:noFill/>
          <a:ln/>
        </p:spPr>
        <p:txBody>
          <a:bodyPr wrap="square" lIns="0" tIns="0" rIns="0" bIns="0" rtlCol="0" anchor="t"/>
          <a:lstStyle/>
          <a:p>
            <a:pPr indent="0" marL="0">
              <a:buNone/>
            </a:pPr>
            <a:r>
              <a:rPr lang="en-US" sz="2400" b="1" dirty="0">
                <a:solidFill>
                  <a:srgbClr val="0A032B"/>
                </a:solidFill>
                <a:latin typeface="Montserrat" pitchFamily="34" charset="0"/>
                <a:ea typeface="Montserrat" pitchFamily="34" charset="-122"/>
                <a:cs typeface="Montserrat" pitchFamily="34" charset="-120"/>
              </a:rPr>
              <a:t>Atelier 2 : manutention à deux</a:t>
            </a:r>
            <a:endParaRPr lang="en-US" sz="2400" dirty="0"/>
          </a:p>
        </p:txBody>
      </p:sp>
      <p:sp>
        <p:nvSpPr>
          <p:cNvPr id="7" name="Shape 5"/>
          <p:cNvSpPr/>
          <p:nvPr/>
        </p:nvSpPr>
        <p:spPr>
          <a:xfrm>
            <a:off x="548640" y="2971800"/>
            <a:ext cx="457200" cy="457200"/>
          </a:xfrm>
          <a:prstGeom prst="ellipse">
            <a:avLst/>
          </a:prstGeom>
          <a:solidFill>
            <a:srgbClr val="0A032B"/>
          </a:solidFill>
          <a:ln w="12700">
            <a:solidFill>
              <a:srgbClr val="0A032B"/>
            </a:solidFill>
            <a:prstDash val="solid"/>
          </a:ln>
        </p:spPr>
      </p:sp>
      <p:pic>
        <p:nvPicPr>
          <p:cNvPr id="8" name="Image 0" descr="preencoded.png">    </p:cNvPr>
          <p:cNvPicPr>
            <a:picLocks noChangeAspect="1"/>
          </p:cNvPicPr>
          <p:nvPr/>
        </p:nvPicPr>
        <p:blipFill>
          <a:blip r:embed="rId1"/>
          <a:stretch>
            <a:fillRect/>
          </a:stretch>
        </p:blipFill>
        <p:spPr>
          <a:xfrm>
            <a:off x="662940" y="3086100"/>
            <a:ext cx="228600" cy="228600"/>
          </a:xfrm>
          <a:prstGeom prst="rect">
            <a:avLst/>
          </a:prstGeom>
        </p:spPr>
      </p:pic>
      <p:sp>
        <p:nvSpPr>
          <p:cNvPr id="9" name="Text 6"/>
          <p:cNvSpPr txBox="1"/>
          <p:nvPr/>
        </p:nvSpPr>
        <p:spPr>
          <a:xfrm>
            <a:off x="1188720" y="2926080"/>
            <a:ext cx="2468880" cy="868680"/>
          </a:xfrm>
          <a:prstGeom prst="rect">
            <a:avLst/>
          </a:prstGeom>
          <a:noFill/>
          <a:ln/>
        </p:spPr>
        <p:txBody>
          <a:bodyPr wrap="square" lIns="0" tIns="0" rIns="0" bIns="0" rtlCol="0" anchor="t"/>
          <a:lstStyle/>
          <a:p>
            <a:pPr indent="0" marL="0">
              <a:buNone/>
            </a:pPr>
            <a:r>
              <a:rPr lang="en-US" sz="1000" b="1" spc="100" kern="0" dirty="0">
                <a:solidFill>
                  <a:srgbClr val="35305C"/>
                </a:solidFill>
                <a:latin typeface="Montserrat" pitchFamily="34" charset="0"/>
                <a:ea typeface="Montserrat" pitchFamily="34" charset="-122"/>
                <a:cs typeface="Montserrat" pitchFamily="34" charset="-120"/>
              </a:rPr>
              <a:t>DURÉE</a:t>
            </a:r>
            <a:endParaRPr lang="en-US" sz="1000" dirty="0"/>
          </a:p>
          <a:p>
            <a:pPr indent="0" marL="0">
              <a:buNone/>
            </a:pPr>
            <a:r>
              <a:rPr lang="en-US" sz="1250" dirty="0">
                <a:solidFill>
                  <a:srgbClr val="0A032B"/>
                </a:solidFill>
                <a:latin typeface="Arial" pitchFamily="34" charset="0"/>
                <a:ea typeface="Arial" pitchFamily="34" charset="-122"/>
                <a:cs typeface="Arial" pitchFamily="34" charset="-120"/>
              </a:rPr>
              <a:t>20 minutes</a:t>
            </a:r>
            <a:endParaRPr lang="en-US" sz="1000" dirty="0"/>
          </a:p>
        </p:txBody>
      </p:sp>
      <p:sp>
        <p:nvSpPr>
          <p:cNvPr id="10" name="Shape 7"/>
          <p:cNvSpPr/>
          <p:nvPr/>
        </p:nvSpPr>
        <p:spPr>
          <a:xfrm>
            <a:off x="548640" y="3931920"/>
            <a:ext cx="457200" cy="457200"/>
          </a:xfrm>
          <a:prstGeom prst="ellipse">
            <a:avLst/>
          </a:prstGeom>
          <a:solidFill>
            <a:srgbClr val="0A032B"/>
          </a:solidFill>
          <a:ln w="12700">
            <a:solidFill>
              <a:srgbClr val="0A032B"/>
            </a:solidFill>
            <a:prstDash val="solid"/>
          </a:ln>
        </p:spPr>
      </p:sp>
      <p:pic>
        <p:nvPicPr>
          <p:cNvPr id="11" name="Image 1" descr="preencoded.png">    </p:cNvPr>
          <p:cNvPicPr>
            <a:picLocks noChangeAspect="1"/>
          </p:cNvPicPr>
          <p:nvPr/>
        </p:nvPicPr>
        <p:blipFill>
          <a:blip r:embed="rId2"/>
          <a:stretch>
            <a:fillRect/>
          </a:stretch>
        </p:blipFill>
        <p:spPr>
          <a:xfrm>
            <a:off x="662940" y="4046220"/>
            <a:ext cx="228600" cy="228600"/>
          </a:xfrm>
          <a:prstGeom prst="rect">
            <a:avLst/>
          </a:prstGeom>
        </p:spPr>
      </p:pic>
      <p:sp>
        <p:nvSpPr>
          <p:cNvPr id="12" name="Text 8"/>
          <p:cNvSpPr txBox="1"/>
          <p:nvPr/>
        </p:nvSpPr>
        <p:spPr>
          <a:xfrm>
            <a:off x="1188720" y="3886200"/>
            <a:ext cx="2468880" cy="868680"/>
          </a:xfrm>
          <a:prstGeom prst="rect">
            <a:avLst/>
          </a:prstGeom>
          <a:noFill/>
          <a:ln/>
        </p:spPr>
        <p:txBody>
          <a:bodyPr wrap="square" lIns="0" tIns="0" rIns="0" bIns="0" rtlCol="0" anchor="t"/>
          <a:lstStyle/>
          <a:p>
            <a:pPr indent="0" marL="0">
              <a:buNone/>
            </a:pPr>
            <a:r>
              <a:rPr lang="en-US" sz="1000" b="1" spc="100" kern="0" dirty="0">
                <a:solidFill>
                  <a:srgbClr val="35305C"/>
                </a:solidFill>
                <a:latin typeface="Montserrat" pitchFamily="34" charset="0"/>
                <a:ea typeface="Montserrat" pitchFamily="34" charset="-122"/>
                <a:cs typeface="Montserrat" pitchFamily="34" charset="-120"/>
              </a:rPr>
              <a:t>FORMAT</a:t>
            </a:r>
            <a:endParaRPr lang="en-US" sz="1000" dirty="0"/>
          </a:p>
          <a:p>
            <a:pPr indent="0" marL="0">
              <a:buNone/>
            </a:pPr>
            <a:r>
              <a:rPr lang="en-US" sz="1250" dirty="0">
                <a:solidFill>
                  <a:srgbClr val="0A032B"/>
                </a:solidFill>
                <a:latin typeface="Arial" pitchFamily="34" charset="0"/>
                <a:ea typeface="Arial" pitchFamily="34" charset="-122"/>
                <a:cs typeface="Arial" pitchFamily="34" charset="-120"/>
              </a:rPr>
              <a:t>Trinômes : deux porteurs, un observateur, rotation des rôles</a:t>
            </a:r>
            <a:endParaRPr lang="en-US" sz="1000" dirty="0"/>
          </a:p>
        </p:txBody>
      </p:sp>
      <p:sp>
        <p:nvSpPr>
          <p:cNvPr id="13" name="Shape 9"/>
          <p:cNvSpPr/>
          <p:nvPr/>
        </p:nvSpPr>
        <p:spPr>
          <a:xfrm>
            <a:off x="548640" y="4892040"/>
            <a:ext cx="457200" cy="457200"/>
          </a:xfrm>
          <a:prstGeom prst="ellipse">
            <a:avLst/>
          </a:prstGeom>
          <a:solidFill>
            <a:srgbClr val="0A032B"/>
          </a:solidFill>
          <a:ln w="12700">
            <a:solidFill>
              <a:srgbClr val="0A032B"/>
            </a:solidFill>
            <a:prstDash val="solid"/>
          </a:ln>
        </p:spPr>
      </p:sp>
      <p:pic>
        <p:nvPicPr>
          <p:cNvPr id="14" name="Image 2" descr="preencoded.png">    </p:cNvPr>
          <p:cNvPicPr>
            <a:picLocks noChangeAspect="1"/>
          </p:cNvPicPr>
          <p:nvPr/>
        </p:nvPicPr>
        <p:blipFill>
          <a:blip r:embed="rId3"/>
          <a:stretch>
            <a:fillRect/>
          </a:stretch>
        </p:blipFill>
        <p:spPr>
          <a:xfrm>
            <a:off x="662940" y="5006340"/>
            <a:ext cx="228600" cy="228600"/>
          </a:xfrm>
          <a:prstGeom prst="rect">
            <a:avLst/>
          </a:prstGeom>
        </p:spPr>
      </p:pic>
      <p:sp>
        <p:nvSpPr>
          <p:cNvPr id="15" name="Text 10"/>
          <p:cNvSpPr txBox="1"/>
          <p:nvPr/>
        </p:nvSpPr>
        <p:spPr>
          <a:xfrm>
            <a:off x="1188720" y="4846320"/>
            <a:ext cx="2468880" cy="868680"/>
          </a:xfrm>
          <a:prstGeom prst="rect">
            <a:avLst/>
          </a:prstGeom>
          <a:noFill/>
          <a:ln/>
        </p:spPr>
        <p:txBody>
          <a:bodyPr wrap="square" lIns="0" tIns="0" rIns="0" bIns="0" rtlCol="0" anchor="t"/>
          <a:lstStyle/>
          <a:p>
            <a:pPr indent="0" marL="0">
              <a:buNone/>
            </a:pPr>
            <a:r>
              <a:rPr lang="en-US" sz="1000" b="1" spc="100" kern="0" dirty="0">
                <a:solidFill>
                  <a:srgbClr val="35305C"/>
                </a:solidFill>
                <a:latin typeface="Montserrat" pitchFamily="34" charset="0"/>
                <a:ea typeface="Montserrat" pitchFamily="34" charset="-122"/>
                <a:cs typeface="Montserrat" pitchFamily="34" charset="-120"/>
              </a:rPr>
              <a:t>MATÉRIEL</a:t>
            </a:r>
            <a:endParaRPr lang="en-US" sz="1000" dirty="0"/>
          </a:p>
          <a:p>
            <a:pPr indent="0" marL="0">
              <a:buNone/>
            </a:pPr>
            <a:r>
              <a:rPr lang="en-US" sz="1250" dirty="0">
                <a:solidFill>
                  <a:srgbClr val="0A032B"/>
                </a:solidFill>
                <a:latin typeface="Arial" pitchFamily="34" charset="0"/>
                <a:ea typeface="Arial" pitchFamily="34" charset="-122"/>
                <a:cs typeface="Arial" pitchFamily="34" charset="-120"/>
              </a:rPr>
              <a:t>Table pliante, banc, grille d'observation</a:t>
            </a:r>
            <a:endParaRPr lang="en-US" sz="1000" dirty="0"/>
          </a:p>
        </p:txBody>
      </p:sp>
      <p:sp>
        <p:nvSpPr>
          <p:cNvPr id="16" name="Text 11"/>
          <p:cNvSpPr txBox="1"/>
          <p:nvPr/>
        </p:nvSpPr>
        <p:spPr>
          <a:xfrm>
            <a:off x="4663440" y="457200"/>
            <a:ext cx="6979615" cy="502920"/>
          </a:xfrm>
          <a:prstGeom prst="rect">
            <a:avLst/>
          </a:prstGeom>
          <a:noFill/>
          <a:ln/>
        </p:spPr>
        <p:txBody>
          <a:bodyPr wrap="square" lIns="0" tIns="0" rIns="0" bIns="0" rtlCol="0" anchor="ctr"/>
          <a:lstStyle/>
          <a:p>
            <a:pPr indent="0" marL="0">
              <a:buNone/>
            </a:pPr>
            <a:r>
              <a:rPr lang="en-US" sz="2200" b="1" dirty="0">
                <a:solidFill>
                  <a:srgbClr val="0A032B"/>
                </a:solidFill>
                <a:latin typeface="Montserrat" pitchFamily="34" charset="0"/>
                <a:ea typeface="Montserrat" pitchFamily="34" charset="-122"/>
                <a:cs typeface="Montserrat" pitchFamily="34" charset="-120"/>
              </a:rPr>
              <a:t>Consignes</a:t>
            </a:r>
            <a:endParaRPr lang="en-US" sz="2200" dirty="0"/>
          </a:p>
        </p:txBody>
      </p:sp>
      <p:sp>
        <p:nvSpPr>
          <p:cNvPr id="17" name="Shape 12"/>
          <p:cNvSpPr/>
          <p:nvPr/>
        </p:nvSpPr>
        <p:spPr>
          <a:xfrm>
            <a:off x="4663440" y="1234440"/>
            <a:ext cx="457200" cy="457200"/>
          </a:xfrm>
          <a:prstGeom prst="ellipse">
            <a:avLst/>
          </a:prstGeom>
          <a:solidFill>
            <a:srgbClr val="0A032B"/>
          </a:solidFill>
          <a:ln w="12700">
            <a:solidFill>
              <a:srgbClr val="0A032B"/>
            </a:solidFill>
            <a:prstDash val="solid"/>
          </a:ln>
        </p:spPr>
      </p:sp>
      <p:sp>
        <p:nvSpPr>
          <p:cNvPr id="18" name="Text 13"/>
          <p:cNvSpPr txBox="1"/>
          <p:nvPr/>
        </p:nvSpPr>
        <p:spPr>
          <a:xfrm>
            <a:off x="4663440" y="12344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1</a:t>
            </a:r>
            <a:endParaRPr lang="en-US" sz="1300" dirty="0"/>
          </a:p>
        </p:txBody>
      </p:sp>
      <p:sp>
        <p:nvSpPr>
          <p:cNvPr id="19" name="Text 14"/>
          <p:cNvSpPr txBox="1"/>
          <p:nvPr/>
        </p:nvSpPr>
        <p:spPr>
          <a:xfrm>
            <a:off x="5349240" y="1216152"/>
            <a:ext cx="6293815" cy="745236"/>
          </a:xfrm>
          <a:prstGeom prst="rect">
            <a:avLst/>
          </a:prstGeom>
          <a:noFill/>
          <a:ln/>
        </p:spPr>
        <p:txBody>
          <a:bodyPr wrap="square" lIns="0" tIns="0" rIns="0" bIns="0" rtlCol="0" anchor="t"/>
          <a:lstStyle/>
          <a:p>
            <a:pPr indent="0" marL="0">
              <a:spcAft>
                <a:spcPts val="300"/>
              </a:spcAft>
              <a:buNone/>
            </a:pPr>
            <a:r>
              <a:rPr lang="en-US" sz="1500" b="1" dirty="0">
                <a:solidFill>
                  <a:srgbClr val="0A032B"/>
                </a:solidFill>
                <a:latin typeface="Montserrat" pitchFamily="34" charset="0"/>
                <a:ea typeface="Montserrat" pitchFamily="34" charset="-122"/>
                <a:cs typeface="Montserrat" pitchFamily="34" charset="-120"/>
              </a:rPr>
              <a:t>Désigner le meneur</a:t>
            </a:r>
            <a:endParaRPr lang="en-US" sz="1500" dirty="0"/>
          </a:p>
          <a:p>
            <a:pPr indent="0" marL="0">
              <a:spcAft>
                <a:spcPts val="300"/>
              </a:spcAft>
              <a:buNone/>
            </a:pPr>
            <a:r>
              <a:rPr lang="en-US" sz="1300" dirty="0">
                <a:solidFill>
                  <a:srgbClr val="35305C"/>
                </a:solidFill>
                <a:latin typeface="Arial" pitchFamily="34" charset="0"/>
                <a:ea typeface="Arial" pitchFamily="34" charset="-122"/>
                <a:cs typeface="Arial" pitchFamily="34" charset="-120"/>
              </a:rPr>
              <a:t>Le binôme choisit qui donne les ordres et répète les annonces.</a:t>
            </a:r>
            <a:endParaRPr lang="en-US" sz="1500" dirty="0"/>
          </a:p>
        </p:txBody>
      </p:sp>
      <p:sp>
        <p:nvSpPr>
          <p:cNvPr id="20" name="Shape 15"/>
          <p:cNvSpPr/>
          <p:nvPr/>
        </p:nvSpPr>
        <p:spPr>
          <a:xfrm>
            <a:off x="4663440" y="2144268"/>
            <a:ext cx="457200" cy="457200"/>
          </a:xfrm>
          <a:prstGeom prst="ellipse">
            <a:avLst/>
          </a:prstGeom>
          <a:solidFill>
            <a:srgbClr val="0A032B"/>
          </a:solidFill>
          <a:ln w="12700">
            <a:solidFill>
              <a:srgbClr val="0A032B"/>
            </a:solidFill>
            <a:prstDash val="solid"/>
          </a:ln>
        </p:spPr>
      </p:sp>
      <p:sp>
        <p:nvSpPr>
          <p:cNvPr id="21" name="Text 16"/>
          <p:cNvSpPr txBox="1"/>
          <p:nvPr/>
        </p:nvSpPr>
        <p:spPr>
          <a:xfrm>
            <a:off x="4663440" y="214426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2</a:t>
            </a:r>
            <a:endParaRPr lang="en-US" sz="1300" dirty="0"/>
          </a:p>
        </p:txBody>
      </p:sp>
      <p:sp>
        <p:nvSpPr>
          <p:cNvPr id="22" name="Text 17"/>
          <p:cNvSpPr txBox="1"/>
          <p:nvPr/>
        </p:nvSpPr>
        <p:spPr>
          <a:xfrm>
            <a:off x="5349240" y="2125980"/>
            <a:ext cx="6293815" cy="745236"/>
          </a:xfrm>
          <a:prstGeom prst="rect">
            <a:avLst/>
          </a:prstGeom>
          <a:noFill/>
          <a:ln/>
        </p:spPr>
        <p:txBody>
          <a:bodyPr wrap="square" lIns="0" tIns="0" rIns="0" bIns="0" rtlCol="0" anchor="t"/>
          <a:lstStyle/>
          <a:p>
            <a:pPr indent="0" marL="0">
              <a:spcAft>
                <a:spcPts val="300"/>
              </a:spcAft>
              <a:buNone/>
            </a:pPr>
            <a:r>
              <a:rPr lang="en-US" sz="1500" b="1" dirty="0">
                <a:solidFill>
                  <a:srgbClr val="0A032B"/>
                </a:solidFill>
                <a:latin typeface="Montserrat" pitchFamily="34" charset="0"/>
                <a:ea typeface="Montserrat" pitchFamily="34" charset="-122"/>
                <a:cs typeface="Montserrat" pitchFamily="34" charset="-120"/>
              </a:rPr>
              <a:t>Déplier et déplacer une table</a:t>
            </a:r>
            <a:endParaRPr lang="en-US" sz="1500" dirty="0"/>
          </a:p>
          <a:p>
            <a:pPr indent="0" marL="0">
              <a:spcAft>
                <a:spcPts val="300"/>
              </a:spcAft>
              <a:buNone/>
            </a:pPr>
            <a:r>
              <a:rPr lang="en-US" sz="1300" dirty="0">
                <a:solidFill>
                  <a:srgbClr val="35305C"/>
                </a:solidFill>
                <a:latin typeface="Arial" pitchFamily="34" charset="0"/>
                <a:ea typeface="Arial" pitchFamily="34" charset="-122"/>
                <a:cs typeface="Arial" pitchFamily="34" charset="-120"/>
              </a:rPr>
              <a:t>Soulever, franchir une porte, tourner, poser : avec les 4 annonces.</a:t>
            </a:r>
            <a:endParaRPr lang="en-US" sz="1500" dirty="0"/>
          </a:p>
        </p:txBody>
      </p:sp>
      <p:sp>
        <p:nvSpPr>
          <p:cNvPr id="23" name="Shape 18"/>
          <p:cNvSpPr/>
          <p:nvPr/>
        </p:nvSpPr>
        <p:spPr>
          <a:xfrm>
            <a:off x="4663440" y="3054096"/>
            <a:ext cx="457200" cy="457200"/>
          </a:xfrm>
          <a:prstGeom prst="ellipse">
            <a:avLst/>
          </a:prstGeom>
          <a:solidFill>
            <a:srgbClr val="0A032B"/>
          </a:solidFill>
          <a:ln w="12700">
            <a:solidFill>
              <a:srgbClr val="0A032B"/>
            </a:solidFill>
            <a:prstDash val="solid"/>
          </a:ln>
        </p:spPr>
      </p:sp>
      <p:sp>
        <p:nvSpPr>
          <p:cNvPr id="24" name="Text 19"/>
          <p:cNvSpPr txBox="1"/>
          <p:nvPr/>
        </p:nvSpPr>
        <p:spPr>
          <a:xfrm>
            <a:off x="4663440" y="305409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3</a:t>
            </a:r>
            <a:endParaRPr lang="en-US" sz="1300" dirty="0"/>
          </a:p>
        </p:txBody>
      </p:sp>
      <p:sp>
        <p:nvSpPr>
          <p:cNvPr id="25" name="Text 20"/>
          <p:cNvSpPr txBox="1"/>
          <p:nvPr/>
        </p:nvSpPr>
        <p:spPr>
          <a:xfrm>
            <a:off x="5349240" y="3035808"/>
            <a:ext cx="6293815" cy="745236"/>
          </a:xfrm>
          <a:prstGeom prst="rect">
            <a:avLst/>
          </a:prstGeom>
          <a:noFill/>
          <a:ln/>
        </p:spPr>
        <p:txBody>
          <a:bodyPr wrap="square" lIns="0" tIns="0" rIns="0" bIns="0" rtlCol="0" anchor="t"/>
          <a:lstStyle/>
          <a:p>
            <a:pPr indent="0" marL="0">
              <a:spcAft>
                <a:spcPts val="300"/>
              </a:spcAft>
              <a:buNone/>
            </a:pPr>
            <a:r>
              <a:rPr lang="en-US" sz="1500" b="1" dirty="0">
                <a:solidFill>
                  <a:srgbClr val="0A032B"/>
                </a:solidFill>
                <a:latin typeface="Montserrat" pitchFamily="34" charset="0"/>
                <a:ea typeface="Montserrat" pitchFamily="34" charset="-122"/>
                <a:cs typeface="Montserrat" pitchFamily="34" charset="-120"/>
              </a:rPr>
              <a:t>Empiler et désempiler</a:t>
            </a:r>
            <a:endParaRPr lang="en-US" sz="1500" dirty="0"/>
          </a:p>
          <a:p>
            <a:pPr indent="0" marL="0">
              <a:spcAft>
                <a:spcPts val="300"/>
              </a:spcAft>
              <a:buNone/>
            </a:pPr>
            <a:r>
              <a:rPr lang="en-US" sz="1300" dirty="0">
                <a:solidFill>
                  <a:srgbClr val="35305C"/>
                </a:solidFill>
                <a:latin typeface="Arial" pitchFamily="34" charset="0"/>
                <a:ea typeface="Arial" pitchFamily="34" charset="-122"/>
                <a:cs typeface="Arial" pitchFamily="34" charset="-120"/>
              </a:rPr>
              <a:t>Poser la table sur une autre, en synchronisant la hauteur.</a:t>
            </a:r>
            <a:endParaRPr lang="en-US" sz="1500" dirty="0"/>
          </a:p>
        </p:txBody>
      </p:sp>
      <p:sp>
        <p:nvSpPr>
          <p:cNvPr id="26" name="Shape 21"/>
          <p:cNvSpPr/>
          <p:nvPr/>
        </p:nvSpPr>
        <p:spPr>
          <a:xfrm>
            <a:off x="4663440" y="3963924"/>
            <a:ext cx="457200" cy="457200"/>
          </a:xfrm>
          <a:prstGeom prst="ellipse">
            <a:avLst/>
          </a:prstGeom>
          <a:solidFill>
            <a:srgbClr val="0A032B"/>
          </a:solidFill>
          <a:ln w="12700">
            <a:solidFill>
              <a:srgbClr val="0A032B"/>
            </a:solidFill>
            <a:prstDash val="solid"/>
          </a:ln>
        </p:spPr>
      </p:sp>
      <p:sp>
        <p:nvSpPr>
          <p:cNvPr id="27" name="Text 22"/>
          <p:cNvSpPr txBox="1"/>
          <p:nvPr/>
        </p:nvSpPr>
        <p:spPr>
          <a:xfrm>
            <a:off x="4663440" y="396392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4</a:t>
            </a:r>
            <a:endParaRPr lang="en-US" sz="1300" dirty="0"/>
          </a:p>
        </p:txBody>
      </p:sp>
      <p:sp>
        <p:nvSpPr>
          <p:cNvPr id="28" name="Text 23"/>
          <p:cNvSpPr txBox="1"/>
          <p:nvPr/>
        </p:nvSpPr>
        <p:spPr>
          <a:xfrm>
            <a:off x="5349240" y="3945636"/>
            <a:ext cx="6293815" cy="745236"/>
          </a:xfrm>
          <a:prstGeom prst="rect">
            <a:avLst/>
          </a:prstGeom>
          <a:noFill/>
          <a:ln/>
        </p:spPr>
        <p:txBody>
          <a:bodyPr wrap="square" lIns="0" tIns="0" rIns="0" bIns="0" rtlCol="0" anchor="t"/>
          <a:lstStyle/>
          <a:p>
            <a:pPr indent="0" marL="0">
              <a:spcAft>
                <a:spcPts val="300"/>
              </a:spcAft>
              <a:buNone/>
            </a:pPr>
            <a:r>
              <a:rPr lang="en-US" sz="1500" b="1" dirty="0">
                <a:solidFill>
                  <a:srgbClr val="0A032B"/>
                </a:solidFill>
                <a:latin typeface="Montserrat" pitchFamily="34" charset="0"/>
                <a:ea typeface="Montserrat" pitchFamily="34" charset="-122"/>
                <a:cs typeface="Montserrat" pitchFamily="34" charset="-120"/>
              </a:rPr>
              <a:t>Débriefer à trois</a:t>
            </a:r>
            <a:endParaRPr lang="en-US" sz="1500" dirty="0"/>
          </a:p>
          <a:p>
            <a:pPr indent="0" marL="0">
              <a:spcAft>
                <a:spcPts val="300"/>
              </a:spcAft>
              <a:buNone/>
            </a:pPr>
            <a:r>
              <a:rPr lang="en-US" sz="1300" dirty="0">
                <a:solidFill>
                  <a:srgbClr val="35305C"/>
                </a:solidFill>
                <a:latin typeface="Arial" pitchFamily="34" charset="0"/>
                <a:ea typeface="Arial" pitchFamily="34" charset="-122"/>
                <a:cs typeface="Arial" pitchFamily="34" charset="-120"/>
              </a:rPr>
              <a:t>L'observateur note la communication et les principes de sécurité, puis rotation.</a:t>
            </a:r>
            <a:endParaRPr lang="en-US" sz="1500" dirty="0"/>
          </a:p>
        </p:txBody>
      </p:sp>
      <p:sp>
        <p:nvSpPr>
          <p:cNvPr id="29" name="Shape 24"/>
          <p:cNvSpPr/>
          <p:nvPr/>
        </p:nvSpPr>
        <p:spPr>
          <a:xfrm>
            <a:off x="4663440" y="4983480"/>
            <a:ext cx="6979615" cy="1051560"/>
          </a:xfrm>
          <a:prstGeom prst="roundRect">
            <a:avLst>
              <a:gd name="adj" fmla="val 6957"/>
            </a:avLst>
          </a:prstGeom>
          <a:solidFill>
            <a:srgbClr val="EEEDF5"/>
          </a:solidFill>
          <a:ln w="12700">
            <a:solidFill>
              <a:srgbClr val="EEEDF5"/>
            </a:solidFill>
            <a:prstDash val="solid"/>
          </a:ln>
        </p:spPr>
      </p:sp>
      <p:sp>
        <p:nvSpPr>
          <p:cNvPr id="30" name="Shape 25"/>
          <p:cNvSpPr/>
          <p:nvPr/>
        </p:nvSpPr>
        <p:spPr>
          <a:xfrm>
            <a:off x="4846320" y="5230368"/>
            <a:ext cx="548640" cy="548640"/>
          </a:xfrm>
          <a:prstGeom prst="ellipse">
            <a:avLst/>
          </a:prstGeom>
          <a:solidFill>
            <a:srgbClr val="0A032B"/>
          </a:solidFill>
          <a:ln w="12700">
            <a:solidFill>
              <a:srgbClr val="0A032B"/>
            </a:solidFill>
            <a:prstDash val="solid"/>
          </a:ln>
        </p:spPr>
      </p:sp>
      <p:pic>
        <p:nvPicPr>
          <p:cNvPr id="31" name="Image 3" descr="preencoded.png">    </p:cNvPr>
          <p:cNvPicPr>
            <a:picLocks noChangeAspect="1"/>
          </p:cNvPicPr>
          <p:nvPr/>
        </p:nvPicPr>
        <p:blipFill>
          <a:blip r:embed="rId4"/>
          <a:stretch>
            <a:fillRect/>
          </a:stretch>
        </p:blipFill>
        <p:spPr>
          <a:xfrm>
            <a:off x="4983480" y="5367528"/>
            <a:ext cx="274320" cy="274320"/>
          </a:xfrm>
          <a:prstGeom prst="rect">
            <a:avLst/>
          </a:prstGeom>
        </p:spPr>
      </p:pic>
      <p:sp>
        <p:nvSpPr>
          <p:cNvPr id="32" name="Text 26"/>
          <p:cNvSpPr txBox="1"/>
          <p:nvPr/>
        </p:nvSpPr>
        <p:spPr>
          <a:xfrm>
            <a:off x="5577840" y="5029200"/>
            <a:ext cx="5882335" cy="960120"/>
          </a:xfrm>
          <a:prstGeom prst="rect">
            <a:avLst/>
          </a:prstGeom>
          <a:noFill/>
          <a:ln/>
        </p:spPr>
        <p:txBody>
          <a:bodyPr wrap="square" lIns="0" tIns="0" rIns="0" bIns="0" rtlCol="0" anchor="ctr"/>
          <a:lstStyle/>
          <a:p>
            <a:pPr indent="0" marL="0">
              <a:buNone/>
            </a:pPr>
            <a:r>
              <a:rPr lang="en-US" sz="1200" b="1" dirty="0">
                <a:solidFill>
                  <a:srgbClr val="0A032B"/>
                </a:solidFill>
                <a:latin typeface="Montserrat" pitchFamily="34" charset="0"/>
                <a:ea typeface="Montserrat" pitchFamily="34" charset="-122"/>
                <a:cs typeface="Montserrat" pitchFamily="34" charset="-120"/>
              </a:rPr>
              <a:t>Point de vigilance  </a:t>
            </a:r>
            <a:endParaRPr lang="en-US" sz="1200" dirty="0"/>
          </a:p>
          <a:p>
            <a:pPr indent="0" marL="0">
              <a:buNone/>
            </a:pPr>
            <a:r>
              <a:rPr lang="en-US" sz="1200" dirty="0">
                <a:solidFill>
                  <a:srgbClr val="35305C"/>
                </a:solidFill>
                <a:latin typeface="Arial" pitchFamily="34" charset="0"/>
                <a:ea typeface="Arial" pitchFamily="34" charset="-122"/>
                <a:cs typeface="Arial" pitchFamily="34" charset="-120"/>
              </a:rPr>
              <a:t>Garder les doigts hors des zones de pincement (charnières, bords de table au moment de poser).</a:t>
            </a:r>
            <a:endParaRPr lang="en-US" sz="1200" dirty="0"/>
          </a:p>
        </p:txBody>
      </p:sp>
      <p:sp>
        <p:nvSpPr>
          <p:cNvPr id="33" name="Text 27"/>
          <p:cNvSpPr txBox="1"/>
          <p:nvPr/>
        </p:nvSpPr>
        <p:spPr>
          <a:xfrm>
            <a:off x="548640" y="6355080"/>
            <a:ext cx="3291840" cy="274320"/>
          </a:xfrm>
          <a:prstGeom prst="rect">
            <a:avLst/>
          </a:prstGeom>
          <a:noFill/>
          <a:ln/>
        </p:spPr>
        <p:txBody>
          <a:bodyPr wrap="square" lIns="0" tIns="0" rIns="0" bIns="0" rtlCol="0" anchor="ctr"/>
          <a:lstStyle/>
          <a:p>
            <a:pPr indent="0" marL="0">
              <a:buNone/>
            </a:pPr>
            <a:r>
              <a:rPr lang="en-US" sz="900" dirty="0">
                <a:solidFill>
                  <a:srgbClr val="35305C"/>
                </a:solidFill>
                <a:latin typeface="Arial" pitchFamily="34" charset="0"/>
                <a:ea typeface="Arial" pitchFamily="34" charset="-122"/>
                <a:cs typeface="Arial" pitchFamily="34" charset="-120"/>
              </a:rPr>
              <a:t>Gestes et postures de l'élu  ·  Séquence 3</a:t>
            </a:r>
            <a:endParaRPr lang="en-US" sz="900" dirty="0"/>
          </a:p>
        </p:txBody>
      </p:sp>
      <p:pic>
        <p:nvPicPr>
          <p:cNvPr id="34" name="Image 4" descr="logo_light.png">    </p:cNvPr>
          <p:cNvPicPr>
            <a:picLocks noChangeAspect="1"/>
          </p:cNvPicPr>
          <p:nvPr/>
        </p:nvPicPr>
        <p:blipFill>
          <a:blip r:embed="rId5"/>
          <a:stretch>
            <a:fillRect/>
          </a:stretch>
        </p:blipFill>
        <p:spPr>
          <a:xfrm>
            <a:off x="10682935" y="6236208"/>
            <a:ext cx="960120" cy="398441"/>
          </a:xfrm>
          <a:prstGeom prst="rect">
            <a:avLst/>
          </a:prstGeom>
        </p:spPr>
      </p:pic>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EEEDF5"/>
        </a:solidFill>
      </p:bgPr>
    </p:bg>
    <p:spTree>
      <p:nvGrpSpPr>
        <p:cNvPr id="1" name=""/>
        <p:cNvGrpSpPr/>
        <p:nvPr/>
      </p:nvGrpSpPr>
      <p:grpSpPr>
        <a:xfrm>
          <a:off x="0" y="0"/>
          <a:ext cx="0" cy="0"/>
          <a:chOff x="0" y="0"/>
          <a:chExt cx="0" cy="0"/>
        </a:xfrm>
      </p:grpSpPr>
      <p:sp>
        <p:nvSpPr>
          <p:cNvPr id="2" name="Text 0"/>
          <p:cNvSpPr txBox="1"/>
          <p:nvPr/>
        </p:nvSpPr>
        <p:spPr>
          <a:xfrm>
            <a:off x="548640" y="365760"/>
            <a:ext cx="9235440" cy="685800"/>
          </a:xfrm>
          <a:prstGeom prst="rect">
            <a:avLst/>
          </a:prstGeom>
          <a:noFill/>
          <a:ln/>
        </p:spPr>
        <p:txBody>
          <a:bodyPr wrap="square" lIns="0" tIns="0" rIns="0" bIns="0" rtlCol="0" anchor="ctr"/>
          <a:lstStyle/>
          <a:p>
            <a:pPr indent="0" marL="0">
              <a:buNone/>
            </a:pPr>
            <a:r>
              <a:rPr lang="en-US" sz="2800" b="1" dirty="0">
                <a:solidFill>
                  <a:srgbClr val="0A032B"/>
                </a:solidFill>
                <a:latin typeface="Montserrat" pitchFamily="34" charset="0"/>
                <a:ea typeface="Montserrat" pitchFamily="34" charset="-122"/>
                <a:cs typeface="Montserrat" pitchFamily="34" charset="-120"/>
              </a:rPr>
              <a:t>À retenir</a:t>
            </a:r>
            <a:endParaRPr lang="en-US" sz="2800" dirty="0"/>
          </a:p>
        </p:txBody>
      </p:sp>
      <p:sp>
        <p:nvSpPr>
          <p:cNvPr id="3" name="Text 1"/>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5E5A78"/>
                </a:solidFill>
                <a:latin typeface="Arial" pitchFamily="34" charset="0"/>
                <a:ea typeface="Arial" pitchFamily="34" charset="-122"/>
                <a:cs typeface="Arial" pitchFamily="34" charset="-120"/>
              </a:rPr>
              <a:t>Gestes et postures de l'élu  ·  Séquence 3</a:t>
            </a:r>
            <a:endParaRPr lang="en-US" sz="900" dirty="0"/>
          </a:p>
        </p:txBody>
      </p:sp>
      <p:pic>
        <p:nvPicPr>
          <p:cNvPr id="4" name="Image 0" descr="logo_light.png">    </p:cNvPr>
          <p:cNvPicPr>
            <a:picLocks noChangeAspect="1"/>
          </p:cNvPicPr>
          <p:nvPr/>
        </p:nvPicPr>
        <p:blipFill>
          <a:blip r:embed="rId1"/>
          <a:stretch>
            <a:fillRect/>
          </a:stretch>
        </p:blipFill>
        <p:spPr>
          <a:xfrm>
            <a:off x="10682935" y="6236208"/>
            <a:ext cx="960120" cy="398441"/>
          </a:xfrm>
          <a:prstGeom prst="rect">
            <a:avLst/>
          </a:prstGeom>
        </p:spPr>
      </p:pic>
      <p:sp>
        <p:nvSpPr>
          <p:cNvPr id="5" name="Shape 2"/>
          <p:cNvSpPr/>
          <p:nvPr/>
        </p:nvSpPr>
        <p:spPr>
          <a:xfrm>
            <a:off x="548640" y="1417320"/>
            <a:ext cx="5410048" cy="1341120"/>
          </a:xfrm>
          <a:prstGeom prst="roundRect">
            <a:avLst>
              <a:gd name="adj" fmla="val 5455"/>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777240" y="1859280"/>
            <a:ext cx="457200" cy="457200"/>
          </a:xfrm>
          <a:prstGeom prst="ellipse">
            <a:avLst/>
          </a:prstGeom>
          <a:solidFill>
            <a:srgbClr val="F0EF96"/>
          </a:solidFill>
          <a:ln w="12700">
            <a:solidFill>
              <a:srgbClr val="F0EF96"/>
            </a:solidFill>
            <a:prstDash val="solid"/>
          </a:ln>
        </p:spPr>
      </p:sp>
      <p:pic>
        <p:nvPicPr>
          <p:cNvPr id="7" name="Image 1" descr="preencoded.png">    </p:cNvPr>
          <p:cNvPicPr>
            <a:picLocks noChangeAspect="1"/>
          </p:cNvPicPr>
          <p:nvPr/>
        </p:nvPicPr>
        <p:blipFill>
          <a:blip r:embed="rId2"/>
          <a:stretch>
            <a:fillRect/>
          </a:stretch>
        </p:blipFill>
        <p:spPr>
          <a:xfrm>
            <a:off x="891540" y="1973580"/>
            <a:ext cx="228600" cy="228600"/>
          </a:xfrm>
          <a:prstGeom prst="rect">
            <a:avLst/>
          </a:prstGeom>
        </p:spPr>
      </p:pic>
      <p:sp>
        <p:nvSpPr>
          <p:cNvPr id="8" name="Text 4"/>
          <p:cNvSpPr txBox="1"/>
          <p:nvPr/>
        </p:nvSpPr>
        <p:spPr>
          <a:xfrm>
            <a:off x="1417320" y="1508760"/>
            <a:ext cx="4358488" cy="1158240"/>
          </a:xfrm>
          <a:prstGeom prst="rect">
            <a:avLst/>
          </a:prstGeom>
          <a:noFill/>
          <a:ln/>
        </p:spPr>
        <p:txBody>
          <a:bodyPr wrap="square" lIns="0" tIns="0" rIns="0" bIns="0" rtlCol="0" anchor="ctr"/>
          <a:lstStyle/>
          <a:p>
            <a:pPr indent="0" marL="0">
              <a:buNone/>
            </a:pPr>
            <a:r>
              <a:rPr lang="en-US" sz="1400" dirty="0">
                <a:solidFill>
                  <a:srgbClr val="0A032B"/>
                </a:solidFill>
                <a:latin typeface="Arial" pitchFamily="34" charset="0"/>
                <a:ea typeface="Arial" pitchFamily="34" charset="-122"/>
                <a:cs typeface="Arial" pitchFamily="34" charset="-120"/>
              </a:rPr>
              <a:t>J'observe et je prépare avant de soulever.</a:t>
            </a:r>
            <a:endParaRPr lang="en-US" sz="1400" dirty="0"/>
          </a:p>
        </p:txBody>
      </p:sp>
      <p:sp>
        <p:nvSpPr>
          <p:cNvPr id="9" name="Shape 5"/>
          <p:cNvSpPr/>
          <p:nvPr/>
        </p:nvSpPr>
        <p:spPr>
          <a:xfrm>
            <a:off x="6233008" y="1417320"/>
            <a:ext cx="5410048" cy="1341120"/>
          </a:xfrm>
          <a:prstGeom prst="roundRect">
            <a:avLst>
              <a:gd name="adj" fmla="val 5455"/>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0" name="Shape 6"/>
          <p:cNvSpPr/>
          <p:nvPr/>
        </p:nvSpPr>
        <p:spPr>
          <a:xfrm>
            <a:off x="6461608" y="1859280"/>
            <a:ext cx="457200" cy="457200"/>
          </a:xfrm>
          <a:prstGeom prst="ellipse">
            <a:avLst/>
          </a:prstGeom>
          <a:solidFill>
            <a:srgbClr val="F0EF96"/>
          </a:solidFill>
          <a:ln w="12700">
            <a:solidFill>
              <a:srgbClr val="F0EF96"/>
            </a:solidFill>
            <a:prstDash val="solid"/>
          </a:ln>
        </p:spPr>
      </p:sp>
      <p:pic>
        <p:nvPicPr>
          <p:cNvPr id="11" name="Image 2" descr="preencoded.png">    </p:cNvPr>
          <p:cNvPicPr>
            <a:picLocks noChangeAspect="1"/>
          </p:cNvPicPr>
          <p:nvPr/>
        </p:nvPicPr>
        <p:blipFill>
          <a:blip r:embed="rId3"/>
          <a:stretch>
            <a:fillRect/>
          </a:stretch>
        </p:blipFill>
        <p:spPr>
          <a:xfrm>
            <a:off x="6575908" y="1973580"/>
            <a:ext cx="228600" cy="228600"/>
          </a:xfrm>
          <a:prstGeom prst="rect">
            <a:avLst/>
          </a:prstGeom>
        </p:spPr>
      </p:pic>
      <p:sp>
        <p:nvSpPr>
          <p:cNvPr id="12" name="Text 7"/>
          <p:cNvSpPr txBox="1"/>
          <p:nvPr/>
        </p:nvSpPr>
        <p:spPr>
          <a:xfrm>
            <a:off x="7101688" y="1508760"/>
            <a:ext cx="4358488" cy="1158240"/>
          </a:xfrm>
          <a:prstGeom prst="rect">
            <a:avLst/>
          </a:prstGeom>
          <a:noFill/>
          <a:ln/>
        </p:spPr>
        <p:txBody>
          <a:bodyPr wrap="square" lIns="0" tIns="0" rIns="0" bIns="0" rtlCol="0" anchor="ctr"/>
          <a:lstStyle/>
          <a:p>
            <a:pPr indent="0" marL="0">
              <a:buNone/>
            </a:pPr>
            <a:r>
              <a:rPr lang="en-US" sz="1400" dirty="0">
                <a:solidFill>
                  <a:srgbClr val="0A032B"/>
                </a:solidFill>
                <a:latin typeface="Arial" pitchFamily="34" charset="0"/>
                <a:ea typeface="Arial" pitchFamily="34" charset="-122"/>
                <a:cs typeface="Arial" pitchFamily="34" charset="-120"/>
              </a:rPr>
              <a:t>Pieds – Dos – Prise – Appui – Contrepoids.</a:t>
            </a:r>
            <a:endParaRPr lang="en-US" sz="1400" dirty="0"/>
          </a:p>
        </p:txBody>
      </p:sp>
      <p:sp>
        <p:nvSpPr>
          <p:cNvPr id="13" name="Shape 8"/>
          <p:cNvSpPr/>
          <p:nvPr/>
        </p:nvSpPr>
        <p:spPr>
          <a:xfrm>
            <a:off x="548640" y="3032760"/>
            <a:ext cx="5410048" cy="1341120"/>
          </a:xfrm>
          <a:prstGeom prst="roundRect">
            <a:avLst>
              <a:gd name="adj" fmla="val 5455"/>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4" name="Shape 9"/>
          <p:cNvSpPr/>
          <p:nvPr/>
        </p:nvSpPr>
        <p:spPr>
          <a:xfrm>
            <a:off x="777240" y="3474720"/>
            <a:ext cx="457200" cy="457200"/>
          </a:xfrm>
          <a:prstGeom prst="ellipse">
            <a:avLst/>
          </a:prstGeom>
          <a:solidFill>
            <a:srgbClr val="F0EF96"/>
          </a:solidFill>
          <a:ln w="12700">
            <a:solidFill>
              <a:srgbClr val="F0EF96"/>
            </a:solidFill>
            <a:prstDash val="solid"/>
          </a:ln>
        </p:spPr>
      </p:sp>
      <p:pic>
        <p:nvPicPr>
          <p:cNvPr id="15" name="Image 3" descr="preencoded.png">    </p:cNvPr>
          <p:cNvPicPr>
            <a:picLocks noChangeAspect="1"/>
          </p:cNvPicPr>
          <p:nvPr/>
        </p:nvPicPr>
        <p:blipFill>
          <a:blip r:embed="rId4"/>
          <a:stretch>
            <a:fillRect/>
          </a:stretch>
        </p:blipFill>
        <p:spPr>
          <a:xfrm>
            <a:off x="891540" y="3589020"/>
            <a:ext cx="228600" cy="228600"/>
          </a:xfrm>
          <a:prstGeom prst="rect">
            <a:avLst/>
          </a:prstGeom>
        </p:spPr>
      </p:pic>
      <p:sp>
        <p:nvSpPr>
          <p:cNvPr id="16" name="Text 10"/>
          <p:cNvSpPr txBox="1"/>
          <p:nvPr/>
        </p:nvSpPr>
        <p:spPr>
          <a:xfrm>
            <a:off x="1417320" y="3124200"/>
            <a:ext cx="4358488" cy="1158240"/>
          </a:xfrm>
          <a:prstGeom prst="rect">
            <a:avLst/>
          </a:prstGeom>
          <a:noFill/>
          <a:ln/>
        </p:spPr>
        <p:txBody>
          <a:bodyPr wrap="square" lIns="0" tIns="0" rIns="0" bIns="0" rtlCol="0" anchor="ctr"/>
          <a:lstStyle/>
          <a:p>
            <a:pPr indent="0" marL="0">
              <a:buNone/>
            </a:pPr>
            <a:r>
              <a:rPr lang="en-US" sz="1400" dirty="0">
                <a:solidFill>
                  <a:srgbClr val="0A032B"/>
                </a:solidFill>
                <a:latin typeface="Arial" pitchFamily="34" charset="0"/>
                <a:ea typeface="Arial" pitchFamily="34" charset="-122"/>
                <a:cs typeface="Arial" pitchFamily="34" charset="-120"/>
              </a:rPr>
              <a:t>Je soulève avec les jambes, le dos reste droit.</a:t>
            </a:r>
            <a:endParaRPr lang="en-US" sz="1400" dirty="0"/>
          </a:p>
        </p:txBody>
      </p:sp>
      <p:sp>
        <p:nvSpPr>
          <p:cNvPr id="17" name="Shape 11"/>
          <p:cNvSpPr/>
          <p:nvPr/>
        </p:nvSpPr>
        <p:spPr>
          <a:xfrm>
            <a:off x="6233008" y="3032760"/>
            <a:ext cx="5410048" cy="1341120"/>
          </a:xfrm>
          <a:prstGeom prst="roundRect">
            <a:avLst>
              <a:gd name="adj" fmla="val 5455"/>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8" name="Shape 12"/>
          <p:cNvSpPr/>
          <p:nvPr/>
        </p:nvSpPr>
        <p:spPr>
          <a:xfrm>
            <a:off x="6461608" y="3474720"/>
            <a:ext cx="457200" cy="457200"/>
          </a:xfrm>
          <a:prstGeom prst="ellipse">
            <a:avLst/>
          </a:prstGeom>
          <a:solidFill>
            <a:srgbClr val="F0EF96"/>
          </a:solidFill>
          <a:ln w="12700">
            <a:solidFill>
              <a:srgbClr val="F0EF96"/>
            </a:solidFill>
            <a:prstDash val="solid"/>
          </a:ln>
        </p:spPr>
      </p:sp>
      <p:pic>
        <p:nvPicPr>
          <p:cNvPr id="19" name="Image 4" descr="preencoded.png">    </p:cNvPr>
          <p:cNvPicPr>
            <a:picLocks noChangeAspect="1"/>
          </p:cNvPicPr>
          <p:nvPr/>
        </p:nvPicPr>
        <p:blipFill>
          <a:blip r:embed="rId5"/>
          <a:stretch>
            <a:fillRect/>
          </a:stretch>
        </p:blipFill>
        <p:spPr>
          <a:xfrm>
            <a:off x="6575908" y="3589020"/>
            <a:ext cx="228600" cy="228600"/>
          </a:xfrm>
          <a:prstGeom prst="rect">
            <a:avLst/>
          </a:prstGeom>
        </p:spPr>
      </p:pic>
      <p:sp>
        <p:nvSpPr>
          <p:cNvPr id="20" name="Text 13"/>
          <p:cNvSpPr txBox="1"/>
          <p:nvPr/>
        </p:nvSpPr>
        <p:spPr>
          <a:xfrm>
            <a:off x="7101688" y="3124200"/>
            <a:ext cx="4358488" cy="1158240"/>
          </a:xfrm>
          <a:prstGeom prst="rect">
            <a:avLst/>
          </a:prstGeom>
          <a:noFill/>
          <a:ln/>
        </p:spPr>
        <p:txBody>
          <a:bodyPr wrap="square" lIns="0" tIns="0" rIns="0" bIns="0" rtlCol="0" anchor="ctr"/>
          <a:lstStyle/>
          <a:p>
            <a:pPr indent="0" marL="0">
              <a:buNone/>
            </a:pPr>
            <a:r>
              <a:rPr lang="en-US" sz="1400" dirty="0">
                <a:solidFill>
                  <a:srgbClr val="0A032B"/>
                </a:solidFill>
                <a:latin typeface="Arial" pitchFamily="34" charset="0"/>
                <a:ea typeface="Arial" pitchFamily="34" charset="-122"/>
                <a:cs typeface="Arial" pitchFamily="34" charset="-120"/>
              </a:rPr>
              <a:t>La charge reste collée au corps.</a:t>
            </a:r>
            <a:endParaRPr lang="en-US" sz="1400" dirty="0"/>
          </a:p>
        </p:txBody>
      </p:sp>
      <p:sp>
        <p:nvSpPr>
          <p:cNvPr id="21" name="Shape 14"/>
          <p:cNvSpPr/>
          <p:nvPr/>
        </p:nvSpPr>
        <p:spPr>
          <a:xfrm>
            <a:off x="548640" y="4648200"/>
            <a:ext cx="5410048" cy="1341120"/>
          </a:xfrm>
          <a:prstGeom prst="roundRect">
            <a:avLst>
              <a:gd name="adj" fmla="val 5455"/>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22" name="Shape 15"/>
          <p:cNvSpPr/>
          <p:nvPr/>
        </p:nvSpPr>
        <p:spPr>
          <a:xfrm>
            <a:off x="777240" y="5090160"/>
            <a:ext cx="457200" cy="457200"/>
          </a:xfrm>
          <a:prstGeom prst="ellipse">
            <a:avLst/>
          </a:prstGeom>
          <a:solidFill>
            <a:srgbClr val="F0EF96"/>
          </a:solidFill>
          <a:ln w="12700">
            <a:solidFill>
              <a:srgbClr val="F0EF96"/>
            </a:solidFill>
            <a:prstDash val="solid"/>
          </a:ln>
        </p:spPr>
      </p:sp>
      <p:pic>
        <p:nvPicPr>
          <p:cNvPr id="23" name="Image 5" descr="preencoded.png">    </p:cNvPr>
          <p:cNvPicPr>
            <a:picLocks noChangeAspect="1"/>
          </p:cNvPicPr>
          <p:nvPr/>
        </p:nvPicPr>
        <p:blipFill>
          <a:blip r:embed="rId6"/>
          <a:stretch>
            <a:fillRect/>
          </a:stretch>
        </p:blipFill>
        <p:spPr>
          <a:xfrm>
            <a:off x="891540" y="5204460"/>
            <a:ext cx="228600" cy="228600"/>
          </a:xfrm>
          <a:prstGeom prst="rect">
            <a:avLst/>
          </a:prstGeom>
        </p:spPr>
      </p:pic>
      <p:sp>
        <p:nvSpPr>
          <p:cNvPr id="24" name="Text 16"/>
          <p:cNvSpPr txBox="1"/>
          <p:nvPr/>
        </p:nvSpPr>
        <p:spPr>
          <a:xfrm>
            <a:off x="1417320" y="4739640"/>
            <a:ext cx="4358488" cy="1158240"/>
          </a:xfrm>
          <a:prstGeom prst="rect">
            <a:avLst/>
          </a:prstGeom>
          <a:noFill/>
          <a:ln/>
        </p:spPr>
        <p:txBody>
          <a:bodyPr wrap="square" lIns="0" tIns="0" rIns="0" bIns="0" rtlCol="0" anchor="ctr"/>
          <a:lstStyle/>
          <a:p>
            <a:pPr indent="0" marL="0">
              <a:buNone/>
            </a:pPr>
            <a:r>
              <a:rPr lang="en-US" sz="1400" dirty="0">
                <a:solidFill>
                  <a:srgbClr val="0A032B"/>
                </a:solidFill>
                <a:latin typeface="Arial" pitchFamily="34" charset="0"/>
                <a:ea typeface="Arial" pitchFamily="34" charset="-122"/>
                <a:cs typeface="Arial" pitchFamily="34" charset="-120"/>
              </a:rPr>
              <a:t>Je pivote avec les pieds, jamais de torsion.</a:t>
            </a:r>
            <a:endParaRPr lang="en-US" sz="1400" dirty="0"/>
          </a:p>
        </p:txBody>
      </p:sp>
      <p:sp>
        <p:nvSpPr>
          <p:cNvPr id="25" name="Shape 17"/>
          <p:cNvSpPr/>
          <p:nvPr/>
        </p:nvSpPr>
        <p:spPr>
          <a:xfrm>
            <a:off x="6233008" y="4648200"/>
            <a:ext cx="5410048" cy="1341120"/>
          </a:xfrm>
          <a:prstGeom prst="roundRect">
            <a:avLst>
              <a:gd name="adj" fmla="val 5455"/>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26" name="Shape 18"/>
          <p:cNvSpPr/>
          <p:nvPr/>
        </p:nvSpPr>
        <p:spPr>
          <a:xfrm>
            <a:off x="6461608" y="5090160"/>
            <a:ext cx="457200" cy="457200"/>
          </a:xfrm>
          <a:prstGeom prst="ellipse">
            <a:avLst/>
          </a:prstGeom>
          <a:solidFill>
            <a:srgbClr val="F0EF96"/>
          </a:solidFill>
          <a:ln w="12700">
            <a:solidFill>
              <a:srgbClr val="F0EF96"/>
            </a:solidFill>
            <a:prstDash val="solid"/>
          </a:ln>
        </p:spPr>
      </p:sp>
      <p:pic>
        <p:nvPicPr>
          <p:cNvPr id="27" name="Image 6" descr="preencoded.png">    </p:cNvPr>
          <p:cNvPicPr>
            <a:picLocks noChangeAspect="1"/>
          </p:cNvPicPr>
          <p:nvPr/>
        </p:nvPicPr>
        <p:blipFill>
          <a:blip r:embed="rId7"/>
          <a:stretch>
            <a:fillRect/>
          </a:stretch>
        </p:blipFill>
        <p:spPr>
          <a:xfrm>
            <a:off x="6575908" y="5204460"/>
            <a:ext cx="228600" cy="228600"/>
          </a:xfrm>
          <a:prstGeom prst="rect">
            <a:avLst/>
          </a:prstGeom>
        </p:spPr>
      </p:pic>
      <p:sp>
        <p:nvSpPr>
          <p:cNvPr id="28" name="Text 19"/>
          <p:cNvSpPr txBox="1"/>
          <p:nvPr/>
        </p:nvSpPr>
        <p:spPr>
          <a:xfrm>
            <a:off x="7101688" y="4739640"/>
            <a:ext cx="4358488" cy="1158240"/>
          </a:xfrm>
          <a:prstGeom prst="rect">
            <a:avLst/>
          </a:prstGeom>
          <a:noFill/>
          <a:ln/>
        </p:spPr>
        <p:txBody>
          <a:bodyPr wrap="square" lIns="0" tIns="0" rIns="0" bIns="0" rtlCol="0" anchor="ctr"/>
          <a:lstStyle/>
          <a:p>
            <a:pPr indent="0" marL="0">
              <a:buNone/>
            </a:pPr>
            <a:r>
              <a:rPr lang="en-US" sz="1400" dirty="0">
                <a:solidFill>
                  <a:srgbClr val="0A032B"/>
                </a:solidFill>
                <a:latin typeface="Arial" pitchFamily="34" charset="0"/>
                <a:ea typeface="Arial" pitchFamily="34" charset="-122"/>
                <a:cs typeface="Arial" pitchFamily="34" charset="-120"/>
              </a:rPr>
              <a:t>À deux : un meneur, des annonces claires.</a:t>
            </a:r>
            <a:endParaRPr lang="en-US" sz="1400" dirty="0"/>
          </a:p>
        </p:txBody>
      </p:sp>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032B"/>
        </a:solidFill>
      </p:bgPr>
    </p:bg>
    <p:spTree>
      <p:nvGrpSpPr>
        <p:cNvPr id="1" name=""/>
        <p:cNvGrpSpPr/>
        <p:nvPr/>
      </p:nvGrpSpPr>
      <p:grpSpPr>
        <a:xfrm>
          <a:off x="0" y="0"/>
          <a:ext cx="0" cy="0"/>
          <a:chOff x="0" y="0"/>
          <a:chExt cx="0" cy="0"/>
        </a:xfrm>
      </p:grpSpPr>
      <p:sp>
        <p:nvSpPr>
          <p:cNvPr id="2" name="Text 0"/>
          <p:cNvSpPr txBox="1"/>
          <p:nvPr/>
        </p:nvSpPr>
        <p:spPr>
          <a:xfrm>
            <a:off x="548640" y="1371600"/>
            <a:ext cx="3657600" cy="2926080"/>
          </a:xfrm>
          <a:prstGeom prst="rect">
            <a:avLst/>
          </a:prstGeom>
          <a:noFill/>
          <a:ln/>
        </p:spPr>
        <p:txBody>
          <a:bodyPr wrap="square" lIns="0" tIns="0" rIns="0" bIns="0" rtlCol="0" anchor="ctr"/>
          <a:lstStyle/>
          <a:p>
            <a:pPr indent="0" marL="0">
              <a:buNone/>
            </a:pPr>
            <a:r>
              <a:rPr lang="en-US" sz="18000" b="1" dirty="0">
                <a:solidFill>
                  <a:srgbClr val="F0EF96"/>
                </a:solidFill>
                <a:latin typeface="Montserrat" pitchFamily="34" charset="0"/>
                <a:ea typeface="Montserrat" pitchFamily="34" charset="-122"/>
                <a:cs typeface="Montserrat" pitchFamily="34" charset="-120"/>
              </a:rPr>
              <a:t>04</a:t>
            </a:r>
            <a:endParaRPr lang="en-US" sz="18000" dirty="0"/>
          </a:p>
        </p:txBody>
      </p:sp>
      <p:sp>
        <p:nvSpPr>
          <p:cNvPr id="3" name="Text 1"/>
          <p:cNvSpPr txBox="1"/>
          <p:nvPr/>
        </p:nvSpPr>
        <p:spPr>
          <a:xfrm>
            <a:off x="4572000" y="1463040"/>
            <a:ext cx="7040880" cy="411480"/>
          </a:xfrm>
          <a:prstGeom prst="rect">
            <a:avLst/>
          </a:prstGeom>
          <a:noFill/>
          <a:ln/>
        </p:spPr>
        <p:txBody>
          <a:bodyPr wrap="square" lIns="0" tIns="0" rIns="0" bIns="0" rtlCol="0" anchor="ctr"/>
          <a:lstStyle/>
          <a:p>
            <a:pPr indent="0" marL="0">
              <a:buNone/>
            </a:pPr>
            <a:r>
              <a:rPr lang="en-US" sz="1600" b="1" spc="300" kern="0" dirty="0">
                <a:solidFill>
                  <a:srgbClr val="F0EF96"/>
                </a:solidFill>
                <a:latin typeface="Montserrat" pitchFamily="34" charset="0"/>
                <a:ea typeface="Montserrat" pitchFamily="34" charset="-122"/>
                <a:cs typeface="Montserrat" pitchFamily="34" charset="-120"/>
              </a:rPr>
              <a:t>SÉQUENCE 4</a:t>
            </a:r>
            <a:endParaRPr lang="en-US" sz="1600" dirty="0"/>
          </a:p>
        </p:txBody>
      </p:sp>
      <p:sp>
        <p:nvSpPr>
          <p:cNvPr id="4" name="Text 2"/>
          <p:cNvSpPr txBox="1"/>
          <p:nvPr/>
        </p:nvSpPr>
        <p:spPr>
          <a:xfrm>
            <a:off x="4572000" y="1920240"/>
            <a:ext cx="7040880" cy="1645920"/>
          </a:xfrm>
          <a:prstGeom prst="rect">
            <a:avLst/>
          </a:prstGeom>
          <a:noFill/>
          <a:ln/>
        </p:spPr>
        <p:txBody>
          <a:bodyPr wrap="square" lIns="0" tIns="0" rIns="0" bIns="0" rtlCol="0" anchor="t"/>
          <a:lstStyle/>
          <a:p>
            <a:pPr indent="0" marL="0">
              <a:buNone/>
            </a:pPr>
            <a:r>
              <a:rPr lang="en-US" sz="3400" b="1" dirty="0">
                <a:solidFill>
                  <a:srgbClr val="FFFFFF"/>
                </a:solidFill>
                <a:latin typeface="Montserrat" pitchFamily="34" charset="0"/>
                <a:ea typeface="Montserrat" pitchFamily="34" charset="-122"/>
                <a:cs typeface="Montserrat" pitchFamily="34" charset="-120"/>
              </a:rPr>
              <a:t>Utiliser les aides à la manutention disponibles</a:t>
            </a:r>
            <a:endParaRPr lang="en-US" sz="3400" dirty="0"/>
          </a:p>
        </p:txBody>
      </p:sp>
      <p:sp>
        <p:nvSpPr>
          <p:cNvPr id="5" name="Text 3"/>
          <p:cNvSpPr txBox="1"/>
          <p:nvPr/>
        </p:nvSpPr>
        <p:spPr>
          <a:xfrm>
            <a:off x="4572000" y="3657600"/>
            <a:ext cx="7040880" cy="914400"/>
          </a:xfrm>
          <a:prstGeom prst="rect">
            <a:avLst/>
          </a:prstGeom>
          <a:noFill/>
          <a:ln/>
        </p:spPr>
        <p:txBody>
          <a:bodyPr wrap="square" lIns="0" tIns="0" rIns="0" bIns="0" rtlCol="0" anchor="t"/>
          <a:lstStyle/>
          <a:p>
            <a:pPr indent="0" marL="0">
              <a:buNone/>
            </a:pPr>
            <a:r>
              <a:rPr lang="en-US" sz="1500" b="1" dirty="0">
                <a:solidFill>
                  <a:srgbClr val="F0EF96"/>
                </a:solidFill>
                <a:latin typeface="Arial" pitchFamily="34" charset="0"/>
                <a:ea typeface="Arial" pitchFamily="34" charset="-122"/>
                <a:cs typeface="Arial" pitchFamily="34" charset="-120"/>
              </a:rPr>
              <a:t>Objectif  </a:t>
            </a:r>
            <a:pPr indent="0" marL="0">
              <a:buNone/>
            </a:pPr>
            <a:r>
              <a:rPr lang="en-US" sz="1500" dirty="0">
                <a:solidFill>
                  <a:srgbClr val="FFFFFF"/>
                </a:solidFill>
                <a:latin typeface="Arial" pitchFamily="34" charset="0"/>
                <a:ea typeface="Arial" pitchFamily="34" charset="-122"/>
                <a:cs typeface="Arial" pitchFamily="34" charset="-120"/>
              </a:rPr>
              <a:t>Préférer l'aide technique à l'effort et utiliser en sécurité les aides courantes.</a:t>
            </a:r>
            <a:endParaRPr lang="en-US" sz="1500" dirty="0"/>
          </a:p>
        </p:txBody>
      </p:sp>
      <p:sp>
        <p:nvSpPr>
          <p:cNvPr id="6" name="Shape 4"/>
          <p:cNvSpPr/>
          <p:nvPr/>
        </p:nvSpPr>
        <p:spPr>
          <a:xfrm>
            <a:off x="4572000" y="4754880"/>
            <a:ext cx="1463040" cy="411480"/>
          </a:xfrm>
          <a:prstGeom prst="roundRect">
            <a:avLst>
              <a:gd name="adj" fmla="val 48889"/>
            </a:avLst>
          </a:prstGeom>
          <a:solidFill>
            <a:srgbClr val="F0EF96"/>
          </a:solidFill>
          <a:ln w="12700">
            <a:solidFill>
              <a:srgbClr val="F0EF96"/>
            </a:solidFill>
            <a:prstDash val="solid"/>
          </a:ln>
        </p:spPr>
      </p:sp>
      <p:sp>
        <p:nvSpPr>
          <p:cNvPr id="7" name="Text 5"/>
          <p:cNvSpPr txBox="1"/>
          <p:nvPr/>
        </p:nvSpPr>
        <p:spPr>
          <a:xfrm>
            <a:off x="4572000" y="4754880"/>
            <a:ext cx="1463040" cy="411480"/>
          </a:xfrm>
          <a:prstGeom prst="rect">
            <a:avLst/>
          </a:prstGeom>
          <a:noFill/>
          <a:ln/>
        </p:spPr>
        <p:txBody>
          <a:bodyPr wrap="square" lIns="0" tIns="0" rIns="0" bIns="0" rtlCol="0" anchor="ctr"/>
          <a:lstStyle/>
          <a:p>
            <a:pPr algn="ctr" indent="0" marL="0">
              <a:buNone/>
            </a:pPr>
            <a:r>
              <a:rPr lang="en-US" sz="1400" b="1" dirty="0">
                <a:solidFill>
                  <a:srgbClr val="0A032B"/>
                </a:solidFill>
                <a:latin typeface="Montserrat" pitchFamily="34" charset="0"/>
                <a:ea typeface="Montserrat" pitchFamily="34" charset="-122"/>
                <a:cs typeface="Montserrat" pitchFamily="34" charset="-120"/>
              </a:rPr>
              <a:t>45 min</a:t>
            </a:r>
            <a:endParaRPr lang="en-US" sz="1400" dirty="0"/>
          </a:p>
        </p:txBody>
      </p:sp>
      <p:sp>
        <p:nvSpPr>
          <p:cNvPr id="8" name="Text 6"/>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DCDAEA"/>
                </a:solidFill>
                <a:latin typeface="Arial" pitchFamily="34" charset="0"/>
                <a:ea typeface="Arial" pitchFamily="34" charset="-122"/>
                <a:cs typeface="Arial" pitchFamily="34" charset="-120"/>
              </a:rPr>
              <a:t>Gestes et postures de l'élu</a:t>
            </a:r>
            <a:endParaRPr lang="en-US" sz="900" dirty="0"/>
          </a:p>
        </p:txBody>
      </p:sp>
      <p:pic>
        <p:nvPicPr>
          <p:cNvPr id="9" name="Image 0" descr="logo_dark.png">    </p:cNvPr>
          <p:cNvPicPr>
            <a:picLocks noChangeAspect="1"/>
          </p:cNvPicPr>
          <p:nvPr/>
        </p:nvPicPr>
        <p:blipFill>
          <a:blip r:embed="rId1"/>
          <a:stretch>
            <a:fillRect/>
          </a:stretch>
        </p:blipFill>
        <p:spPr>
          <a:xfrm>
            <a:off x="10682935" y="6236208"/>
            <a:ext cx="960120" cy="398441"/>
          </a:xfrm>
          <a:prstGeom prst="rect">
            <a:avLst/>
          </a:prstGeom>
        </p:spPr>
      </p:pic>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DCDAEA"/>
                </a:solidFill>
                <a:latin typeface="Arial"/>
                <a:ea typeface="Arial"/>
                <a:cs typeface="Aria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235440" cy="685800"/>
          </a:xfrm>
          <a:prstGeom prst="rect">
            <a:avLst/>
          </a:prstGeom>
          <a:noFill/>
          <a:ln/>
        </p:spPr>
        <p:txBody>
          <a:bodyPr wrap="square" lIns="0" tIns="0" rIns="0" bIns="0" rtlCol="0" anchor="ctr"/>
          <a:lstStyle/>
          <a:p>
            <a:pPr indent="0" marL="0">
              <a:buNone/>
            </a:pPr>
            <a:r>
              <a:rPr lang="en-US" sz="2800" b="1" dirty="0">
                <a:solidFill>
                  <a:srgbClr val="0A032B"/>
                </a:solidFill>
                <a:latin typeface="Montserrat" pitchFamily="34" charset="0"/>
                <a:ea typeface="Montserrat" pitchFamily="34" charset="-122"/>
                <a:cs typeface="Montserrat" pitchFamily="34" charset="-120"/>
              </a:rPr>
              <a:t>Préférer l'aide technique à l'effort</a:t>
            </a:r>
            <a:endParaRPr lang="en-US" sz="2800" dirty="0"/>
          </a:p>
        </p:txBody>
      </p:sp>
      <p:sp>
        <p:nvSpPr>
          <p:cNvPr id="3" name="Text 1"/>
          <p:cNvSpPr txBox="1"/>
          <p:nvPr/>
        </p:nvSpPr>
        <p:spPr>
          <a:xfrm>
            <a:off x="548640" y="1024128"/>
            <a:ext cx="9235440" cy="365760"/>
          </a:xfrm>
          <a:prstGeom prst="rect">
            <a:avLst/>
          </a:prstGeom>
          <a:noFill/>
          <a:ln/>
        </p:spPr>
        <p:txBody>
          <a:bodyPr wrap="square" lIns="0" tIns="0" rIns="0" bIns="0" rtlCol="0" anchor="ctr"/>
          <a:lstStyle/>
          <a:p>
            <a:pPr indent="0" marL="0">
              <a:buNone/>
            </a:pPr>
            <a:r>
              <a:rPr lang="en-US" sz="1400" i="1" dirty="0">
                <a:solidFill>
                  <a:srgbClr val="5E5A78"/>
                </a:solidFill>
                <a:latin typeface="Arial" pitchFamily="34" charset="0"/>
                <a:ea typeface="Arial" pitchFamily="34" charset="-122"/>
                <a:cs typeface="Arial" pitchFamily="34" charset="-120"/>
              </a:rPr>
              <a:t>La meilleure manutention est celle qu'on n'a pas à faire</a:t>
            </a:r>
            <a:endParaRPr lang="en-US" sz="1400" dirty="0"/>
          </a:p>
        </p:txBody>
      </p:sp>
      <p:sp>
        <p:nvSpPr>
          <p:cNvPr id="4" name="Shape 2"/>
          <p:cNvSpPr/>
          <p:nvPr/>
        </p:nvSpPr>
        <p:spPr>
          <a:xfrm>
            <a:off x="10042855" y="530352"/>
            <a:ext cx="1600200" cy="347472"/>
          </a:xfrm>
          <a:prstGeom prst="roundRect">
            <a:avLst>
              <a:gd name="adj" fmla="val 50000"/>
            </a:avLst>
          </a:prstGeom>
          <a:solidFill>
            <a:srgbClr val="0A032B"/>
          </a:solidFill>
          <a:ln w="12700">
            <a:solidFill>
              <a:srgbClr val="0A032B"/>
            </a:solidFill>
            <a:prstDash val="solid"/>
          </a:ln>
        </p:spPr>
      </p:sp>
      <p:sp>
        <p:nvSpPr>
          <p:cNvPr id="5" name="Text 3"/>
          <p:cNvSpPr txBox="1"/>
          <p:nvPr/>
        </p:nvSpPr>
        <p:spPr>
          <a:xfrm>
            <a:off x="10042855" y="530352"/>
            <a:ext cx="1600200" cy="347472"/>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Montserrat" pitchFamily="34" charset="0"/>
                <a:ea typeface="Montserrat" pitchFamily="34" charset="-122"/>
                <a:cs typeface="Montserrat" pitchFamily="34" charset="-120"/>
              </a:rPr>
              <a:t>THÉORIE</a:t>
            </a:r>
            <a:endParaRPr lang="en-US" sz="1100" dirty="0"/>
          </a:p>
        </p:txBody>
      </p:sp>
      <p:sp>
        <p:nvSpPr>
          <p:cNvPr id="6" name="Text 4"/>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5E5A78"/>
                </a:solidFill>
                <a:latin typeface="Arial" pitchFamily="34" charset="0"/>
                <a:ea typeface="Arial" pitchFamily="34" charset="-122"/>
                <a:cs typeface="Arial" pitchFamily="34" charset="-120"/>
              </a:rPr>
              <a:t>Gestes et postures de l'élu  ·  Séquence 4</a:t>
            </a:r>
            <a:endParaRPr lang="en-US" sz="900" dirty="0"/>
          </a:p>
        </p:txBody>
      </p:sp>
      <p:pic>
        <p:nvPicPr>
          <p:cNvPr id="7" name="Image 0" descr="logo_light.png">    </p:cNvPr>
          <p:cNvPicPr>
            <a:picLocks noChangeAspect="1"/>
          </p:cNvPicPr>
          <p:nvPr/>
        </p:nvPicPr>
        <p:blipFill>
          <a:blip r:embed="rId1"/>
          <a:stretch>
            <a:fillRect/>
          </a:stretch>
        </p:blipFill>
        <p:spPr>
          <a:xfrm>
            <a:off x="10682935" y="6236208"/>
            <a:ext cx="960120" cy="398441"/>
          </a:xfrm>
          <a:prstGeom prst="rect">
            <a:avLst/>
          </a:prstGeom>
        </p:spPr>
      </p:pic>
      <p:sp>
        <p:nvSpPr>
          <p:cNvPr id="8" name="Shape 5"/>
          <p:cNvSpPr/>
          <p:nvPr/>
        </p:nvSpPr>
        <p:spPr>
          <a:xfrm>
            <a:off x="1371600" y="1645920"/>
            <a:ext cx="2926080" cy="914400"/>
          </a:xfrm>
          <a:prstGeom prst="roundRect">
            <a:avLst>
              <a:gd name="adj" fmla="val 8000"/>
            </a:avLst>
          </a:prstGeom>
          <a:solidFill>
            <a:srgbClr val="0A032B"/>
          </a:solidFill>
          <a:ln w="12700">
            <a:solidFill>
              <a:srgbClr val="0A032B"/>
            </a:solidFill>
            <a:prstDash val="solid"/>
          </a:ln>
        </p:spPr>
      </p:sp>
      <p:sp>
        <p:nvSpPr>
          <p:cNvPr id="9" name="Text 6"/>
          <p:cNvSpPr txBox="1"/>
          <p:nvPr/>
        </p:nvSpPr>
        <p:spPr>
          <a:xfrm>
            <a:off x="1508760" y="1645920"/>
            <a:ext cx="2651760"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Montserrat" pitchFamily="34" charset="0"/>
                <a:ea typeface="Montserrat" pitchFamily="34" charset="-122"/>
                <a:cs typeface="Montserrat" pitchFamily="34" charset="-120"/>
              </a:rPr>
              <a:t>1. Supprimer</a:t>
            </a:r>
            <a:endParaRPr lang="en-US" sz="1500" dirty="0"/>
          </a:p>
          <a:p>
            <a:pPr algn="ctr" indent="0" marL="0">
              <a:buNone/>
            </a:pPr>
            <a:r>
              <a:rPr lang="en-US" sz="1150" dirty="0">
                <a:solidFill>
                  <a:srgbClr val="FFFFFF"/>
                </a:solidFill>
                <a:latin typeface="Arial" pitchFamily="34" charset="0"/>
                <a:ea typeface="Arial" pitchFamily="34" charset="-122"/>
                <a:cs typeface="Arial" pitchFamily="34" charset="-120"/>
              </a:rPr>
              <a:t>la manutention (livraison directe, stockage sur place)</a:t>
            </a:r>
            <a:endParaRPr lang="en-US" sz="1500" dirty="0"/>
          </a:p>
        </p:txBody>
      </p:sp>
      <p:sp>
        <p:nvSpPr>
          <p:cNvPr id="10" name="Shape 7"/>
          <p:cNvSpPr/>
          <p:nvPr/>
        </p:nvSpPr>
        <p:spPr>
          <a:xfrm>
            <a:off x="1097280" y="2724912"/>
            <a:ext cx="3474720" cy="914400"/>
          </a:xfrm>
          <a:prstGeom prst="roundRect">
            <a:avLst>
              <a:gd name="adj" fmla="val 8000"/>
            </a:avLst>
          </a:prstGeom>
          <a:solidFill>
            <a:srgbClr val="35305C"/>
          </a:solidFill>
          <a:ln w="12700">
            <a:solidFill>
              <a:srgbClr val="35305C"/>
            </a:solidFill>
            <a:prstDash val="solid"/>
          </a:ln>
        </p:spPr>
      </p:sp>
      <p:sp>
        <p:nvSpPr>
          <p:cNvPr id="11" name="Text 8"/>
          <p:cNvSpPr txBox="1"/>
          <p:nvPr/>
        </p:nvSpPr>
        <p:spPr>
          <a:xfrm>
            <a:off x="1234440" y="2724912"/>
            <a:ext cx="3200400"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Montserrat" pitchFamily="34" charset="0"/>
                <a:ea typeface="Montserrat" pitchFamily="34" charset="-122"/>
                <a:cs typeface="Montserrat" pitchFamily="34" charset="-120"/>
              </a:rPr>
              <a:t>2. Mécaniser</a:t>
            </a:r>
            <a:endParaRPr lang="en-US" sz="1500" dirty="0"/>
          </a:p>
          <a:p>
            <a:pPr algn="ctr" indent="0" marL="0">
              <a:buNone/>
            </a:pPr>
            <a:r>
              <a:rPr lang="en-US" sz="1150" dirty="0">
                <a:solidFill>
                  <a:srgbClr val="FFFFFF"/>
                </a:solidFill>
                <a:latin typeface="Arial" pitchFamily="34" charset="0"/>
                <a:ea typeface="Arial" pitchFamily="34" charset="-122"/>
                <a:cs typeface="Arial" pitchFamily="34" charset="-120"/>
              </a:rPr>
              <a:t>avec une aide technique adaptée</a:t>
            </a:r>
            <a:endParaRPr lang="en-US" sz="1500" dirty="0"/>
          </a:p>
        </p:txBody>
      </p:sp>
      <p:sp>
        <p:nvSpPr>
          <p:cNvPr id="12" name="Shape 9"/>
          <p:cNvSpPr/>
          <p:nvPr/>
        </p:nvSpPr>
        <p:spPr>
          <a:xfrm>
            <a:off x="822960" y="3803904"/>
            <a:ext cx="4023360" cy="914400"/>
          </a:xfrm>
          <a:prstGeom prst="roundRect">
            <a:avLst>
              <a:gd name="adj" fmla="val 8000"/>
            </a:avLst>
          </a:prstGeom>
          <a:solidFill>
            <a:srgbClr val="DCDAEA"/>
          </a:solidFill>
          <a:ln w="12700">
            <a:solidFill>
              <a:srgbClr val="DCDAEA"/>
            </a:solidFill>
            <a:prstDash val="solid"/>
          </a:ln>
        </p:spPr>
      </p:sp>
      <p:sp>
        <p:nvSpPr>
          <p:cNvPr id="13" name="Text 10"/>
          <p:cNvSpPr txBox="1"/>
          <p:nvPr/>
        </p:nvSpPr>
        <p:spPr>
          <a:xfrm>
            <a:off x="960120" y="3803904"/>
            <a:ext cx="3749040" cy="914400"/>
          </a:xfrm>
          <a:prstGeom prst="rect">
            <a:avLst/>
          </a:prstGeom>
          <a:noFill/>
          <a:ln/>
        </p:spPr>
        <p:txBody>
          <a:bodyPr wrap="square" lIns="0" tIns="0" rIns="0" bIns="0" rtlCol="0" anchor="ctr"/>
          <a:lstStyle/>
          <a:p>
            <a:pPr algn="ctr" indent="0" marL="0">
              <a:buNone/>
            </a:pPr>
            <a:r>
              <a:rPr lang="en-US" sz="1500" b="1" dirty="0">
                <a:solidFill>
                  <a:srgbClr val="0A032B"/>
                </a:solidFill>
                <a:latin typeface="Montserrat" pitchFamily="34" charset="0"/>
                <a:ea typeface="Montserrat" pitchFamily="34" charset="-122"/>
                <a:cs typeface="Montserrat" pitchFamily="34" charset="-120"/>
              </a:rPr>
              <a:t>3. Réduire</a:t>
            </a:r>
            <a:endParaRPr lang="en-US" sz="1500" dirty="0"/>
          </a:p>
          <a:p>
            <a:pPr algn="ctr" indent="0" marL="0">
              <a:buNone/>
            </a:pPr>
            <a:r>
              <a:rPr lang="en-US" sz="1150" dirty="0">
                <a:solidFill>
                  <a:srgbClr val="0A032B"/>
                </a:solidFill>
                <a:latin typeface="Arial" pitchFamily="34" charset="0"/>
                <a:ea typeface="Arial" pitchFamily="34" charset="-122"/>
                <a:cs typeface="Arial" pitchFamily="34" charset="-120"/>
              </a:rPr>
              <a:t>le poids, la fréquence, la distance</a:t>
            </a:r>
            <a:endParaRPr lang="en-US" sz="1500" dirty="0"/>
          </a:p>
        </p:txBody>
      </p:sp>
      <p:sp>
        <p:nvSpPr>
          <p:cNvPr id="14" name="Shape 11"/>
          <p:cNvSpPr/>
          <p:nvPr/>
        </p:nvSpPr>
        <p:spPr>
          <a:xfrm>
            <a:off x="548640" y="4882896"/>
            <a:ext cx="4572000" cy="914400"/>
          </a:xfrm>
          <a:prstGeom prst="roundRect">
            <a:avLst>
              <a:gd name="adj" fmla="val 8000"/>
            </a:avLst>
          </a:prstGeom>
          <a:solidFill>
            <a:srgbClr val="F0EF96"/>
          </a:solidFill>
          <a:ln w="12700">
            <a:solidFill>
              <a:srgbClr val="F0EF96"/>
            </a:solidFill>
            <a:prstDash val="solid"/>
          </a:ln>
        </p:spPr>
      </p:sp>
      <p:sp>
        <p:nvSpPr>
          <p:cNvPr id="15" name="Text 12"/>
          <p:cNvSpPr txBox="1"/>
          <p:nvPr/>
        </p:nvSpPr>
        <p:spPr>
          <a:xfrm>
            <a:off x="685800" y="4882896"/>
            <a:ext cx="4297680" cy="914400"/>
          </a:xfrm>
          <a:prstGeom prst="rect">
            <a:avLst/>
          </a:prstGeom>
          <a:noFill/>
          <a:ln/>
        </p:spPr>
        <p:txBody>
          <a:bodyPr wrap="square" lIns="0" tIns="0" rIns="0" bIns="0" rtlCol="0" anchor="ctr"/>
          <a:lstStyle/>
          <a:p>
            <a:pPr algn="ctr" indent="0" marL="0">
              <a:buNone/>
            </a:pPr>
            <a:r>
              <a:rPr lang="en-US" sz="1500" b="1" dirty="0">
                <a:solidFill>
                  <a:srgbClr val="0A032B"/>
                </a:solidFill>
                <a:latin typeface="Montserrat" pitchFamily="34" charset="0"/>
                <a:ea typeface="Montserrat" pitchFamily="34" charset="-122"/>
                <a:cs typeface="Montserrat" pitchFamily="34" charset="-120"/>
              </a:rPr>
              <a:t>4. Former</a:t>
            </a:r>
            <a:endParaRPr lang="en-US" sz="1500" dirty="0"/>
          </a:p>
          <a:p>
            <a:pPr algn="ctr" indent="0" marL="0">
              <a:buNone/>
            </a:pPr>
            <a:r>
              <a:rPr lang="en-US" sz="1150" dirty="0">
                <a:solidFill>
                  <a:srgbClr val="0A032B"/>
                </a:solidFill>
                <a:latin typeface="Arial" pitchFamily="34" charset="0"/>
                <a:ea typeface="Arial" pitchFamily="34" charset="-122"/>
                <a:cs typeface="Arial" pitchFamily="34" charset="-120"/>
              </a:rPr>
              <a:t>aux gestes et postures</a:t>
            </a:r>
            <a:endParaRPr lang="en-US" sz="1500" dirty="0"/>
          </a:p>
        </p:txBody>
      </p:sp>
      <p:sp>
        <p:nvSpPr>
          <p:cNvPr id="16" name="Shape 13"/>
          <p:cNvSpPr/>
          <p:nvPr/>
        </p:nvSpPr>
        <p:spPr>
          <a:xfrm>
            <a:off x="5486400" y="1645920"/>
            <a:ext cx="2941168" cy="2057400"/>
          </a:xfrm>
          <a:prstGeom prst="roundRect">
            <a:avLst>
              <a:gd name="adj" fmla="val 3556"/>
            </a:avLst>
          </a:prstGeom>
          <a:solidFill>
            <a:srgbClr val="EEEDF5"/>
          </a:solidFill>
          <a:ln w="12700">
            <a:solidFill>
              <a:srgbClr val="EEEDF5"/>
            </a:solidFill>
            <a:prstDash val="solid"/>
          </a:ln>
        </p:spPr>
      </p:sp>
      <p:sp>
        <p:nvSpPr>
          <p:cNvPr id="17" name="Shape 14"/>
          <p:cNvSpPr/>
          <p:nvPr/>
        </p:nvSpPr>
        <p:spPr>
          <a:xfrm>
            <a:off x="5715000" y="1874520"/>
            <a:ext cx="548640" cy="548640"/>
          </a:xfrm>
          <a:prstGeom prst="ellipse">
            <a:avLst/>
          </a:prstGeom>
          <a:solidFill>
            <a:srgbClr val="0A032B"/>
          </a:solidFill>
          <a:ln w="12700">
            <a:solidFill>
              <a:srgbClr val="0A032B"/>
            </a:solidFill>
            <a:prstDash val="solid"/>
          </a:ln>
        </p:spPr>
      </p:sp>
      <p:pic>
        <p:nvPicPr>
          <p:cNvPr id="18" name="Image 1" descr="preencoded.png">    </p:cNvPr>
          <p:cNvPicPr>
            <a:picLocks noChangeAspect="1"/>
          </p:cNvPicPr>
          <p:nvPr/>
        </p:nvPicPr>
        <p:blipFill>
          <a:blip r:embed="rId2"/>
          <a:stretch>
            <a:fillRect/>
          </a:stretch>
        </p:blipFill>
        <p:spPr>
          <a:xfrm>
            <a:off x="5852160" y="2011680"/>
            <a:ext cx="274320" cy="274320"/>
          </a:xfrm>
          <a:prstGeom prst="rect">
            <a:avLst/>
          </a:prstGeom>
        </p:spPr>
      </p:pic>
      <p:sp>
        <p:nvSpPr>
          <p:cNvPr id="19" name="Text 15"/>
          <p:cNvSpPr txBox="1"/>
          <p:nvPr/>
        </p:nvSpPr>
        <p:spPr>
          <a:xfrm>
            <a:off x="6446520" y="1874520"/>
            <a:ext cx="1752448" cy="548640"/>
          </a:xfrm>
          <a:prstGeom prst="rect">
            <a:avLst/>
          </a:prstGeom>
          <a:noFill/>
          <a:ln/>
        </p:spPr>
        <p:txBody>
          <a:bodyPr wrap="square" lIns="0" tIns="0" rIns="0" bIns="0" rtlCol="0" anchor="ctr"/>
          <a:lstStyle/>
          <a:p>
            <a:pPr indent="0" marL="0">
              <a:buNone/>
            </a:pPr>
            <a:r>
              <a:rPr lang="en-US" sz="1400" b="1" dirty="0">
                <a:solidFill>
                  <a:srgbClr val="0A032B"/>
                </a:solidFill>
                <a:latin typeface="Montserrat" pitchFamily="34" charset="0"/>
                <a:ea typeface="Montserrat" pitchFamily="34" charset="-122"/>
                <a:cs typeface="Montserrat" pitchFamily="34" charset="-120"/>
              </a:rPr>
              <a:t>Diable</a:t>
            </a:r>
            <a:endParaRPr lang="en-US" sz="1400" dirty="0"/>
          </a:p>
        </p:txBody>
      </p:sp>
      <p:sp>
        <p:nvSpPr>
          <p:cNvPr id="20" name="Text 16"/>
          <p:cNvSpPr txBox="1"/>
          <p:nvPr/>
        </p:nvSpPr>
        <p:spPr>
          <a:xfrm>
            <a:off x="5715000" y="2560320"/>
            <a:ext cx="2483968" cy="1005840"/>
          </a:xfrm>
          <a:prstGeom prst="rect">
            <a:avLst/>
          </a:prstGeom>
          <a:noFill/>
          <a:ln/>
        </p:spPr>
        <p:txBody>
          <a:bodyPr wrap="square" lIns="0" tIns="0" rIns="0" bIns="0" rtlCol="0" anchor="t"/>
          <a:lstStyle/>
          <a:p>
            <a:pPr indent="0" marL="0">
              <a:buNone/>
            </a:pPr>
            <a:r>
              <a:rPr lang="en-US" sz="1250" dirty="0">
                <a:solidFill>
                  <a:srgbClr val="35305C"/>
                </a:solidFill>
                <a:latin typeface="Arial" pitchFamily="34" charset="0"/>
                <a:ea typeface="Arial" pitchFamily="34" charset="-122"/>
                <a:cs typeface="Arial" pitchFamily="34" charset="-120"/>
              </a:rPr>
              <a:t>Cartons, caisses, bonbonnes. Trouver le point d'équilibre, basculer avec le pied.</a:t>
            </a:r>
            <a:endParaRPr lang="en-US" sz="1250" dirty="0"/>
          </a:p>
        </p:txBody>
      </p:sp>
      <p:sp>
        <p:nvSpPr>
          <p:cNvPr id="21" name="Shape 17"/>
          <p:cNvSpPr/>
          <p:nvPr/>
        </p:nvSpPr>
        <p:spPr>
          <a:xfrm>
            <a:off x="8701888" y="1645920"/>
            <a:ext cx="2941168" cy="2057400"/>
          </a:xfrm>
          <a:prstGeom prst="roundRect">
            <a:avLst>
              <a:gd name="adj" fmla="val 3556"/>
            </a:avLst>
          </a:prstGeom>
          <a:solidFill>
            <a:srgbClr val="EEEDF5"/>
          </a:solidFill>
          <a:ln w="12700">
            <a:solidFill>
              <a:srgbClr val="EEEDF5"/>
            </a:solidFill>
            <a:prstDash val="solid"/>
          </a:ln>
        </p:spPr>
      </p:sp>
      <p:sp>
        <p:nvSpPr>
          <p:cNvPr id="22" name="Shape 18"/>
          <p:cNvSpPr/>
          <p:nvPr/>
        </p:nvSpPr>
        <p:spPr>
          <a:xfrm>
            <a:off x="8930488" y="1874520"/>
            <a:ext cx="548640" cy="548640"/>
          </a:xfrm>
          <a:prstGeom prst="ellipse">
            <a:avLst/>
          </a:prstGeom>
          <a:solidFill>
            <a:srgbClr val="0A032B"/>
          </a:solidFill>
          <a:ln w="12700">
            <a:solidFill>
              <a:srgbClr val="0A032B"/>
            </a:solidFill>
            <a:prstDash val="solid"/>
          </a:ln>
        </p:spPr>
      </p:sp>
      <p:pic>
        <p:nvPicPr>
          <p:cNvPr id="23" name="Image 2" descr="preencoded.png">    </p:cNvPr>
          <p:cNvPicPr>
            <a:picLocks noChangeAspect="1"/>
          </p:cNvPicPr>
          <p:nvPr/>
        </p:nvPicPr>
        <p:blipFill>
          <a:blip r:embed="rId3"/>
          <a:stretch>
            <a:fillRect/>
          </a:stretch>
        </p:blipFill>
        <p:spPr>
          <a:xfrm>
            <a:off x="9067648" y="2011680"/>
            <a:ext cx="274320" cy="274320"/>
          </a:xfrm>
          <a:prstGeom prst="rect">
            <a:avLst/>
          </a:prstGeom>
        </p:spPr>
      </p:pic>
      <p:sp>
        <p:nvSpPr>
          <p:cNvPr id="24" name="Text 19"/>
          <p:cNvSpPr txBox="1"/>
          <p:nvPr/>
        </p:nvSpPr>
        <p:spPr>
          <a:xfrm>
            <a:off x="9662008" y="1874520"/>
            <a:ext cx="1752448" cy="548640"/>
          </a:xfrm>
          <a:prstGeom prst="rect">
            <a:avLst/>
          </a:prstGeom>
          <a:noFill/>
          <a:ln/>
        </p:spPr>
        <p:txBody>
          <a:bodyPr wrap="square" lIns="0" tIns="0" rIns="0" bIns="0" rtlCol="0" anchor="ctr"/>
          <a:lstStyle/>
          <a:p>
            <a:pPr indent="0" marL="0">
              <a:buNone/>
            </a:pPr>
            <a:r>
              <a:rPr lang="en-US" sz="1400" b="1" dirty="0">
                <a:solidFill>
                  <a:srgbClr val="0A032B"/>
                </a:solidFill>
                <a:latin typeface="Montserrat" pitchFamily="34" charset="0"/>
                <a:ea typeface="Montserrat" pitchFamily="34" charset="-122"/>
                <a:cs typeface="Montserrat" pitchFamily="34" charset="-120"/>
              </a:rPr>
              <a:t>Chariot</a:t>
            </a:r>
            <a:endParaRPr lang="en-US" sz="1400" dirty="0"/>
          </a:p>
        </p:txBody>
      </p:sp>
      <p:sp>
        <p:nvSpPr>
          <p:cNvPr id="25" name="Text 20"/>
          <p:cNvSpPr txBox="1"/>
          <p:nvPr/>
        </p:nvSpPr>
        <p:spPr>
          <a:xfrm>
            <a:off x="8930488" y="2560320"/>
            <a:ext cx="2483968" cy="1005840"/>
          </a:xfrm>
          <a:prstGeom prst="rect">
            <a:avLst/>
          </a:prstGeom>
          <a:noFill/>
          <a:ln/>
        </p:spPr>
        <p:txBody>
          <a:bodyPr wrap="square" lIns="0" tIns="0" rIns="0" bIns="0" rtlCol="0" anchor="t"/>
          <a:lstStyle/>
          <a:p>
            <a:pPr indent="0" marL="0">
              <a:buNone/>
            </a:pPr>
            <a:r>
              <a:rPr lang="en-US" sz="1250" dirty="0">
                <a:solidFill>
                  <a:srgbClr val="35305C"/>
                </a:solidFill>
                <a:latin typeface="Arial" pitchFamily="34" charset="0"/>
                <a:ea typeface="Arial" pitchFamily="34" charset="-122"/>
                <a:cs typeface="Arial" pitchFamily="34" charset="-120"/>
              </a:rPr>
              <a:t>Matériel de réunion, vaisselle, documents. Pousser plutôt que tirer.</a:t>
            </a:r>
            <a:endParaRPr lang="en-US" sz="1250" dirty="0"/>
          </a:p>
        </p:txBody>
      </p:sp>
      <p:sp>
        <p:nvSpPr>
          <p:cNvPr id="26" name="Shape 21"/>
          <p:cNvSpPr/>
          <p:nvPr/>
        </p:nvSpPr>
        <p:spPr>
          <a:xfrm>
            <a:off x="5486400" y="3977640"/>
            <a:ext cx="2941168" cy="2057400"/>
          </a:xfrm>
          <a:prstGeom prst="roundRect">
            <a:avLst>
              <a:gd name="adj" fmla="val 3556"/>
            </a:avLst>
          </a:prstGeom>
          <a:solidFill>
            <a:srgbClr val="EEEDF5"/>
          </a:solidFill>
          <a:ln w="12700">
            <a:solidFill>
              <a:srgbClr val="EEEDF5"/>
            </a:solidFill>
            <a:prstDash val="solid"/>
          </a:ln>
        </p:spPr>
      </p:sp>
      <p:sp>
        <p:nvSpPr>
          <p:cNvPr id="27" name="Shape 22"/>
          <p:cNvSpPr/>
          <p:nvPr/>
        </p:nvSpPr>
        <p:spPr>
          <a:xfrm>
            <a:off x="5715000" y="4206240"/>
            <a:ext cx="548640" cy="548640"/>
          </a:xfrm>
          <a:prstGeom prst="ellipse">
            <a:avLst/>
          </a:prstGeom>
          <a:solidFill>
            <a:srgbClr val="0A032B"/>
          </a:solidFill>
          <a:ln w="12700">
            <a:solidFill>
              <a:srgbClr val="0A032B"/>
            </a:solidFill>
            <a:prstDash val="solid"/>
          </a:ln>
        </p:spPr>
      </p:sp>
      <p:pic>
        <p:nvPicPr>
          <p:cNvPr id="28" name="Image 3" descr="preencoded.png">    </p:cNvPr>
          <p:cNvPicPr>
            <a:picLocks noChangeAspect="1"/>
          </p:cNvPicPr>
          <p:nvPr/>
        </p:nvPicPr>
        <p:blipFill>
          <a:blip r:embed="rId4"/>
          <a:stretch>
            <a:fillRect/>
          </a:stretch>
        </p:blipFill>
        <p:spPr>
          <a:xfrm>
            <a:off x="5852160" y="4343400"/>
            <a:ext cx="274320" cy="274320"/>
          </a:xfrm>
          <a:prstGeom prst="rect">
            <a:avLst/>
          </a:prstGeom>
        </p:spPr>
      </p:pic>
      <p:sp>
        <p:nvSpPr>
          <p:cNvPr id="29" name="Text 23"/>
          <p:cNvSpPr txBox="1"/>
          <p:nvPr/>
        </p:nvSpPr>
        <p:spPr>
          <a:xfrm>
            <a:off x="6446520" y="4206240"/>
            <a:ext cx="1752448" cy="548640"/>
          </a:xfrm>
          <a:prstGeom prst="rect">
            <a:avLst/>
          </a:prstGeom>
          <a:noFill/>
          <a:ln/>
        </p:spPr>
        <p:txBody>
          <a:bodyPr wrap="square" lIns="0" tIns="0" rIns="0" bIns="0" rtlCol="0" anchor="ctr"/>
          <a:lstStyle/>
          <a:p>
            <a:pPr indent="0" marL="0">
              <a:buNone/>
            </a:pPr>
            <a:r>
              <a:rPr lang="en-US" sz="1400" b="1" dirty="0">
                <a:solidFill>
                  <a:srgbClr val="0A032B"/>
                </a:solidFill>
                <a:latin typeface="Montserrat" pitchFamily="34" charset="0"/>
                <a:ea typeface="Montserrat" pitchFamily="34" charset="-122"/>
                <a:cs typeface="Montserrat" pitchFamily="34" charset="-120"/>
              </a:rPr>
              <a:t>Sangles de portage</a:t>
            </a:r>
            <a:endParaRPr lang="en-US" sz="1400" dirty="0"/>
          </a:p>
        </p:txBody>
      </p:sp>
      <p:sp>
        <p:nvSpPr>
          <p:cNvPr id="30" name="Text 24"/>
          <p:cNvSpPr txBox="1"/>
          <p:nvPr/>
        </p:nvSpPr>
        <p:spPr>
          <a:xfrm>
            <a:off x="5715000" y="4892040"/>
            <a:ext cx="2483968" cy="1005840"/>
          </a:xfrm>
          <a:prstGeom prst="rect">
            <a:avLst/>
          </a:prstGeom>
          <a:noFill/>
          <a:ln/>
        </p:spPr>
        <p:txBody>
          <a:bodyPr wrap="square" lIns="0" tIns="0" rIns="0" bIns="0" rtlCol="0" anchor="t"/>
          <a:lstStyle/>
          <a:p>
            <a:pPr indent="0" marL="0">
              <a:buNone/>
            </a:pPr>
            <a:r>
              <a:rPr lang="en-US" sz="1250" dirty="0">
                <a:solidFill>
                  <a:srgbClr val="35305C"/>
                </a:solidFill>
                <a:latin typeface="Arial" pitchFamily="34" charset="0"/>
                <a:ea typeface="Arial" pitchFamily="34" charset="-122"/>
                <a:cs typeface="Arial" pitchFamily="34" charset="-120"/>
              </a:rPr>
              <a:t>Charges encombrantes à deux : les jambes travaillent, le dos reste droit.</a:t>
            </a:r>
            <a:endParaRPr lang="en-US" sz="1250" dirty="0"/>
          </a:p>
        </p:txBody>
      </p:sp>
      <p:sp>
        <p:nvSpPr>
          <p:cNvPr id="31" name="Shape 25"/>
          <p:cNvSpPr/>
          <p:nvPr/>
        </p:nvSpPr>
        <p:spPr>
          <a:xfrm>
            <a:off x="8701888" y="3977640"/>
            <a:ext cx="2941168" cy="2057400"/>
          </a:xfrm>
          <a:prstGeom prst="roundRect">
            <a:avLst>
              <a:gd name="adj" fmla="val 3556"/>
            </a:avLst>
          </a:prstGeom>
          <a:solidFill>
            <a:srgbClr val="EEEDF5"/>
          </a:solidFill>
          <a:ln w="12700">
            <a:solidFill>
              <a:srgbClr val="EEEDF5"/>
            </a:solidFill>
            <a:prstDash val="solid"/>
          </a:ln>
        </p:spPr>
      </p:sp>
      <p:sp>
        <p:nvSpPr>
          <p:cNvPr id="32" name="Shape 26"/>
          <p:cNvSpPr/>
          <p:nvPr/>
        </p:nvSpPr>
        <p:spPr>
          <a:xfrm>
            <a:off x="8930488" y="4206240"/>
            <a:ext cx="548640" cy="548640"/>
          </a:xfrm>
          <a:prstGeom prst="ellipse">
            <a:avLst/>
          </a:prstGeom>
          <a:solidFill>
            <a:srgbClr val="0A032B"/>
          </a:solidFill>
          <a:ln w="12700">
            <a:solidFill>
              <a:srgbClr val="0A032B"/>
            </a:solidFill>
            <a:prstDash val="solid"/>
          </a:ln>
        </p:spPr>
      </p:sp>
      <p:pic>
        <p:nvPicPr>
          <p:cNvPr id="33" name="Image 4" descr="preencoded.png">    </p:cNvPr>
          <p:cNvPicPr>
            <a:picLocks noChangeAspect="1"/>
          </p:cNvPicPr>
          <p:nvPr/>
        </p:nvPicPr>
        <p:blipFill>
          <a:blip r:embed="rId5"/>
          <a:stretch>
            <a:fillRect/>
          </a:stretch>
        </p:blipFill>
        <p:spPr>
          <a:xfrm>
            <a:off x="9067648" y="4343400"/>
            <a:ext cx="274320" cy="274320"/>
          </a:xfrm>
          <a:prstGeom prst="rect">
            <a:avLst/>
          </a:prstGeom>
        </p:spPr>
      </p:pic>
      <p:sp>
        <p:nvSpPr>
          <p:cNvPr id="34" name="Text 27"/>
          <p:cNvSpPr txBox="1"/>
          <p:nvPr/>
        </p:nvSpPr>
        <p:spPr>
          <a:xfrm>
            <a:off x="9662008" y="4206240"/>
            <a:ext cx="1752448" cy="548640"/>
          </a:xfrm>
          <a:prstGeom prst="rect">
            <a:avLst/>
          </a:prstGeom>
          <a:noFill/>
          <a:ln/>
        </p:spPr>
        <p:txBody>
          <a:bodyPr wrap="square" lIns="0" tIns="0" rIns="0" bIns="0" rtlCol="0" anchor="ctr"/>
          <a:lstStyle/>
          <a:p>
            <a:pPr indent="0" marL="0">
              <a:buNone/>
            </a:pPr>
            <a:r>
              <a:rPr lang="en-US" sz="1400" b="1" dirty="0">
                <a:solidFill>
                  <a:srgbClr val="0A032B"/>
                </a:solidFill>
                <a:latin typeface="Montserrat" pitchFamily="34" charset="0"/>
                <a:ea typeface="Montserrat" pitchFamily="34" charset="-122"/>
                <a:cs typeface="Montserrat" pitchFamily="34" charset="-120"/>
              </a:rPr>
              <a:t>Plan incliné / rampe</a:t>
            </a:r>
            <a:endParaRPr lang="en-US" sz="1400" dirty="0"/>
          </a:p>
        </p:txBody>
      </p:sp>
      <p:sp>
        <p:nvSpPr>
          <p:cNvPr id="35" name="Text 28"/>
          <p:cNvSpPr txBox="1"/>
          <p:nvPr/>
        </p:nvSpPr>
        <p:spPr>
          <a:xfrm>
            <a:off x="8930488" y="4892040"/>
            <a:ext cx="2483968" cy="1005840"/>
          </a:xfrm>
          <a:prstGeom prst="rect">
            <a:avLst/>
          </a:prstGeom>
          <a:noFill/>
          <a:ln/>
        </p:spPr>
        <p:txBody>
          <a:bodyPr wrap="square" lIns="0" tIns="0" rIns="0" bIns="0" rtlCol="0" anchor="t"/>
          <a:lstStyle/>
          <a:p>
            <a:pPr indent="0" marL="0">
              <a:buNone/>
            </a:pPr>
            <a:r>
              <a:rPr lang="en-US" sz="1250" dirty="0">
                <a:solidFill>
                  <a:srgbClr val="35305C"/>
                </a:solidFill>
                <a:latin typeface="Arial" pitchFamily="34" charset="0"/>
                <a:ea typeface="Arial" pitchFamily="34" charset="-122"/>
                <a:cs typeface="Arial" pitchFamily="34" charset="-120"/>
              </a:rPr>
              <a:t>Franchir marches et quais sans soulever la charge.</a:t>
            </a:r>
            <a:endParaRPr lang="en-US" sz="1250" dirty="0"/>
          </a:p>
        </p:txBody>
      </p:sp>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235440" cy="685800"/>
          </a:xfrm>
          <a:prstGeom prst="rect">
            <a:avLst/>
          </a:prstGeom>
          <a:noFill/>
          <a:ln/>
        </p:spPr>
        <p:txBody>
          <a:bodyPr wrap="square" lIns="0" tIns="0" rIns="0" bIns="0" rtlCol="0" anchor="ctr"/>
          <a:lstStyle/>
          <a:p>
            <a:pPr indent="0" marL="0">
              <a:buNone/>
            </a:pPr>
            <a:r>
              <a:rPr lang="en-US" sz="2800" b="1" dirty="0">
                <a:solidFill>
                  <a:srgbClr val="0A032B"/>
                </a:solidFill>
                <a:latin typeface="Montserrat" pitchFamily="34" charset="0"/>
                <a:ea typeface="Montserrat" pitchFamily="34" charset="-122"/>
                <a:cs typeface="Montserrat" pitchFamily="34" charset="-120"/>
              </a:rPr>
              <a:t>Bien utiliser les aides à la manutention</a:t>
            </a:r>
            <a:endParaRPr lang="en-US" sz="2800" dirty="0"/>
          </a:p>
        </p:txBody>
      </p:sp>
      <p:sp>
        <p:nvSpPr>
          <p:cNvPr id="3" name="Text 1"/>
          <p:cNvSpPr txBox="1"/>
          <p:nvPr/>
        </p:nvSpPr>
        <p:spPr>
          <a:xfrm>
            <a:off x="548640" y="1024128"/>
            <a:ext cx="9235440" cy="365760"/>
          </a:xfrm>
          <a:prstGeom prst="rect">
            <a:avLst/>
          </a:prstGeom>
          <a:noFill/>
          <a:ln/>
        </p:spPr>
        <p:txBody>
          <a:bodyPr wrap="square" lIns="0" tIns="0" rIns="0" bIns="0" rtlCol="0" anchor="ctr"/>
          <a:lstStyle/>
          <a:p>
            <a:pPr indent="0" marL="0">
              <a:buNone/>
            </a:pPr>
            <a:r>
              <a:rPr lang="en-US" sz="1400" i="1" dirty="0">
                <a:solidFill>
                  <a:srgbClr val="5E5A78"/>
                </a:solidFill>
                <a:latin typeface="Arial" pitchFamily="34" charset="0"/>
                <a:ea typeface="Arial" pitchFamily="34" charset="-122"/>
                <a:cs typeface="Arial" pitchFamily="34" charset="-120"/>
              </a:rPr>
              <a:t>Une aide mal utilisée peut créer un nouveau risque</a:t>
            </a:r>
            <a:endParaRPr lang="en-US" sz="1400" dirty="0"/>
          </a:p>
        </p:txBody>
      </p:sp>
      <p:sp>
        <p:nvSpPr>
          <p:cNvPr id="4" name="Shape 2"/>
          <p:cNvSpPr/>
          <p:nvPr/>
        </p:nvSpPr>
        <p:spPr>
          <a:xfrm>
            <a:off x="10042855" y="530352"/>
            <a:ext cx="1600200" cy="347472"/>
          </a:xfrm>
          <a:prstGeom prst="roundRect">
            <a:avLst>
              <a:gd name="adj" fmla="val 50000"/>
            </a:avLst>
          </a:prstGeom>
          <a:solidFill>
            <a:srgbClr val="0A032B"/>
          </a:solidFill>
          <a:ln w="12700">
            <a:solidFill>
              <a:srgbClr val="0A032B"/>
            </a:solidFill>
            <a:prstDash val="solid"/>
          </a:ln>
        </p:spPr>
      </p:sp>
      <p:sp>
        <p:nvSpPr>
          <p:cNvPr id="5" name="Text 3"/>
          <p:cNvSpPr txBox="1"/>
          <p:nvPr/>
        </p:nvSpPr>
        <p:spPr>
          <a:xfrm>
            <a:off x="10042855" y="530352"/>
            <a:ext cx="1600200" cy="347472"/>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Montserrat" pitchFamily="34" charset="0"/>
                <a:ea typeface="Montserrat" pitchFamily="34" charset="-122"/>
                <a:cs typeface="Montserrat" pitchFamily="34" charset="-120"/>
              </a:rPr>
              <a:t>THÉORIE</a:t>
            </a:r>
            <a:endParaRPr lang="en-US" sz="1100" dirty="0"/>
          </a:p>
        </p:txBody>
      </p:sp>
      <p:sp>
        <p:nvSpPr>
          <p:cNvPr id="6" name="Text 4"/>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5E5A78"/>
                </a:solidFill>
                <a:latin typeface="Arial" pitchFamily="34" charset="0"/>
                <a:ea typeface="Arial" pitchFamily="34" charset="-122"/>
                <a:cs typeface="Arial" pitchFamily="34" charset="-120"/>
              </a:rPr>
              <a:t>Gestes et postures de l'élu  ·  Séquence 4</a:t>
            </a:r>
            <a:endParaRPr lang="en-US" sz="900" dirty="0"/>
          </a:p>
        </p:txBody>
      </p:sp>
      <p:pic>
        <p:nvPicPr>
          <p:cNvPr id="7" name="Image 0" descr="logo_light.png">    </p:cNvPr>
          <p:cNvPicPr>
            <a:picLocks noChangeAspect="1"/>
          </p:cNvPicPr>
          <p:nvPr/>
        </p:nvPicPr>
        <p:blipFill>
          <a:blip r:embed="rId1"/>
          <a:stretch>
            <a:fillRect/>
          </a:stretch>
        </p:blipFill>
        <p:spPr>
          <a:xfrm>
            <a:off x="10682935" y="6236208"/>
            <a:ext cx="960120" cy="398441"/>
          </a:xfrm>
          <a:prstGeom prst="rect">
            <a:avLst/>
          </a:prstGeom>
        </p:spPr>
      </p:pic>
      <p:sp>
        <p:nvSpPr>
          <p:cNvPr id="8" name="Shape 5"/>
          <p:cNvSpPr/>
          <p:nvPr/>
        </p:nvSpPr>
        <p:spPr>
          <a:xfrm>
            <a:off x="548640" y="1554480"/>
            <a:ext cx="3515258" cy="2103120"/>
          </a:xfrm>
          <a:prstGeom prst="roundRect">
            <a:avLst>
              <a:gd name="adj" fmla="val 3478"/>
            </a:avLst>
          </a:prstGeom>
          <a:solidFill>
            <a:srgbClr val="EEEDF5"/>
          </a:solidFill>
          <a:ln w="12700">
            <a:solidFill>
              <a:srgbClr val="EEEDF5"/>
            </a:solidFill>
            <a:prstDash val="solid"/>
          </a:ln>
        </p:spPr>
      </p:sp>
      <p:sp>
        <p:nvSpPr>
          <p:cNvPr id="9" name="Shape 6"/>
          <p:cNvSpPr/>
          <p:nvPr/>
        </p:nvSpPr>
        <p:spPr>
          <a:xfrm>
            <a:off x="777240" y="1783080"/>
            <a:ext cx="548640" cy="548640"/>
          </a:xfrm>
          <a:prstGeom prst="ellipse">
            <a:avLst/>
          </a:prstGeom>
          <a:solidFill>
            <a:srgbClr val="0A032B"/>
          </a:solidFill>
          <a:ln w="12700">
            <a:solidFill>
              <a:srgbClr val="0A032B"/>
            </a:solidFill>
            <a:prstDash val="solid"/>
          </a:ln>
        </p:spPr>
      </p:sp>
      <p:pic>
        <p:nvPicPr>
          <p:cNvPr id="10" name="Image 1" descr="preencoded.png">    </p:cNvPr>
          <p:cNvPicPr>
            <a:picLocks noChangeAspect="1"/>
          </p:cNvPicPr>
          <p:nvPr/>
        </p:nvPicPr>
        <p:blipFill>
          <a:blip r:embed="rId2"/>
          <a:stretch>
            <a:fillRect/>
          </a:stretch>
        </p:blipFill>
        <p:spPr>
          <a:xfrm>
            <a:off x="914400" y="1920240"/>
            <a:ext cx="274320" cy="274320"/>
          </a:xfrm>
          <a:prstGeom prst="rect">
            <a:avLst/>
          </a:prstGeom>
        </p:spPr>
      </p:pic>
      <p:sp>
        <p:nvSpPr>
          <p:cNvPr id="11" name="Text 7"/>
          <p:cNvSpPr txBox="1"/>
          <p:nvPr/>
        </p:nvSpPr>
        <p:spPr>
          <a:xfrm>
            <a:off x="1508760" y="1783080"/>
            <a:ext cx="2326538" cy="5486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Le diable</a:t>
            </a:r>
            <a:endParaRPr lang="en-US" sz="1500" dirty="0"/>
          </a:p>
        </p:txBody>
      </p:sp>
      <p:sp>
        <p:nvSpPr>
          <p:cNvPr id="12" name="Text 8"/>
          <p:cNvSpPr txBox="1"/>
          <p:nvPr/>
        </p:nvSpPr>
        <p:spPr>
          <a:xfrm>
            <a:off x="777240" y="2468880"/>
            <a:ext cx="3058058" cy="1051560"/>
          </a:xfrm>
          <a:prstGeom prst="rect">
            <a:avLst/>
          </a:prstGeom>
          <a:noFill/>
          <a:ln/>
        </p:spPr>
        <p:txBody>
          <a:bodyPr wrap="square" lIns="0" tIns="0" rIns="0" bIns="0" rtlCol="0" anchor="t"/>
          <a:lstStyle/>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Charge lourde en bas, plaquée contre le dossier</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Basculer avec le pied jusqu'au point d'équilibre</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Monter une marche en marche arrière</a:t>
            </a:r>
            <a:endParaRPr lang="en-US" sz="1250" dirty="0"/>
          </a:p>
        </p:txBody>
      </p:sp>
      <p:sp>
        <p:nvSpPr>
          <p:cNvPr id="13" name="Shape 9"/>
          <p:cNvSpPr/>
          <p:nvPr/>
        </p:nvSpPr>
        <p:spPr>
          <a:xfrm>
            <a:off x="4338218" y="1554480"/>
            <a:ext cx="3515258" cy="2103120"/>
          </a:xfrm>
          <a:prstGeom prst="roundRect">
            <a:avLst>
              <a:gd name="adj" fmla="val 3478"/>
            </a:avLst>
          </a:prstGeom>
          <a:solidFill>
            <a:srgbClr val="EEEDF5"/>
          </a:solidFill>
          <a:ln w="12700">
            <a:solidFill>
              <a:srgbClr val="EEEDF5"/>
            </a:solidFill>
            <a:prstDash val="solid"/>
          </a:ln>
        </p:spPr>
      </p:sp>
      <p:sp>
        <p:nvSpPr>
          <p:cNvPr id="14" name="Shape 10"/>
          <p:cNvSpPr/>
          <p:nvPr/>
        </p:nvSpPr>
        <p:spPr>
          <a:xfrm>
            <a:off x="4566818" y="1783080"/>
            <a:ext cx="548640" cy="548640"/>
          </a:xfrm>
          <a:prstGeom prst="ellipse">
            <a:avLst/>
          </a:prstGeom>
          <a:solidFill>
            <a:srgbClr val="0A032B"/>
          </a:solidFill>
          <a:ln w="12700">
            <a:solidFill>
              <a:srgbClr val="0A032B"/>
            </a:solidFill>
            <a:prstDash val="solid"/>
          </a:ln>
        </p:spPr>
      </p:sp>
      <p:pic>
        <p:nvPicPr>
          <p:cNvPr id="15" name="Image 2" descr="preencoded.png">    </p:cNvPr>
          <p:cNvPicPr>
            <a:picLocks noChangeAspect="1"/>
          </p:cNvPicPr>
          <p:nvPr/>
        </p:nvPicPr>
        <p:blipFill>
          <a:blip r:embed="rId3"/>
          <a:stretch>
            <a:fillRect/>
          </a:stretch>
        </p:blipFill>
        <p:spPr>
          <a:xfrm>
            <a:off x="4703978" y="1920240"/>
            <a:ext cx="274320" cy="274320"/>
          </a:xfrm>
          <a:prstGeom prst="rect">
            <a:avLst/>
          </a:prstGeom>
        </p:spPr>
      </p:pic>
      <p:sp>
        <p:nvSpPr>
          <p:cNvPr id="16" name="Text 11"/>
          <p:cNvSpPr txBox="1"/>
          <p:nvPr/>
        </p:nvSpPr>
        <p:spPr>
          <a:xfrm>
            <a:off x="5298338" y="1783080"/>
            <a:ext cx="2326538" cy="5486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Le chariot</a:t>
            </a:r>
            <a:endParaRPr lang="en-US" sz="1500" dirty="0"/>
          </a:p>
        </p:txBody>
      </p:sp>
      <p:sp>
        <p:nvSpPr>
          <p:cNvPr id="17" name="Text 12"/>
          <p:cNvSpPr txBox="1"/>
          <p:nvPr/>
        </p:nvSpPr>
        <p:spPr>
          <a:xfrm>
            <a:off x="4566818" y="2468880"/>
            <a:ext cx="3058058" cy="1051560"/>
          </a:xfrm>
          <a:prstGeom prst="rect">
            <a:avLst/>
          </a:prstGeom>
          <a:noFill/>
          <a:ln/>
        </p:spPr>
        <p:txBody>
          <a:bodyPr wrap="square" lIns="0" tIns="0" rIns="0" bIns="0" rtlCol="0" anchor="t"/>
          <a:lstStyle/>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Pousser plutôt que tirer</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Charge stable, qui ne masque pas la vue</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Poignées à hauteur de hanches, bras près du corps</a:t>
            </a:r>
            <a:endParaRPr lang="en-US" sz="1250" dirty="0"/>
          </a:p>
        </p:txBody>
      </p:sp>
      <p:sp>
        <p:nvSpPr>
          <p:cNvPr id="18" name="Shape 13"/>
          <p:cNvSpPr/>
          <p:nvPr/>
        </p:nvSpPr>
        <p:spPr>
          <a:xfrm>
            <a:off x="8127797" y="1554480"/>
            <a:ext cx="3515258" cy="2103120"/>
          </a:xfrm>
          <a:prstGeom prst="roundRect">
            <a:avLst>
              <a:gd name="adj" fmla="val 3478"/>
            </a:avLst>
          </a:prstGeom>
          <a:solidFill>
            <a:srgbClr val="EEEDF5"/>
          </a:solidFill>
          <a:ln w="12700">
            <a:solidFill>
              <a:srgbClr val="EEEDF5"/>
            </a:solidFill>
            <a:prstDash val="solid"/>
          </a:ln>
        </p:spPr>
      </p:sp>
      <p:sp>
        <p:nvSpPr>
          <p:cNvPr id="19" name="Shape 14"/>
          <p:cNvSpPr/>
          <p:nvPr/>
        </p:nvSpPr>
        <p:spPr>
          <a:xfrm>
            <a:off x="8356397" y="1783080"/>
            <a:ext cx="548640" cy="548640"/>
          </a:xfrm>
          <a:prstGeom prst="ellipse">
            <a:avLst/>
          </a:prstGeom>
          <a:solidFill>
            <a:srgbClr val="0A032B"/>
          </a:solidFill>
          <a:ln w="12700">
            <a:solidFill>
              <a:srgbClr val="0A032B"/>
            </a:solidFill>
            <a:prstDash val="solid"/>
          </a:ln>
        </p:spPr>
      </p:sp>
      <p:pic>
        <p:nvPicPr>
          <p:cNvPr id="20" name="Image 3" descr="preencoded.png">    </p:cNvPr>
          <p:cNvPicPr>
            <a:picLocks noChangeAspect="1"/>
          </p:cNvPicPr>
          <p:nvPr/>
        </p:nvPicPr>
        <p:blipFill>
          <a:blip r:embed="rId4"/>
          <a:stretch>
            <a:fillRect/>
          </a:stretch>
        </p:blipFill>
        <p:spPr>
          <a:xfrm>
            <a:off x="8493557" y="1920240"/>
            <a:ext cx="274320" cy="274320"/>
          </a:xfrm>
          <a:prstGeom prst="rect">
            <a:avLst/>
          </a:prstGeom>
        </p:spPr>
      </p:pic>
      <p:sp>
        <p:nvSpPr>
          <p:cNvPr id="21" name="Text 15"/>
          <p:cNvSpPr txBox="1"/>
          <p:nvPr/>
        </p:nvSpPr>
        <p:spPr>
          <a:xfrm>
            <a:off x="9087917" y="1783080"/>
            <a:ext cx="2326538" cy="5486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Les sangles</a:t>
            </a:r>
            <a:endParaRPr lang="en-US" sz="1500" dirty="0"/>
          </a:p>
        </p:txBody>
      </p:sp>
      <p:sp>
        <p:nvSpPr>
          <p:cNvPr id="22" name="Text 16"/>
          <p:cNvSpPr txBox="1"/>
          <p:nvPr/>
        </p:nvSpPr>
        <p:spPr>
          <a:xfrm>
            <a:off x="8356397" y="2468880"/>
            <a:ext cx="3058058" cy="1051560"/>
          </a:xfrm>
          <a:prstGeom prst="rect">
            <a:avLst/>
          </a:prstGeom>
          <a:noFill/>
          <a:ln/>
        </p:spPr>
        <p:txBody>
          <a:bodyPr wrap="square" lIns="0" tIns="0" rIns="0" bIns="0" rtlCol="0" anchor="t"/>
          <a:lstStyle/>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Toujours à deux, porteurs de taille proche</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Sangles réglées avant de soulever</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Ce sont les jambes qui travaillent</a:t>
            </a:r>
            <a:endParaRPr lang="en-US" sz="1250" dirty="0"/>
          </a:p>
        </p:txBody>
      </p:sp>
      <p:sp>
        <p:nvSpPr>
          <p:cNvPr id="23" name="Shape 17"/>
          <p:cNvSpPr/>
          <p:nvPr/>
        </p:nvSpPr>
        <p:spPr>
          <a:xfrm>
            <a:off x="548640" y="3931920"/>
            <a:ext cx="3515258" cy="2103120"/>
          </a:xfrm>
          <a:prstGeom prst="roundRect">
            <a:avLst>
              <a:gd name="adj" fmla="val 3478"/>
            </a:avLst>
          </a:prstGeom>
          <a:solidFill>
            <a:srgbClr val="EEEDF5"/>
          </a:solidFill>
          <a:ln w="12700">
            <a:solidFill>
              <a:srgbClr val="EEEDF5"/>
            </a:solidFill>
            <a:prstDash val="solid"/>
          </a:ln>
        </p:spPr>
      </p:sp>
      <p:sp>
        <p:nvSpPr>
          <p:cNvPr id="24" name="Shape 18"/>
          <p:cNvSpPr/>
          <p:nvPr/>
        </p:nvSpPr>
        <p:spPr>
          <a:xfrm>
            <a:off x="777240" y="4160520"/>
            <a:ext cx="548640" cy="548640"/>
          </a:xfrm>
          <a:prstGeom prst="ellipse">
            <a:avLst/>
          </a:prstGeom>
          <a:solidFill>
            <a:srgbClr val="0A032B"/>
          </a:solidFill>
          <a:ln w="12700">
            <a:solidFill>
              <a:srgbClr val="0A032B"/>
            </a:solidFill>
            <a:prstDash val="solid"/>
          </a:ln>
        </p:spPr>
      </p:sp>
      <p:pic>
        <p:nvPicPr>
          <p:cNvPr id="25" name="Image 4" descr="preencoded.png">    </p:cNvPr>
          <p:cNvPicPr>
            <a:picLocks noChangeAspect="1"/>
          </p:cNvPicPr>
          <p:nvPr/>
        </p:nvPicPr>
        <p:blipFill>
          <a:blip r:embed="rId5"/>
          <a:stretch>
            <a:fillRect/>
          </a:stretch>
        </p:blipFill>
        <p:spPr>
          <a:xfrm>
            <a:off x="914400" y="4297680"/>
            <a:ext cx="274320" cy="274320"/>
          </a:xfrm>
          <a:prstGeom prst="rect">
            <a:avLst/>
          </a:prstGeom>
        </p:spPr>
      </p:pic>
      <p:sp>
        <p:nvSpPr>
          <p:cNvPr id="26" name="Text 19"/>
          <p:cNvSpPr txBox="1"/>
          <p:nvPr/>
        </p:nvSpPr>
        <p:spPr>
          <a:xfrm>
            <a:off x="1508760" y="4160520"/>
            <a:ext cx="2326538" cy="5486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Le plan incliné</a:t>
            </a:r>
            <a:endParaRPr lang="en-US" sz="1500" dirty="0"/>
          </a:p>
        </p:txBody>
      </p:sp>
      <p:sp>
        <p:nvSpPr>
          <p:cNvPr id="27" name="Text 20"/>
          <p:cNvSpPr txBox="1"/>
          <p:nvPr/>
        </p:nvSpPr>
        <p:spPr>
          <a:xfrm>
            <a:off x="777240" y="4846320"/>
            <a:ext cx="3058058" cy="1051560"/>
          </a:xfrm>
          <a:prstGeom prst="rect">
            <a:avLst/>
          </a:prstGeom>
          <a:noFill/>
          <a:ln/>
        </p:spPr>
        <p:txBody>
          <a:bodyPr wrap="square" lIns="0" tIns="0" rIns="0" bIns="0" rtlCol="0" anchor="t"/>
          <a:lstStyle/>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Bien calé, pente douce</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Accompagner la charge, ne jamais se placer en aval</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Vérifier l'état avant usage</a:t>
            </a:r>
            <a:endParaRPr lang="en-US" sz="1250" dirty="0"/>
          </a:p>
        </p:txBody>
      </p:sp>
      <p:sp>
        <p:nvSpPr>
          <p:cNvPr id="28" name="Shape 21"/>
          <p:cNvSpPr/>
          <p:nvPr/>
        </p:nvSpPr>
        <p:spPr>
          <a:xfrm>
            <a:off x="4338218" y="3931920"/>
            <a:ext cx="3515258" cy="2103120"/>
          </a:xfrm>
          <a:prstGeom prst="roundRect">
            <a:avLst>
              <a:gd name="adj" fmla="val 3478"/>
            </a:avLst>
          </a:prstGeom>
          <a:solidFill>
            <a:srgbClr val="EEEDF5"/>
          </a:solidFill>
          <a:ln w="12700">
            <a:solidFill>
              <a:srgbClr val="EEEDF5"/>
            </a:solidFill>
            <a:prstDash val="solid"/>
          </a:ln>
        </p:spPr>
      </p:sp>
      <p:sp>
        <p:nvSpPr>
          <p:cNvPr id="29" name="Shape 22"/>
          <p:cNvSpPr/>
          <p:nvPr/>
        </p:nvSpPr>
        <p:spPr>
          <a:xfrm>
            <a:off x="4566818" y="4160520"/>
            <a:ext cx="548640" cy="548640"/>
          </a:xfrm>
          <a:prstGeom prst="ellipse">
            <a:avLst/>
          </a:prstGeom>
          <a:solidFill>
            <a:srgbClr val="0A032B"/>
          </a:solidFill>
          <a:ln w="12700">
            <a:solidFill>
              <a:srgbClr val="0A032B"/>
            </a:solidFill>
            <a:prstDash val="solid"/>
          </a:ln>
        </p:spPr>
      </p:sp>
      <p:pic>
        <p:nvPicPr>
          <p:cNvPr id="30" name="Image 5" descr="preencoded.png">    </p:cNvPr>
          <p:cNvPicPr>
            <a:picLocks noChangeAspect="1"/>
          </p:cNvPicPr>
          <p:nvPr/>
        </p:nvPicPr>
        <p:blipFill>
          <a:blip r:embed="rId6"/>
          <a:stretch>
            <a:fillRect/>
          </a:stretch>
        </p:blipFill>
        <p:spPr>
          <a:xfrm>
            <a:off x="4703978" y="4297680"/>
            <a:ext cx="274320" cy="274320"/>
          </a:xfrm>
          <a:prstGeom prst="rect">
            <a:avLst/>
          </a:prstGeom>
        </p:spPr>
      </p:pic>
      <p:sp>
        <p:nvSpPr>
          <p:cNvPr id="31" name="Text 23"/>
          <p:cNvSpPr txBox="1"/>
          <p:nvPr/>
        </p:nvSpPr>
        <p:spPr>
          <a:xfrm>
            <a:off x="5298338" y="4160520"/>
            <a:ext cx="2326538" cy="5486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Avant chaque usage</a:t>
            </a:r>
            <a:endParaRPr lang="en-US" sz="1500" dirty="0"/>
          </a:p>
        </p:txBody>
      </p:sp>
      <p:sp>
        <p:nvSpPr>
          <p:cNvPr id="32" name="Text 24"/>
          <p:cNvSpPr txBox="1"/>
          <p:nvPr/>
        </p:nvSpPr>
        <p:spPr>
          <a:xfrm>
            <a:off x="4566818" y="4846320"/>
            <a:ext cx="3058058" cy="1051560"/>
          </a:xfrm>
          <a:prstGeom prst="rect">
            <a:avLst/>
          </a:prstGeom>
          <a:noFill/>
          <a:ln/>
        </p:spPr>
        <p:txBody>
          <a:bodyPr wrap="square" lIns="0" tIns="0" rIns="0" bIns="0" rtlCol="0" anchor="t"/>
          <a:lstStyle/>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Vérifier roues, freins, sangles</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Choisir l'aide adaptée à la charge</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Dégager le trajet</a:t>
            </a:r>
            <a:endParaRPr lang="en-US" sz="1250" dirty="0"/>
          </a:p>
        </p:txBody>
      </p:sp>
      <p:sp>
        <p:nvSpPr>
          <p:cNvPr id="33" name="Shape 25"/>
          <p:cNvSpPr/>
          <p:nvPr/>
        </p:nvSpPr>
        <p:spPr>
          <a:xfrm>
            <a:off x="8127797" y="3931920"/>
            <a:ext cx="3515258" cy="2103120"/>
          </a:xfrm>
          <a:prstGeom prst="roundRect">
            <a:avLst>
              <a:gd name="adj" fmla="val 3478"/>
            </a:avLst>
          </a:prstGeom>
          <a:solidFill>
            <a:srgbClr val="EEEDF5"/>
          </a:solidFill>
          <a:ln w="12700">
            <a:solidFill>
              <a:srgbClr val="EEEDF5"/>
            </a:solidFill>
            <a:prstDash val="solid"/>
          </a:ln>
        </p:spPr>
      </p:sp>
      <p:sp>
        <p:nvSpPr>
          <p:cNvPr id="34" name="Shape 26"/>
          <p:cNvSpPr/>
          <p:nvPr/>
        </p:nvSpPr>
        <p:spPr>
          <a:xfrm>
            <a:off x="8356397" y="4160520"/>
            <a:ext cx="548640" cy="548640"/>
          </a:xfrm>
          <a:prstGeom prst="ellipse">
            <a:avLst/>
          </a:prstGeom>
          <a:solidFill>
            <a:srgbClr val="0A032B"/>
          </a:solidFill>
          <a:ln w="12700">
            <a:solidFill>
              <a:srgbClr val="0A032B"/>
            </a:solidFill>
            <a:prstDash val="solid"/>
          </a:ln>
        </p:spPr>
      </p:sp>
      <p:pic>
        <p:nvPicPr>
          <p:cNvPr id="35" name="Image 6" descr="preencoded.png">    </p:cNvPr>
          <p:cNvPicPr>
            <a:picLocks noChangeAspect="1"/>
          </p:cNvPicPr>
          <p:nvPr/>
        </p:nvPicPr>
        <p:blipFill>
          <a:blip r:embed="rId7"/>
          <a:stretch>
            <a:fillRect/>
          </a:stretch>
        </p:blipFill>
        <p:spPr>
          <a:xfrm>
            <a:off x="8493557" y="4297680"/>
            <a:ext cx="274320" cy="274320"/>
          </a:xfrm>
          <a:prstGeom prst="rect">
            <a:avLst/>
          </a:prstGeom>
        </p:spPr>
      </p:pic>
      <p:sp>
        <p:nvSpPr>
          <p:cNvPr id="36" name="Text 27"/>
          <p:cNvSpPr txBox="1"/>
          <p:nvPr/>
        </p:nvSpPr>
        <p:spPr>
          <a:xfrm>
            <a:off x="9087917" y="4160520"/>
            <a:ext cx="2326538" cy="5486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Dans la collectivité</a:t>
            </a:r>
            <a:endParaRPr lang="en-US" sz="1500" dirty="0"/>
          </a:p>
        </p:txBody>
      </p:sp>
      <p:sp>
        <p:nvSpPr>
          <p:cNvPr id="37" name="Text 28"/>
          <p:cNvSpPr txBox="1"/>
          <p:nvPr/>
        </p:nvSpPr>
        <p:spPr>
          <a:xfrm>
            <a:off x="8356397" y="4846320"/>
            <a:ext cx="3058058" cy="1051560"/>
          </a:xfrm>
          <a:prstGeom prst="rect">
            <a:avLst/>
          </a:prstGeom>
          <a:noFill/>
          <a:ln/>
        </p:spPr>
        <p:txBody>
          <a:bodyPr wrap="square" lIns="0" tIns="0" rIns="0" bIns="0" rtlCol="0" anchor="t"/>
          <a:lstStyle/>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Des aides rangées près des lieux d'usage</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Connues et accessibles à tous</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Achetées et renouvelées</a:t>
            </a:r>
            <a:endParaRPr lang="en-US" sz="1250" dirty="0"/>
          </a:p>
        </p:txBody>
      </p:sp>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14800" cy="6858000"/>
          </a:xfrm>
          <a:prstGeom prst="rect">
            <a:avLst/>
          </a:prstGeom>
          <a:solidFill>
            <a:srgbClr val="F0EF96"/>
          </a:solidFill>
          <a:ln w="12700">
            <a:solidFill>
              <a:srgbClr val="F0EF96"/>
            </a:solidFill>
            <a:prstDash val="solid"/>
          </a:ln>
        </p:spPr>
      </p:sp>
      <p:sp>
        <p:nvSpPr>
          <p:cNvPr id="3" name="Shape 1"/>
          <p:cNvSpPr/>
          <p:nvPr/>
        </p:nvSpPr>
        <p:spPr>
          <a:xfrm>
            <a:off x="548640" y="502920"/>
            <a:ext cx="1600200" cy="347472"/>
          </a:xfrm>
          <a:prstGeom prst="roundRect">
            <a:avLst>
              <a:gd name="adj" fmla="val 50000"/>
            </a:avLst>
          </a:prstGeom>
          <a:solidFill>
            <a:srgbClr val="F0EF96"/>
          </a:solidFill>
          <a:ln w="12700">
            <a:solidFill>
              <a:srgbClr val="F0EF96"/>
            </a:solidFill>
            <a:prstDash val="solid"/>
          </a:ln>
        </p:spPr>
      </p:sp>
      <p:sp>
        <p:nvSpPr>
          <p:cNvPr id="4" name="Text 2"/>
          <p:cNvSpPr txBox="1"/>
          <p:nvPr/>
        </p:nvSpPr>
        <p:spPr>
          <a:xfrm>
            <a:off x="548640" y="502920"/>
            <a:ext cx="1600200" cy="347472"/>
          </a:xfrm>
          <a:prstGeom prst="rect">
            <a:avLst/>
          </a:prstGeom>
          <a:noFill/>
          <a:ln/>
        </p:spPr>
        <p:txBody>
          <a:bodyPr wrap="square" lIns="0" tIns="0" rIns="0" bIns="0" rtlCol="0" anchor="ctr"/>
          <a:lstStyle/>
          <a:p>
            <a:pPr algn="ctr" indent="0" marL="0">
              <a:buNone/>
            </a:pPr>
            <a:r>
              <a:rPr lang="en-US" sz="1100" b="1" spc="200" kern="0" dirty="0">
                <a:solidFill>
                  <a:srgbClr val="0A032B"/>
                </a:solidFill>
                <a:latin typeface="Montserrat" pitchFamily="34" charset="0"/>
                <a:ea typeface="Montserrat" pitchFamily="34" charset="-122"/>
                <a:cs typeface="Montserrat" pitchFamily="34" charset="-120"/>
              </a:rPr>
              <a:t>PRATIQUE</a:t>
            </a:r>
            <a:endParaRPr lang="en-US" sz="1100" dirty="0"/>
          </a:p>
        </p:txBody>
      </p:sp>
      <p:sp>
        <p:nvSpPr>
          <p:cNvPr id="5" name="Text 3"/>
          <p:cNvSpPr txBox="1"/>
          <p:nvPr/>
        </p:nvSpPr>
        <p:spPr>
          <a:xfrm>
            <a:off x="548640" y="1005840"/>
            <a:ext cx="3108960" cy="365760"/>
          </a:xfrm>
          <a:prstGeom prst="rect">
            <a:avLst/>
          </a:prstGeom>
          <a:noFill/>
          <a:ln/>
        </p:spPr>
        <p:txBody>
          <a:bodyPr wrap="square" lIns="0" tIns="0" rIns="0" bIns="0" rtlCol="0" anchor="ctr"/>
          <a:lstStyle/>
          <a:p>
            <a:pPr indent="0" marL="0">
              <a:buNone/>
            </a:pPr>
            <a:r>
              <a:rPr lang="en-US" sz="1300" b="1" spc="100" kern="0" dirty="0">
                <a:solidFill>
                  <a:srgbClr val="35305C"/>
                </a:solidFill>
                <a:latin typeface="Montserrat" pitchFamily="34" charset="0"/>
                <a:ea typeface="Montserrat" pitchFamily="34" charset="-122"/>
                <a:cs typeface="Montserrat" pitchFamily="34" charset="-120"/>
              </a:rPr>
              <a:t>ATELIER EN ROTATION</a:t>
            </a:r>
            <a:endParaRPr lang="en-US" sz="1300" dirty="0"/>
          </a:p>
        </p:txBody>
      </p:sp>
      <p:sp>
        <p:nvSpPr>
          <p:cNvPr id="6" name="Text 4"/>
          <p:cNvSpPr txBox="1"/>
          <p:nvPr/>
        </p:nvSpPr>
        <p:spPr>
          <a:xfrm>
            <a:off x="548640" y="1371600"/>
            <a:ext cx="3200400" cy="1371600"/>
          </a:xfrm>
          <a:prstGeom prst="rect">
            <a:avLst/>
          </a:prstGeom>
          <a:noFill/>
          <a:ln/>
        </p:spPr>
        <p:txBody>
          <a:bodyPr wrap="square" lIns="0" tIns="0" rIns="0" bIns="0" rtlCol="0" anchor="t"/>
          <a:lstStyle/>
          <a:p>
            <a:pPr indent="0" marL="0">
              <a:buNone/>
            </a:pPr>
            <a:r>
              <a:rPr lang="en-US" sz="2400" b="1" dirty="0">
                <a:solidFill>
                  <a:srgbClr val="0A032B"/>
                </a:solidFill>
                <a:latin typeface="Montserrat" pitchFamily="34" charset="0"/>
                <a:ea typeface="Montserrat" pitchFamily="34" charset="-122"/>
                <a:cs typeface="Montserrat" pitchFamily="34" charset="-120"/>
              </a:rPr>
              <a:t>Atelier 3 : prise en main des aides à la manutention</a:t>
            </a:r>
            <a:endParaRPr lang="en-US" sz="2400" dirty="0"/>
          </a:p>
        </p:txBody>
      </p:sp>
      <p:sp>
        <p:nvSpPr>
          <p:cNvPr id="7" name="Shape 5"/>
          <p:cNvSpPr/>
          <p:nvPr/>
        </p:nvSpPr>
        <p:spPr>
          <a:xfrm>
            <a:off x="548640" y="2971800"/>
            <a:ext cx="457200" cy="457200"/>
          </a:xfrm>
          <a:prstGeom prst="ellipse">
            <a:avLst/>
          </a:prstGeom>
          <a:solidFill>
            <a:srgbClr val="0A032B"/>
          </a:solidFill>
          <a:ln w="12700">
            <a:solidFill>
              <a:srgbClr val="0A032B"/>
            </a:solidFill>
            <a:prstDash val="solid"/>
          </a:ln>
        </p:spPr>
      </p:sp>
      <p:pic>
        <p:nvPicPr>
          <p:cNvPr id="8" name="Image 0" descr="preencoded.png">    </p:cNvPr>
          <p:cNvPicPr>
            <a:picLocks noChangeAspect="1"/>
          </p:cNvPicPr>
          <p:nvPr/>
        </p:nvPicPr>
        <p:blipFill>
          <a:blip r:embed="rId1"/>
          <a:stretch>
            <a:fillRect/>
          </a:stretch>
        </p:blipFill>
        <p:spPr>
          <a:xfrm>
            <a:off x="662940" y="3086100"/>
            <a:ext cx="228600" cy="228600"/>
          </a:xfrm>
          <a:prstGeom prst="rect">
            <a:avLst/>
          </a:prstGeom>
        </p:spPr>
      </p:pic>
      <p:sp>
        <p:nvSpPr>
          <p:cNvPr id="9" name="Text 6"/>
          <p:cNvSpPr txBox="1"/>
          <p:nvPr/>
        </p:nvSpPr>
        <p:spPr>
          <a:xfrm>
            <a:off x="1188720" y="2926080"/>
            <a:ext cx="2468880" cy="868680"/>
          </a:xfrm>
          <a:prstGeom prst="rect">
            <a:avLst/>
          </a:prstGeom>
          <a:noFill/>
          <a:ln/>
        </p:spPr>
        <p:txBody>
          <a:bodyPr wrap="square" lIns="0" tIns="0" rIns="0" bIns="0" rtlCol="0" anchor="t"/>
          <a:lstStyle/>
          <a:p>
            <a:pPr indent="0" marL="0">
              <a:buNone/>
            </a:pPr>
            <a:r>
              <a:rPr lang="en-US" sz="1000" b="1" spc="100" kern="0" dirty="0">
                <a:solidFill>
                  <a:srgbClr val="35305C"/>
                </a:solidFill>
                <a:latin typeface="Montserrat" pitchFamily="34" charset="0"/>
                <a:ea typeface="Montserrat" pitchFamily="34" charset="-122"/>
                <a:cs typeface="Montserrat" pitchFamily="34" charset="-120"/>
              </a:rPr>
              <a:t>DURÉE</a:t>
            </a:r>
            <a:endParaRPr lang="en-US" sz="1000" dirty="0"/>
          </a:p>
          <a:p>
            <a:pPr indent="0" marL="0">
              <a:buNone/>
            </a:pPr>
            <a:r>
              <a:rPr lang="en-US" sz="1250" dirty="0">
                <a:solidFill>
                  <a:srgbClr val="0A032B"/>
                </a:solidFill>
                <a:latin typeface="Arial" pitchFamily="34" charset="0"/>
                <a:ea typeface="Arial" pitchFamily="34" charset="-122"/>
                <a:cs typeface="Arial" pitchFamily="34" charset="-120"/>
              </a:rPr>
              <a:t>20 minutes</a:t>
            </a:r>
            <a:endParaRPr lang="en-US" sz="1000" dirty="0"/>
          </a:p>
        </p:txBody>
      </p:sp>
      <p:sp>
        <p:nvSpPr>
          <p:cNvPr id="10" name="Shape 7"/>
          <p:cNvSpPr/>
          <p:nvPr/>
        </p:nvSpPr>
        <p:spPr>
          <a:xfrm>
            <a:off x="548640" y="3931920"/>
            <a:ext cx="457200" cy="457200"/>
          </a:xfrm>
          <a:prstGeom prst="ellipse">
            <a:avLst/>
          </a:prstGeom>
          <a:solidFill>
            <a:srgbClr val="0A032B"/>
          </a:solidFill>
          <a:ln w="12700">
            <a:solidFill>
              <a:srgbClr val="0A032B"/>
            </a:solidFill>
            <a:prstDash val="solid"/>
          </a:ln>
        </p:spPr>
      </p:sp>
      <p:pic>
        <p:nvPicPr>
          <p:cNvPr id="11" name="Image 1" descr="preencoded.png">    </p:cNvPr>
          <p:cNvPicPr>
            <a:picLocks noChangeAspect="1"/>
          </p:cNvPicPr>
          <p:nvPr/>
        </p:nvPicPr>
        <p:blipFill>
          <a:blip r:embed="rId2"/>
          <a:stretch>
            <a:fillRect/>
          </a:stretch>
        </p:blipFill>
        <p:spPr>
          <a:xfrm>
            <a:off x="662940" y="4046220"/>
            <a:ext cx="228600" cy="228600"/>
          </a:xfrm>
          <a:prstGeom prst="rect">
            <a:avLst/>
          </a:prstGeom>
        </p:spPr>
      </p:pic>
      <p:sp>
        <p:nvSpPr>
          <p:cNvPr id="12" name="Text 8"/>
          <p:cNvSpPr txBox="1"/>
          <p:nvPr/>
        </p:nvSpPr>
        <p:spPr>
          <a:xfrm>
            <a:off x="1188720" y="3886200"/>
            <a:ext cx="2468880" cy="868680"/>
          </a:xfrm>
          <a:prstGeom prst="rect">
            <a:avLst/>
          </a:prstGeom>
          <a:noFill/>
          <a:ln/>
        </p:spPr>
        <p:txBody>
          <a:bodyPr wrap="square" lIns="0" tIns="0" rIns="0" bIns="0" rtlCol="0" anchor="t"/>
          <a:lstStyle/>
          <a:p>
            <a:pPr indent="0" marL="0">
              <a:buNone/>
            </a:pPr>
            <a:r>
              <a:rPr lang="en-US" sz="1000" b="1" spc="100" kern="0" dirty="0">
                <a:solidFill>
                  <a:srgbClr val="35305C"/>
                </a:solidFill>
                <a:latin typeface="Montserrat" pitchFamily="34" charset="0"/>
                <a:ea typeface="Montserrat" pitchFamily="34" charset="-122"/>
                <a:cs typeface="Montserrat" pitchFamily="34" charset="-120"/>
              </a:rPr>
              <a:t>FORMAT</a:t>
            </a:r>
            <a:endParaRPr lang="en-US" sz="1000" dirty="0"/>
          </a:p>
          <a:p>
            <a:pPr indent="0" marL="0">
              <a:buNone/>
            </a:pPr>
            <a:r>
              <a:rPr lang="en-US" sz="1250" dirty="0">
                <a:solidFill>
                  <a:srgbClr val="0A032B"/>
                </a:solidFill>
                <a:latin typeface="Arial" pitchFamily="34" charset="0"/>
                <a:ea typeface="Arial" pitchFamily="34" charset="-122"/>
                <a:cs typeface="Arial" pitchFamily="34" charset="-120"/>
              </a:rPr>
              <a:t>3 postes de 6 min, groupes de 3 à 4</a:t>
            </a:r>
            <a:endParaRPr lang="en-US" sz="1000" dirty="0"/>
          </a:p>
        </p:txBody>
      </p:sp>
      <p:sp>
        <p:nvSpPr>
          <p:cNvPr id="13" name="Shape 9"/>
          <p:cNvSpPr/>
          <p:nvPr/>
        </p:nvSpPr>
        <p:spPr>
          <a:xfrm>
            <a:off x="548640" y="4892040"/>
            <a:ext cx="457200" cy="457200"/>
          </a:xfrm>
          <a:prstGeom prst="ellipse">
            <a:avLst/>
          </a:prstGeom>
          <a:solidFill>
            <a:srgbClr val="0A032B"/>
          </a:solidFill>
          <a:ln w="12700">
            <a:solidFill>
              <a:srgbClr val="0A032B"/>
            </a:solidFill>
            <a:prstDash val="solid"/>
          </a:ln>
        </p:spPr>
      </p:sp>
      <p:pic>
        <p:nvPicPr>
          <p:cNvPr id="14" name="Image 2" descr="preencoded.png">    </p:cNvPr>
          <p:cNvPicPr>
            <a:picLocks noChangeAspect="1"/>
          </p:cNvPicPr>
          <p:nvPr/>
        </p:nvPicPr>
        <p:blipFill>
          <a:blip r:embed="rId3"/>
          <a:stretch>
            <a:fillRect/>
          </a:stretch>
        </p:blipFill>
        <p:spPr>
          <a:xfrm>
            <a:off x="662940" y="5006340"/>
            <a:ext cx="228600" cy="228600"/>
          </a:xfrm>
          <a:prstGeom prst="rect">
            <a:avLst/>
          </a:prstGeom>
        </p:spPr>
      </p:pic>
      <p:sp>
        <p:nvSpPr>
          <p:cNvPr id="15" name="Text 10"/>
          <p:cNvSpPr txBox="1"/>
          <p:nvPr/>
        </p:nvSpPr>
        <p:spPr>
          <a:xfrm>
            <a:off x="1188720" y="4846320"/>
            <a:ext cx="2468880" cy="868680"/>
          </a:xfrm>
          <a:prstGeom prst="rect">
            <a:avLst/>
          </a:prstGeom>
          <a:noFill/>
          <a:ln/>
        </p:spPr>
        <p:txBody>
          <a:bodyPr wrap="square" lIns="0" tIns="0" rIns="0" bIns="0" rtlCol="0" anchor="t"/>
          <a:lstStyle/>
          <a:p>
            <a:pPr indent="0" marL="0">
              <a:buNone/>
            </a:pPr>
            <a:r>
              <a:rPr lang="en-US" sz="1000" b="1" spc="100" kern="0" dirty="0">
                <a:solidFill>
                  <a:srgbClr val="35305C"/>
                </a:solidFill>
                <a:latin typeface="Montserrat" pitchFamily="34" charset="0"/>
                <a:ea typeface="Montserrat" pitchFamily="34" charset="-122"/>
                <a:cs typeface="Montserrat" pitchFamily="34" charset="-120"/>
              </a:rPr>
              <a:t>MATÉRIEL</a:t>
            </a:r>
            <a:endParaRPr lang="en-US" sz="1000" dirty="0"/>
          </a:p>
          <a:p>
            <a:pPr indent="0" marL="0">
              <a:buNone/>
            </a:pPr>
            <a:r>
              <a:rPr lang="en-US" sz="1250" dirty="0">
                <a:solidFill>
                  <a:srgbClr val="0A032B"/>
                </a:solidFill>
                <a:latin typeface="Arial" pitchFamily="34" charset="0"/>
                <a:ea typeface="Arial" pitchFamily="34" charset="-122"/>
                <a:cs typeface="Arial" pitchFamily="34" charset="-120"/>
              </a:rPr>
              <a:t>Diable, chariot, sangles, plan incliné, cartons</a:t>
            </a:r>
            <a:endParaRPr lang="en-US" sz="1000" dirty="0"/>
          </a:p>
        </p:txBody>
      </p:sp>
      <p:sp>
        <p:nvSpPr>
          <p:cNvPr id="16" name="Text 11"/>
          <p:cNvSpPr txBox="1"/>
          <p:nvPr/>
        </p:nvSpPr>
        <p:spPr>
          <a:xfrm>
            <a:off x="4663440" y="457200"/>
            <a:ext cx="6979615" cy="502920"/>
          </a:xfrm>
          <a:prstGeom prst="rect">
            <a:avLst/>
          </a:prstGeom>
          <a:noFill/>
          <a:ln/>
        </p:spPr>
        <p:txBody>
          <a:bodyPr wrap="square" lIns="0" tIns="0" rIns="0" bIns="0" rtlCol="0" anchor="ctr"/>
          <a:lstStyle/>
          <a:p>
            <a:pPr indent="0" marL="0">
              <a:buNone/>
            </a:pPr>
            <a:r>
              <a:rPr lang="en-US" sz="2200" b="1" dirty="0">
                <a:solidFill>
                  <a:srgbClr val="0A032B"/>
                </a:solidFill>
                <a:latin typeface="Montserrat" pitchFamily="34" charset="0"/>
                <a:ea typeface="Montserrat" pitchFamily="34" charset="-122"/>
                <a:cs typeface="Montserrat" pitchFamily="34" charset="-120"/>
              </a:rPr>
              <a:t>Consignes</a:t>
            </a:r>
            <a:endParaRPr lang="en-US" sz="2200" dirty="0"/>
          </a:p>
        </p:txBody>
      </p:sp>
      <p:sp>
        <p:nvSpPr>
          <p:cNvPr id="17" name="Shape 12"/>
          <p:cNvSpPr/>
          <p:nvPr/>
        </p:nvSpPr>
        <p:spPr>
          <a:xfrm>
            <a:off x="4663440" y="1234440"/>
            <a:ext cx="457200" cy="457200"/>
          </a:xfrm>
          <a:prstGeom prst="ellipse">
            <a:avLst/>
          </a:prstGeom>
          <a:solidFill>
            <a:srgbClr val="0A032B"/>
          </a:solidFill>
          <a:ln w="12700">
            <a:solidFill>
              <a:srgbClr val="0A032B"/>
            </a:solidFill>
            <a:prstDash val="solid"/>
          </a:ln>
        </p:spPr>
      </p:sp>
      <p:sp>
        <p:nvSpPr>
          <p:cNvPr id="18" name="Text 13"/>
          <p:cNvSpPr txBox="1"/>
          <p:nvPr/>
        </p:nvSpPr>
        <p:spPr>
          <a:xfrm>
            <a:off x="4663440" y="12344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1</a:t>
            </a:r>
            <a:endParaRPr lang="en-US" sz="1300" dirty="0"/>
          </a:p>
        </p:txBody>
      </p:sp>
      <p:sp>
        <p:nvSpPr>
          <p:cNvPr id="19" name="Text 14"/>
          <p:cNvSpPr txBox="1"/>
          <p:nvPr/>
        </p:nvSpPr>
        <p:spPr>
          <a:xfrm>
            <a:off x="5349240" y="1216152"/>
            <a:ext cx="6293815" cy="745236"/>
          </a:xfrm>
          <a:prstGeom prst="rect">
            <a:avLst/>
          </a:prstGeom>
          <a:noFill/>
          <a:ln/>
        </p:spPr>
        <p:txBody>
          <a:bodyPr wrap="square" lIns="0" tIns="0" rIns="0" bIns="0" rtlCol="0" anchor="t"/>
          <a:lstStyle/>
          <a:p>
            <a:pPr indent="0" marL="0">
              <a:spcAft>
                <a:spcPts val="300"/>
              </a:spcAft>
              <a:buNone/>
            </a:pPr>
            <a:r>
              <a:rPr lang="en-US" sz="1500" b="1" dirty="0">
                <a:solidFill>
                  <a:srgbClr val="0A032B"/>
                </a:solidFill>
                <a:latin typeface="Montserrat" pitchFamily="34" charset="0"/>
                <a:ea typeface="Montserrat" pitchFamily="34" charset="-122"/>
                <a:cs typeface="Montserrat" pitchFamily="34" charset="-120"/>
              </a:rPr>
              <a:t>Poste diable</a:t>
            </a:r>
            <a:endParaRPr lang="en-US" sz="1500" dirty="0"/>
          </a:p>
          <a:p>
            <a:pPr indent="0" marL="0">
              <a:spcAft>
                <a:spcPts val="300"/>
              </a:spcAft>
              <a:buNone/>
            </a:pPr>
            <a:r>
              <a:rPr lang="en-US" sz="1300" dirty="0">
                <a:solidFill>
                  <a:srgbClr val="35305C"/>
                </a:solidFill>
                <a:latin typeface="Arial" pitchFamily="34" charset="0"/>
                <a:ea typeface="Arial" pitchFamily="34" charset="-122"/>
                <a:cs typeface="Arial" pitchFamily="34" charset="-120"/>
              </a:rPr>
              <a:t>Charger une pile de cartons, basculer au point d'équilibre, franchir une marche en marche arrière.</a:t>
            </a:r>
            <a:endParaRPr lang="en-US" sz="1500" dirty="0"/>
          </a:p>
        </p:txBody>
      </p:sp>
      <p:sp>
        <p:nvSpPr>
          <p:cNvPr id="20" name="Shape 15"/>
          <p:cNvSpPr/>
          <p:nvPr/>
        </p:nvSpPr>
        <p:spPr>
          <a:xfrm>
            <a:off x="4663440" y="2144268"/>
            <a:ext cx="457200" cy="457200"/>
          </a:xfrm>
          <a:prstGeom prst="ellipse">
            <a:avLst/>
          </a:prstGeom>
          <a:solidFill>
            <a:srgbClr val="0A032B"/>
          </a:solidFill>
          <a:ln w="12700">
            <a:solidFill>
              <a:srgbClr val="0A032B"/>
            </a:solidFill>
            <a:prstDash val="solid"/>
          </a:ln>
        </p:spPr>
      </p:sp>
      <p:sp>
        <p:nvSpPr>
          <p:cNvPr id="21" name="Text 16"/>
          <p:cNvSpPr txBox="1"/>
          <p:nvPr/>
        </p:nvSpPr>
        <p:spPr>
          <a:xfrm>
            <a:off x="4663440" y="214426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2</a:t>
            </a:r>
            <a:endParaRPr lang="en-US" sz="1300" dirty="0"/>
          </a:p>
        </p:txBody>
      </p:sp>
      <p:sp>
        <p:nvSpPr>
          <p:cNvPr id="22" name="Text 17"/>
          <p:cNvSpPr txBox="1"/>
          <p:nvPr/>
        </p:nvSpPr>
        <p:spPr>
          <a:xfrm>
            <a:off x="5349240" y="2125980"/>
            <a:ext cx="6293815" cy="745236"/>
          </a:xfrm>
          <a:prstGeom prst="rect">
            <a:avLst/>
          </a:prstGeom>
          <a:noFill/>
          <a:ln/>
        </p:spPr>
        <p:txBody>
          <a:bodyPr wrap="square" lIns="0" tIns="0" rIns="0" bIns="0" rtlCol="0" anchor="t"/>
          <a:lstStyle/>
          <a:p>
            <a:pPr indent="0" marL="0">
              <a:spcAft>
                <a:spcPts val="300"/>
              </a:spcAft>
              <a:buNone/>
            </a:pPr>
            <a:r>
              <a:rPr lang="en-US" sz="1500" b="1" dirty="0">
                <a:solidFill>
                  <a:srgbClr val="0A032B"/>
                </a:solidFill>
                <a:latin typeface="Montserrat" pitchFamily="34" charset="0"/>
                <a:ea typeface="Montserrat" pitchFamily="34" charset="-122"/>
                <a:cs typeface="Montserrat" pitchFamily="34" charset="-120"/>
              </a:rPr>
              <a:t>Poste chariot</a:t>
            </a:r>
            <a:endParaRPr lang="en-US" sz="1500" dirty="0"/>
          </a:p>
          <a:p>
            <a:pPr indent="0" marL="0">
              <a:spcAft>
                <a:spcPts val="300"/>
              </a:spcAft>
              <a:buNone/>
            </a:pPr>
            <a:r>
              <a:rPr lang="en-US" sz="1300" dirty="0">
                <a:solidFill>
                  <a:srgbClr val="35305C"/>
                </a:solidFill>
                <a:latin typeface="Arial" pitchFamily="34" charset="0"/>
                <a:ea typeface="Arial" pitchFamily="34" charset="-122"/>
                <a:cs typeface="Arial" pitchFamily="34" charset="-120"/>
              </a:rPr>
              <a:t>Charger du matériel de réunion, pousser sur un parcours avec virages et passage de porte.</a:t>
            </a:r>
            <a:endParaRPr lang="en-US" sz="1500" dirty="0"/>
          </a:p>
        </p:txBody>
      </p:sp>
      <p:sp>
        <p:nvSpPr>
          <p:cNvPr id="23" name="Shape 18"/>
          <p:cNvSpPr/>
          <p:nvPr/>
        </p:nvSpPr>
        <p:spPr>
          <a:xfrm>
            <a:off x="4663440" y="3054096"/>
            <a:ext cx="457200" cy="457200"/>
          </a:xfrm>
          <a:prstGeom prst="ellipse">
            <a:avLst/>
          </a:prstGeom>
          <a:solidFill>
            <a:srgbClr val="0A032B"/>
          </a:solidFill>
          <a:ln w="12700">
            <a:solidFill>
              <a:srgbClr val="0A032B"/>
            </a:solidFill>
            <a:prstDash val="solid"/>
          </a:ln>
        </p:spPr>
      </p:sp>
      <p:sp>
        <p:nvSpPr>
          <p:cNvPr id="24" name="Text 19"/>
          <p:cNvSpPr txBox="1"/>
          <p:nvPr/>
        </p:nvSpPr>
        <p:spPr>
          <a:xfrm>
            <a:off x="4663440" y="305409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3</a:t>
            </a:r>
            <a:endParaRPr lang="en-US" sz="1300" dirty="0"/>
          </a:p>
        </p:txBody>
      </p:sp>
      <p:sp>
        <p:nvSpPr>
          <p:cNvPr id="25" name="Text 20"/>
          <p:cNvSpPr txBox="1"/>
          <p:nvPr/>
        </p:nvSpPr>
        <p:spPr>
          <a:xfrm>
            <a:off x="5349240" y="3035808"/>
            <a:ext cx="6293815" cy="745236"/>
          </a:xfrm>
          <a:prstGeom prst="rect">
            <a:avLst/>
          </a:prstGeom>
          <a:noFill/>
          <a:ln/>
        </p:spPr>
        <p:txBody>
          <a:bodyPr wrap="square" lIns="0" tIns="0" rIns="0" bIns="0" rtlCol="0" anchor="t"/>
          <a:lstStyle/>
          <a:p>
            <a:pPr indent="0" marL="0">
              <a:spcAft>
                <a:spcPts val="300"/>
              </a:spcAft>
              <a:buNone/>
            </a:pPr>
            <a:r>
              <a:rPr lang="en-US" sz="1500" b="1" dirty="0">
                <a:solidFill>
                  <a:srgbClr val="0A032B"/>
                </a:solidFill>
                <a:latin typeface="Montserrat" pitchFamily="34" charset="0"/>
                <a:ea typeface="Montserrat" pitchFamily="34" charset="-122"/>
                <a:cs typeface="Montserrat" pitchFamily="34" charset="-120"/>
              </a:rPr>
              <a:t>Poste sangles / plan incliné</a:t>
            </a:r>
            <a:endParaRPr lang="en-US" sz="1500" dirty="0"/>
          </a:p>
          <a:p>
            <a:pPr indent="0" marL="0">
              <a:spcAft>
                <a:spcPts val="300"/>
              </a:spcAft>
              <a:buNone/>
            </a:pPr>
            <a:r>
              <a:rPr lang="en-US" sz="1300" dirty="0">
                <a:solidFill>
                  <a:srgbClr val="35305C"/>
                </a:solidFill>
                <a:latin typeface="Arial" pitchFamily="34" charset="0"/>
                <a:ea typeface="Arial" pitchFamily="34" charset="-122"/>
                <a:cs typeface="Arial" pitchFamily="34" charset="-120"/>
              </a:rPr>
              <a:t>Déplacer à deux une charge encombrante avec sangles, puis la monter sur un plan incliné.</a:t>
            </a:r>
            <a:endParaRPr lang="en-US" sz="1500" dirty="0"/>
          </a:p>
        </p:txBody>
      </p:sp>
      <p:sp>
        <p:nvSpPr>
          <p:cNvPr id="26" name="Shape 21"/>
          <p:cNvSpPr/>
          <p:nvPr/>
        </p:nvSpPr>
        <p:spPr>
          <a:xfrm>
            <a:off x="4663440" y="3963924"/>
            <a:ext cx="457200" cy="457200"/>
          </a:xfrm>
          <a:prstGeom prst="ellipse">
            <a:avLst/>
          </a:prstGeom>
          <a:solidFill>
            <a:srgbClr val="0A032B"/>
          </a:solidFill>
          <a:ln w="12700">
            <a:solidFill>
              <a:srgbClr val="0A032B"/>
            </a:solidFill>
            <a:prstDash val="solid"/>
          </a:ln>
        </p:spPr>
      </p:sp>
      <p:sp>
        <p:nvSpPr>
          <p:cNvPr id="27" name="Text 22"/>
          <p:cNvSpPr txBox="1"/>
          <p:nvPr/>
        </p:nvSpPr>
        <p:spPr>
          <a:xfrm>
            <a:off x="4663440" y="396392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4</a:t>
            </a:r>
            <a:endParaRPr lang="en-US" sz="1300" dirty="0"/>
          </a:p>
        </p:txBody>
      </p:sp>
      <p:sp>
        <p:nvSpPr>
          <p:cNvPr id="28" name="Text 23"/>
          <p:cNvSpPr txBox="1"/>
          <p:nvPr/>
        </p:nvSpPr>
        <p:spPr>
          <a:xfrm>
            <a:off x="5349240" y="3945636"/>
            <a:ext cx="6293815" cy="745236"/>
          </a:xfrm>
          <a:prstGeom prst="rect">
            <a:avLst/>
          </a:prstGeom>
          <a:noFill/>
          <a:ln/>
        </p:spPr>
        <p:txBody>
          <a:bodyPr wrap="square" lIns="0" tIns="0" rIns="0" bIns="0" rtlCol="0" anchor="t"/>
          <a:lstStyle/>
          <a:p>
            <a:pPr indent="0" marL="0">
              <a:spcAft>
                <a:spcPts val="300"/>
              </a:spcAft>
              <a:buNone/>
            </a:pPr>
            <a:r>
              <a:rPr lang="en-US" sz="1500" b="1" dirty="0">
                <a:solidFill>
                  <a:srgbClr val="0A032B"/>
                </a:solidFill>
                <a:latin typeface="Montserrat" pitchFamily="34" charset="0"/>
                <a:ea typeface="Montserrat" pitchFamily="34" charset="-122"/>
                <a:cs typeface="Montserrat" pitchFamily="34" charset="-120"/>
              </a:rPr>
              <a:t>Retour rapide</a:t>
            </a:r>
            <a:endParaRPr lang="en-US" sz="1500" dirty="0"/>
          </a:p>
          <a:p>
            <a:pPr indent="0" marL="0">
              <a:spcAft>
                <a:spcPts val="300"/>
              </a:spcAft>
              <a:buNone/>
            </a:pPr>
            <a:r>
              <a:rPr lang="en-US" sz="1300" dirty="0">
                <a:solidFill>
                  <a:srgbClr val="35305C"/>
                </a:solidFill>
                <a:latin typeface="Arial" pitchFamily="34" charset="0"/>
                <a:ea typeface="Arial" pitchFamily="34" charset="-122"/>
                <a:cs typeface="Arial" pitchFamily="34" charset="-120"/>
              </a:rPr>
              <a:t>Après chaque poste : quelle aide pour quelle situation du mandat ?</a:t>
            </a:r>
            <a:endParaRPr lang="en-US" sz="1500" dirty="0"/>
          </a:p>
        </p:txBody>
      </p:sp>
      <p:sp>
        <p:nvSpPr>
          <p:cNvPr id="29" name="Shape 24"/>
          <p:cNvSpPr/>
          <p:nvPr/>
        </p:nvSpPr>
        <p:spPr>
          <a:xfrm>
            <a:off x="4663440" y="4983480"/>
            <a:ext cx="6979615" cy="1051560"/>
          </a:xfrm>
          <a:prstGeom prst="roundRect">
            <a:avLst>
              <a:gd name="adj" fmla="val 6957"/>
            </a:avLst>
          </a:prstGeom>
          <a:solidFill>
            <a:srgbClr val="EEEDF5"/>
          </a:solidFill>
          <a:ln w="12700">
            <a:solidFill>
              <a:srgbClr val="EEEDF5"/>
            </a:solidFill>
            <a:prstDash val="solid"/>
          </a:ln>
        </p:spPr>
      </p:sp>
      <p:sp>
        <p:nvSpPr>
          <p:cNvPr id="30" name="Shape 25"/>
          <p:cNvSpPr/>
          <p:nvPr/>
        </p:nvSpPr>
        <p:spPr>
          <a:xfrm>
            <a:off x="4846320" y="5230368"/>
            <a:ext cx="548640" cy="548640"/>
          </a:xfrm>
          <a:prstGeom prst="ellipse">
            <a:avLst/>
          </a:prstGeom>
          <a:solidFill>
            <a:srgbClr val="0A032B"/>
          </a:solidFill>
          <a:ln w="12700">
            <a:solidFill>
              <a:srgbClr val="0A032B"/>
            </a:solidFill>
            <a:prstDash val="solid"/>
          </a:ln>
        </p:spPr>
      </p:sp>
      <p:pic>
        <p:nvPicPr>
          <p:cNvPr id="31" name="Image 3" descr="preencoded.png">    </p:cNvPr>
          <p:cNvPicPr>
            <a:picLocks noChangeAspect="1"/>
          </p:cNvPicPr>
          <p:nvPr/>
        </p:nvPicPr>
        <p:blipFill>
          <a:blip r:embed="rId4"/>
          <a:stretch>
            <a:fillRect/>
          </a:stretch>
        </p:blipFill>
        <p:spPr>
          <a:xfrm>
            <a:off x="4983480" y="5367528"/>
            <a:ext cx="274320" cy="274320"/>
          </a:xfrm>
          <a:prstGeom prst="rect">
            <a:avLst/>
          </a:prstGeom>
        </p:spPr>
      </p:pic>
      <p:sp>
        <p:nvSpPr>
          <p:cNvPr id="32" name="Text 26"/>
          <p:cNvSpPr txBox="1"/>
          <p:nvPr/>
        </p:nvSpPr>
        <p:spPr>
          <a:xfrm>
            <a:off x="5577840" y="5029200"/>
            <a:ext cx="5882335" cy="960120"/>
          </a:xfrm>
          <a:prstGeom prst="rect">
            <a:avLst/>
          </a:prstGeom>
          <a:noFill/>
          <a:ln/>
        </p:spPr>
        <p:txBody>
          <a:bodyPr wrap="square" lIns="0" tIns="0" rIns="0" bIns="0" rtlCol="0" anchor="ctr"/>
          <a:lstStyle/>
          <a:p>
            <a:pPr indent="0" marL="0">
              <a:buNone/>
            </a:pPr>
            <a:r>
              <a:rPr lang="en-US" sz="1200" b="1" dirty="0">
                <a:solidFill>
                  <a:srgbClr val="0A032B"/>
                </a:solidFill>
                <a:latin typeface="Montserrat" pitchFamily="34" charset="0"/>
                <a:ea typeface="Montserrat" pitchFamily="34" charset="-122"/>
                <a:cs typeface="Montserrat" pitchFamily="34" charset="-120"/>
              </a:rPr>
              <a:t>Point de vigilance  </a:t>
            </a:r>
            <a:endParaRPr lang="en-US" sz="1200" dirty="0"/>
          </a:p>
          <a:p>
            <a:pPr indent="0" marL="0">
              <a:buNone/>
            </a:pPr>
            <a:r>
              <a:rPr lang="en-US" sz="1200" dirty="0">
                <a:solidFill>
                  <a:srgbClr val="35305C"/>
                </a:solidFill>
                <a:latin typeface="Arial" pitchFamily="34" charset="0"/>
                <a:ea typeface="Arial" pitchFamily="34" charset="-122"/>
                <a:cs typeface="Arial" pitchFamily="34" charset="-120"/>
              </a:rPr>
              <a:t>Charger lourd en bas, léger en haut. La charge ne doit jamais masquer la vue.</a:t>
            </a:r>
            <a:endParaRPr lang="en-US" sz="1200" dirty="0"/>
          </a:p>
        </p:txBody>
      </p:sp>
      <p:sp>
        <p:nvSpPr>
          <p:cNvPr id="33" name="Text 27"/>
          <p:cNvSpPr txBox="1"/>
          <p:nvPr/>
        </p:nvSpPr>
        <p:spPr>
          <a:xfrm>
            <a:off x="548640" y="6355080"/>
            <a:ext cx="3291840" cy="274320"/>
          </a:xfrm>
          <a:prstGeom prst="rect">
            <a:avLst/>
          </a:prstGeom>
          <a:noFill/>
          <a:ln/>
        </p:spPr>
        <p:txBody>
          <a:bodyPr wrap="square" lIns="0" tIns="0" rIns="0" bIns="0" rtlCol="0" anchor="ctr"/>
          <a:lstStyle/>
          <a:p>
            <a:pPr indent="0" marL="0">
              <a:buNone/>
            </a:pPr>
            <a:r>
              <a:rPr lang="en-US" sz="900" dirty="0">
                <a:solidFill>
                  <a:srgbClr val="35305C"/>
                </a:solidFill>
                <a:latin typeface="Arial" pitchFamily="34" charset="0"/>
                <a:ea typeface="Arial" pitchFamily="34" charset="-122"/>
                <a:cs typeface="Arial" pitchFamily="34" charset="-120"/>
              </a:rPr>
              <a:t>Gestes et postures de l'élu  ·  Séquence 4</a:t>
            </a:r>
            <a:endParaRPr lang="en-US" sz="900" dirty="0"/>
          </a:p>
        </p:txBody>
      </p:sp>
      <p:pic>
        <p:nvPicPr>
          <p:cNvPr id="34" name="Image 4" descr="logo_light.png">    </p:cNvPr>
          <p:cNvPicPr>
            <a:picLocks noChangeAspect="1"/>
          </p:cNvPicPr>
          <p:nvPr/>
        </p:nvPicPr>
        <p:blipFill>
          <a:blip r:embed="rId5"/>
          <a:stretch>
            <a:fillRect/>
          </a:stretch>
        </p:blipFill>
        <p:spPr>
          <a:xfrm>
            <a:off x="10682935" y="6236208"/>
            <a:ext cx="960120" cy="398441"/>
          </a:xfrm>
          <a:prstGeom prst="rect">
            <a:avLst/>
          </a:prstGeom>
        </p:spPr>
      </p:pic>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EEEDF5"/>
        </a:solidFill>
      </p:bgPr>
    </p:bg>
    <p:spTree>
      <p:nvGrpSpPr>
        <p:cNvPr id="1" name=""/>
        <p:cNvGrpSpPr/>
        <p:nvPr/>
      </p:nvGrpSpPr>
      <p:grpSpPr>
        <a:xfrm>
          <a:off x="0" y="0"/>
          <a:ext cx="0" cy="0"/>
          <a:chOff x="0" y="0"/>
          <a:chExt cx="0" cy="0"/>
        </a:xfrm>
      </p:grpSpPr>
      <p:sp>
        <p:nvSpPr>
          <p:cNvPr id="2" name="Text 0"/>
          <p:cNvSpPr txBox="1"/>
          <p:nvPr/>
        </p:nvSpPr>
        <p:spPr>
          <a:xfrm>
            <a:off x="548640" y="365760"/>
            <a:ext cx="9235440" cy="685800"/>
          </a:xfrm>
          <a:prstGeom prst="rect">
            <a:avLst/>
          </a:prstGeom>
          <a:noFill/>
          <a:ln/>
        </p:spPr>
        <p:txBody>
          <a:bodyPr wrap="square" lIns="0" tIns="0" rIns="0" bIns="0" rtlCol="0" anchor="ctr"/>
          <a:lstStyle/>
          <a:p>
            <a:pPr indent="0" marL="0">
              <a:buNone/>
            </a:pPr>
            <a:r>
              <a:rPr lang="en-US" sz="2800" b="1" dirty="0">
                <a:solidFill>
                  <a:srgbClr val="0A032B"/>
                </a:solidFill>
                <a:latin typeface="Montserrat" pitchFamily="34" charset="0"/>
                <a:ea typeface="Montserrat" pitchFamily="34" charset="-122"/>
                <a:cs typeface="Montserrat" pitchFamily="34" charset="-120"/>
              </a:rPr>
              <a:t>À retenir</a:t>
            </a:r>
            <a:endParaRPr lang="en-US" sz="2800" dirty="0"/>
          </a:p>
        </p:txBody>
      </p:sp>
      <p:sp>
        <p:nvSpPr>
          <p:cNvPr id="3" name="Text 1"/>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5E5A78"/>
                </a:solidFill>
                <a:latin typeface="Arial" pitchFamily="34" charset="0"/>
                <a:ea typeface="Arial" pitchFamily="34" charset="-122"/>
                <a:cs typeface="Arial" pitchFamily="34" charset="-120"/>
              </a:rPr>
              <a:t>Gestes et postures de l'élu  ·  Séquence 4</a:t>
            </a:r>
            <a:endParaRPr lang="en-US" sz="900" dirty="0"/>
          </a:p>
        </p:txBody>
      </p:sp>
      <p:pic>
        <p:nvPicPr>
          <p:cNvPr id="4" name="Image 0" descr="logo_light.png">    </p:cNvPr>
          <p:cNvPicPr>
            <a:picLocks noChangeAspect="1"/>
          </p:cNvPicPr>
          <p:nvPr/>
        </p:nvPicPr>
        <p:blipFill>
          <a:blip r:embed="rId1"/>
          <a:stretch>
            <a:fillRect/>
          </a:stretch>
        </p:blipFill>
        <p:spPr>
          <a:xfrm>
            <a:off x="10682935" y="6236208"/>
            <a:ext cx="960120" cy="398441"/>
          </a:xfrm>
          <a:prstGeom prst="rect">
            <a:avLst/>
          </a:prstGeom>
        </p:spPr>
      </p:pic>
      <p:sp>
        <p:nvSpPr>
          <p:cNvPr id="5" name="Shape 2"/>
          <p:cNvSpPr/>
          <p:nvPr/>
        </p:nvSpPr>
        <p:spPr>
          <a:xfrm>
            <a:off x="548640" y="1417320"/>
            <a:ext cx="5410048" cy="1341120"/>
          </a:xfrm>
          <a:prstGeom prst="roundRect">
            <a:avLst>
              <a:gd name="adj" fmla="val 5455"/>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777240" y="1859280"/>
            <a:ext cx="457200" cy="457200"/>
          </a:xfrm>
          <a:prstGeom prst="ellipse">
            <a:avLst/>
          </a:prstGeom>
          <a:solidFill>
            <a:srgbClr val="F0EF96"/>
          </a:solidFill>
          <a:ln w="12700">
            <a:solidFill>
              <a:srgbClr val="F0EF96"/>
            </a:solidFill>
            <a:prstDash val="solid"/>
          </a:ln>
        </p:spPr>
      </p:sp>
      <p:pic>
        <p:nvPicPr>
          <p:cNvPr id="7" name="Image 1" descr="preencoded.png">    </p:cNvPr>
          <p:cNvPicPr>
            <a:picLocks noChangeAspect="1"/>
          </p:cNvPicPr>
          <p:nvPr/>
        </p:nvPicPr>
        <p:blipFill>
          <a:blip r:embed="rId2"/>
          <a:stretch>
            <a:fillRect/>
          </a:stretch>
        </p:blipFill>
        <p:spPr>
          <a:xfrm>
            <a:off x="891540" y="1973580"/>
            <a:ext cx="228600" cy="228600"/>
          </a:xfrm>
          <a:prstGeom prst="rect">
            <a:avLst/>
          </a:prstGeom>
        </p:spPr>
      </p:pic>
      <p:sp>
        <p:nvSpPr>
          <p:cNvPr id="8" name="Text 4"/>
          <p:cNvSpPr txBox="1"/>
          <p:nvPr/>
        </p:nvSpPr>
        <p:spPr>
          <a:xfrm>
            <a:off x="1417320" y="1508760"/>
            <a:ext cx="4358488" cy="1158240"/>
          </a:xfrm>
          <a:prstGeom prst="rect">
            <a:avLst/>
          </a:prstGeom>
          <a:noFill/>
          <a:ln/>
        </p:spPr>
        <p:txBody>
          <a:bodyPr wrap="square" lIns="0" tIns="0" rIns="0" bIns="0" rtlCol="0" anchor="ctr"/>
          <a:lstStyle/>
          <a:p>
            <a:pPr indent="0" marL="0">
              <a:buNone/>
            </a:pPr>
            <a:r>
              <a:rPr lang="en-US" sz="1400" dirty="0">
                <a:solidFill>
                  <a:srgbClr val="0A032B"/>
                </a:solidFill>
                <a:latin typeface="Arial" pitchFamily="34" charset="0"/>
                <a:ea typeface="Arial" pitchFamily="34" charset="-122"/>
                <a:cs typeface="Arial" pitchFamily="34" charset="-120"/>
              </a:rPr>
              <a:t>Supprimer, mécaniser, réduire, puis former : dans cet ordre.</a:t>
            </a:r>
            <a:endParaRPr lang="en-US" sz="1400" dirty="0"/>
          </a:p>
        </p:txBody>
      </p:sp>
      <p:sp>
        <p:nvSpPr>
          <p:cNvPr id="9" name="Shape 5"/>
          <p:cNvSpPr/>
          <p:nvPr/>
        </p:nvSpPr>
        <p:spPr>
          <a:xfrm>
            <a:off x="6233008" y="1417320"/>
            <a:ext cx="5410048" cy="1341120"/>
          </a:xfrm>
          <a:prstGeom prst="roundRect">
            <a:avLst>
              <a:gd name="adj" fmla="val 5455"/>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0" name="Shape 6"/>
          <p:cNvSpPr/>
          <p:nvPr/>
        </p:nvSpPr>
        <p:spPr>
          <a:xfrm>
            <a:off x="6461608" y="1859280"/>
            <a:ext cx="457200" cy="457200"/>
          </a:xfrm>
          <a:prstGeom prst="ellipse">
            <a:avLst/>
          </a:prstGeom>
          <a:solidFill>
            <a:srgbClr val="F0EF96"/>
          </a:solidFill>
          <a:ln w="12700">
            <a:solidFill>
              <a:srgbClr val="F0EF96"/>
            </a:solidFill>
            <a:prstDash val="solid"/>
          </a:ln>
        </p:spPr>
      </p:sp>
      <p:pic>
        <p:nvPicPr>
          <p:cNvPr id="11" name="Image 2" descr="preencoded.png">    </p:cNvPr>
          <p:cNvPicPr>
            <a:picLocks noChangeAspect="1"/>
          </p:cNvPicPr>
          <p:nvPr/>
        </p:nvPicPr>
        <p:blipFill>
          <a:blip r:embed="rId3"/>
          <a:stretch>
            <a:fillRect/>
          </a:stretch>
        </p:blipFill>
        <p:spPr>
          <a:xfrm>
            <a:off x="6575908" y="1973580"/>
            <a:ext cx="228600" cy="228600"/>
          </a:xfrm>
          <a:prstGeom prst="rect">
            <a:avLst/>
          </a:prstGeom>
        </p:spPr>
      </p:pic>
      <p:sp>
        <p:nvSpPr>
          <p:cNvPr id="12" name="Text 7"/>
          <p:cNvSpPr txBox="1"/>
          <p:nvPr/>
        </p:nvSpPr>
        <p:spPr>
          <a:xfrm>
            <a:off x="7101688" y="1508760"/>
            <a:ext cx="4358488" cy="1158240"/>
          </a:xfrm>
          <a:prstGeom prst="rect">
            <a:avLst/>
          </a:prstGeom>
          <a:noFill/>
          <a:ln/>
        </p:spPr>
        <p:txBody>
          <a:bodyPr wrap="square" lIns="0" tIns="0" rIns="0" bIns="0" rtlCol="0" anchor="ctr"/>
          <a:lstStyle/>
          <a:p>
            <a:pPr indent="0" marL="0">
              <a:buNone/>
            </a:pPr>
            <a:r>
              <a:rPr lang="en-US" sz="1400" dirty="0">
                <a:solidFill>
                  <a:srgbClr val="0A032B"/>
                </a:solidFill>
                <a:latin typeface="Arial" pitchFamily="34" charset="0"/>
                <a:ea typeface="Arial" pitchFamily="34" charset="-122"/>
                <a:cs typeface="Arial" pitchFamily="34" charset="-120"/>
              </a:rPr>
              <a:t>Le premier réflexe : existe-t-il une aide technique ?</a:t>
            </a:r>
            <a:endParaRPr lang="en-US" sz="1400" dirty="0"/>
          </a:p>
        </p:txBody>
      </p:sp>
      <p:sp>
        <p:nvSpPr>
          <p:cNvPr id="13" name="Shape 8"/>
          <p:cNvSpPr/>
          <p:nvPr/>
        </p:nvSpPr>
        <p:spPr>
          <a:xfrm>
            <a:off x="548640" y="3032760"/>
            <a:ext cx="5410048" cy="1341120"/>
          </a:xfrm>
          <a:prstGeom prst="roundRect">
            <a:avLst>
              <a:gd name="adj" fmla="val 5455"/>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4" name="Shape 9"/>
          <p:cNvSpPr/>
          <p:nvPr/>
        </p:nvSpPr>
        <p:spPr>
          <a:xfrm>
            <a:off x="777240" y="3474720"/>
            <a:ext cx="457200" cy="457200"/>
          </a:xfrm>
          <a:prstGeom prst="ellipse">
            <a:avLst/>
          </a:prstGeom>
          <a:solidFill>
            <a:srgbClr val="F0EF96"/>
          </a:solidFill>
          <a:ln w="12700">
            <a:solidFill>
              <a:srgbClr val="F0EF96"/>
            </a:solidFill>
            <a:prstDash val="solid"/>
          </a:ln>
        </p:spPr>
      </p:sp>
      <p:pic>
        <p:nvPicPr>
          <p:cNvPr id="15" name="Image 3" descr="preencoded.png">    </p:cNvPr>
          <p:cNvPicPr>
            <a:picLocks noChangeAspect="1"/>
          </p:cNvPicPr>
          <p:nvPr/>
        </p:nvPicPr>
        <p:blipFill>
          <a:blip r:embed="rId4"/>
          <a:stretch>
            <a:fillRect/>
          </a:stretch>
        </p:blipFill>
        <p:spPr>
          <a:xfrm>
            <a:off x="891540" y="3589020"/>
            <a:ext cx="228600" cy="228600"/>
          </a:xfrm>
          <a:prstGeom prst="rect">
            <a:avLst/>
          </a:prstGeom>
        </p:spPr>
      </p:pic>
      <p:sp>
        <p:nvSpPr>
          <p:cNvPr id="16" name="Text 10"/>
          <p:cNvSpPr txBox="1"/>
          <p:nvPr/>
        </p:nvSpPr>
        <p:spPr>
          <a:xfrm>
            <a:off x="1417320" y="3124200"/>
            <a:ext cx="4358488" cy="1158240"/>
          </a:xfrm>
          <a:prstGeom prst="rect">
            <a:avLst/>
          </a:prstGeom>
          <a:noFill/>
          <a:ln/>
        </p:spPr>
        <p:txBody>
          <a:bodyPr wrap="square" lIns="0" tIns="0" rIns="0" bIns="0" rtlCol="0" anchor="ctr"/>
          <a:lstStyle/>
          <a:p>
            <a:pPr indent="0" marL="0">
              <a:buNone/>
            </a:pPr>
            <a:r>
              <a:rPr lang="en-US" sz="1400" dirty="0">
                <a:solidFill>
                  <a:srgbClr val="0A032B"/>
                </a:solidFill>
                <a:latin typeface="Arial" pitchFamily="34" charset="0"/>
                <a:ea typeface="Arial" pitchFamily="34" charset="-122"/>
                <a:cs typeface="Arial" pitchFamily="34" charset="-120"/>
              </a:rPr>
              <a:t>Diable : le lourd en bas, basculer au point d'équilibre.</a:t>
            </a:r>
            <a:endParaRPr lang="en-US" sz="1400" dirty="0"/>
          </a:p>
        </p:txBody>
      </p:sp>
      <p:sp>
        <p:nvSpPr>
          <p:cNvPr id="17" name="Shape 11"/>
          <p:cNvSpPr/>
          <p:nvPr/>
        </p:nvSpPr>
        <p:spPr>
          <a:xfrm>
            <a:off x="6233008" y="3032760"/>
            <a:ext cx="5410048" cy="1341120"/>
          </a:xfrm>
          <a:prstGeom prst="roundRect">
            <a:avLst>
              <a:gd name="adj" fmla="val 5455"/>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8" name="Shape 12"/>
          <p:cNvSpPr/>
          <p:nvPr/>
        </p:nvSpPr>
        <p:spPr>
          <a:xfrm>
            <a:off x="6461608" y="3474720"/>
            <a:ext cx="457200" cy="457200"/>
          </a:xfrm>
          <a:prstGeom prst="ellipse">
            <a:avLst/>
          </a:prstGeom>
          <a:solidFill>
            <a:srgbClr val="F0EF96"/>
          </a:solidFill>
          <a:ln w="12700">
            <a:solidFill>
              <a:srgbClr val="F0EF96"/>
            </a:solidFill>
            <a:prstDash val="solid"/>
          </a:ln>
        </p:spPr>
      </p:sp>
      <p:pic>
        <p:nvPicPr>
          <p:cNvPr id="19" name="Image 4" descr="preencoded.png">    </p:cNvPr>
          <p:cNvPicPr>
            <a:picLocks noChangeAspect="1"/>
          </p:cNvPicPr>
          <p:nvPr/>
        </p:nvPicPr>
        <p:blipFill>
          <a:blip r:embed="rId5"/>
          <a:stretch>
            <a:fillRect/>
          </a:stretch>
        </p:blipFill>
        <p:spPr>
          <a:xfrm>
            <a:off x="6575908" y="3589020"/>
            <a:ext cx="228600" cy="228600"/>
          </a:xfrm>
          <a:prstGeom prst="rect">
            <a:avLst/>
          </a:prstGeom>
        </p:spPr>
      </p:pic>
      <p:sp>
        <p:nvSpPr>
          <p:cNvPr id="20" name="Text 13"/>
          <p:cNvSpPr txBox="1"/>
          <p:nvPr/>
        </p:nvSpPr>
        <p:spPr>
          <a:xfrm>
            <a:off x="7101688" y="3124200"/>
            <a:ext cx="4358488" cy="1158240"/>
          </a:xfrm>
          <a:prstGeom prst="rect">
            <a:avLst/>
          </a:prstGeom>
          <a:noFill/>
          <a:ln/>
        </p:spPr>
        <p:txBody>
          <a:bodyPr wrap="square" lIns="0" tIns="0" rIns="0" bIns="0" rtlCol="0" anchor="ctr"/>
          <a:lstStyle/>
          <a:p>
            <a:pPr indent="0" marL="0">
              <a:buNone/>
            </a:pPr>
            <a:r>
              <a:rPr lang="en-US" sz="1400" dirty="0">
                <a:solidFill>
                  <a:srgbClr val="0A032B"/>
                </a:solidFill>
                <a:latin typeface="Arial" pitchFamily="34" charset="0"/>
                <a:ea typeface="Arial" pitchFamily="34" charset="-122"/>
                <a:cs typeface="Arial" pitchFamily="34" charset="-120"/>
              </a:rPr>
              <a:t>Chariot : pousser plutôt que tirer, garder la vue dégagée.</a:t>
            </a:r>
            <a:endParaRPr lang="en-US" sz="1400" dirty="0"/>
          </a:p>
        </p:txBody>
      </p:sp>
      <p:sp>
        <p:nvSpPr>
          <p:cNvPr id="21" name="Shape 14"/>
          <p:cNvSpPr/>
          <p:nvPr/>
        </p:nvSpPr>
        <p:spPr>
          <a:xfrm>
            <a:off x="548640" y="4648200"/>
            <a:ext cx="5410048" cy="1341120"/>
          </a:xfrm>
          <a:prstGeom prst="roundRect">
            <a:avLst>
              <a:gd name="adj" fmla="val 5455"/>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22" name="Shape 15"/>
          <p:cNvSpPr/>
          <p:nvPr/>
        </p:nvSpPr>
        <p:spPr>
          <a:xfrm>
            <a:off x="777240" y="5090160"/>
            <a:ext cx="457200" cy="457200"/>
          </a:xfrm>
          <a:prstGeom prst="ellipse">
            <a:avLst/>
          </a:prstGeom>
          <a:solidFill>
            <a:srgbClr val="F0EF96"/>
          </a:solidFill>
          <a:ln w="12700">
            <a:solidFill>
              <a:srgbClr val="F0EF96"/>
            </a:solidFill>
            <a:prstDash val="solid"/>
          </a:ln>
        </p:spPr>
      </p:sp>
      <p:pic>
        <p:nvPicPr>
          <p:cNvPr id="23" name="Image 5" descr="preencoded.png">    </p:cNvPr>
          <p:cNvPicPr>
            <a:picLocks noChangeAspect="1"/>
          </p:cNvPicPr>
          <p:nvPr/>
        </p:nvPicPr>
        <p:blipFill>
          <a:blip r:embed="rId6"/>
          <a:stretch>
            <a:fillRect/>
          </a:stretch>
        </p:blipFill>
        <p:spPr>
          <a:xfrm>
            <a:off x="891540" y="5204460"/>
            <a:ext cx="228600" cy="228600"/>
          </a:xfrm>
          <a:prstGeom prst="rect">
            <a:avLst/>
          </a:prstGeom>
        </p:spPr>
      </p:pic>
      <p:sp>
        <p:nvSpPr>
          <p:cNvPr id="24" name="Text 16"/>
          <p:cNvSpPr txBox="1"/>
          <p:nvPr/>
        </p:nvSpPr>
        <p:spPr>
          <a:xfrm>
            <a:off x="1417320" y="4739640"/>
            <a:ext cx="4358488" cy="1158240"/>
          </a:xfrm>
          <a:prstGeom prst="rect">
            <a:avLst/>
          </a:prstGeom>
          <a:noFill/>
          <a:ln/>
        </p:spPr>
        <p:txBody>
          <a:bodyPr wrap="square" lIns="0" tIns="0" rIns="0" bIns="0" rtlCol="0" anchor="ctr"/>
          <a:lstStyle/>
          <a:p>
            <a:pPr indent="0" marL="0">
              <a:buNone/>
            </a:pPr>
            <a:r>
              <a:rPr lang="en-US" sz="1400" dirty="0">
                <a:solidFill>
                  <a:srgbClr val="0A032B"/>
                </a:solidFill>
                <a:latin typeface="Arial" pitchFamily="34" charset="0"/>
                <a:ea typeface="Arial" pitchFamily="34" charset="-122"/>
                <a:cs typeface="Arial" pitchFamily="34" charset="-120"/>
              </a:rPr>
              <a:t>Vérifier l'aide avant de s'en servir.</a:t>
            </a:r>
            <a:endParaRPr lang="en-US" sz="1400" dirty="0"/>
          </a:p>
        </p:txBody>
      </p:sp>
      <p:sp>
        <p:nvSpPr>
          <p:cNvPr id="25" name="Shape 17"/>
          <p:cNvSpPr/>
          <p:nvPr/>
        </p:nvSpPr>
        <p:spPr>
          <a:xfrm>
            <a:off x="6233008" y="4648200"/>
            <a:ext cx="5410048" cy="1341120"/>
          </a:xfrm>
          <a:prstGeom prst="roundRect">
            <a:avLst>
              <a:gd name="adj" fmla="val 5455"/>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26" name="Shape 18"/>
          <p:cNvSpPr/>
          <p:nvPr/>
        </p:nvSpPr>
        <p:spPr>
          <a:xfrm>
            <a:off x="6461608" y="5090160"/>
            <a:ext cx="457200" cy="457200"/>
          </a:xfrm>
          <a:prstGeom prst="ellipse">
            <a:avLst/>
          </a:prstGeom>
          <a:solidFill>
            <a:srgbClr val="F0EF96"/>
          </a:solidFill>
          <a:ln w="12700">
            <a:solidFill>
              <a:srgbClr val="F0EF96"/>
            </a:solidFill>
            <a:prstDash val="solid"/>
          </a:ln>
        </p:spPr>
      </p:sp>
      <p:pic>
        <p:nvPicPr>
          <p:cNvPr id="27" name="Image 6" descr="preencoded.png">    </p:cNvPr>
          <p:cNvPicPr>
            <a:picLocks noChangeAspect="1"/>
          </p:cNvPicPr>
          <p:nvPr/>
        </p:nvPicPr>
        <p:blipFill>
          <a:blip r:embed="rId7"/>
          <a:stretch>
            <a:fillRect/>
          </a:stretch>
        </p:blipFill>
        <p:spPr>
          <a:xfrm>
            <a:off x="6575908" y="5204460"/>
            <a:ext cx="228600" cy="228600"/>
          </a:xfrm>
          <a:prstGeom prst="rect">
            <a:avLst/>
          </a:prstGeom>
        </p:spPr>
      </p:pic>
      <p:sp>
        <p:nvSpPr>
          <p:cNvPr id="28" name="Text 19"/>
          <p:cNvSpPr txBox="1"/>
          <p:nvPr/>
        </p:nvSpPr>
        <p:spPr>
          <a:xfrm>
            <a:off x="7101688" y="4739640"/>
            <a:ext cx="4358488" cy="1158240"/>
          </a:xfrm>
          <a:prstGeom prst="rect">
            <a:avLst/>
          </a:prstGeom>
          <a:noFill/>
          <a:ln/>
        </p:spPr>
        <p:txBody>
          <a:bodyPr wrap="square" lIns="0" tIns="0" rIns="0" bIns="0" rtlCol="0" anchor="ctr"/>
          <a:lstStyle/>
          <a:p>
            <a:pPr indent="0" marL="0">
              <a:buNone/>
            </a:pPr>
            <a:r>
              <a:rPr lang="en-US" sz="1400" dirty="0">
                <a:solidFill>
                  <a:srgbClr val="0A032B"/>
                </a:solidFill>
                <a:latin typeface="Arial" pitchFamily="34" charset="0"/>
                <a:ea typeface="Arial" pitchFamily="34" charset="-122"/>
                <a:cs typeface="Arial" pitchFamily="34" charset="-120"/>
              </a:rPr>
              <a:t>Des aides disponibles là où l'on en a besoin : un choix de l'élu.</a:t>
            </a:r>
            <a:endParaRPr lang="en-US" sz="1400" dirty="0"/>
          </a:p>
        </p:txBody>
      </p:sp>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0EF96"/>
        </a:solidFill>
      </p:bgPr>
    </p:bg>
    <p:spTree>
      <p:nvGrpSpPr>
        <p:cNvPr id="1" name=""/>
        <p:cNvGrpSpPr/>
        <p:nvPr/>
      </p:nvGrpSpPr>
      <p:grpSpPr>
        <a:xfrm>
          <a:off x="0" y="0"/>
          <a:ext cx="0" cy="0"/>
          <a:chOff x="0" y="0"/>
          <a:chExt cx="0" cy="0"/>
        </a:xfrm>
      </p:grpSpPr>
      <p:sp>
        <p:nvSpPr>
          <p:cNvPr id="2" name="Shape 0"/>
          <p:cNvSpPr/>
          <p:nvPr/>
        </p:nvSpPr>
        <p:spPr>
          <a:xfrm>
            <a:off x="5272888" y="1463040"/>
            <a:ext cx="1645920" cy="1645920"/>
          </a:xfrm>
          <a:prstGeom prst="ellipse">
            <a:avLst/>
          </a:prstGeom>
          <a:solidFill>
            <a:srgbClr val="0A032B"/>
          </a:solidFill>
          <a:ln w="12700">
            <a:solidFill>
              <a:srgbClr val="0A032B"/>
            </a:solidFill>
            <a:prstDash val="solid"/>
          </a:ln>
        </p:spPr>
      </p:sp>
      <p:pic>
        <p:nvPicPr>
          <p:cNvPr id="3" name="Image 0" descr="preencoded.png">    </p:cNvPr>
          <p:cNvPicPr>
            <a:picLocks noChangeAspect="1"/>
          </p:cNvPicPr>
          <p:nvPr/>
        </p:nvPicPr>
        <p:blipFill>
          <a:blip r:embed="rId1"/>
          <a:stretch>
            <a:fillRect/>
          </a:stretch>
        </p:blipFill>
        <p:spPr>
          <a:xfrm>
            <a:off x="5684368" y="1874520"/>
            <a:ext cx="822960" cy="822960"/>
          </a:xfrm>
          <a:prstGeom prst="rect">
            <a:avLst/>
          </a:prstGeom>
        </p:spPr>
      </p:pic>
      <p:sp>
        <p:nvSpPr>
          <p:cNvPr id="4" name="Text 1"/>
          <p:cNvSpPr txBox="1"/>
          <p:nvPr/>
        </p:nvSpPr>
        <p:spPr>
          <a:xfrm>
            <a:off x="548640" y="3383280"/>
            <a:ext cx="11094415" cy="822960"/>
          </a:xfrm>
          <a:prstGeom prst="rect">
            <a:avLst/>
          </a:prstGeom>
          <a:noFill/>
          <a:ln/>
        </p:spPr>
        <p:txBody>
          <a:bodyPr wrap="square" lIns="0" tIns="0" rIns="0" bIns="0" rtlCol="0" anchor="ctr"/>
          <a:lstStyle/>
          <a:p>
            <a:pPr algn="ctr" indent="0" marL="0">
              <a:buNone/>
            </a:pPr>
            <a:r>
              <a:rPr lang="en-US" sz="4400" b="1" dirty="0">
                <a:solidFill>
                  <a:srgbClr val="0A032B"/>
                </a:solidFill>
                <a:latin typeface="Montserrat" pitchFamily="34" charset="0"/>
                <a:ea typeface="Montserrat" pitchFamily="34" charset="-122"/>
                <a:cs typeface="Montserrat" pitchFamily="34" charset="-120"/>
              </a:rPr>
              <a:t>Pause déjeuner</a:t>
            </a:r>
            <a:endParaRPr lang="en-US" sz="4400" dirty="0"/>
          </a:p>
        </p:txBody>
      </p:sp>
      <p:sp>
        <p:nvSpPr>
          <p:cNvPr id="5" name="Text 2"/>
          <p:cNvSpPr txBox="1"/>
          <p:nvPr/>
        </p:nvSpPr>
        <p:spPr>
          <a:xfrm>
            <a:off x="548640" y="4206240"/>
            <a:ext cx="11094415" cy="548640"/>
          </a:xfrm>
          <a:prstGeom prst="rect">
            <a:avLst/>
          </a:prstGeom>
          <a:noFill/>
          <a:ln/>
        </p:spPr>
        <p:txBody>
          <a:bodyPr wrap="square" lIns="0" tIns="0" rIns="0" bIns="0" rtlCol="0" anchor="ctr"/>
          <a:lstStyle/>
          <a:p>
            <a:pPr algn="ctr" indent="0" marL="0">
              <a:buNone/>
            </a:pPr>
            <a:r>
              <a:rPr lang="en-US" sz="2000" dirty="0">
                <a:solidFill>
                  <a:srgbClr val="35305C"/>
                </a:solidFill>
                <a:latin typeface="Arial" pitchFamily="34" charset="0"/>
                <a:ea typeface="Arial" pitchFamily="34" charset="-122"/>
                <a:cs typeface="Arial" pitchFamily="34" charset="-120"/>
              </a:rPr>
              <a:t>1 heure</a:t>
            </a:r>
            <a:endParaRPr lang="en-US" sz="2000" dirty="0"/>
          </a:p>
        </p:txBody>
      </p:sp>
      <p:pic>
        <p:nvPicPr>
          <p:cNvPr id="6" name="Image 1" descr="logo_light.png">    </p:cNvPr>
          <p:cNvPicPr>
            <a:picLocks noChangeAspect="1"/>
          </p:cNvPicPr>
          <p:nvPr/>
        </p:nvPicPr>
        <p:blipFill>
          <a:blip r:embed="rId2"/>
          <a:stretch>
            <a:fillRect/>
          </a:stretch>
        </p:blipFill>
        <p:spPr>
          <a:xfrm>
            <a:off x="10682935" y="6236208"/>
            <a:ext cx="960120" cy="398441"/>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032B"/>
        </a:solidFill>
      </p:bgPr>
    </p:bg>
    <p:spTree>
      <p:nvGrpSpPr>
        <p:cNvPr id="1" name=""/>
        <p:cNvGrpSpPr/>
        <p:nvPr/>
      </p:nvGrpSpPr>
      <p:grpSpPr>
        <a:xfrm>
          <a:off x="0" y="0"/>
          <a:ext cx="0" cy="0"/>
          <a:chOff x="0" y="0"/>
          <a:chExt cx="0" cy="0"/>
        </a:xfrm>
      </p:grpSpPr>
      <p:sp>
        <p:nvSpPr>
          <p:cNvPr id="2" name="Text 0"/>
          <p:cNvSpPr txBox="1"/>
          <p:nvPr/>
        </p:nvSpPr>
        <p:spPr>
          <a:xfrm>
            <a:off x="548640" y="1371600"/>
            <a:ext cx="3657600" cy="2926080"/>
          </a:xfrm>
          <a:prstGeom prst="rect">
            <a:avLst/>
          </a:prstGeom>
          <a:noFill/>
          <a:ln/>
        </p:spPr>
        <p:txBody>
          <a:bodyPr wrap="square" lIns="0" tIns="0" rIns="0" bIns="0" rtlCol="0" anchor="ctr"/>
          <a:lstStyle/>
          <a:p>
            <a:pPr indent="0" marL="0">
              <a:buNone/>
            </a:pPr>
            <a:r>
              <a:rPr lang="en-US" sz="18000" b="1" dirty="0">
                <a:solidFill>
                  <a:srgbClr val="F0EF96"/>
                </a:solidFill>
                <a:latin typeface="Montserrat" pitchFamily="34" charset="0"/>
                <a:ea typeface="Montserrat" pitchFamily="34" charset="-122"/>
                <a:cs typeface="Montserrat" pitchFamily="34" charset="-120"/>
              </a:rPr>
              <a:t>05</a:t>
            </a:r>
            <a:endParaRPr lang="en-US" sz="18000" dirty="0"/>
          </a:p>
        </p:txBody>
      </p:sp>
      <p:sp>
        <p:nvSpPr>
          <p:cNvPr id="3" name="Text 1"/>
          <p:cNvSpPr txBox="1"/>
          <p:nvPr/>
        </p:nvSpPr>
        <p:spPr>
          <a:xfrm>
            <a:off x="4572000" y="1463040"/>
            <a:ext cx="7040880" cy="411480"/>
          </a:xfrm>
          <a:prstGeom prst="rect">
            <a:avLst/>
          </a:prstGeom>
          <a:noFill/>
          <a:ln/>
        </p:spPr>
        <p:txBody>
          <a:bodyPr wrap="square" lIns="0" tIns="0" rIns="0" bIns="0" rtlCol="0" anchor="ctr"/>
          <a:lstStyle/>
          <a:p>
            <a:pPr indent="0" marL="0">
              <a:buNone/>
            </a:pPr>
            <a:r>
              <a:rPr lang="en-US" sz="1600" b="1" spc="300" kern="0" dirty="0">
                <a:solidFill>
                  <a:srgbClr val="F0EF96"/>
                </a:solidFill>
                <a:latin typeface="Montserrat" pitchFamily="34" charset="0"/>
                <a:ea typeface="Montserrat" pitchFamily="34" charset="-122"/>
                <a:cs typeface="Montserrat" pitchFamily="34" charset="-120"/>
              </a:rPr>
              <a:t>SÉQUENCE 5</a:t>
            </a:r>
            <a:endParaRPr lang="en-US" sz="1600" dirty="0"/>
          </a:p>
        </p:txBody>
      </p:sp>
      <p:sp>
        <p:nvSpPr>
          <p:cNvPr id="4" name="Text 2"/>
          <p:cNvSpPr txBox="1"/>
          <p:nvPr/>
        </p:nvSpPr>
        <p:spPr>
          <a:xfrm>
            <a:off x="4572000" y="1920240"/>
            <a:ext cx="7040880" cy="1645920"/>
          </a:xfrm>
          <a:prstGeom prst="rect">
            <a:avLst/>
          </a:prstGeom>
          <a:noFill/>
          <a:ln/>
        </p:spPr>
        <p:txBody>
          <a:bodyPr wrap="square" lIns="0" tIns="0" rIns="0" bIns="0" rtlCol="0" anchor="t"/>
          <a:lstStyle/>
          <a:p>
            <a:pPr indent="0" marL="0">
              <a:buNone/>
            </a:pPr>
            <a:r>
              <a:rPr lang="en-US" sz="3400" b="1" dirty="0">
                <a:solidFill>
                  <a:srgbClr val="FFFFFF"/>
                </a:solidFill>
                <a:latin typeface="Montserrat" pitchFamily="34" charset="0"/>
                <a:ea typeface="Montserrat" pitchFamily="34" charset="-122"/>
                <a:cs typeface="Montserrat" pitchFamily="34" charset="-120"/>
              </a:rPr>
              <a:t>Adapter son poste de travail, ses déplacements et sa posture assise</a:t>
            </a:r>
            <a:endParaRPr lang="en-US" sz="3400" dirty="0"/>
          </a:p>
        </p:txBody>
      </p:sp>
      <p:sp>
        <p:nvSpPr>
          <p:cNvPr id="5" name="Text 3"/>
          <p:cNvSpPr txBox="1"/>
          <p:nvPr/>
        </p:nvSpPr>
        <p:spPr>
          <a:xfrm>
            <a:off x="4572000" y="3657600"/>
            <a:ext cx="7040880" cy="914400"/>
          </a:xfrm>
          <a:prstGeom prst="rect">
            <a:avLst/>
          </a:prstGeom>
          <a:noFill/>
          <a:ln/>
        </p:spPr>
        <p:txBody>
          <a:bodyPr wrap="square" lIns="0" tIns="0" rIns="0" bIns="0" rtlCol="0" anchor="t"/>
          <a:lstStyle/>
          <a:p>
            <a:pPr indent="0" marL="0">
              <a:buNone/>
            </a:pPr>
            <a:r>
              <a:rPr lang="en-US" sz="1500" b="1" dirty="0">
                <a:solidFill>
                  <a:srgbClr val="F0EF96"/>
                </a:solidFill>
                <a:latin typeface="Arial" pitchFamily="34" charset="0"/>
                <a:ea typeface="Arial" pitchFamily="34" charset="-122"/>
                <a:cs typeface="Arial" pitchFamily="34" charset="-120"/>
              </a:rPr>
              <a:t>Objectif  </a:t>
            </a:r>
            <a:pPr indent="0" marL="0">
              <a:buNone/>
            </a:pPr>
            <a:r>
              <a:rPr lang="en-US" sz="1500" dirty="0">
                <a:solidFill>
                  <a:srgbClr val="FFFFFF"/>
                </a:solidFill>
                <a:latin typeface="Arial" pitchFamily="34" charset="0"/>
                <a:ea typeface="Arial" pitchFamily="34" charset="-122"/>
                <a:cs typeface="Arial" pitchFamily="34" charset="-120"/>
              </a:rPr>
              <a:t>Aménager son poste, adapter ses déplacements aux lieux du mandat et prévenir les effets de la station assise prolongée.</a:t>
            </a:r>
            <a:endParaRPr lang="en-US" sz="1500" dirty="0"/>
          </a:p>
        </p:txBody>
      </p:sp>
      <p:sp>
        <p:nvSpPr>
          <p:cNvPr id="6" name="Shape 4"/>
          <p:cNvSpPr/>
          <p:nvPr/>
        </p:nvSpPr>
        <p:spPr>
          <a:xfrm>
            <a:off x="4572000" y="4754880"/>
            <a:ext cx="1463040" cy="411480"/>
          </a:xfrm>
          <a:prstGeom prst="roundRect">
            <a:avLst>
              <a:gd name="adj" fmla="val 48889"/>
            </a:avLst>
          </a:prstGeom>
          <a:solidFill>
            <a:srgbClr val="F0EF96"/>
          </a:solidFill>
          <a:ln w="12700">
            <a:solidFill>
              <a:srgbClr val="F0EF96"/>
            </a:solidFill>
            <a:prstDash val="solid"/>
          </a:ln>
        </p:spPr>
      </p:sp>
      <p:sp>
        <p:nvSpPr>
          <p:cNvPr id="7" name="Text 5"/>
          <p:cNvSpPr txBox="1"/>
          <p:nvPr/>
        </p:nvSpPr>
        <p:spPr>
          <a:xfrm>
            <a:off x="4572000" y="4754880"/>
            <a:ext cx="1463040" cy="411480"/>
          </a:xfrm>
          <a:prstGeom prst="rect">
            <a:avLst/>
          </a:prstGeom>
          <a:noFill/>
          <a:ln/>
        </p:spPr>
        <p:txBody>
          <a:bodyPr wrap="square" lIns="0" tIns="0" rIns="0" bIns="0" rtlCol="0" anchor="ctr"/>
          <a:lstStyle/>
          <a:p>
            <a:pPr algn="ctr" indent="0" marL="0">
              <a:buNone/>
            </a:pPr>
            <a:r>
              <a:rPr lang="en-US" sz="1400" b="1" dirty="0">
                <a:solidFill>
                  <a:srgbClr val="0A032B"/>
                </a:solidFill>
                <a:latin typeface="Montserrat" pitchFamily="34" charset="0"/>
                <a:ea typeface="Montserrat" pitchFamily="34" charset="-122"/>
                <a:cs typeface="Montserrat" pitchFamily="34" charset="-120"/>
              </a:rPr>
              <a:t>60 min</a:t>
            </a:r>
            <a:endParaRPr lang="en-US" sz="1400" dirty="0"/>
          </a:p>
        </p:txBody>
      </p:sp>
      <p:sp>
        <p:nvSpPr>
          <p:cNvPr id="8" name="Text 6"/>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DCDAEA"/>
                </a:solidFill>
                <a:latin typeface="Arial" pitchFamily="34" charset="0"/>
                <a:ea typeface="Arial" pitchFamily="34" charset="-122"/>
                <a:cs typeface="Arial" pitchFamily="34" charset="-120"/>
              </a:rPr>
              <a:t>Gestes et postures de l'élu</a:t>
            </a:r>
            <a:endParaRPr lang="en-US" sz="900" dirty="0"/>
          </a:p>
        </p:txBody>
      </p:sp>
      <p:pic>
        <p:nvPicPr>
          <p:cNvPr id="9" name="Image 0" descr="logo_dark.png">    </p:cNvPr>
          <p:cNvPicPr>
            <a:picLocks noChangeAspect="1"/>
          </p:cNvPicPr>
          <p:nvPr/>
        </p:nvPicPr>
        <p:blipFill>
          <a:blip r:embed="rId1"/>
          <a:stretch>
            <a:fillRect/>
          </a:stretch>
        </p:blipFill>
        <p:spPr>
          <a:xfrm>
            <a:off x="10682935" y="6236208"/>
            <a:ext cx="960120" cy="398441"/>
          </a:xfrm>
          <a:prstGeom prst="rect">
            <a:avLst/>
          </a:prstGeom>
        </p:spPr>
      </p:pic>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DCDAEA"/>
                </a:solidFill>
                <a:latin typeface="Arial"/>
                <a:ea typeface="Arial"/>
                <a:cs typeface="Aria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14800" cy="6858000"/>
          </a:xfrm>
          <a:prstGeom prst="rect">
            <a:avLst/>
          </a:prstGeom>
          <a:solidFill>
            <a:srgbClr val="F0EF96"/>
          </a:solidFill>
          <a:ln w="12700">
            <a:solidFill>
              <a:srgbClr val="F0EF96"/>
            </a:solidFill>
            <a:prstDash val="solid"/>
          </a:ln>
        </p:spPr>
      </p:sp>
      <p:sp>
        <p:nvSpPr>
          <p:cNvPr id="3" name="Shape 1"/>
          <p:cNvSpPr/>
          <p:nvPr/>
        </p:nvSpPr>
        <p:spPr>
          <a:xfrm>
            <a:off x="548640" y="502920"/>
            <a:ext cx="1600200" cy="347472"/>
          </a:xfrm>
          <a:prstGeom prst="roundRect">
            <a:avLst>
              <a:gd name="adj" fmla="val 50000"/>
            </a:avLst>
          </a:prstGeom>
          <a:solidFill>
            <a:srgbClr val="F0EF96"/>
          </a:solidFill>
          <a:ln w="12700">
            <a:solidFill>
              <a:srgbClr val="F0EF96"/>
            </a:solidFill>
            <a:prstDash val="solid"/>
          </a:ln>
        </p:spPr>
      </p:sp>
      <p:sp>
        <p:nvSpPr>
          <p:cNvPr id="4" name="Text 2"/>
          <p:cNvSpPr txBox="1"/>
          <p:nvPr/>
        </p:nvSpPr>
        <p:spPr>
          <a:xfrm>
            <a:off x="548640" y="502920"/>
            <a:ext cx="1600200" cy="347472"/>
          </a:xfrm>
          <a:prstGeom prst="rect">
            <a:avLst/>
          </a:prstGeom>
          <a:noFill/>
          <a:ln/>
        </p:spPr>
        <p:txBody>
          <a:bodyPr wrap="square" lIns="0" tIns="0" rIns="0" bIns="0" rtlCol="0" anchor="ctr"/>
          <a:lstStyle/>
          <a:p>
            <a:pPr algn="ctr" indent="0" marL="0">
              <a:buNone/>
            </a:pPr>
            <a:r>
              <a:rPr lang="en-US" sz="1100" b="1" spc="200" kern="0" dirty="0">
                <a:solidFill>
                  <a:srgbClr val="0A032B"/>
                </a:solidFill>
                <a:latin typeface="Montserrat" pitchFamily="34" charset="0"/>
                <a:ea typeface="Montserrat" pitchFamily="34" charset="-122"/>
                <a:cs typeface="Montserrat" pitchFamily="34" charset="-120"/>
              </a:rPr>
              <a:t>PRATIQUE</a:t>
            </a:r>
            <a:endParaRPr lang="en-US" sz="1100" dirty="0"/>
          </a:p>
        </p:txBody>
      </p:sp>
      <p:sp>
        <p:nvSpPr>
          <p:cNvPr id="5" name="Text 3"/>
          <p:cNvSpPr txBox="1"/>
          <p:nvPr/>
        </p:nvSpPr>
        <p:spPr>
          <a:xfrm>
            <a:off x="548640" y="1005840"/>
            <a:ext cx="3108960" cy="365760"/>
          </a:xfrm>
          <a:prstGeom prst="rect">
            <a:avLst/>
          </a:prstGeom>
          <a:noFill/>
          <a:ln/>
        </p:spPr>
        <p:txBody>
          <a:bodyPr wrap="square" lIns="0" tIns="0" rIns="0" bIns="0" rtlCol="0" anchor="ctr"/>
          <a:lstStyle/>
          <a:p>
            <a:pPr indent="0" marL="0">
              <a:buNone/>
            </a:pPr>
            <a:r>
              <a:rPr lang="en-US" sz="1300" b="1" spc="100" kern="0" dirty="0">
                <a:solidFill>
                  <a:srgbClr val="35305C"/>
                </a:solidFill>
                <a:latin typeface="Montserrat" pitchFamily="34" charset="0"/>
                <a:ea typeface="Montserrat" pitchFamily="34" charset="-122"/>
                <a:cs typeface="Montserrat" pitchFamily="34" charset="-120"/>
              </a:rPr>
              <a:t>ÉCHAUFFEMENT</a:t>
            </a:r>
            <a:endParaRPr lang="en-US" sz="1300" dirty="0"/>
          </a:p>
        </p:txBody>
      </p:sp>
      <p:sp>
        <p:nvSpPr>
          <p:cNvPr id="6" name="Text 4"/>
          <p:cNvSpPr txBox="1"/>
          <p:nvPr/>
        </p:nvSpPr>
        <p:spPr>
          <a:xfrm>
            <a:off x="548640" y="1371600"/>
            <a:ext cx="3200400" cy="1371600"/>
          </a:xfrm>
          <a:prstGeom prst="rect">
            <a:avLst/>
          </a:prstGeom>
          <a:noFill/>
          <a:ln/>
        </p:spPr>
        <p:txBody>
          <a:bodyPr wrap="square" lIns="0" tIns="0" rIns="0" bIns="0" rtlCol="0" anchor="t"/>
          <a:lstStyle/>
          <a:p>
            <a:pPr indent="0" marL="0">
              <a:buNone/>
            </a:pPr>
            <a:r>
              <a:rPr lang="en-US" sz="2400" b="1" dirty="0">
                <a:solidFill>
                  <a:srgbClr val="0A032B"/>
                </a:solidFill>
                <a:latin typeface="Montserrat" pitchFamily="34" charset="0"/>
                <a:ea typeface="Montserrat" pitchFamily="34" charset="-122"/>
                <a:cs typeface="Montserrat" pitchFamily="34" charset="-120"/>
              </a:rPr>
              <a:t>Réveil musculaire de début d'après-midi</a:t>
            </a:r>
            <a:endParaRPr lang="en-US" sz="2400" dirty="0"/>
          </a:p>
        </p:txBody>
      </p:sp>
      <p:sp>
        <p:nvSpPr>
          <p:cNvPr id="7" name="Shape 5"/>
          <p:cNvSpPr/>
          <p:nvPr/>
        </p:nvSpPr>
        <p:spPr>
          <a:xfrm>
            <a:off x="548640" y="2971800"/>
            <a:ext cx="457200" cy="457200"/>
          </a:xfrm>
          <a:prstGeom prst="ellipse">
            <a:avLst/>
          </a:prstGeom>
          <a:solidFill>
            <a:srgbClr val="0A032B"/>
          </a:solidFill>
          <a:ln w="12700">
            <a:solidFill>
              <a:srgbClr val="0A032B"/>
            </a:solidFill>
            <a:prstDash val="solid"/>
          </a:ln>
        </p:spPr>
      </p:sp>
      <p:pic>
        <p:nvPicPr>
          <p:cNvPr id="8" name="Image 0" descr="preencoded.png">    </p:cNvPr>
          <p:cNvPicPr>
            <a:picLocks noChangeAspect="1"/>
          </p:cNvPicPr>
          <p:nvPr/>
        </p:nvPicPr>
        <p:blipFill>
          <a:blip r:embed="rId1"/>
          <a:stretch>
            <a:fillRect/>
          </a:stretch>
        </p:blipFill>
        <p:spPr>
          <a:xfrm>
            <a:off x="662940" y="3086100"/>
            <a:ext cx="228600" cy="228600"/>
          </a:xfrm>
          <a:prstGeom prst="rect">
            <a:avLst/>
          </a:prstGeom>
        </p:spPr>
      </p:pic>
      <p:sp>
        <p:nvSpPr>
          <p:cNvPr id="9" name="Text 6"/>
          <p:cNvSpPr txBox="1"/>
          <p:nvPr/>
        </p:nvSpPr>
        <p:spPr>
          <a:xfrm>
            <a:off x="1188720" y="2926080"/>
            <a:ext cx="2468880" cy="868680"/>
          </a:xfrm>
          <a:prstGeom prst="rect">
            <a:avLst/>
          </a:prstGeom>
          <a:noFill/>
          <a:ln/>
        </p:spPr>
        <p:txBody>
          <a:bodyPr wrap="square" lIns="0" tIns="0" rIns="0" bIns="0" rtlCol="0" anchor="t"/>
          <a:lstStyle/>
          <a:p>
            <a:pPr indent="0" marL="0">
              <a:buNone/>
            </a:pPr>
            <a:r>
              <a:rPr lang="en-US" sz="1000" b="1" spc="100" kern="0" dirty="0">
                <a:solidFill>
                  <a:srgbClr val="35305C"/>
                </a:solidFill>
                <a:latin typeface="Montserrat" pitchFamily="34" charset="0"/>
                <a:ea typeface="Montserrat" pitchFamily="34" charset="-122"/>
                <a:cs typeface="Montserrat" pitchFamily="34" charset="-120"/>
              </a:rPr>
              <a:t>DURÉE</a:t>
            </a:r>
            <a:endParaRPr lang="en-US" sz="1000" dirty="0"/>
          </a:p>
          <a:p>
            <a:pPr indent="0" marL="0">
              <a:buNone/>
            </a:pPr>
            <a:r>
              <a:rPr lang="en-US" sz="1250" dirty="0">
                <a:solidFill>
                  <a:srgbClr val="0A032B"/>
                </a:solidFill>
                <a:latin typeface="Arial" pitchFamily="34" charset="0"/>
                <a:ea typeface="Arial" pitchFamily="34" charset="-122"/>
                <a:cs typeface="Arial" pitchFamily="34" charset="-120"/>
              </a:rPr>
              <a:t>5 minutes</a:t>
            </a:r>
            <a:endParaRPr lang="en-US" sz="1000" dirty="0"/>
          </a:p>
        </p:txBody>
      </p:sp>
      <p:sp>
        <p:nvSpPr>
          <p:cNvPr id="10" name="Shape 7"/>
          <p:cNvSpPr/>
          <p:nvPr/>
        </p:nvSpPr>
        <p:spPr>
          <a:xfrm>
            <a:off x="548640" y="3931920"/>
            <a:ext cx="457200" cy="457200"/>
          </a:xfrm>
          <a:prstGeom prst="ellipse">
            <a:avLst/>
          </a:prstGeom>
          <a:solidFill>
            <a:srgbClr val="0A032B"/>
          </a:solidFill>
          <a:ln w="12700">
            <a:solidFill>
              <a:srgbClr val="0A032B"/>
            </a:solidFill>
            <a:prstDash val="solid"/>
          </a:ln>
        </p:spPr>
      </p:sp>
      <p:pic>
        <p:nvPicPr>
          <p:cNvPr id="11" name="Image 1" descr="preencoded.png">    </p:cNvPr>
          <p:cNvPicPr>
            <a:picLocks noChangeAspect="1"/>
          </p:cNvPicPr>
          <p:nvPr/>
        </p:nvPicPr>
        <p:blipFill>
          <a:blip r:embed="rId2"/>
          <a:stretch>
            <a:fillRect/>
          </a:stretch>
        </p:blipFill>
        <p:spPr>
          <a:xfrm>
            <a:off x="662940" y="4046220"/>
            <a:ext cx="228600" cy="228600"/>
          </a:xfrm>
          <a:prstGeom prst="rect">
            <a:avLst/>
          </a:prstGeom>
        </p:spPr>
      </p:pic>
      <p:sp>
        <p:nvSpPr>
          <p:cNvPr id="12" name="Text 8"/>
          <p:cNvSpPr txBox="1"/>
          <p:nvPr/>
        </p:nvSpPr>
        <p:spPr>
          <a:xfrm>
            <a:off x="1188720" y="3886200"/>
            <a:ext cx="2468880" cy="868680"/>
          </a:xfrm>
          <a:prstGeom prst="rect">
            <a:avLst/>
          </a:prstGeom>
          <a:noFill/>
          <a:ln/>
        </p:spPr>
        <p:txBody>
          <a:bodyPr wrap="square" lIns="0" tIns="0" rIns="0" bIns="0" rtlCol="0" anchor="t"/>
          <a:lstStyle/>
          <a:p>
            <a:pPr indent="0" marL="0">
              <a:buNone/>
            </a:pPr>
            <a:r>
              <a:rPr lang="en-US" sz="1000" b="1" spc="100" kern="0" dirty="0">
                <a:solidFill>
                  <a:srgbClr val="35305C"/>
                </a:solidFill>
                <a:latin typeface="Montserrat" pitchFamily="34" charset="0"/>
                <a:ea typeface="Montserrat" pitchFamily="34" charset="-122"/>
                <a:cs typeface="Montserrat" pitchFamily="34" charset="-120"/>
              </a:rPr>
              <a:t>FORMAT</a:t>
            </a:r>
            <a:endParaRPr lang="en-US" sz="1000" dirty="0"/>
          </a:p>
          <a:p>
            <a:pPr indent="0" marL="0">
              <a:buNone/>
            </a:pPr>
            <a:r>
              <a:rPr lang="en-US" sz="1250" dirty="0">
                <a:solidFill>
                  <a:srgbClr val="0A032B"/>
                </a:solidFill>
                <a:latin typeface="Arial" pitchFamily="34" charset="0"/>
                <a:ea typeface="Arial" pitchFamily="34" charset="-122"/>
                <a:cs typeface="Arial" pitchFamily="34" charset="-120"/>
              </a:rPr>
              <a:t>Grand groupe, debout</a:t>
            </a:r>
            <a:endParaRPr lang="en-US" sz="1000" dirty="0"/>
          </a:p>
        </p:txBody>
      </p:sp>
      <p:sp>
        <p:nvSpPr>
          <p:cNvPr id="13" name="Shape 9"/>
          <p:cNvSpPr/>
          <p:nvPr/>
        </p:nvSpPr>
        <p:spPr>
          <a:xfrm>
            <a:off x="548640" y="4892040"/>
            <a:ext cx="457200" cy="457200"/>
          </a:xfrm>
          <a:prstGeom prst="ellipse">
            <a:avLst/>
          </a:prstGeom>
          <a:solidFill>
            <a:srgbClr val="0A032B"/>
          </a:solidFill>
          <a:ln w="12700">
            <a:solidFill>
              <a:srgbClr val="0A032B"/>
            </a:solidFill>
            <a:prstDash val="solid"/>
          </a:ln>
        </p:spPr>
      </p:sp>
      <p:pic>
        <p:nvPicPr>
          <p:cNvPr id="14" name="Image 2" descr="preencoded.png">    </p:cNvPr>
          <p:cNvPicPr>
            <a:picLocks noChangeAspect="1"/>
          </p:cNvPicPr>
          <p:nvPr/>
        </p:nvPicPr>
        <p:blipFill>
          <a:blip r:embed="rId3"/>
          <a:stretch>
            <a:fillRect/>
          </a:stretch>
        </p:blipFill>
        <p:spPr>
          <a:xfrm>
            <a:off x="662940" y="5006340"/>
            <a:ext cx="228600" cy="228600"/>
          </a:xfrm>
          <a:prstGeom prst="rect">
            <a:avLst/>
          </a:prstGeom>
        </p:spPr>
      </p:pic>
      <p:sp>
        <p:nvSpPr>
          <p:cNvPr id="15" name="Text 10"/>
          <p:cNvSpPr txBox="1"/>
          <p:nvPr/>
        </p:nvSpPr>
        <p:spPr>
          <a:xfrm>
            <a:off x="1188720" y="4846320"/>
            <a:ext cx="2468880" cy="868680"/>
          </a:xfrm>
          <a:prstGeom prst="rect">
            <a:avLst/>
          </a:prstGeom>
          <a:noFill/>
          <a:ln/>
        </p:spPr>
        <p:txBody>
          <a:bodyPr wrap="square" lIns="0" tIns="0" rIns="0" bIns="0" rtlCol="0" anchor="t"/>
          <a:lstStyle/>
          <a:p>
            <a:pPr indent="0" marL="0">
              <a:buNone/>
            </a:pPr>
            <a:r>
              <a:rPr lang="en-US" sz="1000" b="1" spc="100" kern="0" dirty="0">
                <a:solidFill>
                  <a:srgbClr val="35305C"/>
                </a:solidFill>
                <a:latin typeface="Montserrat" pitchFamily="34" charset="0"/>
                <a:ea typeface="Montserrat" pitchFamily="34" charset="-122"/>
                <a:cs typeface="Montserrat" pitchFamily="34" charset="-120"/>
              </a:rPr>
              <a:t>MATÉRIEL</a:t>
            </a:r>
            <a:endParaRPr lang="en-US" sz="1000" dirty="0"/>
          </a:p>
          <a:p>
            <a:pPr indent="0" marL="0">
              <a:buNone/>
            </a:pPr>
            <a:r>
              <a:rPr lang="en-US" sz="1250" dirty="0">
                <a:solidFill>
                  <a:srgbClr val="0A032B"/>
                </a:solidFill>
                <a:latin typeface="Arial" pitchFamily="34" charset="0"/>
                <a:ea typeface="Arial" pitchFamily="34" charset="-122"/>
                <a:cs typeface="Arial" pitchFamily="34" charset="-120"/>
              </a:rPr>
              <a:t>Aucun</a:t>
            </a:r>
            <a:endParaRPr lang="en-US" sz="1000" dirty="0"/>
          </a:p>
        </p:txBody>
      </p:sp>
      <p:sp>
        <p:nvSpPr>
          <p:cNvPr id="16" name="Text 11"/>
          <p:cNvSpPr txBox="1"/>
          <p:nvPr/>
        </p:nvSpPr>
        <p:spPr>
          <a:xfrm>
            <a:off x="4663440" y="457200"/>
            <a:ext cx="6979615" cy="502920"/>
          </a:xfrm>
          <a:prstGeom prst="rect">
            <a:avLst/>
          </a:prstGeom>
          <a:noFill/>
          <a:ln/>
        </p:spPr>
        <p:txBody>
          <a:bodyPr wrap="square" lIns="0" tIns="0" rIns="0" bIns="0" rtlCol="0" anchor="ctr"/>
          <a:lstStyle/>
          <a:p>
            <a:pPr indent="0" marL="0">
              <a:buNone/>
            </a:pPr>
            <a:r>
              <a:rPr lang="en-US" sz="2200" b="1" dirty="0">
                <a:solidFill>
                  <a:srgbClr val="0A032B"/>
                </a:solidFill>
                <a:latin typeface="Montserrat" pitchFamily="34" charset="0"/>
                <a:ea typeface="Montserrat" pitchFamily="34" charset="-122"/>
                <a:cs typeface="Montserrat" pitchFamily="34" charset="-120"/>
              </a:rPr>
              <a:t>Consignes</a:t>
            </a:r>
            <a:endParaRPr lang="en-US" sz="2200" dirty="0"/>
          </a:p>
        </p:txBody>
      </p:sp>
      <p:sp>
        <p:nvSpPr>
          <p:cNvPr id="17" name="Shape 12"/>
          <p:cNvSpPr/>
          <p:nvPr/>
        </p:nvSpPr>
        <p:spPr>
          <a:xfrm>
            <a:off x="4663440" y="1234440"/>
            <a:ext cx="457200" cy="457200"/>
          </a:xfrm>
          <a:prstGeom prst="ellipse">
            <a:avLst/>
          </a:prstGeom>
          <a:solidFill>
            <a:srgbClr val="0A032B"/>
          </a:solidFill>
          <a:ln w="12700">
            <a:solidFill>
              <a:srgbClr val="0A032B"/>
            </a:solidFill>
            <a:prstDash val="solid"/>
          </a:ln>
        </p:spPr>
      </p:sp>
      <p:sp>
        <p:nvSpPr>
          <p:cNvPr id="18" name="Text 13"/>
          <p:cNvSpPr txBox="1"/>
          <p:nvPr/>
        </p:nvSpPr>
        <p:spPr>
          <a:xfrm>
            <a:off x="4663440" y="12344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1</a:t>
            </a:r>
            <a:endParaRPr lang="en-US" sz="1300" dirty="0"/>
          </a:p>
        </p:txBody>
      </p:sp>
      <p:sp>
        <p:nvSpPr>
          <p:cNvPr id="19" name="Text 14"/>
          <p:cNvSpPr txBox="1"/>
          <p:nvPr/>
        </p:nvSpPr>
        <p:spPr>
          <a:xfrm>
            <a:off x="5349240" y="1216152"/>
            <a:ext cx="6293815" cy="745236"/>
          </a:xfrm>
          <a:prstGeom prst="rect">
            <a:avLst/>
          </a:prstGeom>
          <a:noFill/>
          <a:ln/>
        </p:spPr>
        <p:txBody>
          <a:bodyPr wrap="square" lIns="0" tIns="0" rIns="0" bIns="0" rtlCol="0" anchor="t"/>
          <a:lstStyle/>
          <a:p>
            <a:pPr indent="0" marL="0">
              <a:spcAft>
                <a:spcPts val="300"/>
              </a:spcAft>
              <a:buNone/>
            </a:pPr>
            <a:r>
              <a:rPr lang="en-US" sz="1500" b="1" dirty="0">
                <a:solidFill>
                  <a:srgbClr val="0A032B"/>
                </a:solidFill>
                <a:latin typeface="Montserrat" pitchFamily="34" charset="0"/>
                <a:ea typeface="Montserrat" pitchFamily="34" charset="-122"/>
                <a:cs typeface="Montserrat" pitchFamily="34" charset="-120"/>
              </a:rPr>
              <a:t>Mobiliser la nuque</a:t>
            </a:r>
            <a:endParaRPr lang="en-US" sz="1500" dirty="0"/>
          </a:p>
          <a:p>
            <a:pPr indent="0" marL="0">
              <a:spcAft>
                <a:spcPts val="300"/>
              </a:spcAft>
              <a:buNone/>
            </a:pPr>
            <a:r>
              <a:rPr lang="en-US" sz="1300" dirty="0">
                <a:solidFill>
                  <a:srgbClr val="35305C"/>
                </a:solidFill>
                <a:latin typeface="Arial" pitchFamily="34" charset="0"/>
                <a:ea typeface="Arial" pitchFamily="34" charset="-122"/>
                <a:cs typeface="Arial" pitchFamily="34" charset="-120"/>
              </a:rPr>
              <a:t>Oui / non lentement, 5 fois chacun.</a:t>
            </a:r>
            <a:endParaRPr lang="en-US" sz="1500" dirty="0"/>
          </a:p>
        </p:txBody>
      </p:sp>
      <p:sp>
        <p:nvSpPr>
          <p:cNvPr id="20" name="Shape 15"/>
          <p:cNvSpPr/>
          <p:nvPr/>
        </p:nvSpPr>
        <p:spPr>
          <a:xfrm>
            <a:off x="4663440" y="2144268"/>
            <a:ext cx="457200" cy="457200"/>
          </a:xfrm>
          <a:prstGeom prst="ellipse">
            <a:avLst/>
          </a:prstGeom>
          <a:solidFill>
            <a:srgbClr val="0A032B"/>
          </a:solidFill>
          <a:ln w="12700">
            <a:solidFill>
              <a:srgbClr val="0A032B"/>
            </a:solidFill>
            <a:prstDash val="solid"/>
          </a:ln>
        </p:spPr>
      </p:sp>
      <p:sp>
        <p:nvSpPr>
          <p:cNvPr id="21" name="Text 16"/>
          <p:cNvSpPr txBox="1"/>
          <p:nvPr/>
        </p:nvSpPr>
        <p:spPr>
          <a:xfrm>
            <a:off x="4663440" y="214426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2</a:t>
            </a:r>
            <a:endParaRPr lang="en-US" sz="1300" dirty="0"/>
          </a:p>
        </p:txBody>
      </p:sp>
      <p:sp>
        <p:nvSpPr>
          <p:cNvPr id="22" name="Text 17"/>
          <p:cNvSpPr txBox="1"/>
          <p:nvPr/>
        </p:nvSpPr>
        <p:spPr>
          <a:xfrm>
            <a:off x="5349240" y="2125980"/>
            <a:ext cx="6293815" cy="745236"/>
          </a:xfrm>
          <a:prstGeom prst="rect">
            <a:avLst/>
          </a:prstGeom>
          <a:noFill/>
          <a:ln/>
        </p:spPr>
        <p:txBody>
          <a:bodyPr wrap="square" lIns="0" tIns="0" rIns="0" bIns="0" rtlCol="0" anchor="t"/>
          <a:lstStyle/>
          <a:p>
            <a:pPr indent="0" marL="0">
              <a:spcAft>
                <a:spcPts val="300"/>
              </a:spcAft>
              <a:buNone/>
            </a:pPr>
            <a:r>
              <a:rPr lang="en-US" sz="1500" b="1" dirty="0">
                <a:solidFill>
                  <a:srgbClr val="0A032B"/>
                </a:solidFill>
                <a:latin typeface="Montserrat" pitchFamily="34" charset="0"/>
                <a:ea typeface="Montserrat" pitchFamily="34" charset="-122"/>
                <a:cs typeface="Montserrat" pitchFamily="34" charset="-120"/>
              </a:rPr>
              <a:t>Rouler les épaules</a:t>
            </a:r>
            <a:endParaRPr lang="en-US" sz="1500" dirty="0"/>
          </a:p>
          <a:p>
            <a:pPr indent="0" marL="0">
              <a:spcAft>
                <a:spcPts val="300"/>
              </a:spcAft>
              <a:buNone/>
            </a:pPr>
            <a:r>
              <a:rPr lang="en-US" sz="1300" dirty="0">
                <a:solidFill>
                  <a:srgbClr val="35305C"/>
                </a:solidFill>
                <a:latin typeface="Arial" pitchFamily="34" charset="0"/>
                <a:ea typeface="Arial" pitchFamily="34" charset="-122"/>
                <a:cs typeface="Arial" pitchFamily="34" charset="-120"/>
              </a:rPr>
              <a:t>10 fois vers l'arrière, 10 fois vers l'avant.</a:t>
            </a:r>
            <a:endParaRPr lang="en-US" sz="1500" dirty="0"/>
          </a:p>
        </p:txBody>
      </p:sp>
      <p:sp>
        <p:nvSpPr>
          <p:cNvPr id="23" name="Shape 18"/>
          <p:cNvSpPr/>
          <p:nvPr/>
        </p:nvSpPr>
        <p:spPr>
          <a:xfrm>
            <a:off x="4663440" y="3054096"/>
            <a:ext cx="457200" cy="457200"/>
          </a:xfrm>
          <a:prstGeom prst="ellipse">
            <a:avLst/>
          </a:prstGeom>
          <a:solidFill>
            <a:srgbClr val="0A032B"/>
          </a:solidFill>
          <a:ln w="12700">
            <a:solidFill>
              <a:srgbClr val="0A032B"/>
            </a:solidFill>
            <a:prstDash val="solid"/>
          </a:ln>
        </p:spPr>
      </p:sp>
      <p:sp>
        <p:nvSpPr>
          <p:cNvPr id="24" name="Text 19"/>
          <p:cNvSpPr txBox="1"/>
          <p:nvPr/>
        </p:nvSpPr>
        <p:spPr>
          <a:xfrm>
            <a:off x="4663440" y="305409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3</a:t>
            </a:r>
            <a:endParaRPr lang="en-US" sz="1300" dirty="0"/>
          </a:p>
        </p:txBody>
      </p:sp>
      <p:sp>
        <p:nvSpPr>
          <p:cNvPr id="25" name="Text 20"/>
          <p:cNvSpPr txBox="1"/>
          <p:nvPr/>
        </p:nvSpPr>
        <p:spPr>
          <a:xfrm>
            <a:off x="5349240" y="3035808"/>
            <a:ext cx="6293815" cy="745236"/>
          </a:xfrm>
          <a:prstGeom prst="rect">
            <a:avLst/>
          </a:prstGeom>
          <a:noFill/>
          <a:ln/>
        </p:spPr>
        <p:txBody>
          <a:bodyPr wrap="square" lIns="0" tIns="0" rIns="0" bIns="0" rtlCol="0" anchor="t"/>
          <a:lstStyle/>
          <a:p>
            <a:pPr indent="0" marL="0">
              <a:spcAft>
                <a:spcPts val="300"/>
              </a:spcAft>
              <a:buNone/>
            </a:pPr>
            <a:r>
              <a:rPr lang="en-US" sz="1500" b="1" dirty="0">
                <a:solidFill>
                  <a:srgbClr val="0A032B"/>
                </a:solidFill>
                <a:latin typeface="Montserrat" pitchFamily="34" charset="0"/>
                <a:ea typeface="Montserrat" pitchFamily="34" charset="-122"/>
                <a:cs typeface="Montserrat" pitchFamily="34" charset="-120"/>
              </a:rPr>
              <a:t>Mobiliser le bassin</a:t>
            </a:r>
            <a:endParaRPr lang="en-US" sz="1500" dirty="0"/>
          </a:p>
          <a:p>
            <a:pPr indent="0" marL="0">
              <a:spcAft>
                <a:spcPts val="300"/>
              </a:spcAft>
              <a:buNone/>
            </a:pPr>
            <a:r>
              <a:rPr lang="en-US" sz="1300" dirty="0">
                <a:solidFill>
                  <a:srgbClr val="35305C"/>
                </a:solidFill>
                <a:latin typeface="Arial" pitchFamily="34" charset="0"/>
                <a:ea typeface="Arial" pitchFamily="34" charset="-122"/>
                <a:cs typeface="Arial" pitchFamily="34" charset="-120"/>
              </a:rPr>
              <a:t>Mains sur les hanches, cercles lents dans les deux sens.</a:t>
            </a:r>
            <a:endParaRPr lang="en-US" sz="1500" dirty="0"/>
          </a:p>
        </p:txBody>
      </p:sp>
      <p:sp>
        <p:nvSpPr>
          <p:cNvPr id="26" name="Shape 21"/>
          <p:cNvSpPr/>
          <p:nvPr/>
        </p:nvSpPr>
        <p:spPr>
          <a:xfrm>
            <a:off x="4663440" y="3963924"/>
            <a:ext cx="457200" cy="457200"/>
          </a:xfrm>
          <a:prstGeom prst="ellipse">
            <a:avLst/>
          </a:prstGeom>
          <a:solidFill>
            <a:srgbClr val="0A032B"/>
          </a:solidFill>
          <a:ln w="12700">
            <a:solidFill>
              <a:srgbClr val="0A032B"/>
            </a:solidFill>
            <a:prstDash val="solid"/>
          </a:ln>
        </p:spPr>
      </p:sp>
      <p:sp>
        <p:nvSpPr>
          <p:cNvPr id="27" name="Text 22"/>
          <p:cNvSpPr txBox="1"/>
          <p:nvPr/>
        </p:nvSpPr>
        <p:spPr>
          <a:xfrm>
            <a:off x="4663440" y="396392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4</a:t>
            </a:r>
            <a:endParaRPr lang="en-US" sz="1300" dirty="0"/>
          </a:p>
        </p:txBody>
      </p:sp>
      <p:sp>
        <p:nvSpPr>
          <p:cNvPr id="28" name="Text 23"/>
          <p:cNvSpPr txBox="1"/>
          <p:nvPr/>
        </p:nvSpPr>
        <p:spPr>
          <a:xfrm>
            <a:off x="5349240" y="3945636"/>
            <a:ext cx="6293815" cy="745236"/>
          </a:xfrm>
          <a:prstGeom prst="rect">
            <a:avLst/>
          </a:prstGeom>
          <a:noFill/>
          <a:ln/>
        </p:spPr>
        <p:txBody>
          <a:bodyPr wrap="square" lIns="0" tIns="0" rIns="0" bIns="0" rtlCol="0" anchor="t"/>
          <a:lstStyle/>
          <a:p>
            <a:pPr indent="0" marL="0">
              <a:spcAft>
                <a:spcPts val="300"/>
              </a:spcAft>
              <a:buNone/>
            </a:pPr>
            <a:r>
              <a:rPr lang="en-US" sz="1500" b="1" dirty="0">
                <a:solidFill>
                  <a:srgbClr val="0A032B"/>
                </a:solidFill>
                <a:latin typeface="Montserrat" pitchFamily="34" charset="0"/>
                <a:ea typeface="Montserrat" pitchFamily="34" charset="-122"/>
                <a:cs typeface="Montserrat" pitchFamily="34" charset="-120"/>
              </a:rPr>
              <a:t>Activer les jambes</a:t>
            </a:r>
            <a:endParaRPr lang="en-US" sz="1500" dirty="0"/>
          </a:p>
          <a:p>
            <a:pPr indent="0" marL="0">
              <a:spcAft>
                <a:spcPts val="300"/>
              </a:spcAft>
              <a:buNone/>
            </a:pPr>
            <a:r>
              <a:rPr lang="en-US" sz="1300" dirty="0">
                <a:solidFill>
                  <a:srgbClr val="35305C"/>
                </a:solidFill>
                <a:latin typeface="Arial" pitchFamily="34" charset="0"/>
                <a:ea typeface="Arial" pitchFamily="34" charset="-122"/>
                <a:cs typeface="Arial" pitchFamily="34" charset="-120"/>
              </a:rPr>
              <a:t>Montées sur la pointe des pieds, puis 5 flexions de jambes, dos droit.</a:t>
            </a:r>
            <a:endParaRPr lang="en-US" sz="1500" dirty="0"/>
          </a:p>
        </p:txBody>
      </p:sp>
      <p:sp>
        <p:nvSpPr>
          <p:cNvPr id="29" name="Shape 24"/>
          <p:cNvSpPr/>
          <p:nvPr/>
        </p:nvSpPr>
        <p:spPr>
          <a:xfrm>
            <a:off x="4663440" y="4983480"/>
            <a:ext cx="6979615" cy="1051560"/>
          </a:xfrm>
          <a:prstGeom prst="roundRect">
            <a:avLst>
              <a:gd name="adj" fmla="val 6957"/>
            </a:avLst>
          </a:prstGeom>
          <a:solidFill>
            <a:srgbClr val="EEEDF5"/>
          </a:solidFill>
          <a:ln w="12700">
            <a:solidFill>
              <a:srgbClr val="EEEDF5"/>
            </a:solidFill>
            <a:prstDash val="solid"/>
          </a:ln>
        </p:spPr>
      </p:sp>
      <p:sp>
        <p:nvSpPr>
          <p:cNvPr id="30" name="Shape 25"/>
          <p:cNvSpPr/>
          <p:nvPr/>
        </p:nvSpPr>
        <p:spPr>
          <a:xfrm>
            <a:off x="4846320" y="5230368"/>
            <a:ext cx="548640" cy="548640"/>
          </a:xfrm>
          <a:prstGeom prst="ellipse">
            <a:avLst/>
          </a:prstGeom>
          <a:solidFill>
            <a:srgbClr val="0A032B"/>
          </a:solidFill>
          <a:ln w="12700">
            <a:solidFill>
              <a:srgbClr val="0A032B"/>
            </a:solidFill>
            <a:prstDash val="solid"/>
          </a:ln>
        </p:spPr>
      </p:sp>
      <p:pic>
        <p:nvPicPr>
          <p:cNvPr id="31" name="Image 3" descr="preencoded.png">    </p:cNvPr>
          <p:cNvPicPr>
            <a:picLocks noChangeAspect="1"/>
          </p:cNvPicPr>
          <p:nvPr/>
        </p:nvPicPr>
        <p:blipFill>
          <a:blip r:embed="rId4"/>
          <a:stretch>
            <a:fillRect/>
          </a:stretch>
        </p:blipFill>
        <p:spPr>
          <a:xfrm>
            <a:off x="4983480" y="5367528"/>
            <a:ext cx="274320" cy="274320"/>
          </a:xfrm>
          <a:prstGeom prst="rect">
            <a:avLst/>
          </a:prstGeom>
        </p:spPr>
      </p:pic>
      <p:sp>
        <p:nvSpPr>
          <p:cNvPr id="32" name="Text 26"/>
          <p:cNvSpPr txBox="1"/>
          <p:nvPr/>
        </p:nvSpPr>
        <p:spPr>
          <a:xfrm>
            <a:off x="5577840" y="5029200"/>
            <a:ext cx="5882335" cy="960120"/>
          </a:xfrm>
          <a:prstGeom prst="rect">
            <a:avLst/>
          </a:prstGeom>
          <a:noFill/>
          <a:ln/>
        </p:spPr>
        <p:txBody>
          <a:bodyPr wrap="square" lIns="0" tIns="0" rIns="0" bIns="0" rtlCol="0" anchor="ctr"/>
          <a:lstStyle/>
          <a:p>
            <a:pPr indent="0" marL="0">
              <a:buNone/>
            </a:pPr>
            <a:r>
              <a:rPr lang="en-US" sz="1200" b="1" dirty="0">
                <a:solidFill>
                  <a:srgbClr val="0A032B"/>
                </a:solidFill>
                <a:latin typeface="Montserrat" pitchFamily="34" charset="0"/>
                <a:ea typeface="Montserrat" pitchFamily="34" charset="-122"/>
                <a:cs typeface="Montserrat" pitchFamily="34" charset="-120"/>
              </a:rPr>
              <a:t>Point de vigilance  </a:t>
            </a:r>
            <a:endParaRPr lang="en-US" sz="1200" dirty="0"/>
          </a:p>
          <a:p>
            <a:pPr indent="0" marL="0">
              <a:buNone/>
            </a:pPr>
            <a:r>
              <a:rPr lang="en-US" sz="1200" dirty="0">
                <a:solidFill>
                  <a:srgbClr val="35305C"/>
                </a:solidFill>
                <a:latin typeface="Arial" pitchFamily="34" charset="0"/>
                <a:ea typeface="Arial" pitchFamily="34" charset="-122"/>
                <a:cs typeface="Arial" pitchFamily="34" charset="-120"/>
              </a:rPr>
              <a:t>Mouvements lents, amples, sans douleur. S'arrêter en cas de gêne.</a:t>
            </a:r>
            <a:endParaRPr lang="en-US" sz="1200" dirty="0"/>
          </a:p>
        </p:txBody>
      </p:sp>
      <p:sp>
        <p:nvSpPr>
          <p:cNvPr id="33" name="Text 27"/>
          <p:cNvSpPr txBox="1"/>
          <p:nvPr/>
        </p:nvSpPr>
        <p:spPr>
          <a:xfrm>
            <a:off x="548640" y="6355080"/>
            <a:ext cx="3291840" cy="274320"/>
          </a:xfrm>
          <a:prstGeom prst="rect">
            <a:avLst/>
          </a:prstGeom>
          <a:noFill/>
          <a:ln/>
        </p:spPr>
        <p:txBody>
          <a:bodyPr wrap="square" lIns="0" tIns="0" rIns="0" bIns="0" rtlCol="0" anchor="ctr"/>
          <a:lstStyle/>
          <a:p>
            <a:pPr indent="0" marL="0">
              <a:buNone/>
            </a:pPr>
            <a:r>
              <a:rPr lang="en-US" sz="900" dirty="0">
                <a:solidFill>
                  <a:srgbClr val="35305C"/>
                </a:solidFill>
                <a:latin typeface="Arial" pitchFamily="34" charset="0"/>
                <a:ea typeface="Arial" pitchFamily="34" charset="-122"/>
                <a:cs typeface="Arial" pitchFamily="34" charset="-120"/>
              </a:rPr>
              <a:t>Gestes et postures de l'élu  ·  Séquence 5</a:t>
            </a:r>
            <a:endParaRPr lang="en-US" sz="900" dirty="0"/>
          </a:p>
        </p:txBody>
      </p:sp>
      <p:pic>
        <p:nvPicPr>
          <p:cNvPr id="34" name="Image 4" descr="logo_light.png">    </p:cNvPr>
          <p:cNvPicPr>
            <a:picLocks noChangeAspect="1"/>
          </p:cNvPicPr>
          <p:nvPr/>
        </p:nvPicPr>
        <p:blipFill>
          <a:blip r:embed="rId5"/>
          <a:stretch>
            <a:fillRect/>
          </a:stretch>
        </p:blipFill>
        <p:spPr>
          <a:xfrm>
            <a:off x="10682935" y="6236208"/>
            <a:ext cx="960120" cy="398441"/>
          </a:xfrm>
          <a:prstGeom prst="rect">
            <a:avLst/>
          </a:prstGeom>
        </p:spPr>
      </p:pic>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235440" cy="685800"/>
          </a:xfrm>
          <a:prstGeom prst="rect">
            <a:avLst/>
          </a:prstGeom>
          <a:noFill/>
          <a:ln/>
        </p:spPr>
        <p:txBody>
          <a:bodyPr wrap="square" lIns="0" tIns="0" rIns="0" bIns="0" rtlCol="0" anchor="ctr"/>
          <a:lstStyle/>
          <a:p>
            <a:pPr indent="0" marL="0">
              <a:buNone/>
            </a:pPr>
            <a:r>
              <a:rPr lang="en-US" sz="2800" b="1" dirty="0">
                <a:solidFill>
                  <a:srgbClr val="0A032B"/>
                </a:solidFill>
                <a:latin typeface="Montserrat" pitchFamily="34" charset="0"/>
                <a:ea typeface="Montserrat" pitchFamily="34" charset="-122"/>
                <a:cs typeface="Montserrat" pitchFamily="34" charset="-120"/>
              </a:rPr>
              <a:t>Aménager son poste de travail sur écran</a:t>
            </a:r>
            <a:endParaRPr lang="en-US" sz="2800" dirty="0"/>
          </a:p>
        </p:txBody>
      </p:sp>
      <p:sp>
        <p:nvSpPr>
          <p:cNvPr id="3" name="Text 1"/>
          <p:cNvSpPr txBox="1"/>
          <p:nvPr/>
        </p:nvSpPr>
        <p:spPr>
          <a:xfrm>
            <a:off x="548640" y="1024128"/>
            <a:ext cx="9235440" cy="365760"/>
          </a:xfrm>
          <a:prstGeom prst="rect">
            <a:avLst/>
          </a:prstGeom>
          <a:noFill/>
          <a:ln/>
        </p:spPr>
        <p:txBody>
          <a:bodyPr wrap="square" lIns="0" tIns="0" rIns="0" bIns="0" rtlCol="0" anchor="ctr"/>
          <a:lstStyle/>
          <a:p>
            <a:pPr indent="0" marL="0">
              <a:buNone/>
            </a:pPr>
            <a:r>
              <a:rPr lang="en-US" sz="1400" i="1" dirty="0">
                <a:solidFill>
                  <a:srgbClr val="5E5A78"/>
                </a:solidFill>
                <a:latin typeface="Arial" pitchFamily="34" charset="0"/>
                <a:ea typeface="Arial" pitchFamily="34" charset="-122"/>
                <a:cs typeface="Arial" pitchFamily="34" charset="-120"/>
              </a:rPr>
              <a:t>Mairie, bureau, permanence : 8 réglages à vérifier</a:t>
            </a:r>
            <a:endParaRPr lang="en-US" sz="1400" dirty="0"/>
          </a:p>
        </p:txBody>
      </p:sp>
      <p:sp>
        <p:nvSpPr>
          <p:cNvPr id="4" name="Shape 2"/>
          <p:cNvSpPr/>
          <p:nvPr/>
        </p:nvSpPr>
        <p:spPr>
          <a:xfrm>
            <a:off x="10042855" y="530352"/>
            <a:ext cx="1600200" cy="347472"/>
          </a:xfrm>
          <a:prstGeom prst="roundRect">
            <a:avLst>
              <a:gd name="adj" fmla="val 50000"/>
            </a:avLst>
          </a:prstGeom>
          <a:solidFill>
            <a:srgbClr val="0A032B"/>
          </a:solidFill>
          <a:ln w="12700">
            <a:solidFill>
              <a:srgbClr val="0A032B"/>
            </a:solidFill>
            <a:prstDash val="solid"/>
          </a:ln>
        </p:spPr>
      </p:sp>
      <p:sp>
        <p:nvSpPr>
          <p:cNvPr id="5" name="Text 3"/>
          <p:cNvSpPr txBox="1"/>
          <p:nvPr/>
        </p:nvSpPr>
        <p:spPr>
          <a:xfrm>
            <a:off x="10042855" y="530352"/>
            <a:ext cx="1600200" cy="347472"/>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Montserrat" pitchFamily="34" charset="0"/>
                <a:ea typeface="Montserrat" pitchFamily="34" charset="-122"/>
                <a:cs typeface="Montserrat" pitchFamily="34" charset="-120"/>
              </a:rPr>
              <a:t>THÉORIE</a:t>
            </a:r>
            <a:endParaRPr lang="en-US" sz="1100" dirty="0"/>
          </a:p>
        </p:txBody>
      </p:sp>
      <p:sp>
        <p:nvSpPr>
          <p:cNvPr id="6" name="Text 4"/>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5E5A78"/>
                </a:solidFill>
                <a:latin typeface="Arial" pitchFamily="34" charset="0"/>
                <a:ea typeface="Arial" pitchFamily="34" charset="-122"/>
                <a:cs typeface="Arial" pitchFamily="34" charset="-120"/>
              </a:rPr>
              <a:t>Gestes et postures de l'élu  ·  Séquence 5</a:t>
            </a:r>
            <a:endParaRPr lang="en-US" sz="900" dirty="0"/>
          </a:p>
        </p:txBody>
      </p:sp>
      <p:pic>
        <p:nvPicPr>
          <p:cNvPr id="7" name="Image 0" descr="logo_light.png">    </p:cNvPr>
          <p:cNvPicPr>
            <a:picLocks noChangeAspect="1"/>
          </p:cNvPicPr>
          <p:nvPr/>
        </p:nvPicPr>
        <p:blipFill>
          <a:blip r:embed="rId1"/>
          <a:stretch>
            <a:fillRect/>
          </a:stretch>
        </p:blipFill>
        <p:spPr>
          <a:xfrm>
            <a:off x="10682935" y="6236208"/>
            <a:ext cx="960120" cy="398441"/>
          </a:xfrm>
          <a:prstGeom prst="rect">
            <a:avLst/>
          </a:prstGeom>
        </p:spPr>
      </p:pic>
      <p:sp>
        <p:nvSpPr>
          <p:cNvPr id="8" name="Shape 5"/>
          <p:cNvSpPr/>
          <p:nvPr/>
        </p:nvSpPr>
        <p:spPr>
          <a:xfrm>
            <a:off x="548640" y="1600200"/>
            <a:ext cx="5410048" cy="1024128"/>
          </a:xfrm>
          <a:prstGeom prst="roundRect">
            <a:avLst>
              <a:gd name="adj" fmla="val 7143"/>
            </a:avLst>
          </a:prstGeom>
          <a:solidFill>
            <a:srgbClr val="EEEDF5"/>
          </a:solidFill>
          <a:ln w="12700">
            <a:solidFill>
              <a:srgbClr val="EEEDF5"/>
            </a:solidFill>
            <a:prstDash val="solid"/>
          </a:ln>
        </p:spPr>
      </p:sp>
      <p:sp>
        <p:nvSpPr>
          <p:cNvPr id="9" name="Shape 6"/>
          <p:cNvSpPr/>
          <p:nvPr/>
        </p:nvSpPr>
        <p:spPr>
          <a:xfrm>
            <a:off x="731520" y="1815084"/>
            <a:ext cx="594360" cy="594360"/>
          </a:xfrm>
          <a:prstGeom prst="ellipse">
            <a:avLst/>
          </a:prstGeom>
          <a:solidFill>
            <a:srgbClr val="0A032B"/>
          </a:solidFill>
          <a:ln w="12700">
            <a:solidFill>
              <a:srgbClr val="0A032B"/>
            </a:solidFill>
            <a:prstDash val="solid"/>
          </a:ln>
        </p:spPr>
      </p:sp>
      <p:pic>
        <p:nvPicPr>
          <p:cNvPr id="10" name="Image 1" descr="preencoded.png">    </p:cNvPr>
          <p:cNvPicPr>
            <a:picLocks noChangeAspect="1"/>
          </p:cNvPicPr>
          <p:nvPr/>
        </p:nvPicPr>
        <p:blipFill>
          <a:blip r:embed="rId2"/>
          <a:stretch>
            <a:fillRect/>
          </a:stretch>
        </p:blipFill>
        <p:spPr>
          <a:xfrm>
            <a:off x="880110" y="1963674"/>
            <a:ext cx="297180" cy="297180"/>
          </a:xfrm>
          <a:prstGeom prst="rect">
            <a:avLst/>
          </a:prstGeom>
        </p:spPr>
      </p:pic>
      <p:sp>
        <p:nvSpPr>
          <p:cNvPr id="11" name="Text 7"/>
          <p:cNvSpPr txBox="1"/>
          <p:nvPr/>
        </p:nvSpPr>
        <p:spPr>
          <a:xfrm>
            <a:off x="1508760" y="1645920"/>
            <a:ext cx="4267048" cy="932688"/>
          </a:xfrm>
          <a:prstGeom prst="rect">
            <a:avLst/>
          </a:prstGeom>
          <a:noFill/>
          <a:ln/>
        </p:spPr>
        <p:txBody>
          <a:bodyPr wrap="square" lIns="0" tIns="0" rIns="0" bIns="0" rtlCol="0" anchor="ctr"/>
          <a:lstStyle/>
          <a:p>
            <a:pPr indent="0" marL="0">
              <a:buNone/>
            </a:pPr>
            <a:r>
              <a:rPr lang="en-US" sz="1400" b="1" dirty="0">
                <a:solidFill>
                  <a:srgbClr val="0A032B"/>
                </a:solidFill>
                <a:latin typeface="Montserrat" pitchFamily="34" charset="0"/>
                <a:ea typeface="Montserrat" pitchFamily="34" charset="-122"/>
                <a:cs typeface="Montserrat" pitchFamily="34" charset="-120"/>
              </a:rPr>
              <a:t>Écran</a:t>
            </a:r>
            <a:endParaRPr lang="en-US" sz="1400" dirty="0"/>
          </a:p>
          <a:p>
            <a:pPr indent="0" marL="0">
              <a:buNone/>
            </a:pPr>
            <a:r>
              <a:rPr lang="en-US" sz="1250" dirty="0">
                <a:solidFill>
                  <a:srgbClr val="35305C"/>
                </a:solidFill>
                <a:latin typeface="Arial" pitchFamily="34" charset="0"/>
                <a:ea typeface="Arial" pitchFamily="34" charset="-122"/>
                <a:cs typeface="Arial" pitchFamily="34" charset="-120"/>
              </a:rPr>
              <a:t>Haut de l'écran à hauteur des yeux, à une longueur de bras (50 à 70 cm).</a:t>
            </a:r>
            <a:endParaRPr lang="en-US" sz="1400" dirty="0"/>
          </a:p>
        </p:txBody>
      </p:sp>
      <p:sp>
        <p:nvSpPr>
          <p:cNvPr id="12" name="Shape 8"/>
          <p:cNvSpPr/>
          <p:nvPr/>
        </p:nvSpPr>
        <p:spPr>
          <a:xfrm>
            <a:off x="6233008" y="1600200"/>
            <a:ext cx="5410048" cy="1024128"/>
          </a:xfrm>
          <a:prstGeom prst="roundRect">
            <a:avLst>
              <a:gd name="adj" fmla="val 7143"/>
            </a:avLst>
          </a:prstGeom>
          <a:solidFill>
            <a:srgbClr val="EEEDF5"/>
          </a:solidFill>
          <a:ln w="12700">
            <a:solidFill>
              <a:srgbClr val="EEEDF5"/>
            </a:solidFill>
            <a:prstDash val="solid"/>
          </a:ln>
        </p:spPr>
      </p:sp>
      <p:sp>
        <p:nvSpPr>
          <p:cNvPr id="13" name="Shape 9"/>
          <p:cNvSpPr/>
          <p:nvPr/>
        </p:nvSpPr>
        <p:spPr>
          <a:xfrm>
            <a:off x="6415888" y="1815084"/>
            <a:ext cx="594360" cy="594360"/>
          </a:xfrm>
          <a:prstGeom prst="ellipse">
            <a:avLst/>
          </a:prstGeom>
          <a:solidFill>
            <a:srgbClr val="0A032B"/>
          </a:solidFill>
          <a:ln w="12700">
            <a:solidFill>
              <a:srgbClr val="0A032B"/>
            </a:solidFill>
            <a:prstDash val="solid"/>
          </a:ln>
        </p:spPr>
      </p:sp>
      <p:pic>
        <p:nvPicPr>
          <p:cNvPr id="14" name="Image 2" descr="preencoded.png">    </p:cNvPr>
          <p:cNvPicPr>
            <a:picLocks noChangeAspect="1"/>
          </p:cNvPicPr>
          <p:nvPr/>
        </p:nvPicPr>
        <p:blipFill>
          <a:blip r:embed="rId3"/>
          <a:stretch>
            <a:fillRect/>
          </a:stretch>
        </p:blipFill>
        <p:spPr>
          <a:xfrm>
            <a:off x="6564478" y="1963674"/>
            <a:ext cx="297180" cy="297180"/>
          </a:xfrm>
          <a:prstGeom prst="rect">
            <a:avLst/>
          </a:prstGeom>
        </p:spPr>
      </p:pic>
      <p:sp>
        <p:nvSpPr>
          <p:cNvPr id="15" name="Text 10"/>
          <p:cNvSpPr txBox="1"/>
          <p:nvPr/>
        </p:nvSpPr>
        <p:spPr>
          <a:xfrm>
            <a:off x="7193128" y="1645920"/>
            <a:ext cx="4267048" cy="932688"/>
          </a:xfrm>
          <a:prstGeom prst="rect">
            <a:avLst/>
          </a:prstGeom>
          <a:noFill/>
          <a:ln/>
        </p:spPr>
        <p:txBody>
          <a:bodyPr wrap="square" lIns="0" tIns="0" rIns="0" bIns="0" rtlCol="0" anchor="ctr"/>
          <a:lstStyle/>
          <a:p>
            <a:pPr indent="0" marL="0">
              <a:buNone/>
            </a:pPr>
            <a:r>
              <a:rPr lang="en-US" sz="1400" b="1" dirty="0">
                <a:solidFill>
                  <a:srgbClr val="0A032B"/>
                </a:solidFill>
                <a:latin typeface="Montserrat" pitchFamily="34" charset="0"/>
                <a:ea typeface="Montserrat" pitchFamily="34" charset="-122"/>
                <a:cs typeface="Montserrat" pitchFamily="34" charset="-120"/>
              </a:rPr>
              <a:t>Lumière</a:t>
            </a:r>
            <a:endParaRPr lang="en-US" sz="1400" dirty="0"/>
          </a:p>
          <a:p>
            <a:pPr indent="0" marL="0">
              <a:buNone/>
            </a:pPr>
            <a:r>
              <a:rPr lang="en-US" sz="1250" dirty="0">
                <a:solidFill>
                  <a:srgbClr val="35305C"/>
                </a:solidFill>
                <a:latin typeface="Arial" pitchFamily="34" charset="0"/>
                <a:ea typeface="Arial" pitchFamily="34" charset="-122"/>
                <a:cs typeface="Arial" pitchFamily="34" charset="-120"/>
              </a:rPr>
              <a:t>Écran perpendiculaire aux fenêtres, sans reflet ni contre-jour.</a:t>
            </a:r>
            <a:endParaRPr lang="en-US" sz="1400" dirty="0"/>
          </a:p>
        </p:txBody>
      </p:sp>
      <p:sp>
        <p:nvSpPr>
          <p:cNvPr id="16" name="Shape 11"/>
          <p:cNvSpPr/>
          <p:nvPr/>
        </p:nvSpPr>
        <p:spPr>
          <a:xfrm>
            <a:off x="548640" y="2734056"/>
            <a:ext cx="5410048" cy="1024128"/>
          </a:xfrm>
          <a:prstGeom prst="roundRect">
            <a:avLst>
              <a:gd name="adj" fmla="val 7143"/>
            </a:avLst>
          </a:prstGeom>
          <a:solidFill>
            <a:srgbClr val="EEEDF5"/>
          </a:solidFill>
          <a:ln w="12700">
            <a:solidFill>
              <a:srgbClr val="EEEDF5"/>
            </a:solidFill>
            <a:prstDash val="solid"/>
          </a:ln>
        </p:spPr>
      </p:sp>
      <p:sp>
        <p:nvSpPr>
          <p:cNvPr id="17" name="Shape 12"/>
          <p:cNvSpPr/>
          <p:nvPr/>
        </p:nvSpPr>
        <p:spPr>
          <a:xfrm>
            <a:off x="731520" y="2948940"/>
            <a:ext cx="594360" cy="594360"/>
          </a:xfrm>
          <a:prstGeom prst="ellipse">
            <a:avLst/>
          </a:prstGeom>
          <a:solidFill>
            <a:srgbClr val="0A032B"/>
          </a:solidFill>
          <a:ln w="12700">
            <a:solidFill>
              <a:srgbClr val="0A032B"/>
            </a:solidFill>
            <a:prstDash val="solid"/>
          </a:ln>
        </p:spPr>
      </p:sp>
      <p:pic>
        <p:nvPicPr>
          <p:cNvPr id="18" name="Image 3" descr="preencoded.png">    </p:cNvPr>
          <p:cNvPicPr>
            <a:picLocks noChangeAspect="1"/>
          </p:cNvPicPr>
          <p:nvPr/>
        </p:nvPicPr>
        <p:blipFill>
          <a:blip r:embed="rId4"/>
          <a:stretch>
            <a:fillRect/>
          </a:stretch>
        </p:blipFill>
        <p:spPr>
          <a:xfrm>
            <a:off x="880110" y="3097530"/>
            <a:ext cx="297180" cy="297180"/>
          </a:xfrm>
          <a:prstGeom prst="rect">
            <a:avLst/>
          </a:prstGeom>
        </p:spPr>
      </p:pic>
      <p:sp>
        <p:nvSpPr>
          <p:cNvPr id="19" name="Text 13"/>
          <p:cNvSpPr txBox="1"/>
          <p:nvPr/>
        </p:nvSpPr>
        <p:spPr>
          <a:xfrm>
            <a:off x="1508760" y="2779776"/>
            <a:ext cx="4267048" cy="932688"/>
          </a:xfrm>
          <a:prstGeom prst="rect">
            <a:avLst/>
          </a:prstGeom>
          <a:noFill/>
          <a:ln/>
        </p:spPr>
        <p:txBody>
          <a:bodyPr wrap="square" lIns="0" tIns="0" rIns="0" bIns="0" rtlCol="0" anchor="ctr"/>
          <a:lstStyle/>
          <a:p>
            <a:pPr indent="0" marL="0">
              <a:buNone/>
            </a:pPr>
            <a:r>
              <a:rPr lang="en-US" sz="1400" b="1" dirty="0">
                <a:solidFill>
                  <a:srgbClr val="0A032B"/>
                </a:solidFill>
                <a:latin typeface="Montserrat" pitchFamily="34" charset="0"/>
                <a:ea typeface="Montserrat" pitchFamily="34" charset="-122"/>
                <a:cs typeface="Montserrat" pitchFamily="34" charset="-120"/>
              </a:rPr>
              <a:t>Clavier</a:t>
            </a:r>
            <a:endParaRPr lang="en-US" sz="1400" dirty="0"/>
          </a:p>
          <a:p>
            <a:pPr indent="0" marL="0">
              <a:buNone/>
            </a:pPr>
            <a:r>
              <a:rPr lang="en-US" sz="1250" dirty="0">
                <a:solidFill>
                  <a:srgbClr val="35305C"/>
                </a:solidFill>
                <a:latin typeface="Arial" pitchFamily="34" charset="0"/>
                <a:ea typeface="Arial" pitchFamily="34" charset="-122"/>
                <a:cs typeface="Arial" pitchFamily="34" charset="-120"/>
              </a:rPr>
              <a:t>Face à soi, à 10-15 cm du bord de la table, poignets dans l'alignement.</a:t>
            </a:r>
            <a:endParaRPr lang="en-US" sz="1400" dirty="0"/>
          </a:p>
        </p:txBody>
      </p:sp>
      <p:sp>
        <p:nvSpPr>
          <p:cNvPr id="20" name="Shape 14"/>
          <p:cNvSpPr/>
          <p:nvPr/>
        </p:nvSpPr>
        <p:spPr>
          <a:xfrm>
            <a:off x="6233008" y="2734056"/>
            <a:ext cx="5410048" cy="1024128"/>
          </a:xfrm>
          <a:prstGeom prst="roundRect">
            <a:avLst>
              <a:gd name="adj" fmla="val 7143"/>
            </a:avLst>
          </a:prstGeom>
          <a:solidFill>
            <a:srgbClr val="EEEDF5"/>
          </a:solidFill>
          <a:ln w="12700">
            <a:solidFill>
              <a:srgbClr val="EEEDF5"/>
            </a:solidFill>
            <a:prstDash val="solid"/>
          </a:ln>
        </p:spPr>
      </p:sp>
      <p:sp>
        <p:nvSpPr>
          <p:cNvPr id="21" name="Shape 15"/>
          <p:cNvSpPr/>
          <p:nvPr/>
        </p:nvSpPr>
        <p:spPr>
          <a:xfrm>
            <a:off x="6415888" y="2948940"/>
            <a:ext cx="594360" cy="594360"/>
          </a:xfrm>
          <a:prstGeom prst="ellipse">
            <a:avLst/>
          </a:prstGeom>
          <a:solidFill>
            <a:srgbClr val="0A032B"/>
          </a:solidFill>
          <a:ln w="12700">
            <a:solidFill>
              <a:srgbClr val="0A032B"/>
            </a:solidFill>
            <a:prstDash val="solid"/>
          </a:ln>
        </p:spPr>
      </p:sp>
      <p:pic>
        <p:nvPicPr>
          <p:cNvPr id="22" name="Image 4" descr="preencoded.png">    </p:cNvPr>
          <p:cNvPicPr>
            <a:picLocks noChangeAspect="1"/>
          </p:cNvPicPr>
          <p:nvPr/>
        </p:nvPicPr>
        <p:blipFill>
          <a:blip r:embed="rId5"/>
          <a:stretch>
            <a:fillRect/>
          </a:stretch>
        </p:blipFill>
        <p:spPr>
          <a:xfrm>
            <a:off x="6564478" y="3097530"/>
            <a:ext cx="297180" cy="297180"/>
          </a:xfrm>
          <a:prstGeom prst="rect">
            <a:avLst/>
          </a:prstGeom>
        </p:spPr>
      </p:pic>
      <p:sp>
        <p:nvSpPr>
          <p:cNvPr id="23" name="Text 16"/>
          <p:cNvSpPr txBox="1"/>
          <p:nvPr/>
        </p:nvSpPr>
        <p:spPr>
          <a:xfrm>
            <a:off x="7193128" y="2779776"/>
            <a:ext cx="4267048" cy="932688"/>
          </a:xfrm>
          <a:prstGeom prst="rect">
            <a:avLst/>
          </a:prstGeom>
          <a:noFill/>
          <a:ln/>
        </p:spPr>
        <p:txBody>
          <a:bodyPr wrap="square" lIns="0" tIns="0" rIns="0" bIns="0" rtlCol="0" anchor="ctr"/>
          <a:lstStyle/>
          <a:p>
            <a:pPr indent="0" marL="0">
              <a:buNone/>
            </a:pPr>
            <a:r>
              <a:rPr lang="en-US" sz="1400" b="1" dirty="0">
                <a:solidFill>
                  <a:srgbClr val="0A032B"/>
                </a:solidFill>
                <a:latin typeface="Montserrat" pitchFamily="34" charset="0"/>
                <a:ea typeface="Montserrat" pitchFamily="34" charset="-122"/>
                <a:cs typeface="Montserrat" pitchFamily="34" charset="-120"/>
              </a:rPr>
              <a:t>Souris</a:t>
            </a:r>
            <a:endParaRPr lang="en-US" sz="1400" dirty="0"/>
          </a:p>
          <a:p>
            <a:pPr indent="0" marL="0">
              <a:buNone/>
            </a:pPr>
            <a:r>
              <a:rPr lang="en-US" sz="1250" dirty="0">
                <a:solidFill>
                  <a:srgbClr val="35305C"/>
                </a:solidFill>
                <a:latin typeface="Arial" pitchFamily="34" charset="0"/>
                <a:ea typeface="Arial" pitchFamily="34" charset="-122"/>
                <a:cs typeface="Arial" pitchFamily="34" charset="-120"/>
              </a:rPr>
              <a:t>Proche du clavier, avant-bras posé sur la table.</a:t>
            </a:r>
            <a:endParaRPr lang="en-US" sz="1400" dirty="0"/>
          </a:p>
        </p:txBody>
      </p:sp>
      <p:sp>
        <p:nvSpPr>
          <p:cNvPr id="24" name="Shape 17"/>
          <p:cNvSpPr/>
          <p:nvPr/>
        </p:nvSpPr>
        <p:spPr>
          <a:xfrm>
            <a:off x="548640" y="3867912"/>
            <a:ext cx="5410048" cy="1024128"/>
          </a:xfrm>
          <a:prstGeom prst="roundRect">
            <a:avLst>
              <a:gd name="adj" fmla="val 7143"/>
            </a:avLst>
          </a:prstGeom>
          <a:solidFill>
            <a:srgbClr val="EEEDF5"/>
          </a:solidFill>
          <a:ln w="12700">
            <a:solidFill>
              <a:srgbClr val="EEEDF5"/>
            </a:solidFill>
            <a:prstDash val="solid"/>
          </a:ln>
        </p:spPr>
      </p:sp>
      <p:sp>
        <p:nvSpPr>
          <p:cNvPr id="25" name="Shape 18"/>
          <p:cNvSpPr/>
          <p:nvPr/>
        </p:nvSpPr>
        <p:spPr>
          <a:xfrm>
            <a:off x="731520" y="4082796"/>
            <a:ext cx="594360" cy="594360"/>
          </a:xfrm>
          <a:prstGeom prst="ellipse">
            <a:avLst/>
          </a:prstGeom>
          <a:solidFill>
            <a:srgbClr val="0A032B"/>
          </a:solidFill>
          <a:ln w="12700">
            <a:solidFill>
              <a:srgbClr val="0A032B"/>
            </a:solidFill>
            <a:prstDash val="solid"/>
          </a:ln>
        </p:spPr>
      </p:sp>
      <p:pic>
        <p:nvPicPr>
          <p:cNvPr id="26" name="Image 5" descr="preencoded.png">    </p:cNvPr>
          <p:cNvPicPr>
            <a:picLocks noChangeAspect="1"/>
          </p:cNvPicPr>
          <p:nvPr/>
        </p:nvPicPr>
        <p:blipFill>
          <a:blip r:embed="rId6"/>
          <a:stretch>
            <a:fillRect/>
          </a:stretch>
        </p:blipFill>
        <p:spPr>
          <a:xfrm>
            <a:off x="880110" y="4231386"/>
            <a:ext cx="297180" cy="297180"/>
          </a:xfrm>
          <a:prstGeom prst="rect">
            <a:avLst/>
          </a:prstGeom>
        </p:spPr>
      </p:pic>
      <p:sp>
        <p:nvSpPr>
          <p:cNvPr id="27" name="Text 19"/>
          <p:cNvSpPr txBox="1"/>
          <p:nvPr/>
        </p:nvSpPr>
        <p:spPr>
          <a:xfrm>
            <a:off x="1508760" y="3913632"/>
            <a:ext cx="4267048" cy="932688"/>
          </a:xfrm>
          <a:prstGeom prst="rect">
            <a:avLst/>
          </a:prstGeom>
          <a:noFill/>
          <a:ln/>
        </p:spPr>
        <p:txBody>
          <a:bodyPr wrap="square" lIns="0" tIns="0" rIns="0" bIns="0" rtlCol="0" anchor="ctr"/>
          <a:lstStyle/>
          <a:p>
            <a:pPr indent="0" marL="0">
              <a:buNone/>
            </a:pPr>
            <a:r>
              <a:rPr lang="en-US" sz="1400" b="1" dirty="0">
                <a:solidFill>
                  <a:srgbClr val="0A032B"/>
                </a:solidFill>
                <a:latin typeface="Montserrat" pitchFamily="34" charset="0"/>
                <a:ea typeface="Montserrat" pitchFamily="34" charset="-122"/>
                <a:cs typeface="Montserrat" pitchFamily="34" charset="-120"/>
              </a:rPr>
              <a:t>Siège</a:t>
            </a:r>
            <a:endParaRPr lang="en-US" sz="1400" dirty="0"/>
          </a:p>
          <a:p>
            <a:pPr indent="0" marL="0">
              <a:buNone/>
            </a:pPr>
            <a:r>
              <a:rPr lang="en-US" sz="1250" dirty="0">
                <a:solidFill>
                  <a:srgbClr val="35305C"/>
                </a:solidFill>
                <a:latin typeface="Arial" pitchFamily="34" charset="0"/>
                <a:ea typeface="Arial" pitchFamily="34" charset="-122"/>
                <a:cs typeface="Arial" pitchFamily="34" charset="-120"/>
              </a:rPr>
              <a:t>Hauteur réglée : coudes à 90°, avant-bras à hauteur du plan de travail.</a:t>
            </a:r>
            <a:endParaRPr lang="en-US" sz="1400" dirty="0"/>
          </a:p>
        </p:txBody>
      </p:sp>
      <p:sp>
        <p:nvSpPr>
          <p:cNvPr id="28" name="Shape 20"/>
          <p:cNvSpPr/>
          <p:nvPr/>
        </p:nvSpPr>
        <p:spPr>
          <a:xfrm>
            <a:off x="6233008" y="3867912"/>
            <a:ext cx="5410048" cy="1024128"/>
          </a:xfrm>
          <a:prstGeom prst="roundRect">
            <a:avLst>
              <a:gd name="adj" fmla="val 7143"/>
            </a:avLst>
          </a:prstGeom>
          <a:solidFill>
            <a:srgbClr val="EEEDF5"/>
          </a:solidFill>
          <a:ln w="12700">
            <a:solidFill>
              <a:srgbClr val="EEEDF5"/>
            </a:solidFill>
            <a:prstDash val="solid"/>
          </a:ln>
        </p:spPr>
      </p:sp>
      <p:sp>
        <p:nvSpPr>
          <p:cNvPr id="29" name="Shape 21"/>
          <p:cNvSpPr/>
          <p:nvPr/>
        </p:nvSpPr>
        <p:spPr>
          <a:xfrm>
            <a:off x="6415888" y="4082796"/>
            <a:ext cx="594360" cy="594360"/>
          </a:xfrm>
          <a:prstGeom prst="ellipse">
            <a:avLst/>
          </a:prstGeom>
          <a:solidFill>
            <a:srgbClr val="0A032B"/>
          </a:solidFill>
          <a:ln w="12700">
            <a:solidFill>
              <a:srgbClr val="0A032B"/>
            </a:solidFill>
            <a:prstDash val="solid"/>
          </a:ln>
        </p:spPr>
      </p:sp>
      <p:pic>
        <p:nvPicPr>
          <p:cNvPr id="30" name="Image 6" descr="preencoded.png">    </p:cNvPr>
          <p:cNvPicPr>
            <a:picLocks noChangeAspect="1"/>
          </p:cNvPicPr>
          <p:nvPr/>
        </p:nvPicPr>
        <p:blipFill>
          <a:blip r:embed="rId7"/>
          <a:stretch>
            <a:fillRect/>
          </a:stretch>
        </p:blipFill>
        <p:spPr>
          <a:xfrm>
            <a:off x="6564478" y="4231386"/>
            <a:ext cx="297180" cy="297180"/>
          </a:xfrm>
          <a:prstGeom prst="rect">
            <a:avLst/>
          </a:prstGeom>
        </p:spPr>
      </p:pic>
      <p:sp>
        <p:nvSpPr>
          <p:cNvPr id="31" name="Text 22"/>
          <p:cNvSpPr txBox="1"/>
          <p:nvPr/>
        </p:nvSpPr>
        <p:spPr>
          <a:xfrm>
            <a:off x="7193128" y="3913632"/>
            <a:ext cx="4267048" cy="932688"/>
          </a:xfrm>
          <a:prstGeom prst="rect">
            <a:avLst/>
          </a:prstGeom>
          <a:noFill/>
          <a:ln/>
        </p:spPr>
        <p:txBody>
          <a:bodyPr wrap="square" lIns="0" tIns="0" rIns="0" bIns="0" rtlCol="0" anchor="ctr"/>
          <a:lstStyle/>
          <a:p>
            <a:pPr indent="0" marL="0">
              <a:buNone/>
            </a:pPr>
            <a:r>
              <a:rPr lang="en-US" sz="1400" b="1" dirty="0">
                <a:solidFill>
                  <a:srgbClr val="0A032B"/>
                </a:solidFill>
                <a:latin typeface="Montserrat" pitchFamily="34" charset="0"/>
                <a:ea typeface="Montserrat" pitchFamily="34" charset="-122"/>
                <a:cs typeface="Montserrat" pitchFamily="34" charset="-120"/>
              </a:rPr>
              <a:t>Dossier</a:t>
            </a:r>
            <a:endParaRPr lang="en-US" sz="1400" dirty="0"/>
          </a:p>
          <a:p>
            <a:pPr indent="0" marL="0">
              <a:buNone/>
            </a:pPr>
            <a:r>
              <a:rPr lang="en-US" sz="1250" dirty="0">
                <a:solidFill>
                  <a:srgbClr val="35305C"/>
                </a:solidFill>
                <a:latin typeface="Arial" pitchFamily="34" charset="0"/>
                <a:ea typeface="Arial" pitchFamily="34" charset="-122"/>
                <a:cs typeface="Arial" pitchFamily="34" charset="-120"/>
              </a:rPr>
              <a:t>Le bas du dos est soutenu, la courbure lombaire respectée.</a:t>
            </a:r>
            <a:endParaRPr lang="en-US" sz="1400" dirty="0"/>
          </a:p>
        </p:txBody>
      </p:sp>
      <p:sp>
        <p:nvSpPr>
          <p:cNvPr id="32" name="Shape 23"/>
          <p:cNvSpPr/>
          <p:nvPr/>
        </p:nvSpPr>
        <p:spPr>
          <a:xfrm>
            <a:off x="548640" y="5001768"/>
            <a:ext cx="5410048" cy="1024128"/>
          </a:xfrm>
          <a:prstGeom prst="roundRect">
            <a:avLst>
              <a:gd name="adj" fmla="val 7143"/>
            </a:avLst>
          </a:prstGeom>
          <a:solidFill>
            <a:srgbClr val="EEEDF5"/>
          </a:solidFill>
          <a:ln w="12700">
            <a:solidFill>
              <a:srgbClr val="EEEDF5"/>
            </a:solidFill>
            <a:prstDash val="solid"/>
          </a:ln>
        </p:spPr>
      </p:sp>
      <p:sp>
        <p:nvSpPr>
          <p:cNvPr id="33" name="Shape 24"/>
          <p:cNvSpPr/>
          <p:nvPr/>
        </p:nvSpPr>
        <p:spPr>
          <a:xfrm>
            <a:off x="731520" y="5216652"/>
            <a:ext cx="594360" cy="594360"/>
          </a:xfrm>
          <a:prstGeom prst="ellipse">
            <a:avLst/>
          </a:prstGeom>
          <a:solidFill>
            <a:srgbClr val="0A032B"/>
          </a:solidFill>
          <a:ln w="12700">
            <a:solidFill>
              <a:srgbClr val="0A032B"/>
            </a:solidFill>
            <a:prstDash val="solid"/>
          </a:ln>
        </p:spPr>
      </p:sp>
      <p:pic>
        <p:nvPicPr>
          <p:cNvPr id="34" name="Image 7" descr="preencoded.png">    </p:cNvPr>
          <p:cNvPicPr>
            <a:picLocks noChangeAspect="1"/>
          </p:cNvPicPr>
          <p:nvPr/>
        </p:nvPicPr>
        <p:blipFill>
          <a:blip r:embed="rId8"/>
          <a:stretch>
            <a:fillRect/>
          </a:stretch>
        </p:blipFill>
        <p:spPr>
          <a:xfrm>
            <a:off x="880110" y="5365242"/>
            <a:ext cx="297180" cy="297180"/>
          </a:xfrm>
          <a:prstGeom prst="rect">
            <a:avLst/>
          </a:prstGeom>
        </p:spPr>
      </p:pic>
      <p:sp>
        <p:nvSpPr>
          <p:cNvPr id="35" name="Text 25"/>
          <p:cNvSpPr txBox="1"/>
          <p:nvPr/>
        </p:nvSpPr>
        <p:spPr>
          <a:xfrm>
            <a:off x="1508760" y="5047488"/>
            <a:ext cx="4267048" cy="932688"/>
          </a:xfrm>
          <a:prstGeom prst="rect">
            <a:avLst/>
          </a:prstGeom>
          <a:noFill/>
          <a:ln/>
        </p:spPr>
        <p:txBody>
          <a:bodyPr wrap="square" lIns="0" tIns="0" rIns="0" bIns="0" rtlCol="0" anchor="ctr"/>
          <a:lstStyle/>
          <a:p>
            <a:pPr indent="0" marL="0">
              <a:buNone/>
            </a:pPr>
            <a:r>
              <a:rPr lang="en-US" sz="1400" b="1" dirty="0">
                <a:solidFill>
                  <a:srgbClr val="0A032B"/>
                </a:solidFill>
                <a:latin typeface="Montserrat" pitchFamily="34" charset="0"/>
                <a:ea typeface="Montserrat" pitchFamily="34" charset="-122"/>
                <a:cs typeface="Montserrat" pitchFamily="34" charset="-120"/>
              </a:rPr>
              <a:t>Pieds</a:t>
            </a:r>
            <a:endParaRPr lang="en-US" sz="1400" dirty="0"/>
          </a:p>
          <a:p>
            <a:pPr indent="0" marL="0">
              <a:buNone/>
            </a:pPr>
            <a:r>
              <a:rPr lang="en-US" sz="1250" dirty="0">
                <a:solidFill>
                  <a:srgbClr val="35305C"/>
                </a:solidFill>
                <a:latin typeface="Arial" pitchFamily="34" charset="0"/>
                <a:ea typeface="Arial" pitchFamily="34" charset="-122"/>
                <a:cs typeface="Arial" pitchFamily="34" charset="-120"/>
              </a:rPr>
              <a:t>À plat au sol ou sur un repose-pieds, genoux à 90°.</a:t>
            </a:r>
            <a:endParaRPr lang="en-US" sz="1400" dirty="0"/>
          </a:p>
        </p:txBody>
      </p:sp>
      <p:sp>
        <p:nvSpPr>
          <p:cNvPr id="36" name="Shape 26"/>
          <p:cNvSpPr/>
          <p:nvPr/>
        </p:nvSpPr>
        <p:spPr>
          <a:xfrm>
            <a:off x="6233008" y="5001768"/>
            <a:ext cx="5410048" cy="1024128"/>
          </a:xfrm>
          <a:prstGeom prst="roundRect">
            <a:avLst>
              <a:gd name="adj" fmla="val 7143"/>
            </a:avLst>
          </a:prstGeom>
          <a:solidFill>
            <a:srgbClr val="EEEDF5"/>
          </a:solidFill>
          <a:ln w="12700">
            <a:solidFill>
              <a:srgbClr val="EEEDF5"/>
            </a:solidFill>
            <a:prstDash val="solid"/>
          </a:ln>
        </p:spPr>
      </p:sp>
      <p:sp>
        <p:nvSpPr>
          <p:cNvPr id="37" name="Shape 27"/>
          <p:cNvSpPr/>
          <p:nvPr/>
        </p:nvSpPr>
        <p:spPr>
          <a:xfrm>
            <a:off x="6415888" y="5216652"/>
            <a:ext cx="594360" cy="594360"/>
          </a:xfrm>
          <a:prstGeom prst="ellipse">
            <a:avLst/>
          </a:prstGeom>
          <a:solidFill>
            <a:srgbClr val="0A032B"/>
          </a:solidFill>
          <a:ln w="12700">
            <a:solidFill>
              <a:srgbClr val="0A032B"/>
            </a:solidFill>
            <a:prstDash val="solid"/>
          </a:ln>
        </p:spPr>
      </p:sp>
      <p:pic>
        <p:nvPicPr>
          <p:cNvPr id="38" name="Image 8" descr="preencoded.png">    </p:cNvPr>
          <p:cNvPicPr>
            <a:picLocks noChangeAspect="1"/>
          </p:cNvPicPr>
          <p:nvPr/>
        </p:nvPicPr>
        <p:blipFill>
          <a:blip r:embed="rId9"/>
          <a:stretch>
            <a:fillRect/>
          </a:stretch>
        </p:blipFill>
        <p:spPr>
          <a:xfrm>
            <a:off x="6564478" y="5365242"/>
            <a:ext cx="297180" cy="297180"/>
          </a:xfrm>
          <a:prstGeom prst="rect">
            <a:avLst/>
          </a:prstGeom>
        </p:spPr>
      </p:pic>
      <p:sp>
        <p:nvSpPr>
          <p:cNvPr id="39" name="Text 28"/>
          <p:cNvSpPr txBox="1"/>
          <p:nvPr/>
        </p:nvSpPr>
        <p:spPr>
          <a:xfrm>
            <a:off x="7193128" y="5047488"/>
            <a:ext cx="4267048" cy="932688"/>
          </a:xfrm>
          <a:prstGeom prst="rect">
            <a:avLst/>
          </a:prstGeom>
          <a:noFill/>
          <a:ln/>
        </p:spPr>
        <p:txBody>
          <a:bodyPr wrap="square" lIns="0" tIns="0" rIns="0" bIns="0" rtlCol="0" anchor="ctr"/>
          <a:lstStyle/>
          <a:p>
            <a:pPr indent="0" marL="0">
              <a:buNone/>
            </a:pPr>
            <a:r>
              <a:rPr lang="en-US" sz="1400" b="1" dirty="0">
                <a:solidFill>
                  <a:srgbClr val="0A032B"/>
                </a:solidFill>
                <a:latin typeface="Montserrat" pitchFamily="34" charset="0"/>
                <a:ea typeface="Montserrat" pitchFamily="34" charset="-122"/>
                <a:cs typeface="Montserrat" pitchFamily="34" charset="-120"/>
              </a:rPr>
              <a:t>Portable</a:t>
            </a:r>
            <a:endParaRPr lang="en-US" sz="1400" dirty="0"/>
          </a:p>
          <a:p>
            <a:pPr indent="0" marL="0">
              <a:buNone/>
            </a:pPr>
            <a:r>
              <a:rPr lang="en-US" sz="1250" dirty="0">
                <a:solidFill>
                  <a:srgbClr val="35305C"/>
                </a:solidFill>
                <a:latin typeface="Arial" pitchFamily="34" charset="0"/>
                <a:ea typeface="Arial" pitchFamily="34" charset="-122"/>
                <a:cs typeface="Arial" pitchFamily="34" charset="-120"/>
              </a:rPr>
              <a:t>Réhausseur + clavier et souris externes pour tout usage prolongé.</a:t>
            </a:r>
            <a:endParaRPr lang="en-US" sz="1400" dirty="0"/>
          </a:p>
        </p:txBody>
      </p:sp>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235440" cy="685800"/>
          </a:xfrm>
          <a:prstGeom prst="rect">
            <a:avLst/>
          </a:prstGeom>
          <a:noFill/>
          <a:ln/>
        </p:spPr>
        <p:txBody>
          <a:bodyPr wrap="square" lIns="0" tIns="0" rIns="0" bIns="0" rtlCol="0" anchor="ctr"/>
          <a:lstStyle/>
          <a:p>
            <a:pPr indent="0" marL="0">
              <a:buNone/>
            </a:pPr>
            <a:r>
              <a:rPr lang="en-US" sz="2800" b="1" dirty="0">
                <a:solidFill>
                  <a:srgbClr val="0A032B"/>
                </a:solidFill>
                <a:latin typeface="Montserrat" pitchFamily="34" charset="0"/>
                <a:ea typeface="Montserrat" pitchFamily="34" charset="-122"/>
                <a:cs typeface="Montserrat" pitchFamily="34" charset="-120"/>
              </a:rPr>
              <a:t>S'adapter à la diversité des lieux du mandat</a:t>
            </a:r>
            <a:endParaRPr lang="en-US" sz="2800" dirty="0"/>
          </a:p>
        </p:txBody>
      </p:sp>
      <p:sp>
        <p:nvSpPr>
          <p:cNvPr id="3" name="Shape 1"/>
          <p:cNvSpPr/>
          <p:nvPr/>
        </p:nvSpPr>
        <p:spPr>
          <a:xfrm>
            <a:off x="10042855" y="530352"/>
            <a:ext cx="1600200" cy="347472"/>
          </a:xfrm>
          <a:prstGeom prst="roundRect">
            <a:avLst>
              <a:gd name="adj" fmla="val 50000"/>
            </a:avLst>
          </a:prstGeom>
          <a:solidFill>
            <a:srgbClr val="0A032B"/>
          </a:solidFill>
          <a:ln w="12700">
            <a:solidFill>
              <a:srgbClr val="0A032B"/>
            </a:solidFill>
            <a:prstDash val="solid"/>
          </a:ln>
        </p:spPr>
      </p:sp>
      <p:sp>
        <p:nvSpPr>
          <p:cNvPr id="4" name="Text 2"/>
          <p:cNvSpPr txBox="1"/>
          <p:nvPr/>
        </p:nvSpPr>
        <p:spPr>
          <a:xfrm>
            <a:off x="10042855" y="530352"/>
            <a:ext cx="1600200" cy="347472"/>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Montserrat" pitchFamily="34" charset="0"/>
                <a:ea typeface="Montserrat" pitchFamily="34" charset="-122"/>
                <a:cs typeface="Montserrat" pitchFamily="34" charset="-120"/>
              </a:rPr>
              <a:t>THÉORIE</a:t>
            </a:r>
            <a:endParaRPr lang="en-US" sz="1100" dirty="0"/>
          </a:p>
        </p:txBody>
      </p:sp>
      <p:sp>
        <p:nvSpPr>
          <p:cNvPr id="5" name="Text 3"/>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5E5A78"/>
                </a:solidFill>
                <a:latin typeface="Arial" pitchFamily="34" charset="0"/>
                <a:ea typeface="Arial" pitchFamily="34" charset="-122"/>
                <a:cs typeface="Arial" pitchFamily="34" charset="-120"/>
              </a:rPr>
              <a:t>Gestes et postures de l'élu  ·  Séquence 5</a:t>
            </a:r>
            <a:endParaRPr lang="en-US" sz="900" dirty="0"/>
          </a:p>
        </p:txBody>
      </p:sp>
      <p:pic>
        <p:nvPicPr>
          <p:cNvPr id="6" name="Image 0" descr="logo_light.png">    </p:cNvPr>
          <p:cNvPicPr>
            <a:picLocks noChangeAspect="1"/>
          </p:cNvPicPr>
          <p:nvPr/>
        </p:nvPicPr>
        <p:blipFill>
          <a:blip r:embed="rId1"/>
          <a:stretch>
            <a:fillRect/>
          </a:stretch>
        </p:blipFill>
        <p:spPr>
          <a:xfrm>
            <a:off x="10682935" y="6236208"/>
            <a:ext cx="960120" cy="398441"/>
          </a:xfrm>
          <a:prstGeom prst="rect">
            <a:avLst/>
          </a:prstGeom>
        </p:spPr>
      </p:pic>
      <p:sp>
        <p:nvSpPr>
          <p:cNvPr id="7" name="Shape 4"/>
          <p:cNvSpPr/>
          <p:nvPr/>
        </p:nvSpPr>
        <p:spPr>
          <a:xfrm>
            <a:off x="548640" y="1417320"/>
            <a:ext cx="3515258" cy="2171700"/>
          </a:xfrm>
          <a:prstGeom prst="roundRect">
            <a:avLst>
              <a:gd name="adj" fmla="val 3368"/>
            </a:avLst>
          </a:prstGeom>
          <a:solidFill>
            <a:srgbClr val="EEEDF5"/>
          </a:solidFill>
          <a:ln w="12700">
            <a:solidFill>
              <a:srgbClr val="EEEDF5"/>
            </a:solidFill>
            <a:prstDash val="solid"/>
          </a:ln>
        </p:spPr>
      </p:sp>
      <p:sp>
        <p:nvSpPr>
          <p:cNvPr id="8" name="Shape 5"/>
          <p:cNvSpPr/>
          <p:nvPr/>
        </p:nvSpPr>
        <p:spPr>
          <a:xfrm>
            <a:off x="777240" y="1645920"/>
            <a:ext cx="548640" cy="548640"/>
          </a:xfrm>
          <a:prstGeom prst="ellipse">
            <a:avLst/>
          </a:prstGeom>
          <a:solidFill>
            <a:srgbClr val="0A032B"/>
          </a:solidFill>
          <a:ln w="12700">
            <a:solidFill>
              <a:srgbClr val="0A032B"/>
            </a:solidFill>
            <a:prstDash val="solid"/>
          </a:ln>
        </p:spPr>
      </p:sp>
      <p:pic>
        <p:nvPicPr>
          <p:cNvPr id="9" name="Image 1" descr="preencoded.png">    </p:cNvPr>
          <p:cNvPicPr>
            <a:picLocks noChangeAspect="1"/>
          </p:cNvPicPr>
          <p:nvPr/>
        </p:nvPicPr>
        <p:blipFill>
          <a:blip r:embed="rId2"/>
          <a:stretch>
            <a:fillRect/>
          </a:stretch>
        </p:blipFill>
        <p:spPr>
          <a:xfrm>
            <a:off x="914400" y="1783080"/>
            <a:ext cx="274320" cy="274320"/>
          </a:xfrm>
          <a:prstGeom prst="rect">
            <a:avLst/>
          </a:prstGeom>
        </p:spPr>
      </p:pic>
      <p:sp>
        <p:nvSpPr>
          <p:cNvPr id="10" name="Text 6"/>
          <p:cNvSpPr txBox="1"/>
          <p:nvPr/>
        </p:nvSpPr>
        <p:spPr>
          <a:xfrm>
            <a:off x="1508760" y="1645920"/>
            <a:ext cx="2326538" cy="5486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Salle du conseil</a:t>
            </a:r>
            <a:endParaRPr lang="en-US" sz="1500" dirty="0"/>
          </a:p>
        </p:txBody>
      </p:sp>
      <p:sp>
        <p:nvSpPr>
          <p:cNvPr id="11" name="Text 7"/>
          <p:cNvSpPr txBox="1"/>
          <p:nvPr/>
        </p:nvSpPr>
        <p:spPr>
          <a:xfrm>
            <a:off x="777240" y="2331720"/>
            <a:ext cx="3058058" cy="1120140"/>
          </a:xfrm>
          <a:prstGeom prst="rect">
            <a:avLst/>
          </a:prstGeom>
          <a:noFill/>
          <a:ln/>
        </p:spPr>
        <p:txBody>
          <a:bodyPr wrap="square" lIns="0" tIns="0" rIns="0" bIns="0" rtlCol="0" anchor="t"/>
          <a:lstStyle/>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Réunions longues : se redresser, décroiser les jambes</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Se lever pendant les suspensions</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Documents numériques : tablette sur support</a:t>
            </a:r>
            <a:endParaRPr lang="en-US" sz="1250" dirty="0"/>
          </a:p>
        </p:txBody>
      </p:sp>
      <p:sp>
        <p:nvSpPr>
          <p:cNvPr id="12" name="Shape 8"/>
          <p:cNvSpPr/>
          <p:nvPr/>
        </p:nvSpPr>
        <p:spPr>
          <a:xfrm>
            <a:off x="4338218" y="1417320"/>
            <a:ext cx="3515258" cy="2171700"/>
          </a:xfrm>
          <a:prstGeom prst="roundRect">
            <a:avLst>
              <a:gd name="adj" fmla="val 3368"/>
            </a:avLst>
          </a:prstGeom>
          <a:solidFill>
            <a:srgbClr val="EEEDF5"/>
          </a:solidFill>
          <a:ln w="12700">
            <a:solidFill>
              <a:srgbClr val="EEEDF5"/>
            </a:solidFill>
            <a:prstDash val="solid"/>
          </a:ln>
        </p:spPr>
      </p:sp>
      <p:sp>
        <p:nvSpPr>
          <p:cNvPr id="13" name="Shape 9"/>
          <p:cNvSpPr/>
          <p:nvPr/>
        </p:nvSpPr>
        <p:spPr>
          <a:xfrm>
            <a:off x="4566818" y="1645920"/>
            <a:ext cx="548640" cy="548640"/>
          </a:xfrm>
          <a:prstGeom prst="ellipse">
            <a:avLst/>
          </a:prstGeom>
          <a:solidFill>
            <a:srgbClr val="0A032B"/>
          </a:solidFill>
          <a:ln w="12700">
            <a:solidFill>
              <a:srgbClr val="0A032B"/>
            </a:solidFill>
            <a:prstDash val="solid"/>
          </a:ln>
        </p:spPr>
      </p:sp>
      <p:pic>
        <p:nvPicPr>
          <p:cNvPr id="14" name="Image 2" descr="preencoded.png">    </p:cNvPr>
          <p:cNvPicPr>
            <a:picLocks noChangeAspect="1"/>
          </p:cNvPicPr>
          <p:nvPr/>
        </p:nvPicPr>
        <p:blipFill>
          <a:blip r:embed="rId3"/>
          <a:stretch>
            <a:fillRect/>
          </a:stretch>
        </p:blipFill>
        <p:spPr>
          <a:xfrm>
            <a:off x="4703978" y="1783080"/>
            <a:ext cx="274320" cy="274320"/>
          </a:xfrm>
          <a:prstGeom prst="rect">
            <a:avLst/>
          </a:prstGeom>
        </p:spPr>
      </p:pic>
      <p:sp>
        <p:nvSpPr>
          <p:cNvPr id="15" name="Text 10"/>
          <p:cNvSpPr txBox="1"/>
          <p:nvPr/>
        </p:nvSpPr>
        <p:spPr>
          <a:xfrm>
            <a:off x="5298338" y="1645920"/>
            <a:ext cx="2326538" cy="5486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En voiture</a:t>
            </a:r>
            <a:endParaRPr lang="en-US" sz="1500" dirty="0"/>
          </a:p>
        </p:txBody>
      </p:sp>
      <p:sp>
        <p:nvSpPr>
          <p:cNvPr id="16" name="Text 11"/>
          <p:cNvSpPr txBox="1"/>
          <p:nvPr/>
        </p:nvSpPr>
        <p:spPr>
          <a:xfrm>
            <a:off x="4566818" y="2331720"/>
            <a:ext cx="3058058" cy="1120140"/>
          </a:xfrm>
          <a:prstGeom prst="rect">
            <a:avLst/>
          </a:prstGeom>
          <a:noFill/>
          <a:ln/>
        </p:spPr>
        <p:txBody>
          <a:bodyPr wrap="square" lIns="0" tIns="0" rIns="0" bIns="0" rtlCol="0" anchor="t"/>
          <a:lstStyle/>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Régler siège, dossier et appui-tête</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Pause toutes les 2 heures</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Sortir les charges du coffre jambes fléchies</a:t>
            </a:r>
            <a:endParaRPr lang="en-US" sz="1250" dirty="0"/>
          </a:p>
        </p:txBody>
      </p:sp>
      <p:sp>
        <p:nvSpPr>
          <p:cNvPr id="17" name="Shape 12"/>
          <p:cNvSpPr/>
          <p:nvPr/>
        </p:nvSpPr>
        <p:spPr>
          <a:xfrm>
            <a:off x="8127797" y="1417320"/>
            <a:ext cx="3515258" cy="2171700"/>
          </a:xfrm>
          <a:prstGeom prst="roundRect">
            <a:avLst>
              <a:gd name="adj" fmla="val 3368"/>
            </a:avLst>
          </a:prstGeom>
          <a:solidFill>
            <a:srgbClr val="EEEDF5"/>
          </a:solidFill>
          <a:ln w="12700">
            <a:solidFill>
              <a:srgbClr val="EEEDF5"/>
            </a:solidFill>
            <a:prstDash val="solid"/>
          </a:ln>
        </p:spPr>
      </p:sp>
      <p:sp>
        <p:nvSpPr>
          <p:cNvPr id="18" name="Shape 13"/>
          <p:cNvSpPr/>
          <p:nvPr/>
        </p:nvSpPr>
        <p:spPr>
          <a:xfrm>
            <a:off x="8356397" y="1645920"/>
            <a:ext cx="548640" cy="548640"/>
          </a:xfrm>
          <a:prstGeom prst="ellipse">
            <a:avLst/>
          </a:prstGeom>
          <a:solidFill>
            <a:srgbClr val="0A032B"/>
          </a:solidFill>
          <a:ln w="12700">
            <a:solidFill>
              <a:srgbClr val="0A032B"/>
            </a:solidFill>
            <a:prstDash val="solid"/>
          </a:ln>
        </p:spPr>
      </p:sp>
      <p:pic>
        <p:nvPicPr>
          <p:cNvPr id="19" name="Image 3" descr="preencoded.png">    </p:cNvPr>
          <p:cNvPicPr>
            <a:picLocks noChangeAspect="1"/>
          </p:cNvPicPr>
          <p:nvPr/>
        </p:nvPicPr>
        <p:blipFill>
          <a:blip r:embed="rId4"/>
          <a:stretch>
            <a:fillRect/>
          </a:stretch>
        </p:blipFill>
        <p:spPr>
          <a:xfrm>
            <a:off x="8493557" y="1783080"/>
            <a:ext cx="274320" cy="274320"/>
          </a:xfrm>
          <a:prstGeom prst="rect">
            <a:avLst/>
          </a:prstGeom>
        </p:spPr>
      </p:pic>
      <p:sp>
        <p:nvSpPr>
          <p:cNvPr id="20" name="Text 14"/>
          <p:cNvSpPr txBox="1"/>
          <p:nvPr/>
        </p:nvSpPr>
        <p:spPr>
          <a:xfrm>
            <a:off x="9087917" y="1645920"/>
            <a:ext cx="2326538" cy="5486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Sur le terrain</a:t>
            </a:r>
            <a:endParaRPr lang="en-US" sz="1500" dirty="0"/>
          </a:p>
        </p:txBody>
      </p:sp>
      <p:sp>
        <p:nvSpPr>
          <p:cNvPr id="21" name="Text 15"/>
          <p:cNvSpPr txBox="1"/>
          <p:nvPr/>
        </p:nvSpPr>
        <p:spPr>
          <a:xfrm>
            <a:off x="8356397" y="2331720"/>
            <a:ext cx="3058058" cy="1120140"/>
          </a:xfrm>
          <a:prstGeom prst="rect">
            <a:avLst/>
          </a:prstGeom>
          <a:noFill/>
          <a:ln/>
        </p:spPr>
        <p:txBody>
          <a:bodyPr wrap="square" lIns="0" tIns="0" rIns="0" bIns="0" rtlCol="0" anchor="t"/>
          <a:lstStyle/>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Chaussures stables et fermées</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Attention aux sols irréguliers</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Porter les EPI demandés aux agents</a:t>
            </a:r>
            <a:endParaRPr lang="en-US" sz="1250" dirty="0"/>
          </a:p>
        </p:txBody>
      </p:sp>
      <p:sp>
        <p:nvSpPr>
          <p:cNvPr id="22" name="Shape 16"/>
          <p:cNvSpPr/>
          <p:nvPr/>
        </p:nvSpPr>
        <p:spPr>
          <a:xfrm>
            <a:off x="548640" y="3863340"/>
            <a:ext cx="3515258" cy="2171700"/>
          </a:xfrm>
          <a:prstGeom prst="roundRect">
            <a:avLst>
              <a:gd name="adj" fmla="val 3368"/>
            </a:avLst>
          </a:prstGeom>
          <a:solidFill>
            <a:srgbClr val="EEEDF5"/>
          </a:solidFill>
          <a:ln w="12700">
            <a:solidFill>
              <a:srgbClr val="EEEDF5"/>
            </a:solidFill>
            <a:prstDash val="solid"/>
          </a:ln>
        </p:spPr>
      </p:sp>
      <p:sp>
        <p:nvSpPr>
          <p:cNvPr id="23" name="Shape 17"/>
          <p:cNvSpPr/>
          <p:nvPr/>
        </p:nvSpPr>
        <p:spPr>
          <a:xfrm>
            <a:off x="777240" y="4091940"/>
            <a:ext cx="548640" cy="548640"/>
          </a:xfrm>
          <a:prstGeom prst="ellipse">
            <a:avLst/>
          </a:prstGeom>
          <a:solidFill>
            <a:srgbClr val="0A032B"/>
          </a:solidFill>
          <a:ln w="12700">
            <a:solidFill>
              <a:srgbClr val="0A032B"/>
            </a:solidFill>
            <a:prstDash val="solid"/>
          </a:ln>
        </p:spPr>
      </p:sp>
      <p:pic>
        <p:nvPicPr>
          <p:cNvPr id="24" name="Image 4" descr="preencoded.png">    </p:cNvPr>
          <p:cNvPicPr>
            <a:picLocks noChangeAspect="1"/>
          </p:cNvPicPr>
          <p:nvPr/>
        </p:nvPicPr>
        <p:blipFill>
          <a:blip r:embed="rId5"/>
          <a:stretch>
            <a:fillRect/>
          </a:stretch>
        </p:blipFill>
        <p:spPr>
          <a:xfrm>
            <a:off x="914400" y="4229100"/>
            <a:ext cx="274320" cy="274320"/>
          </a:xfrm>
          <a:prstGeom prst="rect">
            <a:avLst/>
          </a:prstGeom>
        </p:spPr>
      </p:pic>
      <p:sp>
        <p:nvSpPr>
          <p:cNvPr id="25" name="Text 18"/>
          <p:cNvSpPr txBox="1"/>
          <p:nvPr/>
        </p:nvSpPr>
        <p:spPr>
          <a:xfrm>
            <a:off x="1508760" y="4091940"/>
            <a:ext cx="2326538" cy="5486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Dossiers et sacs</a:t>
            </a:r>
            <a:endParaRPr lang="en-US" sz="1500" dirty="0"/>
          </a:p>
        </p:txBody>
      </p:sp>
      <p:sp>
        <p:nvSpPr>
          <p:cNvPr id="26" name="Text 19"/>
          <p:cNvSpPr txBox="1"/>
          <p:nvPr/>
        </p:nvSpPr>
        <p:spPr>
          <a:xfrm>
            <a:off x="777240" y="4777740"/>
            <a:ext cx="3058058" cy="1120140"/>
          </a:xfrm>
          <a:prstGeom prst="rect">
            <a:avLst/>
          </a:prstGeom>
          <a:noFill/>
          <a:ln/>
        </p:spPr>
        <p:txBody>
          <a:bodyPr wrap="square" lIns="0" tIns="0" rIns="0" bIns="0" rtlCol="0" anchor="t"/>
          <a:lstStyle/>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Sac à dos porté sur les 2 épaules</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Alléger : dématérialiser</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Répartir le poids des deux côtés</a:t>
            </a:r>
            <a:endParaRPr lang="en-US" sz="1250" dirty="0"/>
          </a:p>
        </p:txBody>
      </p:sp>
      <p:sp>
        <p:nvSpPr>
          <p:cNvPr id="27" name="Shape 20"/>
          <p:cNvSpPr/>
          <p:nvPr/>
        </p:nvSpPr>
        <p:spPr>
          <a:xfrm>
            <a:off x="4338218" y="3863340"/>
            <a:ext cx="3515258" cy="2171700"/>
          </a:xfrm>
          <a:prstGeom prst="roundRect">
            <a:avLst>
              <a:gd name="adj" fmla="val 3368"/>
            </a:avLst>
          </a:prstGeom>
          <a:solidFill>
            <a:srgbClr val="EEEDF5"/>
          </a:solidFill>
          <a:ln w="12700">
            <a:solidFill>
              <a:srgbClr val="EEEDF5"/>
            </a:solidFill>
            <a:prstDash val="solid"/>
          </a:ln>
        </p:spPr>
      </p:sp>
      <p:sp>
        <p:nvSpPr>
          <p:cNvPr id="28" name="Shape 21"/>
          <p:cNvSpPr/>
          <p:nvPr/>
        </p:nvSpPr>
        <p:spPr>
          <a:xfrm>
            <a:off x="4566818" y="4091940"/>
            <a:ext cx="548640" cy="548640"/>
          </a:xfrm>
          <a:prstGeom prst="ellipse">
            <a:avLst/>
          </a:prstGeom>
          <a:solidFill>
            <a:srgbClr val="0A032B"/>
          </a:solidFill>
          <a:ln w="12700">
            <a:solidFill>
              <a:srgbClr val="0A032B"/>
            </a:solidFill>
            <a:prstDash val="solid"/>
          </a:ln>
        </p:spPr>
      </p:sp>
      <p:pic>
        <p:nvPicPr>
          <p:cNvPr id="29" name="Image 5" descr="preencoded.png">    </p:cNvPr>
          <p:cNvPicPr>
            <a:picLocks noChangeAspect="1"/>
          </p:cNvPicPr>
          <p:nvPr/>
        </p:nvPicPr>
        <p:blipFill>
          <a:blip r:embed="rId6"/>
          <a:stretch>
            <a:fillRect/>
          </a:stretch>
        </p:blipFill>
        <p:spPr>
          <a:xfrm>
            <a:off x="4703978" y="4229100"/>
            <a:ext cx="274320" cy="274320"/>
          </a:xfrm>
          <a:prstGeom prst="rect">
            <a:avLst/>
          </a:prstGeom>
        </p:spPr>
      </p:pic>
      <p:sp>
        <p:nvSpPr>
          <p:cNvPr id="30" name="Text 22"/>
          <p:cNvSpPr txBox="1"/>
          <p:nvPr/>
        </p:nvSpPr>
        <p:spPr>
          <a:xfrm>
            <a:off x="5298338" y="4091940"/>
            <a:ext cx="2326538" cy="5486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Téléphone</a:t>
            </a:r>
            <a:endParaRPr lang="en-US" sz="1500" dirty="0"/>
          </a:p>
        </p:txBody>
      </p:sp>
      <p:sp>
        <p:nvSpPr>
          <p:cNvPr id="31" name="Text 23"/>
          <p:cNvSpPr txBox="1"/>
          <p:nvPr/>
        </p:nvSpPr>
        <p:spPr>
          <a:xfrm>
            <a:off x="4566818" y="4777740"/>
            <a:ext cx="3058058" cy="1120140"/>
          </a:xfrm>
          <a:prstGeom prst="rect">
            <a:avLst/>
          </a:prstGeom>
          <a:noFill/>
          <a:ln/>
        </p:spPr>
        <p:txBody>
          <a:bodyPr wrap="square" lIns="0" tIns="0" rIns="0" bIns="0" rtlCol="0" anchor="t"/>
          <a:lstStyle/>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Jamais coincé entre oreille et épaule</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Kit mains libres ou écouteurs</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Alterner les mains</a:t>
            </a:r>
            <a:endParaRPr lang="en-US" sz="1250" dirty="0"/>
          </a:p>
        </p:txBody>
      </p:sp>
      <p:sp>
        <p:nvSpPr>
          <p:cNvPr id="32" name="Shape 24"/>
          <p:cNvSpPr/>
          <p:nvPr/>
        </p:nvSpPr>
        <p:spPr>
          <a:xfrm>
            <a:off x="8127797" y="3863340"/>
            <a:ext cx="3515258" cy="2171700"/>
          </a:xfrm>
          <a:prstGeom prst="roundRect">
            <a:avLst>
              <a:gd name="adj" fmla="val 3368"/>
            </a:avLst>
          </a:prstGeom>
          <a:solidFill>
            <a:srgbClr val="EEEDF5"/>
          </a:solidFill>
          <a:ln w="12700">
            <a:solidFill>
              <a:srgbClr val="EEEDF5"/>
            </a:solidFill>
            <a:prstDash val="solid"/>
          </a:ln>
        </p:spPr>
      </p:sp>
      <p:sp>
        <p:nvSpPr>
          <p:cNvPr id="33" name="Shape 25"/>
          <p:cNvSpPr/>
          <p:nvPr/>
        </p:nvSpPr>
        <p:spPr>
          <a:xfrm>
            <a:off x="8356397" y="4091940"/>
            <a:ext cx="548640" cy="548640"/>
          </a:xfrm>
          <a:prstGeom prst="ellipse">
            <a:avLst/>
          </a:prstGeom>
          <a:solidFill>
            <a:srgbClr val="0A032B"/>
          </a:solidFill>
          <a:ln w="12700">
            <a:solidFill>
              <a:srgbClr val="0A032B"/>
            </a:solidFill>
            <a:prstDash val="solid"/>
          </a:ln>
        </p:spPr>
      </p:sp>
      <p:pic>
        <p:nvPicPr>
          <p:cNvPr id="34" name="Image 6" descr="preencoded.png">    </p:cNvPr>
          <p:cNvPicPr>
            <a:picLocks noChangeAspect="1"/>
          </p:cNvPicPr>
          <p:nvPr/>
        </p:nvPicPr>
        <p:blipFill>
          <a:blip r:embed="rId7"/>
          <a:stretch>
            <a:fillRect/>
          </a:stretch>
        </p:blipFill>
        <p:spPr>
          <a:xfrm>
            <a:off x="8493557" y="4229100"/>
            <a:ext cx="274320" cy="274320"/>
          </a:xfrm>
          <a:prstGeom prst="rect">
            <a:avLst/>
          </a:prstGeom>
        </p:spPr>
      </p:pic>
      <p:sp>
        <p:nvSpPr>
          <p:cNvPr id="35" name="Text 26"/>
          <p:cNvSpPr txBox="1"/>
          <p:nvPr/>
        </p:nvSpPr>
        <p:spPr>
          <a:xfrm>
            <a:off x="9087917" y="4091940"/>
            <a:ext cx="2326538" cy="5486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Cérémonies et événements</a:t>
            </a:r>
            <a:endParaRPr lang="en-US" sz="1500" dirty="0"/>
          </a:p>
        </p:txBody>
      </p:sp>
      <p:sp>
        <p:nvSpPr>
          <p:cNvPr id="36" name="Text 27"/>
          <p:cNvSpPr txBox="1"/>
          <p:nvPr/>
        </p:nvSpPr>
        <p:spPr>
          <a:xfrm>
            <a:off x="8356397" y="4777740"/>
            <a:ext cx="3058058" cy="1120140"/>
          </a:xfrm>
          <a:prstGeom prst="rect">
            <a:avLst/>
          </a:prstGeom>
          <a:noFill/>
          <a:ln/>
        </p:spPr>
        <p:txBody>
          <a:bodyPr wrap="square" lIns="0" tIns="0" rIns="0" bIns="0" rtlCol="0" anchor="t"/>
          <a:lstStyle/>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Station debout : transférer le poids d'un pied sur l'autre</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Installation : exiger les aides techniques</a:t>
            </a:r>
            <a:endParaRPr lang="en-US" sz="1250" dirty="0"/>
          </a:p>
          <a:p>
            <a:pPr marL="177800" indent="-177800">
              <a:spcAft>
                <a:spcPts val="400"/>
              </a:spcAft>
              <a:buSzPct val="100000"/>
              <a:buChar char="•"/>
            </a:pPr>
            <a:r>
              <a:rPr lang="en-US" sz="1250" dirty="0">
                <a:solidFill>
                  <a:srgbClr val="35305C"/>
                </a:solidFill>
                <a:latin typeface="Arial" pitchFamily="34" charset="0"/>
                <a:ea typeface="Arial" pitchFamily="34" charset="-122"/>
                <a:cs typeface="Arial" pitchFamily="34" charset="-120"/>
              </a:rPr>
              <a:t>Ne pas porter seul</a:t>
            </a:r>
            <a:endParaRPr lang="en-US" sz="1250" dirty="0"/>
          </a:p>
        </p:txBody>
      </p:sp>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235440" cy="685800"/>
          </a:xfrm>
          <a:prstGeom prst="rect">
            <a:avLst/>
          </a:prstGeom>
          <a:noFill/>
          <a:ln/>
        </p:spPr>
        <p:txBody>
          <a:bodyPr wrap="square" lIns="0" tIns="0" rIns="0" bIns="0" rtlCol="0" anchor="ctr"/>
          <a:lstStyle/>
          <a:p>
            <a:pPr indent="0" marL="0">
              <a:buNone/>
            </a:pPr>
            <a:r>
              <a:rPr lang="en-US" sz="2800" b="1" dirty="0">
                <a:solidFill>
                  <a:srgbClr val="0A032B"/>
                </a:solidFill>
                <a:latin typeface="Montserrat" pitchFamily="34" charset="0"/>
                <a:ea typeface="Montserrat" pitchFamily="34" charset="-122"/>
                <a:cs typeface="Montserrat" pitchFamily="34" charset="-120"/>
              </a:rPr>
              <a:t>Station assise prolongée et pauses actives</a:t>
            </a:r>
            <a:endParaRPr lang="en-US" sz="2800" dirty="0"/>
          </a:p>
        </p:txBody>
      </p:sp>
      <p:sp>
        <p:nvSpPr>
          <p:cNvPr id="3" name="Text 1"/>
          <p:cNvSpPr txBox="1"/>
          <p:nvPr/>
        </p:nvSpPr>
        <p:spPr>
          <a:xfrm>
            <a:off x="548640" y="1024128"/>
            <a:ext cx="9235440" cy="365760"/>
          </a:xfrm>
          <a:prstGeom prst="rect">
            <a:avLst/>
          </a:prstGeom>
          <a:noFill/>
          <a:ln/>
        </p:spPr>
        <p:txBody>
          <a:bodyPr wrap="square" lIns="0" tIns="0" rIns="0" bIns="0" rtlCol="0" anchor="ctr"/>
          <a:lstStyle/>
          <a:p>
            <a:pPr indent="0" marL="0">
              <a:buNone/>
            </a:pPr>
            <a:r>
              <a:rPr lang="en-US" sz="1400" i="1" dirty="0">
                <a:solidFill>
                  <a:srgbClr val="5E5A78"/>
                </a:solidFill>
                <a:latin typeface="Arial" pitchFamily="34" charset="0"/>
                <a:ea typeface="Arial" pitchFamily="34" charset="-122"/>
                <a:cs typeface="Arial" pitchFamily="34" charset="-120"/>
              </a:rPr>
              <a:t>La meilleure posture, c'est la suivante</a:t>
            </a:r>
            <a:endParaRPr lang="en-US" sz="1400" dirty="0"/>
          </a:p>
        </p:txBody>
      </p:sp>
      <p:sp>
        <p:nvSpPr>
          <p:cNvPr id="4" name="Shape 2"/>
          <p:cNvSpPr/>
          <p:nvPr/>
        </p:nvSpPr>
        <p:spPr>
          <a:xfrm>
            <a:off x="10042855" y="530352"/>
            <a:ext cx="1600200" cy="347472"/>
          </a:xfrm>
          <a:prstGeom prst="roundRect">
            <a:avLst>
              <a:gd name="adj" fmla="val 50000"/>
            </a:avLst>
          </a:prstGeom>
          <a:solidFill>
            <a:srgbClr val="0A032B"/>
          </a:solidFill>
          <a:ln w="12700">
            <a:solidFill>
              <a:srgbClr val="0A032B"/>
            </a:solidFill>
            <a:prstDash val="solid"/>
          </a:ln>
        </p:spPr>
      </p:sp>
      <p:sp>
        <p:nvSpPr>
          <p:cNvPr id="5" name="Text 3"/>
          <p:cNvSpPr txBox="1"/>
          <p:nvPr/>
        </p:nvSpPr>
        <p:spPr>
          <a:xfrm>
            <a:off x="10042855" y="530352"/>
            <a:ext cx="1600200" cy="347472"/>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Montserrat" pitchFamily="34" charset="0"/>
                <a:ea typeface="Montserrat" pitchFamily="34" charset="-122"/>
                <a:cs typeface="Montserrat" pitchFamily="34" charset="-120"/>
              </a:rPr>
              <a:t>THÉORIE</a:t>
            </a:r>
            <a:endParaRPr lang="en-US" sz="1100" dirty="0"/>
          </a:p>
        </p:txBody>
      </p:sp>
      <p:sp>
        <p:nvSpPr>
          <p:cNvPr id="6" name="Text 4"/>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5E5A78"/>
                </a:solidFill>
                <a:latin typeface="Arial" pitchFamily="34" charset="0"/>
                <a:ea typeface="Arial" pitchFamily="34" charset="-122"/>
                <a:cs typeface="Arial" pitchFamily="34" charset="-120"/>
              </a:rPr>
              <a:t>Gestes et postures de l'élu  ·  Séquence 5</a:t>
            </a:r>
            <a:endParaRPr lang="en-US" sz="900" dirty="0"/>
          </a:p>
        </p:txBody>
      </p:sp>
      <p:pic>
        <p:nvPicPr>
          <p:cNvPr id="7" name="Image 0" descr="logo_light.png">    </p:cNvPr>
          <p:cNvPicPr>
            <a:picLocks noChangeAspect="1"/>
          </p:cNvPicPr>
          <p:nvPr/>
        </p:nvPicPr>
        <p:blipFill>
          <a:blip r:embed="rId1"/>
          <a:stretch>
            <a:fillRect/>
          </a:stretch>
        </p:blipFill>
        <p:spPr>
          <a:xfrm>
            <a:off x="10682935" y="6236208"/>
            <a:ext cx="960120" cy="398441"/>
          </a:xfrm>
          <a:prstGeom prst="rect">
            <a:avLst/>
          </a:prstGeom>
        </p:spPr>
      </p:pic>
      <p:sp>
        <p:nvSpPr>
          <p:cNvPr id="8" name="Shape 5"/>
          <p:cNvSpPr/>
          <p:nvPr/>
        </p:nvSpPr>
        <p:spPr>
          <a:xfrm>
            <a:off x="548640" y="1600200"/>
            <a:ext cx="4846320" cy="1298448"/>
          </a:xfrm>
          <a:prstGeom prst="roundRect">
            <a:avLst>
              <a:gd name="adj" fmla="val 5634"/>
            </a:avLst>
          </a:prstGeom>
          <a:solidFill>
            <a:srgbClr val="0A032B"/>
          </a:solidFill>
          <a:ln w="12700">
            <a:solidFill>
              <a:srgbClr val="0A032B"/>
            </a:solidFill>
            <a:prstDash val="solid"/>
          </a:ln>
        </p:spPr>
      </p:sp>
      <p:sp>
        <p:nvSpPr>
          <p:cNvPr id="9" name="Text 6"/>
          <p:cNvSpPr txBox="1"/>
          <p:nvPr/>
        </p:nvSpPr>
        <p:spPr>
          <a:xfrm>
            <a:off x="777240" y="1600200"/>
            <a:ext cx="2103120" cy="1298448"/>
          </a:xfrm>
          <a:prstGeom prst="rect">
            <a:avLst/>
          </a:prstGeom>
          <a:noFill/>
          <a:ln/>
        </p:spPr>
        <p:txBody>
          <a:bodyPr wrap="square" lIns="0" tIns="0" rIns="0" bIns="0" rtlCol="0" anchor="ctr"/>
          <a:lstStyle/>
          <a:p>
            <a:pPr indent="0" marL="0">
              <a:buNone/>
            </a:pPr>
            <a:r>
              <a:rPr lang="en-US" sz="3400" b="1" dirty="0">
                <a:solidFill>
                  <a:srgbClr val="F0EF96"/>
                </a:solidFill>
                <a:latin typeface="Montserrat" pitchFamily="34" charset="0"/>
                <a:ea typeface="Montserrat" pitchFamily="34" charset="-122"/>
                <a:cs typeface="Montserrat" pitchFamily="34" charset="-120"/>
              </a:rPr>
              <a:t>30 min</a:t>
            </a:r>
            <a:endParaRPr lang="en-US" sz="3400" dirty="0"/>
          </a:p>
        </p:txBody>
      </p:sp>
      <p:sp>
        <p:nvSpPr>
          <p:cNvPr id="10" name="Text 7"/>
          <p:cNvSpPr txBox="1"/>
          <p:nvPr/>
        </p:nvSpPr>
        <p:spPr>
          <a:xfrm>
            <a:off x="2880360" y="1600200"/>
            <a:ext cx="2377440" cy="1298448"/>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changer de position au moins toutes les 30 minutes</a:t>
            </a:r>
            <a:endParaRPr lang="en-US" sz="1300" dirty="0"/>
          </a:p>
        </p:txBody>
      </p:sp>
      <p:sp>
        <p:nvSpPr>
          <p:cNvPr id="11" name="Shape 8"/>
          <p:cNvSpPr/>
          <p:nvPr/>
        </p:nvSpPr>
        <p:spPr>
          <a:xfrm>
            <a:off x="548640" y="3081528"/>
            <a:ext cx="4846320" cy="1298448"/>
          </a:xfrm>
          <a:prstGeom prst="roundRect">
            <a:avLst>
              <a:gd name="adj" fmla="val 5634"/>
            </a:avLst>
          </a:prstGeom>
          <a:solidFill>
            <a:srgbClr val="EEEDF5"/>
          </a:solidFill>
          <a:ln w="12700">
            <a:solidFill>
              <a:srgbClr val="EEEDF5"/>
            </a:solidFill>
            <a:prstDash val="solid"/>
          </a:ln>
        </p:spPr>
      </p:sp>
      <p:sp>
        <p:nvSpPr>
          <p:cNvPr id="12" name="Text 9"/>
          <p:cNvSpPr txBox="1"/>
          <p:nvPr/>
        </p:nvSpPr>
        <p:spPr>
          <a:xfrm>
            <a:off x="777240" y="3081528"/>
            <a:ext cx="2103120" cy="1298448"/>
          </a:xfrm>
          <a:prstGeom prst="rect">
            <a:avLst/>
          </a:prstGeom>
          <a:noFill/>
          <a:ln/>
        </p:spPr>
        <p:txBody>
          <a:bodyPr wrap="square" lIns="0" tIns="0" rIns="0" bIns="0" rtlCol="0" anchor="ctr"/>
          <a:lstStyle/>
          <a:p>
            <a:pPr indent="0" marL="0">
              <a:buNone/>
            </a:pPr>
            <a:r>
              <a:rPr lang="en-US" sz="3400" b="1" dirty="0">
                <a:solidFill>
                  <a:srgbClr val="0A032B"/>
                </a:solidFill>
                <a:latin typeface="Montserrat" pitchFamily="34" charset="0"/>
                <a:ea typeface="Montserrat" pitchFamily="34" charset="-122"/>
                <a:cs typeface="Montserrat" pitchFamily="34" charset="-120"/>
              </a:rPr>
              <a:t>5 min</a:t>
            </a:r>
            <a:endParaRPr lang="en-US" sz="3400" dirty="0"/>
          </a:p>
        </p:txBody>
      </p:sp>
      <p:sp>
        <p:nvSpPr>
          <p:cNvPr id="13" name="Text 10"/>
          <p:cNvSpPr txBox="1"/>
          <p:nvPr/>
        </p:nvSpPr>
        <p:spPr>
          <a:xfrm>
            <a:off x="2880360" y="3081528"/>
            <a:ext cx="2377440" cy="1298448"/>
          </a:xfrm>
          <a:prstGeom prst="rect">
            <a:avLst/>
          </a:prstGeom>
          <a:noFill/>
          <a:ln/>
        </p:spPr>
        <p:txBody>
          <a:bodyPr wrap="square" lIns="0" tIns="0" rIns="0" bIns="0" rtlCol="0" anchor="ctr"/>
          <a:lstStyle/>
          <a:p>
            <a:pPr indent="0" marL="0">
              <a:buNone/>
            </a:pPr>
            <a:r>
              <a:rPr lang="en-US" sz="1300" dirty="0">
                <a:solidFill>
                  <a:srgbClr val="35305C"/>
                </a:solidFill>
                <a:latin typeface="Arial" pitchFamily="34" charset="0"/>
                <a:ea typeface="Arial" pitchFamily="34" charset="-122"/>
                <a:cs typeface="Arial" pitchFamily="34" charset="-120"/>
              </a:rPr>
              <a:t>de pause active par heure de travail sur écran</a:t>
            </a:r>
            <a:endParaRPr lang="en-US" sz="1300" dirty="0"/>
          </a:p>
        </p:txBody>
      </p:sp>
      <p:sp>
        <p:nvSpPr>
          <p:cNvPr id="14" name="Shape 11"/>
          <p:cNvSpPr/>
          <p:nvPr/>
        </p:nvSpPr>
        <p:spPr>
          <a:xfrm>
            <a:off x="548640" y="4562856"/>
            <a:ext cx="4846320" cy="1298448"/>
          </a:xfrm>
          <a:prstGeom prst="roundRect">
            <a:avLst>
              <a:gd name="adj" fmla="val 5634"/>
            </a:avLst>
          </a:prstGeom>
          <a:solidFill>
            <a:srgbClr val="EEEDF5"/>
          </a:solidFill>
          <a:ln w="12700">
            <a:solidFill>
              <a:srgbClr val="EEEDF5"/>
            </a:solidFill>
            <a:prstDash val="solid"/>
          </a:ln>
        </p:spPr>
      </p:sp>
      <p:sp>
        <p:nvSpPr>
          <p:cNvPr id="15" name="Text 12"/>
          <p:cNvSpPr txBox="1"/>
          <p:nvPr/>
        </p:nvSpPr>
        <p:spPr>
          <a:xfrm>
            <a:off x="777240" y="4562856"/>
            <a:ext cx="2103120" cy="1298448"/>
          </a:xfrm>
          <a:prstGeom prst="rect">
            <a:avLst/>
          </a:prstGeom>
          <a:noFill/>
          <a:ln/>
        </p:spPr>
        <p:txBody>
          <a:bodyPr wrap="square" lIns="0" tIns="0" rIns="0" bIns="0" rtlCol="0" anchor="ctr"/>
          <a:lstStyle/>
          <a:p>
            <a:pPr indent="0" marL="0">
              <a:buNone/>
            </a:pPr>
            <a:r>
              <a:rPr lang="en-US" sz="2400" b="1" dirty="0">
                <a:solidFill>
                  <a:srgbClr val="0A032B"/>
                </a:solidFill>
                <a:latin typeface="Montserrat" pitchFamily="34" charset="0"/>
                <a:ea typeface="Montserrat" pitchFamily="34" charset="-122"/>
                <a:cs typeface="Montserrat" pitchFamily="34" charset="-120"/>
              </a:rPr>
              <a:t>20-20-20</a:t>
            </a:r>
            <a:endParaRPr lang="en-US" sz="2400" dirty="0"/>
          </a:p>
        </p:txBody>
      </p:sp>
      <p:sp>
        <p:nvSpPr>
          <p:cNvPr id="16" name="Text 13"/>
          <p:cNvSpPr txBox="1"/>
          <p:nvPr/>
        </p:nvSpPr>
        <p:spPr>
          <a:xfrm>
            <a:off x="2880360" y="4562856"/>
            <a:ext cx="2377440" cy="1298448"/>
          </a:xfrm>
          <a:prstGeom prst="rect">
            <a:avLst/>
          </a:prstGeom>
          <a:noFill/>
          <a:ln/>
        </p:spPr>
        <p:txBody>
          <a:bodyPr wrap="square" lIns="0" tIns="0" rIns="0" bIns="0" rtlCol="0" anchor="ctr"/>
          <a:lstStyle/>
          <a:p>
            <a:pPr indent="0" marL="0">
              <a:buNone/>
            </a:pPr>
            <a:r>
              <a:rPr lang="en-US" sz="1300" dirty="0">
                <a:solidFill>
                  <a:srgbClr val="35305C"/>
                </a:solidFill>
                <a:latin typeface="Arial" pitchFamily="34" charset="0"/>
                <a:ea typeface="Arial" pitchFamily="34" charset="-122"/>
                <a:cs typeface="Arial" pitchFamily="34" charset="-120"/>
              </a:rPr>
              <a:t>toutes les 20 min, regarder à 6 m (20 pieds) pendant 20 s</a:t>
            </a:r>
            <a:endParaRPr lang="en-US" sz="1300" dirty="0"/>
          </a:p>
        </p:txBody>
      </p:sp>
      <p:sp>
        <p:nvSpPr>
          <p:cNvPr id="17" name="Shape 14"/>
          <p:cNvSpPr/>
          <p:nvPr/>
        </p:nvSpPr>
        <p:spPr>
          <a:xfrm>
            <a:off x="5669280" y="1600200"/>
            <a:ext cx="2849728" cy="2080260"/>
          </a:xfrm>
          <a:prstGeom prst="roundRect">
            <a:avLst>
              <a:gd name="adj" fmla="val 3516"/>
            </a:avLst>
          </a:prstGeom>
          <a:solidFill>
            <a:srgbClr val="EEEDF5"/>
          </a:solidFill>
          <a:ln w="12700">
            <a:solidFill>
              <a:srgbClr val="EEEDF5"/>
            </a:solidFill>
            <a:prstDash val="solid"/>
          </a:ln>
        </p:spPr>
      </p:sp>
      <p:sp>
        <p:nvSpPr>
          <p:cNvPr id="18" name="Shape 15"/>
          <p:cNvSpPr/>
          <p:nvPr/>
        </p:nvSpPr>
        <p:spPr>
          <a:xfrm>
            <a:off x="5897880" y="1828800"/>
            <a:ext cx="548640" cy="548640"/>
          </a:xfrm>
          <a:prstGeom prst="ellipse">
            <a:avLst/>
          </a:prstGeom>
          <a:solidFill>
            <a:srgbClr val="0A032B"/>
          </a:solidFill>
          <a:ln w="12700">
            <a:solidFill>
              <a:srgbClr val="0A032B"/>
            </a:solidFill>
            <a:prstDash val="solid"/>
          </a:ln>
        </p:spPr>
      </p:sp>
      <p:pic>
        <p:nvPicPr>
          <p:cNvPr id="19" name="Image 1" descr="preencoded.png">    </p:cNvPr>
          <p:cNvPicPr>
            <a:picLocks noChangeAspect="1"/>
          </p:cNvPicPr>
          <p:nvPr/>
        </p:nvPicPr>
        <p:blipFill>
          <a:blip r:embed="rId2"/>
          <a:stretch>
            <a:fillRect/>
          </a:stretch>
        </p:blipFill>
        <p:spPr>
          <a:xfrm>
            <a:off x="6035040" y="1965960"/>
            <a:ext cx="274320" cy="274320"/>
          </a:xfrm>
          <a:prstGeom prst="rect">
            <a:avLst/>
          </a:prstGeom>
        </p:spPr>
      </p:pic>
      <p:sp>
        <p:nvSpPr>
          <p:cNvPr id="20" name="Text 16"/>
          <p:cNvSpPr txBox="1"/>
          <p:nvPr/>
        </p:nvSpPr>
        <p:spPr>
          <a:xfrm>
            <a:off x="6629400" y="1828800"/>
            <a:ext cx="1661008" cy="548640"/>
          </a:xfrm>
          <a:prstGeom prst="rect">
            <a:avLst/>
          </a:prstGeom>
          <a:noFill/>
          <a:ln/>
        </p:spPr>
        <p:txBody>
          <a:bodyPr wrap="square" lIns="0" tIns="0" rIns="0" bIns="0" rtlCol="0" anchor="ctr"/>
          <a:lstStyle/>
          <a:p>
            <a:pPr indent="0" marL="0">
              <a:buNone/>
            </a:pPr>
            <a:r>
              <a:rPr lang="en-US" sz="1400" b="1" dirty="0">
                <a:solidFill>
                  <a:srgbClr val="0A032B"/>
                </a:solidFill>
                <a:latin typeface="Montserrat" pitchFamily="34" charset="0"/>
                <a:ea typeface="Montserrat" pitchFamily="34" charset="-122"/>
                <a:cs typeface="Montserrat" pitchFamily="34" charset="-120"/>
              </a:rPr>
              <a:t>Bouger régulièrement</a:t>
            </a:r>
            <a:endParaRPr lang="en-US" sz="1400" dirty="0"/>
          </a:p>
        </p:txBody>
      </p:sp>
      <p:sp>
        <p:nvSpPr>
          <p:cNvPr id="21" name="Text 17"/>
          <p:cNvSpPr txBox="1"/>
          <p:nvPr/>
        </p:nvSpPr>
        <p:spPr>
          <a:xfrm>
            <a:off x="5897880" y="2514600"/>
            <a:ext cx="2392528" cy="1028700"/>
          </a:xfrm>
          <a:prstGeom prst="rect">
            <a:avLst/>
          </a:prstGeom>
          <a:noFill/>
          <a:ln/>
        </p:spPr>
        <p:txBody>
          <a:bodyPr wrap="square" lIns="0" tIns="0" rIns="0" bIns="0" rtlCol="0" anchor="t"/>
          <a:lstStyle/>
          <a:p>
            <a:pPr indent="0" marL="0">
              <a:buNone/>
            </a:pPr>
            <a:r>
              <a:rPr lang="en-US" sz="1250" dirty="0">
                <a:solidFill>
                  <a:srgbClr val="35305C"/>
                </a:solidFill>
                <a:latin typeface="Arial" pitchFamily="34" charset="0"/>
                <a:ea typeface="Arial" pitchFamily="34" charset="-122"/>
                <a:cs typeface="Arial" pitchFamily="34" charset="-120"/>
              </a:rPr>
              <a:t>Se lever pour téléphoner, aller voir un collègue plutôt que d'envoyer un courriel, préférer l'escalier.</a:t>
            </a:r>
            <a:endParaRPr lang="en-US" sz="1250" dirty="0"/>
          </a:p>
        </p:txBody>
      </p:sp>
      <p:sp>
        <p:nvSpPr>
          <p:cNvPr id="22" name="Shape 18"/>
          <p:cNvSpPr/>
          <p:nvPr/>
        </p:nvSpPr>
        <p:spPr>
          <a:xfrm>
            <a:off x="8793328" y="1600200"/>
            <a:ext cx="2849728" cy="2080260"/>
          </a:xfrm>
          <a:prstGeom prst="roundRect">
            <a:avLst>
              <a:gd name="adj" fmla="val 3516"/>
            </a:avLst>
          </a:prstGeom>
          <a:solidFill>
            <a:srgbClr val="EEEDF5"/>
          </a:solidFill>
          <a:ln w="12700">
            <a:solidFill>
              <a:srgbClr val="EEEDF5"/>
            </a:solidFill>
            <a:prstDash val="solid"/>
          </a:ln>
        </p:spPr>
      </p:sp>
      <p:sp>
        <p:nvSpPr>
          <p:cNvPr id="23" name="Shape 19"/>
          <p:cNvSpPr/>
          <p:nvPr/>
        </p:nvSpPr>
        <p:spPr>
          <a:xfrm>
            <a:off x="9021928" y="1828800"/>
            <a:ext cx="548640" cy="548640"/>
          </a:xfrm>
          <a:prstGeom prst="ellipse">
            <a:avLst/>
          </a:prstGeom>
          <a:solidFill>
            <a:srgbClr val="0A032B"/>
          </a:solidFill>
          <a:ln w="12700">
            <a:solidFill>
              <a:srgbClr val="0A032B"/>
            </a:solidFill>
            <a:prstDash val="solid"/>
          </a:ln>
        </p:spPr>
      </p:sp>
      <p:pic>
        <p:nvPicPr>
          <p:cNvPr id="24" name="Image 2" descr="preencoded.png">    </p:cNvPr>
          <p:cNvPicPr>
            <a:picLocks noChangeAspect="1"/>
          </p:cNvPicPr>
          <p:nvPr/>
        </p:nvPicPr>
        <p:blipFill>
          <a:blip r:embed="rId3"/>
          <a:stretch>
            <a:fillRect/>
          </a:stretch>
        </p:blipFill>
        <p:spPr>
          <a:xfrm>
            <a:off x="9159088" y="1965960"/>
            <a:ext cx="274320" cy="274320"/>
          </a:xfrm>
          <a:prstGeom prst="rect">
            <a:avLst/>
          </a:prstGeom>
        </p:spPr>
      </p:pic>
      <p:sp>
        <p:nvSpPr>
          <p:cNvPr id="25" name="Text 20"/>
          <p:cNvSpPr txBox="1"/>
          <p:nvPr/>
        </p:nvSpPr>
        <p:spPr>
          <a:xfrm>
            <a:off x="9753448" y="1828800"/>
            <a:ext cx="1661008" cy="548640"/>
          </a:xfrm>
          <a:prstGeom prst="rect">
            <a:avLst/>
          </a:prstGeom>
          <a:noFill/>
          <a:ln/>
        </p:spPr>
        <p:txBody>
          <a:bodyPr wrap="square" lIns="0" tIns="0" rIns="0" bIns="0" rtlCol="0" anchor="ctr"/>
          <a:lstStyle/>
          <a:p>
            <a:pPr indent="0" marL="0">
              <a:buNone/>
            </a:pPr>
            <a:r>
              <a:rPr lang="en-US" sz="1400" b="1" dirty="0">
                <a:solidFill>
                  <a:srgbClr val="0A032B"/>
                </a:solidFill>
                <a:latin typeface="Montserrat" pitchFamily="34" charset="0"/>
                <a:ea typeface="Montserrat" pitchFamily="34" charset="-122"/>
                <a:cs typeface="Montserrat" pitchFamily="34" charset="-120"/>
              </a:rPr>
              <a:t>Réunions actives</a:t>
            </a:r>
            <a:endParaRPr lang="en-US" sz="1400" dirty="0"/>
          </a:p>
        </p:txBody>
      </p:sp>
      <p:sp>
        <p:nvSpPr>
          <p:cNvPr id="26" name="Text 21"/>
          <p:cNvSpPr txBox="1"/>
          <p:nvPr/>
        </p:nvSpPr>
        <p:spPr>
          <a:xfrm>
            <a:off x="9021928" y="2514600"/>
            <a:ext cx="2392528" cy="1028700"/>
          </a:xfrm>
          <a:prstGeom prst="rect">
            <a:avLst/>
          </a:prstGeom>
          <a:noFill/>
          <a:ln/>
        </p:spPr>
        <p:txBody>
          <a:bodyPr wrap="square" lIns="0" tIns="0" rIns="0" bIns="0" rtlCol="0" anchor="t"/>
          <a:lstStyle/>
          <a:p>
            <a:pPr indent="0" marL="0">
              <a:buNone/>
            </a:pPr>
            <a:r>
              <a:rPr lang="en-US" sz="1250" dirty="0">
                <a:solidFill>
                  <a:srgbClr val="35305C"/>
                </a:solidFill>
                <a:latin typeface="Arial" pitchFamily="34" charset="0"/>
                <a:ea typeface="Arial" pitchFamily="34" charset="-122"/>
                <a:cs typeface="Arial" pitchFamily="34" charset="-120"/>
              </a:rPr>
              <a:t>Réunions debout pour les points courts, suspension de séance toutes les heures pour les longs conseils.</a:t>
            </a:r>
            <a:endParaRPr lang="en-US" sz="1250" dirty="0"/>
          </a:p>
        </p:txBody>
      </p:sp>
      <p:sp>
        <p:nvSpPr>
          <p:cNvPr id="27" name="Shape 22"/>
          <p:cNvSpPr/>
          <p:nvPr/>
        </p:nvSpPr>
        <p:spPr>
          <a:xfrm>
            <a:off x="5669280" y="3954780"/>
            <a:ext cx="2849728" cy="2080260"/>
          </a:xfrm>
          <a:prstGeom prst="roundRect">
            <a:avLst>
              <a:gd name="adj" fmla="val 3516"/>
            </a:avLst>
          </a:prstGeom>
          <a:solidFill>
            <a:srgbClr val="EEEDF5"/>
          </a:solidFill>
          <a:ln w="12700">
            <a:solidFill>
              <a:srgbClr val="EEEDF5"/>
            </a:solidFill>
            <a:prstDash val="solid"/>
          </a:ln>
        </p:spPr>
      </p:sp>
      <p:sp>
        <p:nvSpPr>
          <p:cNvPr id="28" name="Shape 23"/>
          <p:cNvSpPr/>
          <p:nvPr/>
        </p:nvSpPr>
        <p:spPr>
          <a:xfrm>
            <a:off x="5897880" y="4183380"/>
            <a:ext cx="548640" cy="548640"/>
          </a:xfrm>
          <a:prstGeom prst="ellipse">
            <a:avLst/>
          </a:prstGeom>
          <a:solidFill>
            <a:srgbClr val="0A032B"/>
          </a:solidFill>
          <a:ln w="12700">
            <a:solidFill>
              <a:srgbClr val="0A032B"/>
            </a:solidFill>
            <a:prstDash val="solid"/>
          </a:ln>
        </p:spPr>
      </p:sp>
      <p:pic>
        <p:nvPicPr>
          <p:cNvPr id="29" name="Image 3" descr="preencoded.png">    </p:cNvPr>
          <p:cNvPicPr>
            <a:picLocks noChangeAspect="1"/>
          </p:cNvPicPr>
          <p:nvPr/>
        </p:nvPicPr>
        <p:blipFill>
          <a:blip r:embed="rId4"/>
          <a:stretch>
            <a:fillRect/>
          </a:stretch>
        </p:blipFill>
        <p:spPr>
          <a:xfrm>
            <a:off x="6035040" y="4320540"/>
            <a:ext cx="274320" cy="274320"/>
          </a:xfrm>
          <a:prstGeom prst="rect">
            <a:avLst/>
          </a:prstGeom>
        </p:spPr>
      </p:pic>
      <p:sp>
        <p:nvSpPr>
          <p:cNvPr id="30" name="Text 24"/>
          <p:cNvSpPr txBox="1"/>
          <p:nvPr/>
        </p:nvSpPr>
        <p:spPr>
          <a:xfrm>
            <a:off x="6629400" y="4183380"/>
            <a:ext cx="1661008" cy="548640"/>
          </a:xfrm>
          <a:prstGeom prst="rect">
            <a:avLst/>
          </a:prstGeom>
          <a:noFill/>
          <a:ln/>
        </p:spPr>
        <p:txBody>
          <a:bodyPr wrap="square" lIns="0" tIns="0" rIns="0" bIns="0" rtlCol="0" anchor="ctr"/>
          <a:lstStyle/>
          <a:p>
            <a:pPr indent="0" marL="0">
              <a:buNone/>
            </a:pPr>
            <a:r>
              <a:rPr lang="en-US" sz="1400" b="1" dirty="0">
                <a:solidFill>
                  <a:srgbClr val="0A032B"/>
                </a:solidFill>
                <a:latin typeface="Montserrat" pitchFamily="34" charset="0"/>
                <a:ea typeface="Montserrat" pitchFamily="34" charset="-122"/>
                <a:cs typeface="Montserrat" pitchFamily="34" charset="-120"/>
              </a:rPr>
              <a:t>Reposer les yeux</a:t>
            </a:r>
            <a:endParaRPr lang="en-US" sz="1400" dirty="0"/>
          </a:p>
        </p:txBody>
      </p:sp>
      <p:sp>
        <p:nvSpPr>
          <p:cNvPr id="31" name="Text 25"/>
          <p:cNvSpPr txBox="1"/>
          <p:nvPr/>
        </p:nvSpPr>
        <p:spPr>
          <a:xfrm>
            <a:off x="5897880" y="4869180"/>
            <a:ext cx="2392528" cy="1028700"/>
          </a:xfrm>
          <a:prstGeom prst="rect">
            <a:avLst/>
          </a:prstGeom>
          <a:noFill/>
          <a:ln/>
        </p:spPr>
        <p:txBody>
          <a:bodyPr wrap="square" lIns="0" tIns="0" rIns="0" bIns="0" rtlCol="0" anchor="t"/>
          <a:lstStyle/>
          <a:p>
            <a:pPr indent="0" marL="0">
              <a:buNone/>
            </a:pPr>
            <a:r>
              <a:rPr lang="en-US" sz="1250" dirty="0">
                <a:solidFill>
                  <a:srgbClr val="35305C"/>
                </a:solidFill>
                <a:latin typeface="Arial" pitchFamily="34" charset="0"/>
                <a:ea typeface="Arial" pitchFamily="34" charset="-122"/>
                <a:cs typeface="Arial" pitchFamily="34" charset="-120"/>
              </a:rPr>
              <a:t>Cligner, regarder au loin, ajuster la luminosité de l'écran.</a:t>
            </a:r>
            <a:endParaRPr lang="en-US" sz="1250" dirty="0"/>
          </a:p>
        </p:txBody>
      </p:sp>
      <p:sp>
        <p:nvSpPr>
          <p:cNvPr id="32" name="Shape 26"/>
          <p:cNvSpPr/>
          <p:nvPr/>
        </p:nvSpPr>
        <p:spPr>
          <a:xfrm>
            <a:off x="8793328" y="3954780"/>
            <a:ext cx="2849728" cy="2080260"/>
          </a:xfrm>
          <a:prstGeom prst="roundRect">
            <a:avLst>
              <a:gd name="adj" fmla="val 3516"/>
            </a:avLst>
          </a:prstGeom>
          <a:solidFill>
            <a:srgbClr val="EEEDF5"/>
          </a:solidFill>
          <a:ln w="12700">
            <a:solidFill>
              <a:srgbClr val="EEEDF5"/>
            </a:solidFill>
            <a:prstDash val="solid"/>
          </a:ln>
        </p:spPr>
      </p:sp>
      <p:sp>
        <p:nvSpPr>
          <p:cNvPr id="33" name="Shape 27"/>
          <p:cNvSpPr/>
          <p:nvPr/>
        </p:nvSpPr>
        <p:spPr>
          <a:xfrm>
            <a:off x="9021928" y="4183380"/>
            <a:ext cx="548640" cy="548640"/>
          </a:xfrm>
          <a:prstGeom prst="ellipse">
            <a:avLst/>
          </a:prstGeom>
          <a:solidFill>
            <a:srgbClr val="0A032B"/>
          </a:solidFill>
          <a:ln w="12700">
            <a:solidFill>
              <a:srgbClr val="0A032B"/>
            </a:solidFill>
            <a:prstDash val="solid"/>
          </a:ln>
        </p:spPr>
      </p:sp>
      <p:pic>
        <p:nvPicPr>
          <p:cNvPr id="34" name="Image 4" descr="preencoded.png">    </p:cNvPr>
          <p:cNvPicPr>
            <a:picLocks noChangeAspect="1"/>
          </p:cNvPicPr>
          <p:nvPr/>
        </p:nvPicPr>
        <p:blipFill>
          <a:blip r:embed="rId5"/>
          <a:stretch>
            <a:fillRect/>
          </a:stretch>
        </p:blipFill>
        <p:spPr>
          <a:xfrm>
            <a:off x="9159088" y="4320540"/>
            <a:ext cx="274320" cy="274320"/>
          </a:xfrm>
          <a:prstGeom prst="rect">
            <a:avLst/>
          </a:prstGeom>
        </p:spPr>
      </p:pic>
      <p:sp>
        <p:nvSpPr>
          <p:cNvPr id="35" name="Text 28"/>
          <p:cNvSpPr txBox="1"/>
          <p:nvPr/>
        </p:nvSpPr>
        <p:spPr>
          <a:xfrm>
            <a:off x="9753448" y="4183380"/>
            <a:ext cx="1661008" cy="548640"/>
          </a:xfrm>
          <a:prstGeom prst="rect">
            <a:avLst/>
          </a:prstGeom>
          <a:noFill/>
          <a:ln/>
        </p:spPr>
        <p:txBody>
          <a:bodyPr wrap="square" lIns="0" tIns="0" rIns="0" bIns="0" rtlCol="0" anchor="ctr"/>
          <a:lstStyle/>
          <a:p>
            <a:pPr indent="0" marL="0">
              <a:buNone/>
            </a:pPr>
            <a:r>
              <a:rPr lang="en-US" sz="1400" b="1" dirty="0">
                <a:solidFill>
                  <a:srgbClr val="0A032B"/>
                </a:solidFill>
                <a:latin typeface="Montserrat" pitchFamily="34" charset="0"/>
                <a:ea typeface="Montserrat" pitchFamily="34" charset="-122"/>
                <a:cs typeface="Montserrat" pitchFamily="34" charset="-120"/>
              </a:rPr>
              <a:t>S'étirer</a:t>
            </a:r>
            <a:endParaRPr lang="en-US" sz="1400" dirty="0"/>
          </a:p>
        </p:txBody>
      </p:sp>
      <p:sp>
        <p:nvSpPr>
          <p:cNvPr id="36" name="Text 29"/>
          <p:cNvSpPr txBox="1"/>
          <p:nvPr/>
        </p:nvSpPr>
        <p:spPr>
          <a:xfrm>
            <a:off x="9021928" y="4869180"/>
            <a:ext cx="2392528" cy="1028700"/>
          </a:xfrm>
          <a:prstGeom prst="rect">
            <a:avLst/>
          </a:prstGeom>
          <a:noFill/>
          <a:ln/>
        </p:spPr>
        <p:txBody>
          <a:bodyPr wrap="square" lIns="0" tIns="0" rIns="0" bIns="0" rtlCol="0" anchor="t"/>
          <a:lstStyle/>
          <a:p>
            <a:pPr indent="0" marL="0">
              <a:buNone/>
            </a:pPr>
            <a:r>
              <a:rPr lang="en-US" sz="1250" dirty="0">
                <a:solidFill>
                  <a:srgbClr val="35305C"/>
                </a:solidFill>
                <a:latin typeface="Arial" pitchFamily="34" charset="0"/>
                <a:ea typeface="Arial" pitchFamily="34" charset="-122"/>
                <a:cs typeface="Arial" pitchFamily="34" charset="-120"/>
              </a:rPr>
              <a:t>Quelques étirements simples réduisent les tensions : ils sont pratiqués dans l'atelier suivant.</a:t>
            </a:r>
            <a:endParaRPr lang="en-US" sz="1250" dirty="0"/>
          </a:p>
        </p:txBody>
      </p:sp>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14800" cy="6858000"/>
          </a:xfrm>
          <a:prstGeom prst="rect">
            <a:avLst/>
          </a:prstGeom>
          <a:solidFill>
            <a:srgbClr val="F0EF96"/>
          </a:solidFill>
          <a:ln w="12700">
            <a:solidFill>
              <a:srgbClr val="F0EF96"/>
            </a:solidFill>
            <a:prstDash val="solid"/>
          </a:ln>
        </p:spPr>
      </p:sp>
      <p:sp>
        <p:nvSpPr>
          <p:cNvPr id="3" name="Shape 1"/>
          <p:cNvSpPr/>
          <p:nvPr/>
        </p:nvSpPr>
        <p:spPr>
          <a:xfrm>
            <a:off x="548640" y="502920"/>
            <a:ext cx="1600200" cy="347472"/>
          </a:xfrm>
          <a:prstGeom prst="roundRect">
            <a:avLst>
              <a:gd name="adj" fmla="val 50000"/>
            </a:avLst>
          </a:prstGeom>
          <a:solidFill>
            <a:srgbClr val="F0EF96"/>
          </a:solidFill>
          <a:ln w="12700">
            <a:solidFill>
              <a:srgbClr val="F0EF96"/>
            </a:solidFill>
            <a:prstDash val="solid"/>
          </a:ln>
        </p:spPr>
      </p:sp>
      <p:sp>
        <p:nvSpPr>
          <p:cNvPr id="4" name="Text 2"/>
          <p:cNvSpPr txBox="1"/>
          <p:nvPr/>
        </p:nvSpPr>
        <p:spPr>
          <a:xfrm>
            <a:off x="548640" y="502920"/>
            <a:ext cx="1600200" cy="347472"/>
          </a:xfrm>
          <a:prstGeom prst="rect">
            <a:avLst/>
          </a:prstGeom>
          <a:noFill/>
          <a:ln/>
        </p:spPr>
        <p:txBody>
          <a:bodyPr wrap="square" lIns="0" tIns="0" rIns="0" bIns="0" rtlCol="0" anchor="ctr"/>
          <a:lstStyle/>
          <a:p>
            <a:pPr algn="ctr" indent="0" marL="0">
              <a:buNone/>
            </a:pPr>
            <a:r>
              <a:rPr lang="en-US" sz="1100" b="1" spc="200" kern="0" dirty="0">
                <a:solidFill>
                  <a:srgbClr val="0A032B"/>
                </a:solidFill>
                <a:latin typeface="Montserrat" pitchFamily="34" charset="0"/>
                <a:ea typeface="Montserrat" pitchFamily="34" charset="-122"/>
                <a:cs typeface="Montserrat" pitchFamily="34" charset="-120"/>
              </a:rPr>
              <a:t>PRATIQUE</a:t>
            </a:r>
            <a:endParaRPr lang="en-US" sz="1100" dirty="0"/>
          </a:p>
        </p:txBody>
      </p:sp>
      <p:sp>
        <p:nvSpPr>
          <p:cNvPr id="5" name="Text 3"/>
          <p:cNvSpPr txBox="1"/>
          <p:nvPr/>
        </p:nvSpPr>
        <p:spPr>
          <a:xfrm>
            <a:off x="548640" y="1005840"/>
            <a:ext cx="3108960" cy="365760"/>
          </a:xfrm>
          <a:prstGeom prst="rect">
            <a:avLst/>
          </a:prstGeom>
          <a:noFill/>
          <a:ln/>
        </p:spPr>
        <p:txBody>
          <a:bodyPr wrap="square" lIns="0" tIns="0" rIns="0" bIns="0" rtlCol="0" anchor="ctr"/>
          <a:lstStyle/>
          <a:p>
            <a:pPr indent="0" marL="0">
              <a:buNone/>
            </a:pPr>
            <a:r>
              <a:rPr lang="en-US" sz="1300" b="1" spc="100" kern="0" dirty="0">
                <a:solidFill>
                  <a:srgbClr val="35305C"/>
                </a:solidFill>
                <a:latin typeface="Montserrat" pitchFamily="34" charset="0"/>
                <a:ea typeface="Montserrat" pitchFamily="34" charset="-122"/>
                <a:cs typeface="Montserrat" pitchFamily="34" charset="-120"/>
              </a:rPr>
              <a:t>MISE EN SITUATION</a:t>
            </a:r>
            <a:endParaRPr lang="en-US" sz="1300" dirty="0"/>
          </a:p>
        </p:txBody>
      </p:sp>
      <p:sp>
        <p:nvSpPr>
          <p:cNvPr id="6" name="Text 4"/>
          <p:cNvSpPr txBox="1"/>
          <p:nvPr/>
        </p:nvSpPr>
        <p:spPr>
          <a:xfrm>
            <a:off x="548640" y="1371600"/>
            <a:ext cx="3200400" cy="1371600"/>
          </a:xfrm>
          <a:prstGeom prst="rect">
            <a:avLst/>
          </a:prstGeom>
          <a:noFill/>
          <a:ln/>
        </p:spPr>
        <p:txBody>
          <a:bodyPr wrap="square" lIns="0" tIns="0" rIns="0" bIns="0" rtlCol="0" anchor="t"/>
          <a:lstStyle/>
          <a:p>
            <a:pPr indent="0" marL="0">
              <a:buNone/>
            </a:pPr>
            <a:r>
              <a:rPr lang="en-US" sz="2400" b="1" dirty="0">
                <a:solidFill>
                  <a:srgbClr val="0A032B"/>
                </a:solidFill>
                <a:latin typeface="Montserrat" pitchFamily="34" charset="0"/>
                <a:ea typeface="Montserrat" pitchFamily="34" charset="-122"/>
                <a:cs typeface="Montserrat" pitchFamily="34" charset="-120"/>
              </a:rPr>
              <a:t>Atelier 4 : régler son poste de travail</a:t>
            </a:r>
            <a:endParaRPr lang="en-US" sz="2400" dirty="0"/>
          </a:p>
        </p:txBody>
      </p:sp>
      <p:sp>
        <p:nvSpPr>
          <p:cNvPr id="7" name="Shape 5"/>
          <p:cNvSpPr/>
          <p:nvPr/>
        </p:nvSpPr>
        <p:spPr>
          <a:xfrm>
            <a:off x="548640" y="2971800"/>
            <a:ext cx="457200" cy="457200"/>
          </a:xfrm>
          <a:prstGeom prst="ellipse">
            <a:avLst/>
          </a:prstGeom>
          <a:solidFill>
            <a:srgbClr val="0A032B"/>
          </a:solidFill>
          <a:ln w="12700">
            <a:solidFill>
              <a:srgbClr val="0A032B"/>
            </a:solidFill>
            <a:prstDash val="solid"/>
          </a:ln>
        </p:spPr>
      </p:sp>
      <p:pic>
        <p:nvPicPr>
          <p:cNvPr id="8" name="Image 0" descr="preencoded.png">    </p:cNvPr>
          <p:cNvPicPr>
            <a:picLocks noChangeAspect="1"/>
          </p:cNvPicPr>
          <p:nvPr/>
        </p:nvPicPr>
        <p:blipFill>
          <a:blip r:embed="rId1"/>
          <a:stretch>
            <a:fillRect/>
          </a:stretch>
        </p:blipFill>
        <p:spPr>
          <a:xfrm>
            <a:off x="662940" y="3086100"/>
            <a:ext cx="228600" cy="228600"/>
          </a:xfrm>
          <a:prstGeom prst="rect">
            <a:avLst/>
          </a:prstGeom>
        </p:spPr>
      </p:pic>
      <p:sp>
        <p:nvSpPr>
          <p:cNvPr id="9" name="Text 6"/>
          <p:cNvSpPr txBox="1"/>
          <p:nvPr/>
        </p:nvSpPr>
        <p:spPr>
          <a:xfrm>
            <a:off x="1188720" y="2926080"/>
            <a:ext cx="2468880" cy="868680"/>
          </a:xfrm>
          <a:prstGeom prst="rect">
            <a:avLst/>
          </a:prstGeom>
          <a:noFill/>
          <a:ln/>
        </p:spPr>
        <p:txBody>
          <a:bodyPr wrap="square" lIns="0" tIns="0" rIns="0" bIns="0" rtlCol="0" anchor="t"/>
          <a:lstStyle/>
          <a:p>
            <a:pPr indent="0" marL="0">
              <a:buNone/>
            </a:pPr>
            <a:r>
              <a:rPr lang="en-US" sz="1000" b="1" spc="100" kern="0" dirty="0">
                <a:solidFill>
                  <a:srgbClr val="35305C"/>
                </a:solidFill>
                <a:latin typeface="Montserrat" pitchFamily="34" charset="0"/>
                <a:ea typeface="Montserrat" pitchFamily="34" charset="-122"/>
                <a:cs typeface="Montserrat" pitchFamily="34" charset="-120"/>
              </a:rPr>
              <a:t>DURÉE</a:t>
            </a:r>
            <a:endParaRPr lang="en-US" sz="1000" dirty="0"/>
          </a:p>
          <a:p>
            <a:pPr indent="0" marL="0">
              <a:buNone/>
            </a:pPr>
            <a:r>
              <a:rPr lang="en-US" sz="1250" dirty="0">
                <a:solidFill>
                  <a:srgbClr val="0A032B"/>
                </a:solidFill>
                <a:latin typeface="Arial" pitchFamily="34" charset="0"/>
                <a:ea typeface="Arial" pitchFamily="34" charset="-122"/>
                <a:cs typeface="Arial" pitchFamily="34" charset="-120"/>
              </a:rPr>
              <a:t>15 minutes</a:t>
            </a:r>
            <a:endParaRPr lang="en-US" sz="1000" dirty="0"/>
          </a:p>
        </p:txBody>
      </p:sp>
      <p:sp>
        <p:nvSpPr>
          <p:cNvPr id="10" name="Shape 7"/>
          <p:cNvSpPr/>
          <p:nvPr/>
        </p:nvSpPr>
        <p:spPr>
          <a:xfrm>
            <a:off x="548640" y="3931920"/>
            <a:ext cx="457200" cy="457200"/>
          </a:xfrm>
          <a:prstGeom prst="ellipse">
            <a:avLst/>
          </a:prstGeom>
          <a:solidFill>
            <a:srgbClr val="0A032B"/>
          </a:solidFill>
          <a:ln w="12700">
            <a:solidFill>
              <a:srgbClr val="0A032B"/>
            </a:solidFill>
            <a:prstDash val="solid"/>
          </a:ln>
        </p:spPr>
      </p:sp>
      <p:pic>
        <p:nvPicPr>
          <p:cNvPr id="11" name="Image 1" descr="preencoded.png">    </p:cNvPr>
          <p:cNvPicPr>
            <a:picLocks noChangeAspect="1"/>
          </p:cNvPicPr>
          <p:nvPr/>
        </p:nvPicPr>
        <p:blipFill>
          <a:blip r:embed="rId2"/>
          <a:stretch>
            <a:fillRect/>
          </a:stretch>
        </p:blipFill>
        <p:spPr>
          <a:xfrm>
            <a:off x="662940" y="4046220"/>
            <a:ext cx="228600" cy="228600"/>
          </a:xfrm>
          <a:prstGeom prst="rect">
            <a:avLst/>
          </a:prstGeom>
        </p:spPr>
      </p:pic>
      <p:sp>
        <p:nvSpPr>
          <p:cNvPr id="12" name="Text 8"/>
          <p:cNvSpPr txBox="1"/>
          <p:nvPr/>
        </p:nvSpPr>
        <p:spPr>
          <a:xfrm>
            <a:off x="1188720" y="3886200"/>
            <a:ext cx="2468880" cy="868680"/>
          </a:xfrm>
          <a:prstGeom prst="rect">
            <a:avLst/>
          </a:prstGeom>
          <a:noFill/>
          <a:ln/>
        </p:spPr>
        <p:txBody>
          <a:bodyPr wrap="square" lIns="0" tIns="0" rIns="0" bIns="0" rtlCol="0" anchor="t"/>
          <a:lstStyle/>
          <a:p>
            <a:pPr indent="0" marL="0">
              <a:buNone/>
            </a:pPr>
            <a:r>
              <a:rPr lang="en-US" sz="1000" b="1" spc="100" kern="0" dirty="0">
                <a:solidFill>
                  <a:srgbClr val="35305C"/>
                </a:solidFill>
                <a:latin typeface="Montserrat" pitchFamily="34" charset="0"/>
                <a:ea typeface="Montserrat" pitchFamily="34" charset="-122"/>
                <a:cs typeface="Montserrat" pitchFamily="34" charset="-120"/>
              </a:rPr>
              <a:t>FORMAT</a:t>
            </a:r>
            <a:endParaRPr lang="en-US" sz="1000" dirty="0"/>
          </a:p>
          <a:p>
            <a:pPr indent="0" marL="0">
              <a:buNone/>
            </a:pPr>
            <a:r>
              <a:rPr lang="en-US" sz="1250" dirty="0">
                <a:solidFill>
                  <a:srgbClr val="0A032B"/>
                </a:solidFill>
                <a:latin typeface="Arial" pitchFamily="34" charset="0"/>
                <a:ea typeface="Arial" pitchFamily="34" charset="-122"/>
                <a:cs typeface="Arial" pitchFamily="34" charset="-120"/>
              </a:rPr>
              <a:t>Binômes : un utilisateur, un vérificateur</a:t>
            </a:r>
            <a:endParaRPr lang="en-US" sz="1000" dirty="0"/>
          </a:p>
        </p:txBody>
      </p:sp>
      <p:sp>
        <p:nvSpPr>
          <p:cNvPr id="13" name="Shape 9"/>
          <p:cNvSpPr/>
          <p:nvPr/>
        </p:nvSpPr>
        <p:spPr>
          <a:xfrm>
            <a:off x="548640" y="4892040"/>
            <a:ext cx="457200" cy="457200"/>
          </a:xfrm>
          <a:prstGeom prst="ellipse">
            <a:avLst/>
          </a:prstGeom>
          <a:solidFill>
            <a:srgbClr val="0A032B"/>
          </a:solidFill>
          <a:ln w="12700">
            <a:solidFill>
              <a:srgbClr val="0A032B"/>
            </a:solidFill>
            <a:prstDash val="solid"/>
          </a:ln>
        </p:spPr>
      </p:sp>
      <p:pic>
        <p:nvPicPr>
          <p:cNvPr id="14" name="Image 2" descr="preencoded.png">    </p:cNvPr>
          <p:cNvPicPr>
            <a:picLocks noChangeAspect="1"/>
          </p:cNvPicPr>
          <p:nvPr/>
        </p:nvPicPr>
        <p:blipFill>
          <a:blip r:embed="rId3"/>
          <a:stretch>
            <a:fillRect/>
          </a:stretch>
        </p:blipFill>
        <p:spPr>
          <a:xfrm>
            <a:off x="662940" y="5006340"/>
            <a:ext cx="228600" cy="228600"/>
          </a:xfrm>
          <a:prstGeom prst="rect">
            <a:avLst/>
          </a:prstGeom>
        </p:spPr>
      </p:pic>
      <p:sp>
        <p:nvSpPr>
          <p:cNvPr id="15" name="Text 10"/>
          <p:cNvSpPr txBox="1"/>
          <p:nvPr/>
        </p:nvSpPr>
        <p:spPr>
          <a:xfrm>
            <a:off x="1188720" y="4846320"/>
            <a:ext cx="2468880" cy="868680"/>
          </a:xfrm>
          <a:prstGeom prst="rect">
            <a:avLst/>
          </a:prstGeom>
          <a:noFill/>
          <a:ln/>
        </p:spPr>
        <p:txBody>
          <a:bodyPr wrap="square" lIns="0" tIns="0" rIns="0" bIns="0" rtlCol="0" anchor="t"/>
          <a:lstStyle/>
          <a:p>
            <a:pPr indent="0" marL="0">
              <a:buNone/>
            </a:pPr>
            <a:r>
              <a:rPr lang="en-US" sz="1000" b="1" spc="100" kern="0" dirty="0">
                <a:solidFill>
                  <a:srgbClr val="35305C"/>
                </a:solidFill>
                <a:latin typeface="Montserrat" pitchFamily="34" charset="0"/>
                <a:ea typeface="Montserrat" pitchFamily="34" charset="-122"/>
                <a:cs typeface="Montserrat" pitchFamily="34" charset="-120"/>
              </a:rPr>
              <a:t>MATÉRIEL</a:t>
            </a:r>
            <a:endParaRPr lang="en-US" sz="1000" dirty="0"/>
          </a:p>
          <a:p>
            <a:pPr indent="0" marL="0">
              <a:buNone/>
            </a:pPr>
            <a:r>
              <a:rPr lang="en-US" sz="1250" dirty="0">
                <a:solidFill>
                  <a:srgbClr val="0A032B"/>
                </a:solidFill>
                <a:latin typeface="Arial" pitchFamily="34" charset="0"/>
                <a:ea typeface="Arial" pitchFamily="34" charset="-122"/>
                <a:cs typeface="Arial" pitchFamily="34" charset="-120"/>
              </a:rPr>
              <a:t>Tables, chaises réglables, ordinateurs portables, réhausseurs, fiche d'aménagement</a:t>
            </a:r>
            <a:endParaRPr lang="en-US" sz="1000" dirty="0"/>
          </a:p>
        </p:txBody>
      </p:sp>
      <p:sp>
        <p:nvSpPr>
          <p:cNvPr id="16" name="Text 11"/>
          <p:cNvSpPr txBox="1"/>
          <p:nvPr/>
        </p:nvSpPr>
        <p:spPr>
          <a:xfrm>
            <a:off x="4663440" y="457200"/>
            <a:ext cx="6979615" cy="502920"/>
          </a:xfrm>
          <a:prstGeom prst="rect">
            <a:avLst/>
          </a:prstGeom>
          <a:noFill/>
          <a:ln/>
        </p:spPr>
        <p:txBody>
          <a:bodyPr wrap="square" lIns="0" tIns="0" rIns="0" bIns="0" rtlCol="0" anchor="ctr"/>
          <a:lstStyle/>
          <a:p>
            <a:pPr indent="0" marL="0">
              <a:buNone/>
            </a:pPr>
            <a:r>
              <a:rPr lang="en-US" sz="2200" b="1" dirty="0">
                <a:solidFill>
                  <a:srgbClr val="0A032B"/>
                </a:solidFill>
                <a:latin typeface="Montserrat" pitchFamily="34" charset="0"/>
                <a:ea typeface="Montserrat" pitchFamily="34" charset="-122"/>
                <a:cs typeface="Montserrat" pitchFamily="34" charset="-120"/>
              </a:rPr>
              <a:t>Consignes</a:t>
            </a:r>
            <a:endParaRPr lang="en-US" sz="2200" dirty="0"/>
          </a:p>
        </p:txBody>
      </p:sp>
      <p:sp>
        <p:nvSpPr>
          <p:cNvPr id="17" name="Shape 12"/>
          <p:cNvSpPr/>
          <p:nvPr/>
        </p:nvSpPr>
        <p:spPr>
          <a:xfrm>
            <a:off x="4663440" y="1234440"/>
            <a:ext cx="457200" cy="457200"/>
          </a:xfrm>
          <a:prstGeom prst="ellipse">
            <a:avLst/>
          </a:prstGeom>
          <a:solidFill>
            <a:srgbClr val="0A032B"/>
          </a:solidFill>
          <a:ln w="12700">
            <a:solidFill>
              <a:srgbClr val="0A032B"/>
            </a:solidFill>
            <a:prstDash val="solid"/>
          </a:ln>
        </p:spPr>
      </p:sp>
      <p:sp>
        <p:nvSpPr>
          <p:cNvPr id="18" name="Text 13"/>
          <p:cNvSpPr txBox="1"/>
          <p:nvPr/>
        </p:nvSpPr>
        <p:spPr>
          <a:xfrm>
            <a:off x="4663440" y="12344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1</a:t>
            </a:r>
            <a:endParaRPr lang="en-US" sz="1300" dirty="0"/>
          </a:p>
        </p:txBody>
      </p:sp>
      <p:sp>
        <p:nvSpPr>
          <p:cNvPr id="19" name="Text 14"/>
          <p:cNvSpPr txBox="1"/>
          <p:nvPr/>
        </p:nvSpPr>
        <p:spPr>
          <a:xfrm>
            <a:off x="5349240" y="1216152"/>
            <a:ext cx="6293815" cy="1008126"/>
          </a:xfrm>
          <a:prstGeom prst="rect">
            <a:avLst/>
          </a:prstGeom>
          <a:noFill/>
          <a:ln/>
        </p:spPr>
        <p:txBody>
          <a:bodyPr wrap="square" lIns="0" tIns="0" rIns="0" bIns="0" rtlCol="0" anchor="t"/>
          <a:lstStyle/>
          <a:p>
            <a:pPr indent="0" marL="0">
              <a:spcAft>
                <a:spcPts val="300"/>
              </a:spcAft>
              <a:buNone/>
            </a:pPr>
            <a:r>
              <a:rPr lang="en-US" sz="1500" b="1" dirty="0">
                <a:solidFill>
                  <a:srgbClr val="0A032B"/>
                </a:solidFill>
                <a:latin typeface="Montserrat" pitchFamily="34" charset="0"/>
                <a:ea typeface="Montserrat" pitchFamily="34" charset="-122"/>
                <a:cs typeface="Montserrat" pitchFamily="34" charset="-120"/>
              </a:rPr>
              <a:t>Constat initial</a:t>
            </a:r>
            <a:endParaRPr lang="en-US" sz="1500" dirty="0"/>
          </a:p>
          <a:p>
            <a:pPr indent="0" marL="0">
              <a:spcAft>
                <a:spcPts val="300"/>
              </a:spcAft>
              <a:buNone/>
            </a:pPr>
            <a:r>
              <a:rPr lang="en-US" sz="1300" dirty="0">
                <a:solidFill>
                  <a:srgbClr val="35305C"/>
                </a:solidFill>
                <a:latin typeface="Arial" pitchFamily="34" charset="0"/>
                <a:ea typeface="Arial" pitchFamily="34" charset="-122"/>
                <a:cs typeface="Arial" pitchFamily="34" charset="-120"/>
              </a:rPr>
              <a:t>L'utilisateur s'installe « comme d'habitude » et travaille 2 minutes. Le vérificateur note les écarts avec la fiche.</a:t>
            </a:r>
            <a:endParaRPr lang="en-US" sz="1500" dirty="0"/>
          </a:p>
        </p:txBody>
      </p:sp>
      <p:sp>
        <p:nvSpPr>
          <p:cNvPr id="20" name="Shape 15"/>
          <p:cNvSpPr/>
          <p:nvPr/>
        </p:nvSpPr>
        <p:spPr>
          <a:xfrm>
            <a:off x="4663440" y="2407158"/>
            <a:ext cx="457200" cy="457200"/>
          </a:xfrm>
          <a:prstGeom prst="ellipse">
            <a:avLst/>
          </a:prstGeom>
          <a:solidFill>
            <a:srgbClr val="0A032B"/>
          </a:solidFill>
          <a:ln w="12700">
            <a:solidFill>
              <a:srgbClr val="0A032B"/>
            </a:solidFill>
            <a:prstDash val="solid"/>
          </a:ln>
        </p:spPr>
      </p:sp>
      <p:sp>
        <p:nvSpPr>
          <p:cNvPr id="21" name="Text 16"/>
          <p:cNvSpPr txBox="1"/>
          <p:nvPr/>
        </p:nvSpPr>
        <p:spPr>
          <a:xfrm>
            <a:off x="4663440" y="240715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2</a:t>
            </a:r>
            <a:endParaRPr lang="en-US" sz="1300" dirty="0"/>
          </a:p>
        </p:txBody>
      </p:sp>
      <p:sp>
        <p:nvSpPr>
          <p:cNvPr id="22" name="Text 17"/>
          <p:cNvSpPr txBox="1"/>
          <p:nvPr/>
        </p:nvSpPr>
        <p:spPr>
          <a:xfrm>
            <a:off x="5349240" y="2388870"/>
            <a:ext cx="6293815" cy="1008126"/>
          </a:xfrm>
          <a:prstGeom prst="rect">
            <a:avLst/>
          </a:prstGeom>
          <a:noFill/>
          <a:ln/>
        </p:spPr>
        <p:txBody>
          <a:bodyPr wrap="square" lIns="0" tIns="0" rIns="0" bIns="0" rtlCol="0" anchor="t"/>
          <a:lstStyle/>
          <a:p>
            <a:pPr indent="0" marL="0">
              <a:spcAft>
                <a:spcPts val="300"/>
              </a:spcAft>
              <a:buNone/>
            </a:pPr>
            <a:r>
              <a:rPr lang="en-US" sz="1500" b="1" dirty="0">
                <a:solidFill>
                  <a:srgbClr val="0A032B"/>
                </a:solidFill>
                <a:latin typeface="Montserrat" pitchFamily="34" charset="0"/>
                <a:ea typeface="Montserrat" pitchFamily="34" charset="-122"/>
                <a:cs typeface="Montserrat" pitchFamily="34" charset="-120"/>
              </a:rPr>
              <a:t>Réglages</a:t>
            </a:r>
            <a:endParaRPr lang="en-US" sz="1500" dirty="0"/>
          </a:p>
          <a:p>
            <a:pPr indent="0" marL="0">
              <a:spcAft>
                <a:spcPts val="300"/>
              </a:spcAft>
              <a:buNone/>
            </a:pPr>
            <a:r>
              <a:rPr lang="en-US" sz="1300" dirty="0">
                <a:solidFill>
                  <a:srgbClr val="35305C"/>
                </a:solidFill>
                <a:latin typeface="Arial" pitchFamily="34" charset="0"/>
                <a:ea typeface="Arial" pitchFamily="34" charset="-122"/>
                <a:cs typeface="Arial" pitchFamily="34" charset="-120"/>
              </a:rPr>
              <a:t>Ensemble, ils règlent siège, écran, clavier, souris, repose-pieds, avec les moyens disponibles.</a:t>
            </a:r>
            <a:endParaRPr lang="en-US" sz="1500" dirty="0"/>
          </a:p>
        </p:txBody>
      </p:sp>
      <p:sp>
        <p:nvSpPr>
          <p:cNvPr id="23" name="Shape 18"/>
          <p:cNvSpPr/>
          <p:nvPr/>
        </p:nvSpPr>
        <p:spPr>
          <a:xfrm>
            <a:off x="4663440" y="3579876"/>
            <a:ext cx="457200" cy="457200"/>
          </a:xfrm>
          <a:prstGeom prst="ellipse">
            <a:avLst/>
          </a:prstGeom>
          <a:solidFill>
            <a:srgbClr val="0A032B"/>
          </a:solidFill>
          <a:ln w="12700">
            <a:solidFill>
              <a:srgbClr val="0A032B"/>
            </a:solidFill>
            <a:prstDash val="solid"/>
          </a:ln>
        </p:spPr>
      </p:sp>
      <p:sp>
        <p:nvSpPr>
          <p:cNvPr id="24" name="Text 19"/>
          <p:cNvSpPr txBox="1"/>
          <p:nvPr/>
        </p:nvSpPr>
        <p:spPr>
          <a:xfrm>
            <a:off x="4663440" y="357987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3</a:t>
            </a:r>
            <a:endParaRPr lang="en-US" sz="1300" dirty="0"/>
          </a:p>
        </p:txBody>
      </p:sp>
      <p:sp>
        <p:nvSpPr>
          <p:cNvPr id="25" name="Text 20"/>
          <p:cNvSpPr txBox="1"/>
          <p:nvPr/>
        </p:nvSpPr>
        <p:spPr>
          <a:xfrm>
            <a:off x="5349240" y="3561588"/>
            <a:ext cx="6293815" cy="1008126"/>
          </a:xfrm>
          <a:prstGeom prst="rect">
            <a:avLst/>
          </a:prstGeom>
          <a:noFill/>
          <a:ln/>
        </p:spPr>
        <p:txBody>
          <a:bodyPr wrap="square" lIns="0" tIns="0" rIns="0" bIns="0" rtlCol="0" anchor="t"/>
          <a:lstStyle/>
          <a:p>
            <a:pPr indent="0" marL="0">
              <a:spcAft>
                <a:spcPts val="300"/>
              </a:spcAft>
              <a:buNone/>
            </a:pPr>
            <a:r>
              <a:rPr lang="en-US" sz="1500" b="1" dirty="0">
                <a:solidFill>
                  <a:srgbClr val="0A032B"/>
                </a:solidFill>
                <a:latin typeface="Montserrat" pitchFamily="34" charset="0"/>
                <a:ea typeface="Montserrat" pitchFamily="34" charset="-122"/>
                <a:cs typeface="Montserrat" pitchFamily="34" charset="-120"/>
              </a:rPr>
              <a:t>Ressenti</a:t>
            </a:r>
            <a:endParaRPr lang="en-US" sz="1500" dirty="0"/>
          </a:p>
          <a:p>
            <a:pPr indent="0" marL="0">
              <a:spcAft>
                <a:spcPts val="300"/>
              </a:spcAft>
              <a:buNone/>
            </a:pPr>
            <a:r>
              <a:rPr lang="en-US" sz="1300" dirty="0">
                <a:solidFill>
                  <a:srgbClr val="35305C"/>
                </a:solidFill>
                <a:latin typeface="Arial" pitchFamily="34" charset="0"/>
                <a:ea typeface="Arial" pitchFamily="34" charset="-122"/>
                <a:cs typeface="Arial" pitchFamily="34" charset="-120"/>
              </a:rPr>
              <a:t>L'utilisateur compare : qu'est-ce qui a changé ? Puis inversion des rôles.</a:t>
            </a:r>
            <a:endParaRPr lang="en-US" sz="1500" dirty="0"/>
          </a:p>
        </p:txBody>
      </p:sp>
      <p:sp>
        <p:nvSpPr>
          <p:cNvPr id="26" name="Shape 21"/>
          <p:cNvSpPr/>
          <p:nvPr/>
        </p:nvSpPr>
        <p:spPr>
          <a:xfrm>
            <a:off x="4663440" y="4752594"/>
            <a:ext cx="457200" cy="457200"/>
          </a:xfrm>
          <a:prstGeom prst="ellipse">
            <a:avLst/>
          </a:prstGeom>
          <a:solidFill>
            <a:srgbClr val="0A032B"/>
          </a:solidFill>
          <a:ln w="12700">
            <a:solidFill>
              <a:srgbClr val="0A032B"/>
            </a:solidFill>
            <a:prstDash val="solid"/>
          </a:ln>
        </p:spPr>
      </p:sp>
      <p:sp>
        <p:nvSpPr>
          <p:cNvPr id="27" name="Text 22"/>
          <p:cNvSpPr txBox="1"/>
          <p:nvPr/>
        </p:nvSpPr>
        <p:spPr>
          <a:xfrm>
            <a:off x="4663440" y="475259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4</a:t>
            </a:r>
            <a:endParaRPr lang="en-US" sz="1300" dirty="0"/>
          </a:p>
        </p:txBody>
      </p:sp>
      <p:sp>
        <p:nvSpPr>
          <p:cNvPr id="28" name="Text 23"/>
          <p:cNvSpPr txBox="1"/>
          <p:nvPr/>
        </p:nvSpPr>
        <p:spPr>
          <a:xfrm>
            <a:off x="5349240" y="4734306"/>
            <a:ext cx="6293815" cy="1008126"/>
          </a:xfrm>
          <a:prstGeom prst="rect">
            <a:avLst/>
          </a:prstGeom>
          <a:noFill/>
          <a:ln/>
        </p:spPr>
        <p:txBody>
          <a:bodyPr wrap="square" lIns="0" tIns="0" rIns="0" bIns="0" rtlCol="0" anchor="t"/>
          <a:lstStyle/>
          <a:p>
            <a:pPr indent="0" marL="0">
              <a:spcAft>
                <a:spcPts val="300"/>
              </a:spcAft>
              <a:buNone/>
            </a:pPr>
            <a:r>
              <a:rPr lang="en-US" sz="1500" b="1" dirty="0">
                <a:solidFill>
                  <a:srgbClr val="0A032B"/>
                </a:solidFill>
                <a:latin typeface="Montserrat" pitchFamily="34" charset="0"/>
                <a:ea typeface="Montserrat" pitchFamily="34" charset="-122"/>
                <a:cs typeface="Montserrat" pitchFamily="34" charset="-120"/>
              </a:rPr>
              <a:t>Mon poste à la mairie</a:t>
            </a:r>
            <a:endParaRPr lang="en-US" sz="1500" dirty="0"/>
          </a:p>
          <a:p>
            <a:pPr indent="0" marL="0">
              <a:spcAft>
                <a:spcPts val="300"/>
              </a:spcAft>
              <a:buNone/>
            </a:pPr>
            <a:r>
              <a:rPr lang="en-US" sz="1300" dirty="0">
                <a:solidFill>
                  <a:srgbClr val="35305C"/>
                </a:solidFill>
                <a:latin typeface="Arial" pitchFamily="34" charset="0"/>
                <a:ea typeface="Arial" pitchFamily="34" charset="-122"/>
                <a:cs typeface="Arial" pitchFamily="34" charset="-120"/>
              </a:rPr>
              <a:t>Chacun note dans son livret 2 réglages à faire sur son propre poste.</a:t>
            </a:r>
            <a:endParaRPr lang="en-US" sz="1500" dirty="0"/>
          </a:p>
        </p:txBody>
      </p:sp>
      <p:sp>
        <p:nvSpPr>
          <p:cNvPr id="29" name="Text 24"/>
          <p:cNvSpPr txBox="1"/>
          <p:nvPr/>
        </p:nvSpPr>
        <p:spPr>
          <a:xfrm>
            <a:off x="548640" y="6355080"/>
            <a:ext cx="3291840" cy="274320"/>
          </a:xfrm>
          <a:prstGeom prst="rect">
            <a:avLst/>
          </a:prstGeom>
          <a:noFill/>
          <a:ln/>
        </p:spPr>
        <p:txBody>
          <a:bodyPr wrap="square" lIns="0" tIns="0" rIns="0" bIns="0" rtlCol="0" anchor="ctr"/>
          <a:lstStyle/>
          <a:p>
            <a:pPr indent="0" marL="0">
              <a:buNone/>
            </a:pPr>
            <a:r>
              <a:rPr lang="en-US" sz="900" dirty="0">
                <a:solidFill>
                  <a:srgbClr val="35305C"/>
                </a:solidFill>
                <a:latin typeface="Arial" pitchFamily="34" charset="0"/>
                <a:ea typeface="Arial" pitchFamily="34" charset="-122"/>
                <a:cs typeface="Arial" pitchFamily="34" charset="-120"/>
              </a:rPr>
              <a:t>Gestes et postures de l'élu  ·  Séquence 5</a:t>
            </a:r>
            <a:endParaRPr lang="en-US" sz="900" dirty="0"/>
          </a:p>
        </p:txBody>
      </p:sp>
      <p:pic>
        <p:nvPicPr>
          <p:cNvPr id="30" name="Image 3" descr="logo_light.png">    </p:cNvPr>
          <p:cNvPicPr>
            <a:picLocks noChangeAspect="1"/>
          </p:cNvPicPr>
          <p:nvPr/>
        </p:nvPicPr>
        <p:blipFill>
          <a:blip r:embed="rId4"/>
          <a:stretch>
            <a:fillRect/>
          </a:stretch>
        </p:blipFill>
        <p:spPr>
          <a:xfrm>
            <a:off x="10682935" y="6236208"/>
            <a:ext cx="960120" cy="398441"/>
          </a:xfrm>
          <a:prstGeom prst="rect">
            <a:avLst/>
          </a:prstGeom>
        </p:spPr>
      </p:pic>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235440" cy="685800"/>
          </a:xfrm>
          <a:prstGeom prst="rect">
            <a:avLst/>
          </a:prstGeom>
          <a:noFill/>
          <a:ln/>
        </p:spPr>
        <p:txBody>
          <a:bodyPr wrap="square" lIns="0" tIns="0" rIns="0" bIns="0" rtlCol="0" anchor="ctr"/>
          <a:lstStyle/>
          <a:p>
            <a:pPr indent="0" marL="0">
              <a:buNone/>
            </a:pPr>
            <a:r>
              <a:rPr lang="en-US" sz="2800" b="1" dirty="0">
                <a:solidFill>
                  <a:srgbClr val="0A032B"/>
                </a:solidFill>
                <a:latin typeface="Montserrat" pitchFamily="34" charset="0"/>
                <a:ea typeface="Montserrat" pitchFamily="34" charset="-122"/>
                <a:cs typeface="Montserrat" pitchFamily="34" charset="-120"/>
              </a:rPr>
              <a:t>Atelier 5 : routine d'étirements</a:t>
            </a:r>
            <a:endParaRPr lang="en-US" sz="2800" dirty="0"/>
          </a:p>
        </p:txBody>
      </p:sp>
      <p:sp>
        <p:nvSpPr>
          <p:cNvPr id="3" name="Text 1"/>
          <p:cNvSpPr txBox="1"/>
          <p:nvPr/>
        </p:nvSpPr>
        <p:spPr>
          <a:xfrm>
            <a:off x="548640" y="1024128"/>
            <a:ext cx="9235440" cy="365760"/>
          </a:xfrm>
          <a:prstGeom prst="rect">
            <a:avLst/>
          </a:prstGeom>
          <a:noFill/>
          <a:ln/>
        </p:spPr>
        <p:txBody>
          <a:bodyPr wrap="square" lIns="0" tIns="0" rIns="0" bIns="0" rtlCol="0" anchor="ctr"/>
          <a:lstStyle/>
          <a:p>
            <a:pPr indent="0" marL="0">
              <a:buNone/>
            </a:pPr>
            <a:r>
              <a:rPr lang="en-US" sz="1400" i="1" dirty="0">
                <a:solidFill>
                  <a:srgbClr val="5E5A78"/>
                </a:solidFill>
                <a:latin typeface="Arial" pitchFamily="34" charset="0"/>
                <a:ea typeface="Arial" pitchFamily="34" charset="-122"/>
                <a:cs typeface="Arial" pitchFamily="34" charset="-120"/>
              </a:rPr>
              <a:t>8 minutes, à reproduire au bureau ou entre deux réunions</a:t>
            </a:r>
            <a:endParaRPr lang="en-US" sz="1400" dirty="0"/>
          </a:p>
        </p:txBody>
      </p:sp>
      <p:sp>
        <p:nvSpPr>
          <p:cNvPr id="4" name="Shape 2"/>
          <p:cNvSpPr/>
          <p:nvPr/>
        </p:nvSpPr>
        <p:spPr>
          <a:xfrm>
            <a:off x="10042855" y="530352"/>
            <a:ext cx="1600200" cy="347472"/>
          </a:xfrm>
          <a:prstGeom prst="roundRect">
            <a:avLst>
              <a:gd name="adj" fmla="val 50000"/>
            </a:avLst>
          </a:prstGeom>
          <a:solidFill>
            <a:srgbClr val="F0EF96"/>
          </a:solidFill>
          <a:ln w="12700">
            <a:solidFill>
              <a:srgbClr val="F0EF96"/>
            </a:solidFill>
            <a:prstDash val="solid"/>
          </a:ln>
        </p:spPr>
      </p:sp>
      <p:sp>
        <p:nvSpPr>
          <p:cNvPr id="5" name="Text 3"/>
          <p:cNvSpPr txBox="1"/>
          <p:nvPr/>
        </p:nvSpPr>
        <p:spPr>
          <a:xfrm>
            <a:off x="10042855" y="530352"/>
            <a:ext cx="1600200" cy="347472"/>
          </a:xfrm>
          <a:prstGeom prst="rect">
            <a:avLst/>
          </a:prstGeom>
          <a:noFill/>
          <a:ln/>
        </p:spPr>
        <p:txBody>
          <a:bodyPr wrap="square" lIns="0" tIns="0" rIns="0" bIns="0" rtlCol="0" anchor="ctr"/>
          <a:lstStyle/>
          <a:p>
            <a:pPr algn="ctr" indent="0" marL="0">
              <a:buNone/>
            </a:pPr>
            <a:r>
              <a:rPr lang="en-US" sz="1100" b="1" spc="200" kern="0" dirty="0">
                <a:solidFill>
                  <a:srgbClr val="0A032B"/>
                </a:solidFill>
                <a:latin typeface="Montserrat" pitchFamily="34" charset="0"/>
                <a:ea typeface="Montserrat" pitchFamily="34" charset="-122"/>
                <a:cs typeface="Montserrat" pitchFamily="34" charset="-120"/>
              </a:rPr>
              <a:t>PRATIQUE</a:t>
            </a:r>
            <a:endParaRPr lang="en-US" sz="1100" dirty="0"/>
          </a:p>
        </p:txBody>
      </p:sp>
      <p:sp>
        <p:nvSpPr>
          <p:cNvPr id="6" name="Text 4"/>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5E5A78"/>
                </a:solidFill>
                <a:latin typeface="Arial" pitchFamily="34" charset="0"/>
                <a:ea typeface="Arial" pitchFamily="34" charset="-122"/>
                <a:cs typeface="Arial" pitchFamily="34" charset="-120"/>
              </a:rPr>
              <a:t>Gestes et postures de l'élu  ·  Séquence 5</a:t>
            </a:r>
            <a:endParaRPr lang="en-US" sz="900" dirty="0"/>
          </a:p>
        </p:txBody>
      </p:sp>
      <p:pic>
        <p:nvPicPr>
          <p:cNvPr id="7" name="Image 0" descr="logo_light.png">    </p:cNvPr>
          <p:cNvPicPr>
            <a:picLocks noChangeAspect="1"/>
          </p:cNvPicPr>
          <p:nvPr/>
        </p:nvPicPr>
        <p:blipFill>
          <a:blip r:embed="rId1"/>
          <a:stretch>
            <a:fillRect/>
          </a:stretch>
        </p:blipFill>
        <p:spPr>
          <a:xfrm>
            <a:off x="10682935" y="6236208"/>
            <a:ext cx="960120" cy="398441"/>
          </a:xfrm>
          <a:prstGeom prst="rect">
            <a:avLst/>
          </a:prstGeom>
        </p:spPr>
      </p:pic>
      <p:sp>
        <p:nvSpPr>
          <p:cNvPr id="8" name="Shape 5"/>
          <p:cNvSpPr/>
          <p:nvPr/>
        </p:nvSpPr>
        <p:spPr>
          <a:xfrm>
            <a:off x="548640" y="1554480"/>
            <a:ext cx="3515258" cy="2103120"/>
          </a:xfrm>
          <a:prstGeom prst="roundRect">
            <a:avLst>
              <a:gd name="adj" fmla="val 3478"/>
            </a:avLst>
          </a:prstGeom>
          <a:solidFill>
            <a:srgbClr val="F0EF96"/>
          </a:solidFill>
          <a:ln w="12700">
            <a:solidFill>
              <a:srgbClr val="F0EF96"/>
            </a:solidFill>
            <a:prstDash val="solid"/>
          </a:ln>
        </p:spPr>
      </p:sp>
      <p:sp>
        <p:nvSpPr>
          <p:cNvPr id="9" name="Shape 6"/>
          <p:cNvSpPr/>
          <p:nvPr/>
        </p:nvSpPr>
        <p:spPr>
          <a:xfrm>
            <a:off x="777240" y="1783080"/>
            <a:ext cx="502920" cy="502920"/>
          </a:xfrm>
          <a:prstGeom prst="ellipse">
            <a:avLst/>
          </a:prstGeom>
          <a:solidFill>
            <a:srgbClr val="0A032B"/>
          </a:solidFill>
          <a:ln w="12700">
            <a:solidFill>
              <a:srgbClr val="0A032B"/>
            </a:solidFill>
            <a:prstDash val="solid"/>
          </a:ln>
        </p:spPr>
      </p:sp>
      <p:sp>
        <p:nvSpPr>
          <p:cNvPr id="10" name="Text 7"/>
          <p:cNvSpPr txBox="1"/>
          <p:nvPr/>
        </p:nvSpPr>
        <p:spPr>
          <a:xfrm>
            <a:off x="777240" y="1783080"/>
            <a:ext cx="502920" cy="502920"/>
          </a:xfrm>
          <a:prstGeom prst="rect">
            <a:avLst/>
          </a:prstGeom>
          <a:noFill/>
          <a:ln/>
        </p:spPr>
        <p:txBody>
          <a:bodyPr wrap="square" lIns="0" tIns="0" rIns="0" bIns="0" rtlCol="0" anchor="ctr"/>
          <a:lstStyle/>
          <a:p>
            <a:pPr algn="ctr" indent="0" marL="0">
              <a:buNone/>
            </a:pPr>
            <a:r>
              <a:rPr lang="en-US" sz="1800" b="1" dirty="0">
                <a:solidFill>
                  <a:srgbClr val="F0EF96"/>
                </a:solidFill>
                <a:latin typeface="Montserrat" pitchFamily="34" charset="0"/>
                <a:ea typeface="Montserrat" pitchFamily="34" charset="-122"/>
                <a:cs typeface="Montserrat" pitchFamily="34" charset="-120"/>
              </a:rPr>
              <a:t>1</a:t>
            </a:r>
            <a:endParaRPr lang="en-US" sz="1800" dirty="0"/>
          </a:p>
        </p:txBody>
      </p:sp>
      <p:sp>
        <p:nvSpPr>
          <p:cNvPr id="11" name="Shape 8"/>
          <p:cNvSpPr/>
          <p:nvPr/>
        </p:nvSpPr>
        <p:spPr>
          <a:xfrm>
            <a:off x="3332378" y="1783080"/>
            <a:ext cx="502920" cy="502920"/>
          </a:xfrm>
          <a:prstGeom prst="ellipse">
            <a:avLst/>
          </a:prstGeom>
          <a:solidFill>
            <a:srgbClr val="FFFFFF"/>
          </a:solidFill>
          <a:ln w="12700">
            <a:solidFill>
              <a:srgbClr val="FFFFFF"/>
            </a:solidFill>
            <a:prstDash val="solid"/>
          </a:ln>
        </p:spPr>
      </p:sp>
      <p:pic>
        <p:nvPicPr>
          <p:cNvPr id="12" name="Image 1" descr="preencoded.png">    </p:cNvPr>
          <p:cNvPicPr>
            <a:picLocks noChangeAspect="1"/>
          </p:cNvPicPr>
          <p:nvPr/>
        </p:nvPicPr>
        <p:blipFill>
          <a:blip r:embed="rId2"/>
          <a:stretch>
            <a:fillRect/>
          </a:stretch>
        </p:blipFill>
        <p:spPr>
          <a:xfrm>
            <a:off x="3458108" y="1908810"/>
            <a:ext cx="251460" cy="251460"/>
          </a:xfrm>
          <a:prstGeom prst="rect">
            <a:avLst/>
          </a:prstGeom>
        </p:spPr>
      </p:pic>
      <p:sp>
        <p:nvSpPr>
          <p:cNvPr id="13" name="Text 9"/>
          <p:cNvSpPr txBox="1"/>
          <p:nvPr/>
        </p:nvSpPr>
        <p:spPr>
          <a:xfrm>
            <a:off x="1417320" y="1783080"/>
            <a:ext cx="1777898" cy="502920"/>
          </a:xfrm>
          <a:prstGeom prst="rect">
            <a:avLst/>
          </a:prstGeom>
          <a:noFill/>
          <a:ln/>
        </p:spPr>
        <p:txBody>
          <a:bodyPr wrap="square" lIns="0" tIns="0" rIns="0" bIns="0" rtlCol="0" anchor="ctr"/>
          <a:lstStyle/>
          <a:p>
            <a:pPr indent="0" marL="0">
              <a:buNone/>
            </a:pPr>
            <a:r>
              <a:rPr lang="en-US" sz="1600" b="1" dirty="0">
                <a:solidFill>
                  <a:srgbClr val="0A032B"/>
                </a:solidFill>
                <a:latin typeface="Montserrat" pitchFamily="34" charset="0"/>
                <a:ea typeface="Montserrat" pitchFamily="34" charset="-122"/>
                <a:cs typeface="Montserrat" pitchFamily="34" charset="-120"/>
              </a:rPr>
              <a:t>Nuque</a:t>
            </a:r>
            <a:endParaRPr lang="en-US" sz="1600" dirty="0"/>
          </a:p>
        </p:txBody>
      </p:sp>
      <p:sp>
        <p:nvSpPr>
          <p:cNvPr id="14" name="Text 10"/>
          <p:cNvSpPr txBox="1"/>
          <p:nvPr/>
        </p:nvSpPr>
        <p:spPr>
          <a:xfrm>
            <a:off x="777240" y="2423160"/>
            <a:ext cx="3058058" cy="1097280"/>
          </a:xfrm>
          <a:prstGeom prst="rect">
            <a:avLst/>
          </a:prstGeom>
          <a:noFill/>
          <a:ln/>
        </p:spPr>
        <p:txBody>
          <a:bodyPr wrap="square" lIns="0" tIns="0" rIns="0" bIns="0" rtlCol="0" anchor="t"/>
          <a:lstStyle/>
          <a:p>
            <a:pPr indent="0" marL="0">
              <a:buNone/>
            </a:pPr>
            <a:r>
              <a:rPr lang="en-US" sz="1300" dirty="0">
                <a:solidFill>
                  <a:srgbClr val="0A032B"/>
                </a:solidFill>
                <a:latin typeface="Arial" pitchFamily="34" charset="0"/>
                <a:ea typeface="Arial" pitchFamily="34" charset="-122"/>
                <a:cs typeface="Arial" pitchFamily="34" charset="-120"/>
              </a:rPr>
              <a:t>Incliner doucement la tête vers l'épaule, main sur la tête sans tirer. 20 s de chaque côté.</a:t>
            </a:r>
            <a:endParaRPr lang="en-US" sz="1300" dirty="0"/>
          </a:p>
        </p:txBody>
      </p:sp>
      <p:sp>
        <p:nvSpPr>
          <p:cNvPr id="15" name="Shape 11"/>
          <p:cNvSpPr/>
          <p:nvPr/>
        </p:nvSpPr>
        <p:spPr>
          <a:xfrm>
            <a:off x="4338218" y="1554480"/>
            <a:ext cx="3515258" cy="2103120"/>
          </a:xfrm>
          <a:prstGeom prst="roundRect">
            <a:avLst>
              <a:gd name="adj" fmla="val 3478"/>
            </a:avLst>
          </a:prstGeom>
          <a:solidFill>
            <a:srgbClr val="F0EF96"/>
          </a:solidFill>
          <a:ln w="12700">
            <a:solidFill>
              <a:srgbClr val="F0EF96"/>
            </a:solidFill>
            <a:prstDash val="solid"/>
          </a:ln>
        </p:spPr>
      </p:sp>
      <p:sp>
        <p:nvSpPr>
          <p:cNvPr id="16" name="Shape 12"/>
          <p:cNvSpPr/>
          <p:nvPr/>
        </p:nvSpPr>
        <p:spPr>
          <a:xfrm>
            <a:off x="4566818" y="1783080"/>
            <a:ext cx="502920" cy="502920"/>
          </a:xfrm>
          <a:prstGeom prst="ellipse">
            <a:avLst/>
          </a:prstGeom>
          <a:solidFill>
            <a:srgbClr val="0A032B"/>
          </a:solidFill>
          <a:ln w="12700">
            <a:solidFill>
              <a:srgbClr val="0A032B"/>
            </a:solidFill>
            <a:prstDash val="solid"/>
          </a:ln>
        </p:spPr>
      </p:sp>
      <p:sp>
        <p:nvSpPr>
          <p:cNvPr id="17" name="Text 13"/>
          <p:cNvSpPr txBox="1"/>
          <p:nvPr/>
        </p:nvSpPr>
        <p:spPr>
          <a:xfrm>
            <a:off x="4566818" y="1783080"/>
            <a:ext cx="502920" cy="502920"/>
          </a:xfrm>
          <a:prstGeom prst="rect">
            <a:avLst/>
          </a:prstGeom>
          <a:noFill/>
          <a:ln/>
        </p:spPr>
        <p:txBody>
          <a:bodyPr wrap="square" lIns="0" tIns="0" rIns="0" bIns="0" rtlCol="0" anchor="ctr"/>
          <a:lstStyle/>
          <a:p>
            <a:pPr algn="ctr" indent="0" marL="0">
              <a:buNone/>
            </a:pPr>
            <a:r>
              <a:rPr lang="en-US" sz="1800" b="1" dirty="0">
                <a:solidFill>
                  <a:srgbClr val="F0EF96"/>
                </a:solidFill>
                <a:latin typeface="Montserrat" pitchFamily="34" charset="0"/>
                <a:ea typeface="Montserrat" pitchFamily="34" charset="-122"/>
                <a:cs typeface="Montserrat" pitchFamily="34" charset="-120"/>
              </a:rPr>
              <a:t>2</a:t>
            </a:r>
            <a:endParaRPr lang="en-US" sz="1800" dirty="0"/>
          </a:p>
        </p:txBody>
      </p:sp>
      <p:sp>
        <p:nvSpPr>
          <p:cNvPr id="18" name="Shape 14"/>
          <p:cNvSpPr/>
          <p:nvPr/>
        </p:nvSpPr>
        <p:spPr>
          <a:xfrm>
            <a:off x="7121957" y="1783080"/>
            <a:ext cx="502920" cy="502920"/>
          </a:xfrm>
          <a:prstGeom prst="ellipse">
            <a:avLst/>
          </a:prstGeom>
          <a:solidFill>
            <a:srgbClr val="FFFFFF"/>
          </a:solidFill>
          <a:ln w="12700">
            <a:solidFill>
              <a:srgbClr val="FFFFFF"/>
            </a:solidFill>
            <a:prstDash val="solid"/>
          </a:ln>
        </p:spPr>
      </p:sp>
      <p:pic>
        <p:nvPicPr>
          <p:cNvPr id="19" name="Image 2" descr="preencoded.png">    </p:cNvPr>
          <p:cNvPicPr>
            <a:picLocks noChangeAspect="1"/>
          </p:cNvPicPr>
          <p:nvPr/>
        </p:nvPicPr>
        <p:blipFill>
          <a:blip r:embed="rId3"/>
          <a:stretch>
            <a:fillRect/>
          </a:stretch>
        </p:blipFill>
        <p:spPr>
          <a:xfrm>
            <a:off x="7247687" y="1908810"/>
            <a:ext cx="251460" cy="251460"/>
          </a:xfrm>
          <a:prstGeom prst="rect">
            <a:avLst/>
          </a:prstGeom>
        </p:spPr>
      </p:pic>
      <p:sp>
        <p:nvSpPr>
          <p:cNvPr id="20" name="Text 15"/>
          <p:cNvSpPr txBox="1"/>
          <p:nvPr/>
        </p:nvSpPr>
        <p:spPr>
          <a:xfrm>
            <a:off x="5206898" y="1783080"/>
            <a:ext cx="1777898" cy="502920"/>
          </a:xfrm>
          <a:prstGeom prst="rect">
            <a:avLst/>
          </a:prstGeom>
          <a:noFill/>
          <a:ln/>
        </p:spPr>
        <p:txBody>
          <a:bodyPr wrap="square" lIns="0" tIns="0" rIns="0" bIns="0" rtlCol="0" anchor="ctr"/>
          <a:lstStyle/>
          <a:p>
            <a:pPr indent="0" marL="0">
              <a:buNone/>
            </a:pPr>
            <a:r>
              <a:rPr lang="en-US" sz="1600" b="1" dirty="0">
                <a:solidFill>
                  <a:srgbClr val="0A032B"/>
                </a:solidFill>
                <a:latin typeface="Montserrat" pitchFamily="34" charset="0"/>
                <a:ea typeface="Montserrat" pitchFamily="34" charset="-122"/>
                <a:cs typeface="Montserrat" pitchFamily="34" charset="-120"/>
              </a:rPr>
              <a:t>Épaules</a:t>
            </a:r>
            <a:endParaRPr lang="en-US" sz="1600" dirty="0"/>
          </a:p>
        </p:txBody>
      </p:sp>
      <p:sp>
        <p:nvSpPr>
          <p:cNvPr id="21" name="Text 16"/>
          <p:cNvSpPr txBox="1"/>
          <p:nvPr/>
        </p:nvSpPr>
        <p:spPr>
          <a:xfrm>
            <a:off x="4566818" y="2423160"/>
            <a:ext cx="3058058" cy="1097280"/>
          </a:xfrm>
          <a:prstGeom prst="rect">
            <a:avLst/>
          </a:prstGeom>
          <a:noFill/>
          <a:ln/>
        </p:spPr>
        <p:txBody>
          <a:bodyPr wrap="square" lIns="0" tIns="0" rIns="0" bIns="0" rtlCol="0" anchor="t"/>
          <a:lstStyle/>
          <a:p>
            <a:pPr indent="0" marL="0">
              <a:buNone/>
            </a:pPr>
            <a:r>
              <a:rPr lang="en-US" sz="1300" dirty="0">
                <a:solidFill>
                  <a:srgbClr val="0A032B"/>
                </a:solidFill>
                <a:latin typeface="Arial" pitchFamily="34" charset="0"/>
                <a:ea typeface="Arial" pitchFamily="34" charset="-122"/>
                <a:cs typeface="Arial" pitchFamily="34" charset="-120"/>
              </a:rPr>
              <a:t>Rouler les épaules vers l'arrière, puis croiser un bras devant la poitrine. 20 s par bras.</a:t>
            </a:r>
            <a:endParaRPr lang="en-US" sz="1300" dirty="0"/>
          </a:p>
        </p:txBody>
      </p:sp>
      <p:sp>
        <p:nvSpPr>
          <p:cNvPr id="22" name="Shape 17"/>
          <p:cNvSpPr/>
          <p:nvPr/>
        </p:nvSpPr>
        <p:spPr>
          <a:xfrm>
            <a:off x="8127797" y="1554480"/>
            <a:ext cx="3515258" cy="2103120"/>
          </a:xfrm>
          <a:prstGeom prst="roundRect">
            <a:avLst>
              <a:gd name="adj" fmla="val 3478"/>
            </a:avLst>
          </a:prstGeom>
          <a:solidFill>
            <a:srgbClr val="F0EF96"/>
          </a:solidFill>
          <a:ln w="12700">
            <a:solidFill>
              <a:srgbClr val="F0EF96"/>
            </a:solidFill>
            <a:prstDash val="solid"/>
          </a:ln>
        </p:spPr>
      </p:sp>
      <p:sp>
        <p:nvSpPr>
          <p:cNvPr id="23" name="Shape 18"/>
          <p:cNvSpPr/>
          <p:nvPr/>
        </p:nvSpPr>
        <p:spPr>
          <a:xfrm>
            <a:off x="8356397" y="1783080"/>
            <a:ext cx="502920" cy="502920"/>
          </a:xfrm>
          <a:prstGeom prst="ellipse">
            <a:avLst/>
          </a:prstGeom>
          <a:solidFill>
            <a:srgbClr val="0A032B"/>
          </a:solidFill>
          <a:ln w="12700">
            <a:solidFill>
              <a:srgbClr val="0A032B"/>
            </a:solidFill>
            <a:prstDash val="solid"/>
          </a:ln>
        </p:spPr>
      </p:sp>
      <p:sp>
        <p:nvSpPr>
          <p:cNvPr id="24" name="Text 19"/>
          <p:cNvSpPr txBox="1"/>
          <p:nvPr/>
        </p:nvSpPr>
        <p:spPr>
          <a:xfrm>
            <a:off x="8356397" y="1783080"/>
            <a:ext cx="502920" cy="502920"/>
          </a:xfrm>
          <a:prstGeom prst="rect">
            <a:avLst/>
          </a:prstGeom>
          <a:noFill/>
          <a:ln/>
        </p:spPr>
        <p:txBody>
          <a:bodyPr wrap="square" lIns="0" tIns="0" rIns="0" bIns="0" rtlCol="0" anchor="ctr"/>
          <a:lstStyle/>
          <a:p>
            <a:pPr algn="ctr" indent="0" marL="0">
              <a:buNone/>
            </a:pPr>
            <a:r>
              <a:rPr lang="en-US" sz="1800" b="1" dirty="0">
                <a:solidFill>
                  <a:srgbClr val="F0EF96"/>
                </a:solidFill>
                <a:latin typeface="Montserrat" pitchFamily="34" charset="0"/>
                <a:ea typeface="Montserrat" pitchFamily="34" charset="-122"/>
                <a:cs typeface="Montserrat" pitchFamily="34" charset="-120"/>
              </a:rPr>
              <a:t>3</a:t>
            </a:r>
            <a:endParaRPr lang="en-US" sz="1800" dirty="0"/>
          </a:p>
        </p:txBody>
      </p:sp>
      <p:sp>
        <p:nvSpPr>
          <p:cNvPr id="25" name="Shape 20"/>
          <p:cNvSpPr/>
          <p:nvPr/>
        </p:nvSpPr>
        <p:spPr>
          <a:xfrm>
            <a:off x="10911535" y="1783080"/>
            <a:ext cx="502920" cy="502920"/>
          </a:xfrm>
          <a:prstGeom prst="ellipse">
            <a:avLst/>
          </a:prstGeom>
          <a:solidFill>
            <a:srgbClr val="FFFFFF"/>
          </a:solidFill>
          <a:ln w="12700">
            <a:solidFill>
              <a:srgbClr val="FFFFFF"/>
            </a:solidFill>
            <a:prstDash val="solid"/>
          </a:ln>
        </p:spPr>
      </p:sp>
      <p:pic>
        <p:nvPicPr>
          <p:cNvPr id="26" name="Image 3" descr="preencoded.png">    </p:cNvPr>
          <p:cNvPicPr>
            <a:picLocks noChangeAspect="1"/>
          </p:cNvPicPr>
          <p:nvPr/>
        </p:nvPicPr>
        <p:blipFill>
          <a:blip r:embed="rId4"/>
          <a:stretch>
            <a:fillRect/>
          </a:stretch>
        </p:blipFill>
        <p:spPr>
          <a:xfrm>
            <a:off x="11037265" y="1908810"/>
            <a:ext cx="251460" cy="251460"/>
          </a:xfrm>
          <a:prstGeom prst="rect">
            <a:avLst/>
          </a:prstGeom>
        </p:spPr>
      </p:pic>
      <p:sp>
        <p:nvSpPr>
          <p:cNvPr id="27" name="Text 21"/>
          <p:cNvSpPr txBox="1"/>
          <p:nvPr/>
        </p:nvSpPr>
        <p:spPr>
          <a:xfrm>
            <a:off x="8996477" y="1783080"/>
            <a:ext cx="1777898" cy="502920"/>
          </a:xfrm>
          <a:prstGeom prst="rect">
            <a:avLst/>
          </a:prstGeom>
          <a:noFill/>
          <a:ln/>
        </p:spPr>
        <p:txBody>
          <a:bodyPr wrap="square" lIns="0" tIns="0" rIns="0" bIns="0" rtlCol="0" anchor="ctr"/>
          <a:lstStyle/>
          <a:p>
            <a:pPr indent="0" marL="0">
              <a:buNone/>
            </a:pPr>
            <a:r>
              <a:rPr lang="en-US" sz="1600" b="1" dirty="0">
                <a:solidFill>
                  <a:srgbClr val="0A032B"/>
                </a:solidFill>
                <a:latin typeface="Montserrat" pitchFamily="34" charset="0"/>
                <a:ea typeface="Montserrat" pitchFamily="34" charset="-122"/>
                <a:cs typeface="Montserrat" pitchFamily="34" charset="-120"/>
              </a:rPr>
              <a:t>Poignets</a:t>
            </a:r>
            <a:endParaRPr lang="en-US" sz="1600" dirty="0"/>
          </a:p>
        </p:txBody>
      </p:sp>
      <p:sp>
        <p:nvSpPr>
          <p:cNvPr id="28" name="Text 22"/>
          <p:cNvSpPr txBox="1"/>
          <p:nvPr/>
        </p:nvSpPr>
        <p:spPr>
          <a:xfrm>
            <a:off x="8356397" y="2423160"/>
            <a:ext cx="3058058" cy="1097280"/>
          </a:xfrm>
          <a:prstGeom prst="rect">
            <a:avLst/>
          </a:prstGeom>
          <a:noFill/>
          <a:ln/>
        </p:spPr>
        <p:txBody>
          <a:bodyPr wrap="square" lIns="0" tIns="0" rIns="0" bIns="0" rtlCol="0" anchor="t"/>
          <a:lstStyle/>
          <a:p>
            <a:pPr indent="0" marL="0">
              <a:buNone/>
            </a:pPr>
            <a:r>
              <a:rPr lang="en-US" sz="1300" dirty="0">
                <a:solidFill>
                  <a:srgbClr val="0A032B"/>
                </a:solidFill>
                <a:latin typeface="Arial" pitchFamily="34" charset="0"/>
                <a:ea typeface="Arial" pitchFamily="34" charset="-122"/>
                <a:cs typeface="Arial" pitchFamily="34" charset="-120"/>
              </a:rPr>
              <a:t>Bras tendu, paume vers l'avant, ramener les doigts vers soi avec l'autre main. 20 s par main.</a:t>
            </a:r>
            <a:endParaRPr lang="en-US" sz="1300" dirty="0"/>
          </a:p>
        </p:txBody>
      </p:sp>
      <p:sp>
        <p:nvSpPr>
          <p:cNvPr id="29" name="Shape 23"/>
          <p:cNvSpPr/>
          <p:nvPr/>
        </p:nvSpPr>
        <p:spPr>
          <a:xfrm>
            <a:off x="548640" y="3886200"/>
            <a:ext cx="3515258" cy="2103120"/>
          </a:xfrm>
          <a:prstGeom prst="roundRect">
            <a:avLst>
              <a:gd name="adj" fmla="val 3478"/>
            </a:avLst>
          </a:prstGeom>
          <a:solidFill>
            <a:srgbClr val="F0EF96"/>
          </a:solidFill>
          <a:ln w="12700">
            <a:solidFill>
              <a:srgbClr val="F0EF96"/>
            </a:solidFill>
            <a:prstDash val="solid"/>
          </a:ln>
        </p:spPr>
      </p:sp>
      <p:sp>
        <p:nvSpPr>
          <p:cNvPr id="30" name="Shape 24"/>
          <p:cNvSpPr/>
          <p:nvPr/>
        </p:nvSpPr>
        <p:spPr>
          <a:xfrm>
            <a:off x="777240" y="4114800"/>
            <a:ext cx="502920" cy="502920"/>
          </a:xfrm>
          <a:prstGeom prst="ellipse">
            <a:avLst/>
          </a:prstGeom>
          <a:solidFill>
            <a:srgbClr val="0A032B"/>
          </a:solidFill>
          <a:ln w="12700">
            <a:solidFill>
              <a:srgbClr val="0A032B"/>
            </a:solidFill>
            <a:prstDash val="solid"/>
          </a:ln>
        </p:spPr>
      </p:sp>
      <p:sp>
        <p:nvSpPr>
          <p:cNvPr id="31" name="Text 25"/>
          <p:cNvSpPr txBox="1"/>
          <p:nvPr/>
        </p:nvSpPr>
        <p:spPr>
          <a:xfrm>
            <a:off x="777240" y="4114800"/>
            <a:ext cx="502920" cy="502920"/>
          </a:xfrm>
          <a:prstGeom prst="rect">
            <a:avLst/>
          </a:prstGeom>
          <a:noFill/>
          <a:ln/>
        </p:spPr>
        <p:txBody>
          <a:bodyPr wrap="square" lIns="0" tIns="0" rIns="0" bIns="0" rtlCol="0" anchor="ctr"/>
          <a:lstStyle/>
          <a:p>
            <a:pPr algn="ctr" indent="0" marL="0">
              <a:buNone/>
            </a:pPr>
            <a:r>
              <a:rPr lang="en-US" sz="1800" b="1" dirty="0">
                <a:solidFill>
                  <a:srgbClr val="F0EF96"/>
                </a:solidFill>
                <a:latin typeface="Montserrat" pitchFamily="34" charset="0"/>
                <a:ea typeface="Montserrat" pitchFamily="34" charset="-122"/>
                <a:cs typeface="Montserrat" pitchFamily="34" charset="-120"/>
              </a:rPr>
              <a:t>4</a:t>
            </a:r>
            <a:endParaRPr lang="en-US" sz="1800" dirty="0"/>
          </a:p>
        </p:txBody>
      </p:sp>
      <p:sp>
        <p:nvSpPr>
          <p:cNvPr id="32" name="Shape 26"/>
          <p:cNvSpPr/>
          <p:nvPr/>
        </p:nvSpPr>
        <p:spPr>
          <a:xfrm>
            <a:off x="3332378" y="4114800"/>
            <a:ext cx="502920" cy="502920"/>
          </a:xfrm>
          <a:prstGeom prst="ellipse">
            <a:avLst/>
          </a:prstGeom>
          <a:solidFill>
            <a:srgbClr val="FFFFFF"/>
          </a:solidFill>
          <a:ln w="12700">
            <a:solidFill>
              <a:srgbClr val="FFFFFF"/>
            </a:solidFill>
            <a:prstDash val="solid"/>
          </a:ln>
        </p:spPr>
      </p:sp>
      <p:pic>
        <p:nvPicPr>
          <p:cNvPr id="33" name="Image 4" descr="preencoded.png">    </p:cNvPr>
          <p:cNvPicPr>
            <a:picLocks noChangeAspect="1"/>
          </p:cNvPicPr>
          <p:nvPr/>
        </p:nvPicPr>
        <p:blipFill>
          <a:blip r:embed="rId5"/>
          <a:stretch>
            <a:fillRect/>
          </a:stretch>
        </p:blipFill>
        <p:spPr>
          <a:xfrm>
            <a:off x="3458108" y="4240530"/>
            <a:ext cx="251460" cy="251460"/>
          </a:xfrm>
          <a:prstGeom prst="rect">
            <a:avLst/>
          </a:prstGeom>
        </p:spPr>
      </p:pic>
      <p:sp>
        <p:nvSpPr>
          <p:cNvPr id="34" name="Text 27"/>
          <p:cNvSpPr txBox="1"/>
          <p:nvPr/>
        </p:nvSpPr>
        <p:spPr>
          <a:xfrm>
            <a:off x="1417320" y="4114800"/>
            <a:ext cx="1777898" cy="502920"/>
          </a:xfrm>
          <a:prstGeom prst="rect">
            <a:avLst/>
          </a:prstGeom>
          <a:noFill/>
          <a:ln/>
        </p:spPr>
        <p:txBody>
          <a:bodyPr wrap="square" lIns="0" tIns="0" rIns="0" bIns="0" rtlCol="0" anchor="ctr"/>
          <a:lstStyle/>
          <a:p>
            <a:pPr indent="0" marL="0">
              <a:buNone/>
            </a:pPr>
            <a:r>
              <a:rPr lang="en-US" sz="1600" b="1" dirty="0">
                <a:solidFill>
                  <a:srgbClr val="0A032B"/>
                </a:solidFill>
                <a:latin typeface="Montserrat" pitchFamily="34" charset="0"/>
                <a:ea typeface="Montserrat" pitchFamily="34" charset="-122"/>
                <a:cs typeface="Montserrat" pitchFamily="34" charset="-120"/>
              </a:rPr>
              <a:t>Dos</a:t>
            </a:r>
            <a:endParaRPr lang="en-US" sz="1600" dirty="0"/>
          </a:p>
        </p:txBody>
      </p:sp>
      <p:sp>
        <p:nvSpPr>
          <p:cNvPr id="35" name="Text 28"/>
          <p:cNvSpPr txBox="1"/>
          <p:nvPr/>
        </p:nvSpPr>
        <p:spPr>
          <a:xfrm>
            <a:off x="777240" y="4754880"/>
            <a:ext cx="3058058" cy="1097280"/>
          </a:xfrm>
          <a:prstGeom prst="rect">
            <a:avLst/>
          </a:prstGeom>
          <a:noFill/>
          <a:ln/>
        </p:spPr>
        <p:txBody>
          <a:bodyPr wrap="square" lIns="0" tIns="0" rIns="0" bIns="0" rtlCol="0" anchor="t"/>
          <a:lstStyle/>
          <a:p>
            <a:pPr indent="0" marL="0">
              <a:buNone/>
            </a:pPr>
            <a:r>
              <a:rPr lang="en-US" sz="1300" dirty="0">
                <a:solidFill>
                  <a:srgbClr val="0A032B"/>
                </a:solidFill>
                <a:latin typeface="Arial" pitchFamily="34" charset="0"/>
                <a:ea typeface="Arial" pitchFamily="34" charset="-122"/>
                <a:cs typeface="Arial" pitchFamily="34" charset="-120"/>
              </a:rPr>
              <a:t>Assis, dos rond en expirant, puis dos creux en inspirant (chat / vache). 5 fois.</a:t>
            </a:r>
            <a:endParaRPr lang="en-US" sz="1300" dirty="0"/>
          </a:p>
        </p:txBody>
      </p:sp>
      <p:sp>
        <p:nvSpPr>
          <p:cNvPr id="36" name="Shape 29"/>
          <p:cNvSpPr/>
          <p:nvPr/>
        </p:nvSpPr>
        <p:spPr>
          <a:xfrm>
            <a:off x="4338218" y="3886200"/>
            <a:ext cx="3515258" cy="2103120"/>
          </a:xfrm>
          <a:prstGeom prst="roundRect">
            <a:avLst>
              <a:gd name="adj" fmla="val 3478"/>
            </a:avLst>
          </a:prstGeom>
          <a:solidFill>
            <a:srgbClr val="F0EF96"/>
          </a:solidFill>
          <a:ln w="12700">
            <a:solidFill>
              <a:srgbClr val="F0EF96"/>
            </a:solidFill>
            <a:prstDash val="solid"/>
          </a:ln>
        </p:spPr>
      </p:sp>
      <p:sp>
        <p:nvSpPr>
          <p:cNvPr id="37" name="Shape 30"/>
          <p:cNvSpPr/>
          <p:nvPr/>
        </p:nvSpPr>
        <p:spPr>
          <a:xfrm>
            <a:off x="4566818" y="4114800"/>
            <a:ext cx="502920" cy="502920"/>
          </a:xfrm>
          <a:prstGeom prst="ellipse">
            <a:avLst/>
          </a:prstGeom>
          <a:solidFill>
            <a:srgbClr val="0A032B"/>
          </a:solidFill>
          <a:ln w="12700">
            <a:solidFill>
              <a:srgbClr val="0A032B"/>
            </a:solidFill>
            <a:prstDash val="solid"/>
          </a:ln>
        </p:spPr>
      </p:sp>
      <p:sp>
        <p:nvSpPr>
          <p:cNvPr id="38" name="Text 31"/>
          <p:cNvSpPr txBox="1"/>
          <p:nvPr/>
        </p:nvSpPr>
        <p:spPr>
          <a:xfrm>
            <a:off x="4566818" y="4114800"/>
            <a:ext cx="502920" cy="502920"/>
          </a:xfrm>
          <a:prstGeom prst="rect">
            <a:avLst/>
          </a:prstGeom>
          <a:noFill/>
          <a:ln/>
        </p:spPr>
        <p:txBody>
          <a:bodyPr wrap="square" lIns="0" tIns="0" rIns="0" bIns="0" rtlCol="0" anchor="ctr"/>
          <a:lstStyle/>
          <a:p>
            <a:pPr algn="ctr" indent="0" marL="0">
              <a:buNone/>
            </a:pPr>
            <a:r>
              <a:rPr lang="en-US" sz="1800" b="1" dirty="0">
                <a:solidFill>
                  <a:srgbClr val="F0EF96"/>
                </a:solidFill>
                <a:latin typeface="Montserrat" pitchFamily="34" charset="0"/>
                <a:ea typeface="Montserrat" pitchFamily="34" charset="-122"/>
                <a:cs typeface="Montserrat" pitchFamily="34" charset="-120"/>
              </a:rPr>
              <a:t>5</a:t>
            </a:r>
            <a:endParaRPr lang="en-US" sz="1800" dirty="0"/>
          </a:p>
        </p:txBody>
      </p:sp>
      <p:sp>
        <p:nvSpPr>
          <p:cNvPr id="39" name="Shape 32"/>
          <p:cNvSpPr/>
          <p:nvPr/>
        </p:nvSpPr>
        <p:spPr>
          <a:xfrm>
            <a:off x="7121957" y="4114800"/>
            <a:ext cx="502920" cy="502920"/>
          </a:xfrm>
          <a:prstGeom prst="ellipse">
            <a:avLst/>
          </a:prstGeom>
          <a:solidFill>
            <a:srgbClr val="FFFFFF"/>
          </a:solidFill>
          <a:ln w="12700">
            <a:solidFill>
              <a:srgbClr val="FFFFFF"/>
            </a:solidFill>
            <a:prstDash val="solid"/>
          </a:ln>
        </p:spPr>
      </p:sp>
      <p:pic>
        <p:nvPicPr>
          <p:cNvPr id="40" name="Image 5" descr="preencoded.png">    </p:cNvPr>
          <p:cNvPicPr>
            <a:picLocks noChangeAspect="1"/>
          </p:cNvPicPr>
          <p:nvPr/>
        </p:nvPicPr>
        <p:blipFill>
          <a:blip r:embed="rId6"/>
          <a:stretch>
            <a:fillRect/>
          </a:stretch>
        </p:blipFill>
        <p:spPr>
          <a:xfrm>
            <a:off x="7247687" y="4240530"/>
            <a:ext cx="251460" cy="251460"/>
          </a:xfrm>
          <a:prstGeom prst="rect">
            <a:avLst/>
          </a:prstGeom>
        </p:spPr>
      </p:pic>
      <p:sp>
        <p:nvSpPr>
          <p:cNvPr id="41" name="Text 33"/>
          <p:cNvSpPr txBox="1"/>
          <p:nvPr/>
        </p:nvSpPr>
        <p:spPr>
          <a:xfrm>
            <a:off x="5206898" y="4114800"/>
            <a:ext cx="1777898" cy="502920"/>
          </a:xfrm>
          <a:prstGeom prst="rect">
            <a:avLst/>
          </a:prstGeom>
          <a:noFill/>
          <a:ln/>
        </p:spPr>
        <p:txBody>
          <a:bodyPr wrap="square" lIns="0" tIns="0" rIns="0" bIns="0" rtlCol="0" anchor="ctr"/>
          <a:lstStyle/>
          <a:p>
            <a:pPr indent="0" marL="0">
              <a:buNone/>
            </a:pPr>
            <a:r>
              <a:rPr lang="en-US" sz="1600" b="1" dirty="0">
                <a:solidFill>
                  <a:srgbClr val="0A032B"/>
                </a:solidFill>
                <a:latin typeface="Montserrat" pitchFamily="34" charset="0"/>
                <a:ea typeface="Montserrat" pitchFamily="34" charset="-122"/>
                <a:cs typeface="Montserrat" pitchFamily="34" charset="-120"/>
              </a:rPr>
              <a:t>Rotation</a:t>
            </a:r>
            <a:endParaRPr lang="en-US" sz="1600" dirty="0"/>
          </a:p>
        </p:txBody>
      </p:sp>
      <p:sp>
        <p:nvSpPr>
          <p:cNvPr id="42" name="Text 34"/>
          <p:cNvSpPr txBox="1"/>
          <p:nvPr/>
        </p:nvSpPr>
        <p:spPr>
          <a:xfrm>
            <a:off x="4566818" y="4754880"/>
            <a:ext cx="3058058" cy="1097280"/>
          </a:xfrm>
          <a:prstGeom prst="rect">
            <a:avLst/>
          </a:prstGeom>
          <a:noFill/>
          <a:ln/>
        </p:spPr>
        <p:txBody>
          <a:bodyPr wrap="square" lIns="0" tIns="0" rIns="0" bIns="0" rtlCol="0" anchor="t"/>
          <a:lstStyle/>
          <a:p>
            <a:pPr indent="0" marL="0">
              <a:buNone/>
            </a:pPr>
            <a:r>
              <a:rPr lang="en-US" sz="1300" dirty="0">
                <a:solidFill>
                  <a:srgbClr val="0A032B"/>
                </a:solidFill>
                <a:latin typeface="Arial" pitchFamily="34" charset="0"/>
                <a:ea typeface="Arial" pitchFamily="34" charset="-122"/>
                <a:cs typeface="Arial" pitchFamily="34" charset="-120"/>
              </a:rPr>
              <a:t>Assis, pivoter doucement le buste en tenant le dossier de la chaise. 15 s de chaque côté.</a:t>
            </a:r>
            <a:endParaRPr lang="en-US" sz="1300" dirty="0"/>
          </a:p>
        </p:txBody>
      </p:sp>
      <p:sp>
        <p:nvSpPr>
          <p:cNvPr id="43" name="Shape 35"/>
          <p:cNvSpPr/>
          <p:nvPr/>
        </p:nvSpPr>
        <p:spPr>
          <a:xfrm>
            <a:off x="8127797" y="3886200"/>
            <a:ext cx="3515258" cy="2103120"/>
          </a:xfrm>
          <a:prstGeom prst="roundRect">
            <a:avLst>
              <a:gd name="adj" fmla="val 3478"/>
            </a:avLst>
          </a:prstGeom>
          <a:solidFill>
            <a:srgbClr val="F0EF96"/>
          </a:solidFill>
          <a:ln w="12700">
            <a:solidFill>
              <a:srgbClr val="F0EF96"/>
            </a:solidFill>
            <a:prstDash val="solid"/>
          </a:ln>
        </p:spPr>
      </p:sp>
      <p:sp>
        <p:nvSpPr>
          <p:cNvPr id="44" name="Shape 36"/>
          <p:cNvSpPr/>
          <p:nvPr/>
        </p:nvSpPr>
        <p:spPr>
          <a:xfrm>
            <a:off x="8356397" y="4114800"/>
            <a:ext cx="502920" cy="502920"/>
          </a:xfrm>
          <a:prstGeom prst="ellipse">
            <a:avLst/>
          </a:prstGeom>
          <a:solidFill>
            <a:srgbClr val="0A032B"/>
          </a:solidFill>
          <a:ln w="12700">
            <a:solidFill>
              <a:srgbClr val="0A032B"/>
            </a:solidFill>
            <a:prstDash val="solid"/>
          </a:ln>
        </p:spPr>
      </p:sp>
      <p:sp>
        <p:nvSpPr>
          <p:cNvPr id="45" name="Text 37"/>
          <p:cNvSpPr txBox="1"/>
          <p:nvPr/>
        </p:nvSpPr>
        <p:spPr>
          <a:xfrm>
            <a:off x="8356397" y="4114800"/>
            <a:ext cx="502920" cy="502920"/>
          </a:xfrm>
          <a:prstGeom prst="rect">
            <a:avLst/>
          </a:prstGeom>
          <a:noFill/>
          <a:ln/>
        </p:spPr>
        <p:txBody>
          <a:bodyPr wrap="square" lIns="0" tIns="0" rIns="0" bIns="0" rtlCol="0" anchor="ctr"/>
          <a:lstStyle/>
          <a:p>
            <a:pPr algn="ctr" indent="0" marL="0">
              <a:buNone/>
            </a:pPr>
            <a:r>
              <a:rPr lang="en-US" sz="1800" b="1" dirty="0">
                <a:solidFill>
                  <a:srgbClr val="F0EF96"/>
                </a:solidFill>
                <a:latin typeface="Montserrat" pitchFamily="34" charset="0"/>
                <a:ea typeface="Montserrat" pitchFamily="34" charset="-122"/>
                <a:cs typeface="Montserrat" pitchFamily="34" charset="-120"/>
              </a:rPr>
              <a:t>6</a:t>
            </a:r>
            <a:endParaRPr lang="en-US" sz="1800" dirty="0"/>
          </a:p>
        </p:txBody>
      </p:sp>
      <p:sp>
        <p:nvSpPr>
          <p:cNvPr id="46" name="Shape 38"/>
          <p:cNvSpPr/>
          <p:nvPr/>
        </p:nvSpPr>
        <p:spPr>
          <a:xfrm>
            <a:off x="10911535" y="4114800"/>
            <a:ext cx="502920" cy="502920"/>
          </a:xfrm>
          <a:prstGeom prst="ellipse">
            <a:avLst/>
          </a:prstGeom>
          <a:solidFill>
            <a:srgbClr val="FFFFFF"/>
          </a:solidFill>
          <a:ln w="12700">
            <a:solidFill>
              <a:srgbClr val="FFFFFF"/>
            </a:solidFill>
            <a:prstDash val="solid"/>
          </a:ln>
        </p:spPr>
      </p:sp>
      <p:pic>
        <p:nvPicPr>
          <p:cNvPr id="47" name="Image 6" descr="preencoded.png">    </p:cNvPr>
          <p:cNvPicPr>
            <a:picLocks noChangeAspect="1"/>
          </p:cNvPicPr>
          <p:nvPr/>
        </p:nvPicPr>
        <p:blipFill>
          <a:blip r:embed="rId7"/>
          <a:stretch>
            <a:fillRect/>
          </a:stretch>
        </p:blipFill>
        <p:spPr>
          <a:xfrm>
            <a:off x="11037265" y="4240530"/>
            <a:ext cx="251460" cy="251460"/>
          </a:xfrm>
          <a:prstGeom prst="rect">
            <a:avLst/>
          </a:prstGeom>
        </p:spPr>
      </p:pic>
      <p:sp>
        <p:nvSpPr>
          <p:cNvPr id="48" name="Text 39"/>
          <p:cNvSpPr txBox="1"/>
          <p:nvPr/>
        </p:nvSpPr>
        <p:spPr>
          <a:xfrm>
            <a:off x="8996477" y="4114800"/>
            <a:ext cx="1777898" cy="502920"/>
          </a:xfrm>
          <a:prstGeom prst="rect">
            <a:avLst/>
          </a:prstGeom>
          <a:noFill/>
          <a:ln/>
        </p:spPr>
        <p:txBody>
          <a:bodyPr wrap="square" lIns="0" tIns="0" rIns="0" bIns="0" rtlCol="0" anchor="ctr"/>
          <a:lstStyle/>
          <a:p>
            <a:pPr indent="0" marL="0">
              <a:buNone/>
            </a:pPr>
            <a:r>
              <a:rPr lang="en-US" sz="1600" b="1" dirty="0">
                <a:solidFill>
                  <a:srgbClr val="0A032B"/>
                </a:solidFill>
                <a:latin typeface="Montserrat" pitchFamily="34" charset="0"/>
                <a:ea typeface="Montserrat" pitchFamily="34" charset="-122"/>
                <a:cs typeface="Montserrat" pitchFamily="34" charset="-120"/>
              </a:rPr>
              <a:t>Jambes</a:t>
            </a:r>
            <a:endParaRPr lang="en-US" sz="1600" dirty="0"/>
          </a:p>
        </p:txBody>
      </p:sp>
      <p:sp>
        <p:nvSpPr>
          <p:cNvPr id="49" name="Text 40"/>
          <p:cNvSpPr txBox="1"/>
          <p:nvPr/>
        </p:nvSpPr>
        <p:spPr>
          <a:xfrm>
            <a:off x="8356397" y="4754880"/>
            <a:ext cx="3058058" cy="1097280"/>
          </a:xfrm>
          <a:prstGeom prst="rect">
            <a:avLst/>
          </a:prstGeom>
          <a:noFill/>
          <a:ln/>
        </p:spPr>
        <p:txBody>
          <a:bodyPr wrap="square" lIns="0" tIns="0" rIns="0" bIns="0" rtlCol="0" anchor="t"/>
          <a:lstStyle/>
          <a:p>
            <a:pPr indent="0" marL="0">
              <a:buNone/>
            </a:pPr>
            <a:r>
              <a:rPr lang="en-US" sz="1300" dirty="0">
                <a:solidFill>
                  <a:srgbClr val="0A032B"/>
                </a:solidFill>
                <a:latin typeface="Arial" pitchFamily="34" charset="0"/>
                <a:ea typeface="Arial" pitchFamily="34" charset="-122"/>
                <a:cs typeface="Arial" pitchFamily="34" charset="-120"/>
              </a:rPr>
              <a:t>Debout, un pied sur une marche, jambe tendue, buste droit penché vers l'avant. 20 s par jambe.</a:t>
            </a:r>
            <a:endParaRPr lang="en-US" sz="1300" dirty="0"/>
          </a:p>
        </p:txBody>
      </p:sp>
      <p:sp>
        <p:nvSpPr>
          <p:cNvPr id="50" name="Text 41"/>
          <p:cNvSpPr txBox="1"/>
          <p:nvPr/>
        </p:nvSpPr>
        <p:spPr>
          <a:xfrm>
            <a:off x="548640" y="5943600"/>
            <a:ext cx="11094415" cy="320040"/>
          </a:xfrm>
          <a:prstGeom prst="rect">
            <a:avLst/>
          </a:prstGeom>
          <a:noFill/>
          <a:ln/>
        </p:spPr>
        <p:txBody>
          <a:bodyPr wrap="square" lIns="0" tIns="0" rIns="0" bIns="0" rtlCol="0" anchor="ctr"/>
          <a:lstStyle/>
          <a:p>
            <a:pPr algn="ctr" indent="0" marL="0">
              <a:buNone/>
            </a:pPr>
            <a:r>
              <a:rPr lang="en-US" sz="1200" b="1" i="1" dirty="0">
                <a:solidFill>
                  <a:srgbClr val="35305C"/>
                </a:solidFill>
                <a:latin typeface="Arial" pitchFamily="34" charset="0"/>
                <a:ea typeface="Arial" pitchFamily="34" charset="-122"/>
                <a:cs typeface="Arial" pitchFamily="34" charset="-120"/>
              </a:rPr>
              <a:t>Sans à-coups · sans douleur · en respirant calmement</a:t>
            </a:r>
            <a:endParaRPr lang="en-US" sz="1200" dirty="0"/>
          </a:p>
        </p:txBody>
      </p:sp>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EEEDF5"/>
        </a:solidFill>
      </p:bgPr>
    </p:bg>
    <p:spTree>
      <p:nvGrpSpPr>
        <p:cNvPr id="1" name=""/>
        <p:cNvGrpSpPr/>
        <p:nvPr/>
      </p:nvGrpSpPr>
      <p:grpSpPr>
        <a:xfrm>
          <a:off x="0" y="0"/>
          <a:ext cx="0" cy="0"/>
          <a:chOff x="0" y="0"/>
          <a:chExt cx="0" cy="0"/>
        </a:xfrm>
      </p:grpSpPr>
      <p:sp>
        <p:nvSpPr>
          <p:cNvPr id="2" name="Text 0"/>
          <p:cNvSpPr txBox="1"/>
          <p:nvPr/>
        </p:nvSpPr>
        <p:spPr>
          <a:xfrm>
            <a:off x="548640" y="365760"/>
            <a:ext cx="9235440" cy="685800"/>
          </a:xfrm>
          <a:prstGeom prst="rect">
            <a:avLst/>
          </a:prstGeom>
          <a:noFill/>
          <a:ln/>
        </p:spPr>
        <p:txBody>
          <a:bodyPr wrap="square" lIns="0" tIns="0" rIns="0" bIns="0" rtlCol="0" anchor="ctr"/>
          <a:lstStyle/>
          <a:p>
            <a:pPr indent="0" marL="0">
              <a:buNone/>
            </a:pPr>
            <a:r>
              <a:rPr lang="en-US" sz="2800" b="1" dirty="0">
                <a:solidFill>
                  <a:srgbClr val="0A032B"/>
                </a:solidFill>
                <a:latin typeface="Montserrat" pitchFamily="34" charset="0"/>
                <a:ea typeface="Montserrat" pitchFamily="34" charset="-122"/>
                <a:cs typeface="Montserrat" pitchFamily="34" charset="-120"/>
              </a:rPr>
              <a:t>À retenir</a:t>
            </a:r>
            <a:endParaRPr lang="en-US" sz="2800" dirty="0"/>
          </a:p>
        </p:txBody>
      </p:sp>
      <p:sp>
        <p:nvSpPr>
          <p:cNvPr id="3" name="Text 1"/>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5E5A78"/>
                </a:solidFill>
                <a:latin typeface="Arial" pitchFamily="34" charset="0"/>
                <a:ea typeface="Arial" pitchFamily="34" charset="-122"/>
                <a:cs typeface="Arial" pitchFamily="34" charset="-120"/>
              </a:rPr>
              <a:t>Gestes et postures de l'élu  ·  Séquence 5</a:t>
            </a:r>
            <a:endParaRPr lang="en-US" sz="900" dirty="0"/>
          </a:p>
        </p:txBody>
      </p:sp>
      <p:pic>
        <p:nvPicPr>
          <p:cNvPr id="4" name="Image 0" descr="logo_light.png">    </p:cNvPr>
          <p:cNvPicPr>
            <a:picLocks noChangeAspect="1"/>
          </p:cNvPicPr>
          <p:nvPr/>
        </p:nvPicPr>
        <p:blipFill>
          <a:blip r:embed="rId1"/>
          <a:stretch>
            <a:fillRect/>
          </a:stretch>
        </p:blipFill>
        <p:spPr>
          <a:xfrm>
            <a:off x="10682935" y="6236208"/>
            <a:ext cx="960120" cy="398441"/>
          </a:xfrm>
          <a:prstGeom prst="rect">
            <a:avLst/>
          </a:prstGeom>
        </p:spPr>
      </p:pic>
      <p:sp>
        <p:nvSpPr>
          <p:cNvPr id="5" name="Shape 2"/>
          <p:cNvSpPr/>
          <p:nvPr/>
        </p:nvSpPr>
        <p:spPr>
          <a:xfrm>
            <a:off x="548640" y="1417320"/>
            <a:ext cx="5410048" cy="1341120"/>
          </a:xfrm>
          <a:prstGeom prst="roundRect">
            <a:avLst>
              <a:gd name="adj" fmla="val 5455"/>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777240" y="1859280"/>
            <a:ext cx="457200" cy="457200"/>
          </a:xfrm>
          <a:prstGeom prst="ellipse">
            <a:avLst/>
          </a:prstGeom>
          <a:solidFill>
            <a:srgbClr val="F0EF96"/>
          </a:solidFill>
          <a:ln w="12700">
            <a:solidFill>
              <a:srgbClr val="F0EF96"/>
            </a:solidFill>
            <a:prstDash val="solid"/>
          </a:ln>
        </p:spPr>
      </p:sp>
      <p:pic>
        <p:nvPicPr>
          <p:cNvPr id="7" name="Image 1" descr="preencoded.png">    </p:cNvPr>
          <p:cNvPicPr>
            <a:picLocks noChangeAspect="1"/>
          </p:cNvPicPr>
          <p:nvPr/>
        </p:nvPicPr>
        <p:blipFill>
          <a:blip r:embed="rId2"/>
          <a:stretch>
            <a:fillRect/>
          </a:stretch>
        </p:blipFill>
        <p:spPr>
          <a:xfrm>
            <a:off x="891540" y="1973580"/>
            <a:ext cx="228600" cy="228600"/>
          </a:xfrm>
          <a:prstGeom prst="rect">
            <a:avLst/>
          </a:prstGeom>
        </p:spPr>
      </p:pic>
      <p:sp>
        <p:nvSpPr>
          <p:cNvPr id="8" name="Text 4"/>
          <p:cNvSpPr txBox="1"/>
          <p:nvPr/>
        </p:nvSpPr>
        <p:spPr>
          <a:xfrm>
            <a:off x="1417320" y="1508760"/>
            <a:ext cx="4358488" cy="1158240"/>
          </a:xfrm>
          <a:prstGeom prst="rect">
            <a:avLst/>
          </a:prstGeom>
          <a:noFill/>
          <a:ln/>
        </p:spPr>
        <p:txBody>
          <a:bodyPr wrap="square" lIns="0" tIns="0" rIns="0" bIns="0" rtlCol="0" anchor="ctr"/>
          <a:lstStyle/>
          <a:p>
            <a:pPr indent="0" marL="0">
              <a:buNone/>
            </a:pPr>
            <a:r>
              <a:rPr lang="en-US" sz="1400" dirty="0">
                <a:solidFill>
                  <a:srgbClr val="0A032B"/>
                </a:solidFill>
                <a:latin typeface="Arial" pitchFamily="34" charset="0"/>
                <a:ea typeface="Arial" pitchFamily="34" charset="-122"/>
                <a:cs typeface="Arial" pitchFamily="34" charset="-120"/>
              </a:rPr>
              <a:t>Écran à hauteur des yeux, à une longueur de bras.</a:t>
            </a:r>
            <a:endParaRPr lang="en-US" sz="1400" dirty="0"/>
          </a:p>
        </p:txBody>
      </p:sp>
      <p:sp>
        <p:nvSpPr>
          <p:cNvPr id="9" name="Shape 5"/>
          <p:cNvSpPr/>
          <p:nvPr/>
        </p:nvSpPr>
        <p:spPr>
          <a:xfrm>
            <a:off x="6233008" y="1417320"/>
            <a:ext cx="5410048" cy="1341120"/>
          </a:xfrm>
          <a:prstGeom prst="roundRect">
            <a:avLst>
              <a:gd name="adj" fmla="val 5455"/>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0" name="Shape 6"/>
          <p:cNvSpPr/>
          <p:nvPr/>
        </p:nvSpPr>
        <p:spPr>
          <a:xfrm>
            <a:off x="6461608" y="1859280"/>
            <a:ext cx="457200" cy="457200"/>
          </a:xfrm>
          <a:prstGeom prst="ellipse">
            <a:avLst/>
          </a:prstGeom>
          <a:solidFill>
            <a:srgbClr val="F0EF96"/>
          </a:solidFill>
          <a:ln w="12700">
            <a:solidFill>
              <a:srgbClr val="F0EF96"/>
            </a:solidFill>
            <a:prstDash val="solid"/>
          </a:ln>
        </p:spPr>
      </p:sp>
      <p:pic>
        <p:nvPicPr>
          <p:cNvPr id="11" name="Image 2" descr="preencoded.png">    </p:cNvPr>
          <p:cNvPicPr>
            <a:picLocks noChangeAspect="1"/>
          </p:cNvPicPr>
          <p:nvPr/>
        </p:nvPicPr>
        <p:blipFill>
          <a:blip r:embed="rId3"/>
          <a:stretch>
            <a:fillRect/>
          </a:stretch>
        </p:blipFill>
        <p:spPr>
          <a:xfrm>
            <a:off x="6575908" y="1973580"/>
            <a:ext cx="228600" cy="228600"/>
          </a:xfrm>
          <a:prstGeom prst="rect">
            <a:avLst/>
          </a:prstGeom>
        </p:spPr>
      </p:pic>
      <p:sp>
        <p:nvSpPr>
          <p:cNvPr id="12" name="Text 7"/>
          <p:cNvSpPr txBox="1"/>
          <p:nvPr/>
        </p:nvSpPr>
        <p:spPr>
          <a:xfrm>
            <a:off x="7101688" y="1508760"/>
            <a:ext cx="4358488" cy="1158240"/>
          </a:xfrm>
          <a:prstGeom prst="rect">
            <a:avLst/>
          </a:prstGeom>
          <a:noFill/>
          <a:ln/>
        </p:spPr>
        <p:txBody>
          <a:bodyPr wrap="square" lIns="0" tIns="0" rIns="0" bIns="0" rtlCol="0" anchor="ctr"/>
          <a:lstStyle/>
          <a:p>
            <a:pPr indent="0" marL="0">
              <a:buNone/>
            </a:pPr>
            <a:r>
              <a:rPr lang="en-US" sz="1400" dirty="0">
                <a:solidFill>
                  <a:srgbClr val="0A032B"/>
                </a:solidFill>
                <a:latin typeface="Arial" pitchFamily="34" charset="0"/>
                <a:ea typeface="Arial" pitchFamily="34" charset="-122"/>
                <a:cs typeface="Arial" pitchFamily="34" charset="-120"/>
              </a:rPr>
              <a:t>Coudes à 90°, pieds à plat, dos soutenu.</a:t>
            </a:r>
            <a:endParaRPr lang="en-US" sz="1400" dirty="0"/>
          </a:p>
        </p:txBody>
      </p:sp>
      <p:sp>
        <p:nvSpPr>
          <p:cNvPr id="13" name="Shape 8"/>
          <p:cNvSpPr/>
          <p:nvPr/>
        </p:nvSpPr>
        <p:spPr>
          <a:xfrm>
            <a:off x="548640" y="3032760"/>
            <a:ext cx="5410048" cy="1341120"/>
          </a:xfrm>
          <a:prstGeom prst="roundRect">
            <a:avLst>
              <a:gd name="adj" fmla="val 5455"/>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4" name="Shape 9"/>
          <p:cNvSpPr/>
          <p:nvPr/>
        </p:nvSpPr>
        <p:spPr>
          <a:xfrm>
            <a:off x="777240" y="3474720"/>
            <a:ext cx="457200" cy="457200"/>
          </a:xfrm>
          <a:prstGeom prst="ellipse">
            <a:avLst/>
          </a:prstGeom>
          <a:solidFill>
            <a:srgbClr val="F0EF96"/>
          </a:solidFill>
          <a:ln w="12700">
            <a:solidFill>
              <a:srgbClr val="F0EF96"/>
            </a:solidFill>
            <a:prstDash val="solid"/>
          </a:ln>
        </p:spPr>
      </p:sp>
      <p:pic>
        <p:nvPicPr>
          <p:cNvPr id="15" name="Image 3" descr="preencoded.png">    </p:cNvPr>
          <p:cNvPicPr>
            <a:picLocks noChangeAspect="1"/>
          </p:cNvPicPr>
          <p:nvPr/>
        </p:nvPicPr>
        <p:blipFill>
          <a:blip r:embed="rId4"/>
          <a:stretch>
            <a:fillRect/>
          </a:stretch>
        </p:blipFill>
        <p:spPr>
          <a:xfrm>
            <a:off x="891540" y="3589020"/>
            <a:ext cx="228600" cy="228600"/>
          </a:xfrm>
          <a:prstGeom prst="rect">
            <a:avLst/>
          </a:prstGeom>
        </p:spPr>
      </p:pic>
      <p:sp>
        <p:nvSpPr>
          <p:cNvPr id="16" name="Text 10"/>
          <p:cNvSpPr txBox="1"/>
          <p:nvPr/>
        </p:nvSpPr>
        <p:spPr>
          <a:xfrm>
            <a:off x="1417320" y="3124200"/>
            <a:ext cx="4358488" cy="1158240"/>
          </a:xfrm>
          <a:prstGeom prst="rect">
            <a:avLst/>
          </a:prstGeom>
          <a:noFill/>
          <a:ln/>
        </p:spPr>
        <p:txBody>
          <a:bodyPr wrap="square" lIns="0" tIns="0" rIns="0" bIns="0" rtlCol="0" anchor="ctr"/>
          <a:lstStyle/>
          <a:p>
            <a:pPr indent="0" marL="0">
              <a:buNone/>
            </a:pPr>
            <a:r>
              <a:rPr lang="en-US" sz="1400" dirty="0">
                <a:solidFill>
                  <a:srgbClr val="0A032B"/>
                </a:solidFill>
                <a:latin typeface="Arial" pitchFamily="34" charset="0"/>
                <a:ea typeface="Arial" pitchFamily="34" charset="-122"/>
                <a:cs typeface="Arial" pitchFamily="34" charset="-120"/>
              </a:rPr>
              <a:t>Ordinateur portable : réhausseur, clavier et souris externes.</a:t>
            </a:r>
            <a:endParaRPr lang="en-US" sz="1400" dirty="0"/>
          </a:p>
        </p:txBody>
      </p:sp>
      <p:sp>
        <p:nvSpPr>
          <p:cNvPr id="17" name="Shape 11"/>
          <p:cNvSpPr/>
          <p:nvPr/>
        </p:nvSpPr>
        <p:spPr>
          <a:xfrm>
            <a:off x="6233008" y="3032760"/>
            <a:ext cx="5410048" cy="1341120"/>
          </a:xfrm>
          <a:prstGeom prst="roundRect">
            <a:avLst>
              <a:gd name="adj" fmla="val 5455"/>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8" name="Shape 12"/>
          <p:cNvSpPr/>
          <p:nvPr/>
        </p:nvSpPr>
        <p:spPr>
          <a:xfrm>
            <a:off x="6461608" y="3474720"/>
            <a:ext cx="457200" cy="457200"/>
          </a:xfrm>
          <a:prstGeom prst="ellipse">
            <a:avLst/>
          </a:prstGeom>
          <a:solidFill>
            <a:srgbClr val="F0EF96"/>
          </a:solidFill>
          <a:ln w="12700">
            <a:solidFill>
              <a:srgbClr val="F0EF96"/>
            </a:solidFill>
            <a:prstDash val="solid"/>
          </a:ln>
        </p:spPr>
      </p:sp>
      <p:pic>
        <p:nvPicPr>
          <p:cNvPr id="19" name="Image 4" descr="preencoded.png">    </p:cNvPr>
          <p:cNvPicPr>
            <a:picLocks noChangeAspect="1"/>
          </p:cNvPicPr>
          <p:nvPr/>
        </p:nvPicPr>
        <p:blipFill>
          <a:blip r:embed="rId5"/>
          <a:stretch>
            <a:fillRect/>
          </a:stretch>
        </p:blipFill>
        <p:spPr>
          <a:xfrm>
            <a:off x="6575908" y="3589020"/>
            <a:ext cx="228600" cy="228600"/>
          </a:xfrm>
          <a:prstGeom prst="rect">
            <a:avLst/>
          </a:prstGeom>
        </p:spPr>
      </p:pic>
      <p:sp>
        <p:nvSpPr>
          <p:cNvPr id="20" name="Text 13"/>
          <p:cNvSpPr txBox="1"/>
          <p:nvPr/>
        </p:nvSpPr>
        <p:spPr>
          <a:xfrm>
            <a:off x="7101688" y="3124200"/>
            <a:ext cx="4358488" cy="1158240"/>
          </a:xfrm>
          <a:prstGeom prst="rect">
            <a:avLst/>
          </a:prstGeom>
          <a:noFill/>
          <a:ln/>
        </p:spPr>
        <p:txBody>
          <a:bodyPr wrap="square" lIns="0" tIns="0" rIns="0" bIns="0" rtlCol="0" anchor="ctr"/>
          <a:lstStyle/>
          <a:p>
            <a:pPr indent="0" marL="0">
              <a:buNone/>
            </a:pPr>
            <a:r>
              <a:rPr lang="en-US" sz="1400" dirty="0">
                <a:solidFill>
                  <a:srgbClr val="0A032B"/>
                </a:solidFill>
                <a:latin typeface="Arial" pitchFamily="34" charset="0"/>
                <a:ea typeface="Arial" pitchFamily="34" charset="-122"/>
                <a:cs typeface="Arial" pitchFamily="34" charset="-120"/>
              </a:rPr>
              <a:t>Changer de position au moins toutes les 30 minutes.</a:t>
            </a:r>
            <a:endParaRPr lang="en-US" sz="1400" dirty="0"/>
          </a:p>
        </p:txBody>
      </p:sp>
      <p:sp>
        <p:nvSpPr>
          <p:cNvPr id="21" name="Shape 14"/>
          <p:cNvSpPr/>
          <p:nvPr/>
        </p:nvSpPr>
        <p:spPr>
          <a:xfrm>
            <a:off x="548640" y="4648200"/>
            <a:ext cx="5410048" cy="1341120"/>
          </a:xfrm>
          <a:prstGeom prst="roundRect">
            <a:avLst>
              <a:gd name="adj" fmla="val 5455"/>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22" name="Shape 15"/>
          <p:cNvSpPr/>
          <p:nvPr/>
        </p:nvSpPr>
        <p:spPr>
          <a:xfrm>
            <a:off x="777240" y="5090160"/>
            <a:ext cx="457200" cy="457200"/>
          </a:xfrm>
          <a:prstGeom prst="ellipse">
            <a:avLst/>
          </a:prstGeom>
          <a:solidFill>
            <a:srgbClr val="F0EF96"/>
          </a:solidFill>
          <a:ln w="12700">
            <a:solidFill>
              <a:srgbClr val="F0EF96"/>
            </a:solidFill>
            <a:prstDash val="solid"/>
          </a:ln>
        </p:spPr>
      </p:sp>
      <p:pic>
        <p:nvPicPr>
          <p:cNvPr id="23" name="Image 5" descr="preencoded.png">    </p:cNvPr>
          <p:cNvPicPr>
            <a:picLocks noChangeAspect="1"/>
          </p:cNvPicPr>
          <p:nvPr/>
        </p:nvPicPr>
        <p:blipFill>
          <a:blip r:embed="rId6"/>
          <a:stretch>
            <a:fillRect/>
          </a:stretch>
        </p:blipFill>
        <p:spPr>
          <a:xfrm>
            <a:off x="891540" y="5204460"/>
            <a:ext cx="228600" cy="228600"/>
          </a:xfrm>
          <a:prstGeom prst="rect">
            <a:avLst/>
          </a:prstGeom>
        </p:spPr>
      </p:pic>
      <p:sp>
        <p:nvSpPr>
          <p:cNvPr id="24" name="Text 16"/>
          <p:cNvSpPr txBox="1"/>
          <p:nvPr/>
        </p:nvSpPr>
        <p:spPr>
          <a:xfrm>
            <a:off x="1417320" y="4739640"/>
            <a:ext cx="4358488" cy="1158240"/>
          </a:xfrm>
          <a:prstGeom prst="rect">
            <a:avLst/>
          </a:prstGeom>
          <a:noFill/>
          <a:ln/>
        </p:spPr>
        <p:txBody>
          <a:bodyPr wrap="square" lIns="0" tIns="0" rIns="0" bIns="0" rtlCol="0" anchor="ctr"/>
          <a:lstStyle/>
          <a:p>
            <a:pPr indent="0" marL="0">
              <a:buNone/>
            </a:pPr>
            <a:r>
              <a:rPr lang="en-US" sz="1400" dirty="0">
                <a:solidFill>
                  <a:srgbClr val="0A032B"/>
                </a:solidFill>
                <a:latin typeface="Arial" pitchFamily="34" charset="0"/>
                <a:ea typeface="Arial" pitchFamily="34" charset="-122"/>
                <a:cs typeface="Arial" pitchFamily="34" charset="-120"/>
              </a:rPr>
              <a:t>En voiture : régler son siège, faire une pause toutes les 2 heures.</a:t>
            </a:r>
            <a:endParaRPr lang="en-US" sz="1400" dirty="0"/>
          </a:p>
        </p:txBody>
      </p:sp>
      <p:sp>
        <p:nvSpPr>
          <p:cNvPr id="25" name="Shape 17"/>
          <p:cNvSpPr/>
          <p:nvPr/>
        </p:nvSpPr>
        <p:spPr>
          <a:xfrm>
            <a:off x="6233008" y="4648200"/>
            <a:ext cx="5410048" cy="1341120"/>
          </a:xfrm>
          <a:prstGeom prst="roundRect">
            <a:avLst>
              <a:gd name="adj" fmla="val 5455"/>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26" name="Shape 18"/>
          <p:cNvSpPr/>
          <p:nvPr/>
        </p:nvSpPr>
        <p:spPr>
          <a:xfrm>
            <a:off x="6461608" y="5090160"/>
            <a:ext cx="457200" cy="457200"/>
          </a:xfrm>
          <a:prstGeom prst="ellipse">
            <a:avLst/>
          </a:prstGeom>
          <a:solidFill>
            <a:srgbClr val="F0EF96"/>
          </a:solidFill>
          <a:ln w="12700">
            <a:solidFill>
              <a:srgbClr val="F0EF96"/>
            </a:solidFill>
            <a:prstDash val="solid"/>
          </a:ln>
        </p:spPr>
      </p:sp>
      <p:pic>
        <p:nvPicPr>
          <p:cNvPr id="27" name="Image 6" descr="preencoded.png">    </p:cNvPr>
          <p:cNvPicPr>
            <a:picLocks noChangeAspect="1"/>
          </p:cNvPicPr>
          <p:nvPr/>
        </p:nvPicPr>
        <p:blipFill>
          <a:blip r:embed="rId7"/>
          <a:stretch>
            <a:fillRect/>
          </a:stretch>
        </p:blipFill>
        <p:spPr>
          <a:xfrm>
            <a:off x="6575908" y="5204460"/>
            <a:ext cx="228600" cy="228600"/>
          </a:xfrm>
          <a:prstGeom prst="rect">
            <a:avLst/>
          </a:prstGeom>
        </p:spPr>
      </p:pic>
      <p:sp>
        <p:nvSpPr>
          <p:cNvPr id="28" name="Text 19"/>
          <p:cNvSpPr txBox="1"/>
          <p:nvPr/>
        </p:nvSpPr>
        <p:spPr>
          <a:xfrm>
            <a:off x="7101688" y="4739640"/>
            <a:ext cx="4358488" cy="1158240"/>
          </a:xfrm>
          <a:prstGeom prst="rect">
            <a:avLst/>
          </a:prstGeom>
          <a:noFill/>
          <a:ln/>
        </p:spPr>
        <p:txBody>
          <a:bodyPr wrap="square" lIns="0" tIns="0" rIns="0" bIns="0" rtlCol="0" anchor="ctr"/>
          <a:lstStyle/>
          <a:p>
            <a:pPr indent="0" marL="0">
              <a:buNone/>
            </a:pPr>
            <a:r>
              <a:rPr lang="en-US" sz="1400" dirty="0">
                <a:solidFill>
                  <a:srgbClr val="0A032B"/>
                </a:solidFill>
                <a:latin typeface="Arial" pitchFamily="34" charset="0"/>
                <a:ea typeface="Arial" pitchFamily="34" charset="-122"/>
                <a:cs typeface="Arial" pitchFamily="34" charset="-120"/>
              </a:rPr>
              <a:t>Quelques étirements simples, plusieurs fois par jour.</a:t>
            </a:r>
            <a:endParaRPr lang="en-US" sz="1400" dirty="0"/>
          </a:p>
        </p:txBody>
      </p:sp>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032B"/>
        </a:solidFill>
      </p:bgPr>
    </p:bg>
    <p:spTree>
      <p:nvGrpSpPr>
        <p:cNvPr id="1" name=""/>
        <p:cNvGrpSpPr/>
        <p:nvPr/>
      </p:nvGrpSpPr>
      <p:grpSpPr>
        <a:xfrm>
          <a:off x="0" y="0"/>
          <a:ext cx="0" cy="0"/>
          <a:chOff x="0" y="0"/>
          <a:chExt cx="0" cy="0"/>
        </a:xfrm>
      </p:grpSpPr>
      <p:sp>
        <p:nvSpPr>
          <p:cNvPr id="2" name="Text 0"/>
          <p:cNvSpPr txBox="1"/>
          <p:nvPr/>
        </p:nvSpPr>
        <p:spPr>
          <a:xfrm>
            <a:off x="548640" y="1371600"/>
            <a:ext cx="3657600" cy="2926080"/>
          </a:xfrm>
          <a:prstGeom prst="rect">
            <a:avLst/>
          </a:prstGeom>
          <a:noFill/>
          <a:ln/>
        </p:spPr>
        <p:txBody>
          <a:bodyPr wrap="square" lIns="0" tIns="0" rIns="0" bIns="0" rtlCol="0" anchor="ctr"/>
          <a:lstStyle/>
          <a:p>
            <a:pPr indent="0" marL="0">
              <a:buNone/>
            </a:pPr>
            <a:r>
              <a:rPr lang="en-US" sz="18000" b="1" dirty="0">
                <a:solidFill>
                  <a:srgbClr val="F0EF96"/>
                </a:solidFill>
                <a:latin typeface="Montserrat" pitchFamily="34" charset="0"/>
                <a:ea typeface="Montserrat" pitchFamily="34" charset="-122"/>
                <a:cs typeface="Montserrat" pitchFamily="34" charset="-120"/>
              </a:rPr>
              <a:t>06</a:t>
            </a:r>
            <a:endParaRPr lang="en-US" sz="18000" dirty="0"/>
          </a:p>
        </p:txBody>
      </p:sp>
      <p:sp>
        <p:nvSpPr>
          <p:cNvPr id="3" name="Text 1"/>
          <p:cNvSpPr txBox="1"/>
          <p:nvPr/>
        </p:nvSpPr>
        <p:spPr>
          <a:xfrm>
            <a:off x="4572000" y="1463040"/>
            <a:ext cx="7040880" cy="411480"/>
          </a:xfrm>
          <a:prstGeom prst="rect">
            <a:avLst/>
          </a:prstGeom>
          <a:noFill/>
          <a:ln/>
        </p:spPr>
        <p:txBody>
          <a:bodyPr wrap="square" lIns="0" tIns="0" rIns="0" bIns="0" rtlCol="0" anchor="ctr"/>
          <a:lstStyle/>
          <a:p>
            <a:pPr indent="0" marL="0">
              <a:buNone/>
            </a:pPr>
            <a:r>
              <a:rPr lang="en-US" sz="1600" b="1" spc="300" kern="0" dirty="0">
                <a:solidFill>
                  <a:srgbClr val="F0EF96"/>
                </a:solidFill>
                <a:latin typeface="Montserrat" pitchFamily="34" charset="0"/>
                <a:ea typeface="Montserrat" pitchFamily="34" charset="-122"/>
                <a:cs typeface="Montserrat" pitchFamily="34" charset="-120"/>
              </a:rPr>
              <a:t>SÉQUENCE 6</a:t>
            </a:r>
            <a:endParaRPr lang="en-US" sz="1600" dirty="0"/>
          </a:p>
        </p:txBody>
      </p:sp>
      <p:sp>
        <p:nvSpPr>
          <p:cNvPr id="4" name="Text 2"/>
          <p:cNvSpPr txBox="1"/>
          <p:nvPr/>
        </p:nvSpPr>
        <p:spPr>
          <a:xfrm>
            <a:off x="4572000" y="1920240"/>
            <a:ext cx="7040880" cy="1645920"/>
          </a:xfrm>
          <a:prstGeom prst="rect">
            <a:avLst/>
          </a:prstGeom>
          <a:noFill/>
          <a:ln/>
        </p:spPr>
        <p:txBody>
          <a:bodyPr wrap="square" lIns="0" tIns="0" rIns="0" bIns="0" rtlCol="0" anchor="t"/>
          <a:lstStyle/>
          <a:p>
            <a:pPr indent="0" marL="0">
              <a:buNone/>
            </a:pPr>
            <a:r>
              <a:rPr lang="en-US" sz="3400" b="1" dirty="0">
                <a:solidFill>
                  <a:srgbClr val="FFFFFF"/>
                </a:solidFill>
                <a:latin typeface="Montserrat" pitchFamily="34" charset="0"/>
                <a:ea typeface="Montserrat" pitchFamily="34" charset="-122"/>
                <a:cs typeface="Montserrat" pitchFamily="34" charset="-120"/>
              </a:rPr>
              <a:t>Le rôle de l'autorité territoriale dans la prévention des risques des agents</a:t>
            </a:r>
            <a:endParaRPr lang="en-US" sz="3400" dirty="0"/>
          </a:p>
        </p:txBody>
      </p:sp>
      <p:sp>
        <p:nvSpPr>
          <p:cNvPr id="5" name="Text 3"/>
          <p:cNvSpPr txBox="1"/>
          <p:nvPr/>
        </p:nvSpPr>
        <p:spPr>
          <a:xfrm>
            <a:off x="4572000" y="3657600"/>
            <a:ext cx="7040880" cy="914400"/>
          </a:xfrm>
          <a:prstGeom prst="rect">
            <a:avLst/>
          </a:prstGeom>
          <a:noFill/>
          <a:ln/>
        </p:spPr>
        <p:txBody>
          <a:bodyPr wrap="square" lIns="0" tIns="0" rIns="0" bIns="0" rtlCol="0" anchor="t"/>
          <a:lstStyle/>
          <a:p>
            <a:pPr indent="0" marL="0">
              <a:buNone/>
            </a:pPr>
            <a:r>
              <a:rPr lang="en-US" sz="1500" b="1" dirty="0">
                <a:solidFill>
                  <a:srgbClr val="F0EF96"/>
                </a:solidFill>
                <a:latin typeface="Arial" pitchFamily="34" charset="0"/>
                <a:ea typeface="Arial" pitchFamily="34" charset="-122"/>
                <a:cs typeface="Arial" pitchFamily="34" charset="-120"/>
              </a:rPr>
              <a:t>Objectif  </a:t>
            </a:r>
            <a:pPr indent="0" marL="0">
              <a:buNone/>
            </a:pPr>
            <a:r>
              <a:rPr lang="en-US" sz="1500" dirty="0">
                <a:solidFill>
                  <a:srgbClr val="FFFFFF"/>
                </a:solidFill>
                <a:latin typeface="Arial" pitchFamily="34" charset="0"/>
                <a:ea typeface="Arial" pitchFamily="34" charset="-122"/>
                <a:cs typeface="Arial" pitchFamily="34" charset="-120"/>
              </a:rPr>
              <a:t>Connaître les obligations de la collectivité et les acteurs de la prévention, et situer le rôle de l'élu.</a:t>
            </a:r>
            <a:endParaRPr lang="en-US" sz="1500" dirty="0"/>
          </a:p>
        </p:txBody>
      </p:sp>
      <p:sp>
        <p:nvSpPr>
          <p:cNvPr id="6" name="Shape 4"/>
          <p:cNvSpPr/>
          <p:nvPr/>
        </p:nvSpPr>
        <p:spPr>
          <a:xfrm>
            <a:off x="4572000" y="4754880"/>
            <a:ext cx="1463040" cy="411480"/>
          </a:xfrm>
          <a:prstGeom prst="roundRect">
            <a:avLst>
              <a:gd name="adj" fmla="val 48889"/>
            </a:avLst>
          </a:prstGeom>
          <a:solidFill>
            <a:srgbClr val="F0EF96"/>
          </a:solidFill>
          <a:ln w="12700">
            <a:solidFill>
              <a:srgbClr val="F0EF96"/>
            </a:solidFill>
            <a:prstDash val="solid"/>
          </a:ln>
        </p:spPr>
      </p:sp>
      <p:sp>
        <p:nvSpPr>
          <p:cNvPr id="7" name="Text 5"/>
          <p:cNvSpPr txBox="1"/>
          <p:nvPr/>
        </p:nvSpPr>
        <p:spPr>
          <a:xfrm>
            <a:off x="4572000" y="4754880"/>
            <a:ext cx="1463040" cy="411480"/>
          </a:xfrm>
          <a:prstGeom prst="rect">
            <a:avLst/>
          </a:prstGeom>
          <a:noFill/>
          <a:ln/>
        </p:spPr>
        <p:txBody>
          <a:bodyPr wrap="square" lIns="0" tIns="0" rIns="0" bIns="0" rtlCol="0" anchor="ctr"/>
          <a:lstStyle/>
          <a:p>
            <a:pPr algn="ctr" indent="0" marL="0">
              <a:buNone/>
            </a:pPr>
            <a:r>
              <a:rPr lang="en-US" sz="1400" b="1" dirty="0">
                <a:solidFill>
                  <a:srgbClr val="0A032B"/>
                </a:solidFill>
                <a:latin typeface="Montserrat" pitchFamily="34" charset="0"/>
                <a:ea typeface="Montserrat" pitchFamily="34" charset="-122"/>
                <a:cs typeface="Montserrat" pitchFamily="34" charset="-120"/>
              </a:rPr>
              <a:t>60 min</a:t>
            </a:r>
            <a:endParaRPr lang="en-US" sz="1400" dirty="0"/>
          </a:p>
        </p:txBody>
      </p:sp>
      <p:sp>
        <p:nvSpPr>
          <p:cNvPr id="8" name="Text 6"/>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DCDAEA"/>
                </a:solidFill>
                <a:latin typeface="Arial" pitchFamily="34" charset="0"/>
                <a:ea typeface="Arial" pitchFamily="34" charset="-122"/>
                <a:cs typeface="Arial" pitchFamily="34" charset="-120"/>
              </a:rPr>
              <a:t>Gestes et postures de l'élu</a:t>
            </a:r>
            <a:endParaRPr lang="en-US" sz="900" dirty="0"/>
          </a:p>
        </p:txBody>
      </p:sp>
      <p:pic>
        <p:nvPicPr>
          <p:cNvPr id="9" name="Image 0" descr="logo_dark.png">    </p:cNvPr>
          <p:cNvPicPr>
            <a:picLocks noChangeAspect="1"/>
          </p:cNvPicPr>
          <p:nvPr/>
        </p:nvPicPr>
        <p:blipFill>
          <a:blip r:embed="rId1"/>
          <a:stretch>
            <a:fillRect/>
          </a:stretch>
        </p:blipFill>
        <p:spPr>
          <a:xfrm>
            <a:off x="10682935" y="6236208"/>
            <a:ext cx="960120" cy="398441"/>
          </a:xfrm>
          <a:prstGeom prst="rect">
            <a:avLst/>
          </a:prstGeom>
        </p:spPr>
      </p:pic>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DCDAEA"/>
                </a:solidFill>
                <a:latin typeface="Arial"/>
                <a:ea typeface="Arial"/>
                <a:cs typeface="Arial"/>
              </a:defRPr>
            </a:lvl1pPr>
          </a:lstStyle>
          <a:p>
            <a:pPr algn="l"/>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235440" cy="685800"/>
          </a:xfrm>
          <a:prstGeom prst="rect">
            <a:avLst/>
          </a:prstGeom>
          <a:noFill/>
          <a:ln/>
        </p:spPr>
        <p:txBody>
          <a:bodyPr wrap="square" lIns="0" tIns="0" rIns="0" bIns="0" rtlCol="0" anchor="ctr"/>
          <a:lstStyle/>
          <a:p>
            <a:pPr indent="0" marL="0">
              <a:buNone/>
            </a:pPr>
            <a:r>
              <a:rPr lang="en-US" sz="2800" b="1" dirty="0">
                <a:solidFill>
                  <a:srgbClr val="0A032B"/>
                </a:solidFill>
                <a:latin typeface="Montserrat" pitchFamily="34" charset="0"/>
                <a:ea typeface="Montserrat" pitchFamily="34" charset="-122"/>
                <a:cs typeface="Montserrat" pitchFamily="34" charset="-120"/>
              </a:rPr>
              <a:t>Les obligations de l'autorité territoriale</a:t>
            </a:r>
            <a:endParaRPr lang="en-US" sz="2800" dirty="0"/>
          </a:p>
        </p:txBody>
      </p:sp>
      <p:sp>
        <p:nvSpPr>
          <p:cNvPr id="3" name="Text 1"/>
          <p:cNvSpPr txBox="1"/>
          <p:nvPr/>
        </p:nvSpPr>
        <p:spPr>
          <a:xfrm>
            <a:off x="548640" y="1024128"/>
            <a:ext cx="9235440" cy="365760"/>
          </a:xfrm>
          <a:prstGeom prst="rect">
            <a:avLst/>
          </a:prstGeom>
          <a:noFill/>
          <a:ln/>
        </p:spPr>
        <p:txBody>
          <a:bodyPr wrap="square" lIns="0" tIns="0" rIns="0" bIns="0" rtlCol="0" anchor="ctr"/>
          <a:lstStyle/>
          <a:p>
            <a:pPr indent="0" marL="0">
              <a:buNone/>
            </a:pPr>
            <a:r>
              <a:rPr lang="en-US" sz="1400" i="1" dirty="0">
                <a:solidFill>
                  <a:srgbClr val="5E5A78"/>
                </a:solidFill>
                <a:latin typeface="Arial" pitchFamily="34" charset="0"/>
                <a:ea typeface="Arial" pitchFamily="34" charset="-122"/>
                <a:cs typeface="Arial" pitchFamily="34" charset="-120"/>
              </a:rPr>
              <a:t>Le maire ou le président est responsable de la santé et de la sécurité des agents</a:t>
            </a:r>
            <a:endParaRPr lang="en-US" sz="1400" dirty="0"/>
          </a:p>
        </p:txBody>
      </p:sp>
      <p:sp>
        <p:nvSpPr>
          <p:cNvPr id="4" name="Shape 2"/>
          <p:cNvSpPr/>
          <p:nvPr/>
        </p:nvSpPr>
        <p:spPr>
          <a:xfrm>
            <a:off x="10042855" y="530352"/>
            <a:ext cx="1600200" cy="347472"/>
          </a:xfrm>
          <a:prstGeom prst="roundRect">
            <a:avLst>
              <a:gd name="adj" fmla="val 50000"/>
            </a:avLst>
          </a:prstGeom>
          <a:solidFill>
            <a:srgbClr val="0A032B"/>
          </a:solidFill>
          <a:ln w="12700">
            <a:solidFill>
              <a:srgbClr val="0A032B"/>
            </a:solidFill>
            <a:prstDash val="solid"/>
          </a:ln>
        </p:spPr>
      </p:sp>
      <p:sp>
        <p:nvSpPr>
          <p:cNvPr id="5" name="Text 3"/>
          <p:cNvSpPr txBox="1"/>
          <p:nvPr/>
        </p:nvSpPr>
        <p:spPr>
          <a:xfrm>
            <a:off x="10042855" y="530352"/>
            <a:ext cx="1600200" cy="347472"/>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Montserrat" pitchFamily="34" charset="0"/>
                <a:ea typeface="Montserrat" pitchFamily="34" charset="-122"/>
                <a:cs typeface="Montserrat" pitchFamily="34" charset="-120"/>
              </a:rPr>
              <a:t>THÉORIE</a:t>
            </a:r>
            <a:endParaRPr lang="en-US" sz="1100" dirty="0"/>
          </a:p>
        </p:txBody>
      </p:sp>
      <p:sp>
        <p:nvSpPr>
          <p:cNvPr id="6" name="Text 4"/>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5E5A78"/>
                </a:solidFill>
                <a:latin typeface="Arial" pitchFamily="34" charset="0"/>
                <a:ea typeface="Arial" pitchFamily="34" charset="-122"/>
                <a:cs typeface="Arial" pitchFamily="34" charset="-120"/>
              </a:rPr>
              <a:t>Gestes et postures de l'élu  ·  Séquence 6</a:t>
            </a:r>
            <a:endParaRPr lang="en-US" sz="900" dirty="0"/>
          </a:p>
        </p:txBody>
      </p:sp>
      <p:pic>
        <p:nvPicPr>
          <p:cNvPr id="7" name="Image 0" descr="logo_light.png">    </p:cNvPr>
          <p:cNvPicPr>
            <a:picLocks noChangeAspect="1"/>
          </p:cNvPicPr>
          <p:nvPr/>
        </p:nvPicPr>
        <p:blipFill>
          <a:blip r:embed="rId1"/>
          <a:stretch>
            <a:fillRect/>
          </a:stretch>
        </p:blipFill>
        <p:spPr>
          <a:xfrm>
            <a:off x="10682935" y="6236208"/>
            <a:ext cx="960120" cy="398441"/>
          </a:xfrm>
          <a:prstGeom prst="rect">
            <a:avLst/>
          </a:prstGeom>
        </p:spPr>
      </p:pic>
      <p:sp>
        <p:nvSpPr>
          <p:cNvPr id="8" name="Shape 5"/>
          <p:cNvSpPr/>
          <p:nvPr/>
        </p:nvSpPr>
        <p:spPr>
          <a:xfrm>
            <a:off x="548640" y="1600200"/>
            <a:ext cx="3515258" cy="2080260"/>
          </a:xfrm>
          <a:prstGeom prst="roundRect">
            <a:avLst>
              <a:gd name="adj" fmla="val 3516"/>
            </a:avLst>
          </a:prstGeom>
          <a:solidFill>
            <a:srgbClr val="EEEDF5"/>
          </a:solidFill>
          <a:ln w="12700">
            <a:solidFill>
              <a:srgbClr val="EEEDF5"/>
            </a:solidFill>
            <a:prstDash val="solid"/>
          </a:ln>
        </p:spPr>
      </p:sp>
      <p:sp>
        <p:nvSpPr>
          <p:cNvPr id="9" name="Shape 6"/>
          <p:cNvSpPr/>
          <p:nvPr/>
        </p:nvSpPr>
        <p:spPr>
          <a:xfrm>
            <a:off x="777240" y="1828800"/>
            <a:ext cx="548640" cy="548640"/>
          </a:xfrm>
          <a:prstGeom prst="ellipse">
            <a:avLst/>
          </a:prstGeom>
          <a:solidFill>
            <a:srgbClr val="0A032B"/>
          </a:solidFill>
          <a:ln w="12700">
            <a:solidFill>
              <a:srgbClr val="0A032B"/>
            </a:solidFill>
            <a:prstDash val="solid"/>
          </a:ln>
        </p:spPr>
      </p:sp>
      <p:pic>
        <p:nvPicPr>
          <p:cNvPr id="10" name="Image 1" descr="preencoded.png">    </p:cNvPr>
          <p:cNvPicPr>
            <a:picLocks noChangeAspect="1"/>
          </p:cNvPicPr>
          <p:nvPr/>
        </p:nvPicPr>
        <p:blipFill>
          <a:blip r:embed="rId2"/>
          <a:stretch>
            <a:fillRect/>
          </a:stretch>
        </p:blipFill>
        <p:spPr>
          <a:xfrm>
            <a:off x="914400" y="1965960"/>
            <a:ext cx="274320" cy="274320"/>
          </a:xfrm>
          <a:prstGeom prst="rect">
            <a:avLst/>
          </a:prstGeom>
        </p:spPr>
      </p:pic>
      <p:sp>
        <p:nvSpPr>
          <p:cNvPr id="11" name="Text 7"/>
          <p:cNvSpPr txBox="1"/>
          <p:nvPr/>
        </p:nvSpPr>
        <p:spPr>
          <a:xfrm>
            <a:off x="1508760" y="1828800"/>
            <a:ext cx="2326538" cy="5486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Évaluer les risques</a:t>
            </a:r>
            <a:endParaRPr lang="en-US" sz="1500" dirty="0"/>
          </a:p>
        </p:txBody>
      </p:sp>
      <p:sp>
        <p:nvSpPr>
          <p:cNvPr id="12" name="Text 8"/>
          <p:cNvSpPr txBox="1"/>
          <p:nvPr/>
        </p:nvSpPr>
        <p:spPr>
          <a:xfrm>
            <a:off x="777240" y="2514600"/>
            <a:ext cx="3058058" cy="1028700"/>
          </a:xfrm>
          <a:prstGeom prst="rect">
            <a:avLst/>
          </a:prstGeom>
          <a:noFill/>
          <a:ln/>
        </p:spPr>
        <p:txBody>
          <a:bodyPr wrap="square" lIns="0" tIns="0" rIns="0" bIns="0" rtlCol="0" anchor="t"/>
          <a:lstStyle/>
          <a:p>
            <a:pPr indent="0" marL="0">
              <a:buNone/>
            </a:pPr>
            <a:r>
              <a:rPr lang="en-US" sz="1250" dirty="0">
                <a:solidFill>
                  <a:srgbClr val="35305C"/>
                </a:solidFill>
                <a:latin typeface="Arial" pitchFamily="34" charset="0"/>
                <a:ea typeface="Arial" pitchFamily="34" charset="-122"/>
                <a:cs typeface="Arial" pitchFamily="34" charset="-120"/>
              </a:rPr>
              <a:t>Identifier et évaluer les risques de chaque unité de travail, et les transcrire dans le document unique.</a:t>
            </a:r>
            <a:endParaRPr lang="en-US" sz="1250" dirty="0"/>
          </a:p>
        </p:txBody>
      </p:sp>
      <p:sp>
        <p:nvSpPr>
          <p:cNvPr id="13" name="Shape 9"/>
          <p:cNvSpPr/>
          <p:nvPr/>
        </p:nvSpPr>
        <p:spPr>
          <a:xfrm>
            <a:off x="4338218" y="1600200"/>
            <a:ext cx="3515258" cy="2080260"/>
          </a:xfrm>
          <a:prstGeom prst="roundRect">
            <a:avLst>
              <a:gd name="adj" fmla="val 3516"/>
            </a:avLst>
          </a:prstGeom>
          <a:solidFill>
            <a:srgbClr val="EEEDF5"/>
          </a:solidFill>
          <a:ln w="12700">
            <a:solidFill>
              <a:srgbClr val="EEEDF5"/>
            </a:solidFill>
            <a:prstDash val="solid"/>
          </a:ln>
        </p:spPr>
      </p:sp>
      <p:sp>
        <p:nvSpPr>
          <p:cNvPr id="14" name="Shape 10"/>
          <p:cNvSpPr/>
          <p:nvPr/>
        </p:nvSpPr>
        <p:spPr>
          <a:xfrm>
            <a:off x="4566818" y="1828800"/>
            <a:ext cx="548640" cy="548640"/>
          </a:xfrm>
          <a:prstGeom prst="ellipse">
            <a:avLst/>
          </a:prstGeom>
          <a:solidFill>
            <a:srgbClr val="0A032B"/>
          </a:solidFill>
          <a:ln w="12700">
            <a:solidFill>
              <a:srgbClr val="0A032B"/>
            </a:solidFill>
            <a:prstDash val="solid"/>
          </a:ln>
        </p:spPr>
      </p:sp>
      <p:pic>
        <p:nvPicPr>
          <p:cNvPr id="15" name="Image 2" descr="preencoded.png">    </p:cNvPr>
          <p:cNvPicPr>
            <a:picLocks noChangeAspect="1"/>
          </p:cNvPicPr>
          <p:nvPr/>
        </p:nvPicPr>
        <p:blipFill>
          <a:blip r:embed="rId3"/>
          <a:stretch>
            <a:fillRect/>
          </a:stretch>
        </p:blipFill>
        <p:spPr>
          <a:xfrm>
            <a:off x="4703978" y="1965960"/>
            <a:ext cx="274320" cy="274320"/>
          </a:xfrm>
          <a:prstGeom prst="rect">
            <a:avLst/>
          </a:prstGeom>
        </p:spPr>
      </p:pic>
      <p:sp>
        <p:nvSpPr>
          <p:cNvPr id="16" name="Text 11"/>
          <p:cNvSpPr txBox="1"/>
          <p:nvPr/>
        </p:nvSpPr>
        <p:spPr>
          <a:xfrm>
            <a:off x="5298338" y="1828800"/>
            <a:ext cx="2326538" cy="5486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Planifier la prévention</a:t>
            </a:r>
            <a:endParaRPr lang="en-US" sz="1500" dirty="0"/>
          </a:p>
        </p:txBody>
      </p:sp>
      <p:sp>
        <p:nvSpPr>
          <p:cNvPr id="17" name="Text 12"/>
          <p:cNvSpPr txBox="1"/>
          <p:nvPr/>
        </p:nvSpPr>
        <p:spPr>
          <a:xfrm>
            <a:off x="4566818" y="2514600"/>
            <a:ext cx="3058058" cy="1028700"/>
          </a:xfrm>
          <a:prstGeom prst="rect">
            <a:avLst/>
          </a:prstGeom>
          <a:noFill/>
          <a:ln/>
        </p:spPr>
        <p:txBody>
          <a:bodyPr wrap="square" lIns="0" tIns="0" rIns="0" bIns="0" rtlCol="0" anchor="t"/>
          <a:lstStyle/>
          <a:p>
            <a:pPr indent="0" marL="0">
              <a:buNone/>
            </a:pPr>
            <a:r>
              <a:rPr lang="en-US" sz="1250" dirty="0">
                <a:solidFill>
                  <a:srgbClr val="35305C"/>
                </a:solidFill>
                <a:latin typeface="Arial" pitchFamily="34" charset="0"/>
                <a:ea typeface="Arial" pitchFamily="34" charset="-122"/>
                <a:cs typeface="Arial" pitchFamily="34" charset="-120"/>
              </a:rPr>
              <a:t>Définir des actions de prévention et les inscrire dans un programme annuel.</a:t>
            </a:r>
            <a:endParaRPr lang="en-US" sz="1250" dirty="0"/>
          </a:p>
        </p:txBody>
      </p:sp>
      <p:sp>
        <p:nvSpPr>
          <p:cNvPr id="18" name="Shape 13"/>
          <p:cNvSpPr/>
          <p:nvPr/>
        </p:nvSpPr>
        <p:spPr>
          <a:xfrm>
            <a:off x="8127797" y="1600200"/>
            <a:ext cx="3515258" cy="2080260"/>
          </a:xfrm>
          <a:prstGeom prst="roundRect">
            <a:avLst>
              <a:gd name="adj" fmla="val 3516"/>
            </a:avLst>
          </a:prstGeom>
          <a:solidFill>
            <a:srgbClr val="EEEDF5"/>
          </a:solidFill>
          <a:ln w="12700">
            <a:solidFill>
              <a:srgbClr val="EEEDF5"/>
            </a:solidFill>
            <a:prstDash val="solid"/>
          </a:ln>
        </p:spPr>
      </p:sp>
      <p:sp>
        <p:nvSpPr>
          <p:cNvPr id="19" name="Shape 14"/>
          <p:cNvSpPr/>
          <p:nvPr/>
        </p:nvSpPr>
        <p:spPr>
          <a:xfrm>
            <a:off x="8356397" y="1828800"/>
            <a:ext cx="548640" cy="548640"/>
          </a:xfrm>
          <a:prstGeom prst="ellipse">
            <a:avLst/>
          </a:prstGeom>
          <a:solidFill>
            <a:srgbClr val="0A032B"/>
          </a:solidFill>
          <a:ln w="12700">
            <a:solidFill>
              <a:srgbClr val="0A032B"/>
            </a:solidFill>
            <a:prstDash val="solid"/>
          </a:ln>
        </p:spPr>
      </p:sp>
      <p:pic>
        <p:nvPicPr>
          <p:cNvPr id="20" name="Image 3" descr="preencoded.png">    </p:cNvPr>
          <p:cNvPicPr>
            <a:picLocks noChangeAspect="1"/>
          </p:cNvPicPr>
          <p:nvPr/>
        </p:nvPicPr>
        <p:blipFill>
          <a:blip r:embed="rId4"/>
          <a:stretch>
            <a:fillRect/>
          </a:stretch>
        </p:blipFill>
        <p:spPr>
          <a:xfrm>
            <a:off x="8493557" y="1965960"/>
            <a:ext cx="274320" cy="274320"/>
          </a:xfrm>
          <a:prstGeom prst="rect">
            <a:avLst/>
          </a:prstGeom>
        </p:spPr>
      </p:pic>
      <p:sp>
        <p:nvSpPr>
          <p:cNvPr id="21" name="Text 15"/>
          <p:cNvSpPr txBox="1"/>
          <p:nvPr/>
        </p:nvSpPr>
        <p:spPr>
          <a:xfrm>
            <a:off x="9087917" y="1828800"/>
            <a:ext cx="2326538" cy="5486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Informer et former</a:t>
            </a:r>
            <a:endParaRPr lang="en-US" sz="1500" dirty="0"/>
          </a:p>
        </p:txBody>
      </p:sp>
      <p:sp>
        <p:nvSpPr>
          <p:cNvPr id="22" name="Text 16"/>
          <p:cNvSpPr txBox="1"/>
          <p:nvPr/>
        </p:nvSpPr>
        <p:spPr>
          <a:xfrm>
            <a:off x="8356397" y="2514600"/>
            <a:ext cx="3058058" cy="1028700"/>
          </a:xfrm>
          <a:prstGeom prst="rect">
            <a:avLst/>
          </a:prstGeom>
          <a:noFill/>
          <a:ln/>
        </p:spPr>
        <p:txBody>
          <a:bodyPr wrap="square" lIns="0" tIns="0" rIns="0" bIns="0" rtlCol="0" anchor="t"/>
          <a:lstStyle/>
          <a:p>
            <a:pPr indent="0" marL="0">
              <a:buNone/>
            </a:pPr>
            <a:r>
              <a:rPr lang="en-US" sz="1250" dirty="0">
                <a:solidFill>
                  <a:srgbClr val="35305C"/>
                </a:solidFill>
                <a:latin typeface="Arial" pitchFamily="34" charset="0"/>
                <a:ea typeface="Arial" pitchFamily="34" charset="-122"/>
                <a:cs typeface="Arial" pitchFamily="34" charset="-120"/>
              </a:rPr>
              <a:t>Former les agents à la sécurité, notamment aux gestes et postures pour les manutentions.</a:t>
            </a:r>
            <a:endParaRPr lang="en-US" sz="1250" dirty="0"/>
          </a:p>
        </p:txBody>
      </p:sp>
      <p:sp>
        <p:nvSpPr>
          <p:cNvPr id="23" name="Shape 17"/>
          <p:cNvSpPr/>
          <p:nvPr/>
        </p:nvSpPr>
        <p:spPr>
          <a:xfrm>
            <a:off x="548640" y="3954780"/>
            <a:ext cx="3515258" cy="2080260"/>
          </a:xfrm>
          <a:prstGeom prst="roundRect">
            <a:avLst>
              <a:gd name="adj" fmla="val 3516"/>
            </a:avLst>
          </a:prstGeom>
          <a:solidFill>
            <a:srgbClr val="EEEDF5"/>
          </a:solidFill>
          <a:ln w="12700">
            <a:solidFill>
              <a:srgbClr val="EEEDF5"/>
            </a:solidFill>
            <a:prstDash val="solid"/>
          </a:ln>
        </p:spPr>
      </p:sp>
      <p:sp>
        <p:nvSpPr>
          <p:cNvPr id="24" name="Shape 18"/>
          <p:cNvSpPr/>
          <p:nvPr/>
        </p:nvSpPr>
        <p:spPr>
          <a:xfrm>
            <a:off x="777240" y="4183380"/>
            <a:ext cx="548640" cy="548640"/>
          </a:xfrm>
          <a:prstGeom prst="ellipse">
            <a:avLst/>
          </a:prstGeom>
          <a:solidFill>
            <a:srgbClr val="0A032B"/>
          </a:solidFill>
          <a:ln w="12700">
            <a:solidFill>
              <a:srgbClr val="0A032B"/>
            </a:solidFill>
            <a:prstDash val="solid"/>
          </a:ln>
        </p:spPr>
      </p:sp>
      <p:pic>
        <p:nvPicPr>
          <p:cNvPr id="25" name="Image 4" descr="preencoded.png">    </p:cNvPr>
          <p:cNvPicPr>
            <a:picLocks noChangeAspect="1"/>
          </p:cNvPicPr>
          <p:nvPr/>
        </p:nvPicPr>
        <p:blipFill>
          <a:blip r:embed="rId5"/>
          <a:stretch>
            <a:fillRect/>
          </a:stretch>
        </p:blipFill>
        <p:spPr>
          <a:xfrm>
            <a:off x="914400" y="4320540"/>
            <a:ext cx="274320" cy="274320"/>
          </a:xfrm>
          <a:prstGeom prst="rect">
            <a:avLst/>
          </a:prstGeom>
        </p:spPr>
      </p:pic>
      <p:sp>
        <p:nvSpPr>
          <p:cNvPr id="26" name="Text 19"/>
          <p:cNvSpPr txBox="1"/>
          <p:nvPr/>
        </p:nvSpPr>
        <p:spPr>
          <a:xfrm>
            <a:off x="1508760" y="4183380"/>
            <a:ext cx="2326538" cy="5486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Fournir les moyens</a:t>
            </a:r>
            <a:endParaRPr lang="en-US" sz="1500" dirty="0"/>
          </a:p>
        </p:txBody>
      </p:sp>
      <p:sp>
        <p:nvSpPr>
          <p:cNvPr id="27" name="Text 20"/>
          <p:cNvSpPr txBox="1"/>
          <p:nvPr/>
        </p:nvSpPr>
        <p:spPr>
          <a:xfrm>
            <a:off x="777240" y="4869180"/>
            <a:ext cx="3058058" cy="1028700"/>
          </a:xfrm>
          <a:prstGeom prst="rect">
            <a:avLst/>
          </a:prstGeom>
          <a:noFill/>
          <a:ln/>
        </p:spPr>
        <p:txBody>
          <a:bodyPr wrap="square" lIns="0" tIns="0" rIns="0" bIns="0" rtlCol="0" anchor="t"/>
          <a:lstStyle/>
          <a:p>
            <a:pPr indent="0" marL="0">
              <a:buNone/>
            </a:pPr>
            <a:r>
              <a:rPr lang="en-US" sz="1250" dirty="0">
                <a:solidFill>
                  <a:srgbClr val="35305C"/>
                </a:solidFill>
                <a:latin typeface="Arial" pitchFamily="34" charset="0"/>
                <a:ea typeface="Arial" pitchFamily="34" charset="-122"/>
                <a:cs typeface="Arial" pitchFamily="34" charset="-120"/>
              </a:rPr>
              <a:t>Équipements adaptés, aides à la manutention, EPI, locaux conformes.</a:t>
            </a:r>
            <a:endParaRPr lang="en-US" sz="1250" dirty="0"/>
          </a:p>
        </p:txBody>
      </p:sp>
      <p:sp>
        <p:nvSpPr>
          <p:cNvPr id="28" name="Shape 21"/>
          <p:cNvSpPr/>
          <p:nvPr/>
        </p:nvSpPr>
        <p:spPr>
          <a:xfrm>
            <a:off x="4338218" y="3954780"/>
            <a:ext cx="3515258" cy="2080260"/>
          </a:xfrm>
          <a:prstGeom prst="roundRect">
            <a:avLst>
              <a:gd name="adj" fmla="val 3516"/>
            </a:avLst>
          </a:prstGeom>
          <a:solidFill>
            <a:srgbClr val="EEEDF5"/>
          </a:solidFill>
          <a:ln w="12700">
            <a:solidFill>
              <a:srgbClr val="EEEDF5"/>
            </a:solidFill>
            <a:prstDash val="solid"/>
          </a:ln>
        </p:spPr>
      </p:sp>
      <p:sp>
        <p:nvSpPr>
          <p:cNvPr id="29" name="Shape 22"/>
          <p:cNvSpPr/>
          <p:nvPr/>
        </p:nvSpPr>
        <p:spPr>
          <a:xfrm>
            <a:off x="4566818" y="4183380"/>
            <a:ext cx="548640" cy="548640"/>
          </a:xfrm>
          <a:prstGeom prst="ellipse">
            <a:avLst/>
          </a:prstGeom>
          <a:solidFill>
            <a:srgbClr val="0A032B"/>
          </a:solidFill>
          <a:ln w="12700">
            <a:solidFill>
              <a:srgbClr val="0A032B"/>
            </a:solidFill>
            <a:prstDash val="solid"/>
          </a:ln>
        </p:spPr>
      </p:sp>
      <p:pic>
        <p:nvPicPr>
          <p:cNvPr id="30" name="Image 5" descr="preencoded.png">    </p:cNvPr>
          <p:cNvPicPr>
            <a:picLocks noChangeAspect="1"/>
          </p:cNvPicPr>
          <p:nvPr/>
        </p:nvPicPr>
        <p:blipFill>
          <a:blip r:embed="rId6"/>
          <a:stretch>
            <a:fillRect/>
          </a:stretch>
        </p:blipFill>
        <p:spPr>
          <a:xfrm>
            <a:off x="4703978" y="4320540"/>
            <a:ext cx="274320" cy="274320"/>
          </a:xfrm>
          <a:prstGeom prst="rect">
            <a:avLst/>
          </a:prstGeom>
        </p:spPr>
      </p:pic>
      <p:sp>
        <p:nvSpPr>
          <p:cNvPr id="31" name="Text 23"/>
          <p:cNvSpPr txBox="1"/>
          <p:nvPr/>
        </p:nvSpPr>
        <p:spPr>
          <a:xfrm>
            <a:off x="5298338" y="4183380"/>
            <a:ext cx="2326538" cy="5486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Organiser le suivi</a:t>
            </a:r>
            <a:endParaRPr lang="en-US" sz="1500" dirty="0"/>
          </a:p>
        </p:txBody>
      </p:sp>
      <p:sp>
        <p:nvSpPr>
          <p:cNvPr id="32" name="Text 24"/>
          <p:cNvSpPr txBox="1"/>
          <p:nvPr/>
        </p:nvSpPr>
        <p:spPr>
          <a:xfrm>
            <a:off x="4566818" y="4869180"/>
            <a:ext cx="3058058" cy="1028700"/>
          </a:xfrm>
          <a:prstGeom prst="rect">
            <a:avLst/>
          </a:prstGeom>
          <a:noFill/>
          <a:ln/>
        </p:spPr>
        <p:txBody>
          <a:bodyPr wrap="square" lIns="0" tIns="0" rIns="0" bIns="0" rtlCol="0" anchor="t"/>
          <a:lstStyle/>
          <a:p>
            <a:pPr indent="0" marL="0">
              <a:buNone/>
            </a:pPr>
            <a:r>
              <a:rPr lang="en-US" sz="1250" dirty="0">
                <a:solidFill>
                  <a:srgbClr val="35305C"/>
                </a:solidFill>
                <a:latin typeface="Arial" pitchFamily="34" charset="0"/>
                <a:ea typeface="Arial" pitchFamily="34" charset="-122"/>
                <a:cs typeface="Arial" pitchFamily="34" charset="-120"/>
              </a:rPr>
              <a:t>Accès à un service de médecine préventive, désignation d'un assistant ou conseiller de prévention.</a:t>
            </a:r>
            <a:endParaRPr lang="en-US" sz="1250" dirty="0"/>
          </a:p>
        </p:txBody>
      </p:sp>
      <p:sp>
        <p:nvSpPr>
          <p:cNvPr id="33" name="Shape 25"/>
          <p:cNvSpPr/>
          <p:nvPr/>
        </p:nvSpPr>
        <p:spPr>
          <a:xfrm>
            <a:off x="8127797" y="3954780"/>
            <a:ext cx="3515258" cy="2080260"/>
          </a:xfrm>
          <a:prstGeom prst="roundRect">
            <a:avLst>
              <a:gd name="adj" fmla="val 3516"/>
            </a:avLst>
          </a:prstGeom>
          <a:solidFill>
            <a:srgbClr val="EEEDF5"/>
          </a:solidFill>
          <a:ln w="12700">
            <a:solidFill>
              <a:srgbClr val="EEEDF5"/>
            </a:solidFill>
            <a:prstDash val="solid"/>
          </a:ln>
        </p:spPr>
      </p:sp>
      <p:sp>
        <p:nvSpPr>
          <p:cNvPr id="34" name="Shape 26"/>
          <p:cNvSpPr/>
          <p:nvPr/>
        </p:nvSpPr>
        <p:spPr>
          <a:xfrm>
            <a:off x="8356397" y="4183380"/>
            <a:ext cx="548640" cy="548640"/>
          </a:xfrm>
          <a:prstGeom prst="ellipse">
            <a:avLst/>
          </a:prstGeom>
          <a:solidFill>
            <a:srgbClr val="0A032B"/>
          </a:solidFill>
          <a:ln w="12700">
            <a:solidFill>
              <a:srgbClr val="0A032B"/>
            </a:solidFill>
            <a:prstDash val="solid"/>
          </a:ln>
        </p:spPr>
      </p:sp>
      <p:pic>
        <p:nvPicPr>
          <p:cNvPr id="35" name="Image 6" descr="preencoded.png">    </p:cNvPr>
          <p:cNvPicPr>
            <a:picLocks noChangeAspect="1"/>
          </p:cNvPicPr>
          <p:nvPr/>
        </p:nvPicPr>
        <p:blipFill>
          <a:blip r:embed="rId7"/>
          <a:stretch>
            <a:fillRect/>
          </a:stretch>
        </p:blipFill>
        <p:spPr>
          <a:xfrm>
            <a:off x="8493557" y="4320540"/>
            <a:ext cx="274320" cy="274320"/>
          </a:xfrm>
          <a:prstGeom prst="rect">
            <a:avLst/>
          </a:prstGeom>
        </p:spPr>
      </p:pic>
      <p:sp>
        <p:nvSpPr>
          <p:cNvPr id="36" name="Text 27"/>
          <p:cNvSpPr txBox="1"/>
          <p:nvPr/>
        </p:nvSpPr>
        <p:spPr>
          <a:xfrm>
            <a:off x="9087917" y="4183380"/>
            <a:ext cx="2326538" cy="5486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Engager sa responsabilité</a:t>
            </a:r>
            <a:endParaRPr lang="en-US" sz="1500" dirty="0"/>
          </a:p>
        </p:txBody>
      </p:sp>
      <p:sp>
        <p:nvSpPr>
          <p:cNvPr id="37" name="Text 28"/>
          <p:cNvSpPr txBox="1"/>
          <p:nvPr/>
        </p:nvSpPr>
        <p:spPr>
          <a:xfrm>
            <a:off x="8356397" y="4869180"/>
            <a:ext cx="3058058" cy="1028700"/>
          </a:xfrm>
          <a:prstGeom prst="rect">
            <a:avLst/>
          </a:prstGeom>
          <a:noFill/>
          <a:ln/>
        </p:spPr>
        <p:txBody>
          <a:bodyPr wrap="square" lIns="0" tIns="0" rIns="0" bIns="0" rtlCol="0" anchor="t"/>
          <a:lstStyle/>
          <a:p>
            <a:pPr indent="0" marL="0">
              <a:buNone/>
            </a:pPr>
            <a:r>
              <a:rPr lang="en-US" sz="1250" dirty="0">
                <a:solidFill>
                  <a:srgbClr val="35305C"/>
                </a:solidFill>
                <a:latin typeface="Arial" pitchFamily="34" charset="0"/>
                <a:ea typeface="Arial" pitchFamily="34" charset="-122"/>
                <a:cs typeface="Arial" pitchFamily="34" charset="-120"/>
              </a:rPr>
              <a:t>En cas de manquement, la responsabilité administrative, voire pénale, de l'autorité peut être recherchée.</a:t>
            </a:r>
            <a:endParaRPr lang="en-US" sz="1250" dirty="0"/>
          </a:p>
        </p:txBody>
      </p:sp>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235440" cy="685800"/>
          </a:xfrm>
          <a:prstGeom prst="rect">
            <a:avLst/>
          </a:prstGeom>
          <a:noFill/>
          <a:ln/>
        </p:spPr>
        <p:txBody>
          <a:bodyPr wrap="square" lIns="0" tIns="0" rIns="0" bIns="0" rtlCol="0" anchor="ctr"/>
          <a:lstStyle/>
          <a:p>
            <a:pPr indent="0" marL="0">
              <a:buNone/>
            </a:pPr>
            <a:r>
              <a:rPr lang="en-US" sz="2800" b="1" dirty="0">
                <a:solidFill>
                  <a:srgbClr val="0A032B"/>
                </a:solidFill>
                <a:latin typeface="Montserrat" pitchFamily="34" charset="0"/>
                <a:ea typeface="Montserrat" pitchFamily="34" charset="-122"/>
                <a:cs typeface="Montserrat" pitchFamily="34" charset="-120"/>
              </a:rPr>
              <a:t>Document unique et programme de prévention</a:t>
            </a:r>
            <a:endParaRPr lang="en-US" sz="2800" dirty="0"/>
          </a:p>
        </p:txBody>
      </p:sp>
      <p:sp>
        <p:nvSpPr>
          <p:cNvPr id="3" name="Shape 1"/>
          <p:cNvSpPr/>
          <p:nvPr/>
        </p:nvSpPr>
        <p:spPr>
          <a:xfrm>
            <a:off x="10042855" y="530352"/>
            <a:ext cx="1600200" cy="347472"/>
          </a:xfrm>
          <a:prstGeom prst="roundRect">
            <a:avLst>
              <a:gd name="adj" fmla="val 50000"/>
            </a:avLst>
          </a:prstGeom>
          <a:solidFill>
            <a:srgbClr val="0A032B"/>
          </a:solidFill>
          <a:ln w="12700">
            <a:solidFill>
              <a:srgbClr val="0A032B"/>
            </a:solidFill>
            <a:prstDash val="solid"/>
          </a:ln>
        </p:spPr>
      </p:sp>
      <p:sp>
        <p:nvSpPr>
          <p:cNvPr id="4" name="Text 2"/>
          <p:cNvSpPr txBox="1"/>
          <p:nvPr/>
        </p:nvSpPr>
        <p:spPr>
          <a:xfrm>
            <a:off x="10042855" y="530352"/>
            <a:ext cx="1600200" cy="347472"/>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Montserrat" pitchFamily="34" charset="0"/>
                <a:ea typeface="Montserrat" pitchFamily="34" charset="-122"/>
                <a:cs typeface="Montserrat" pitchFamily="34" charset="-120"/>
              </a:rPr>
              <a:t>THÉORIE</a:t>
            </a:r>
            <a:endParaRPr lang="en-US" sz="1100" dirty="0"/>
          </a:p>
        </p:txBody>
      </p:sp>
      <p:sp>
        <p:nvSpPr>
          <p:cNvPr id="5" name="Text 3"/>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5E5A78"/>
                </a:solidFill>
                <a:latin typeface="Arial" pitchFamily="34" charset="0"/>
                <a:ea typeface="Arial" pitchFamily="34" charset="-122"/>
                <a:cs typeface="Arial" pitchFamily="34" charset="-120"/>
              </a:rPr>
              <a:t>Gestes et postures de l'élu  ·  Séquence 6</a:t>
            </a:r>
            <a:endParaRPr lang="en-US" sz="900" dirty="0"/>
          </a:p>
        </p:txBody>
      </p:sp>
      <p:pic>
        <p:nvPicPr>
          <p:cNvPr id="6" name="Image 0" descr="logo_light.png">    </p:cNvPr>
          <p:cNvPicPr>
            <a:picLocks noChangeAspect="1"/>
          </p:cNvPicPr>
          <p:nvPr/>
        </p:nvPicPr>
        <p:blipFill>
          <a:blip r:embed="rId1"/>
          <a:stretch>
            <a:fillRect/>
          </a:stretch>
        </p:blipFill>
        <p:spPr>
          <a:xfrm>
            <a:off x="10682935" y="6236208"/>
            <a:ext cx="960120" cy="398441"/>
          </a:xfrm>
          <a:prstGeom prst="rect">
            <a:avLst/>
          </a:prstGeom>
        </p:spPr>
      </p:pic>
      <p:sp>
        <p:nvSpPr>
          <p:cNvPr id="7" name="Shape 4"/>
          <p:cNvSpPr/>
          <p:nvPr/>
        </p:nvSpPr>
        <p:spPr>
          <a:xfrm>
            <a:off x="548640" y="1417320"/>
            <a:ext cx="2464994" cy="2331720"/>
          </a:xfrm>
          <a:prstGeom prst="roundRect">
            <a:avLst>
              <a:gd name="adj" fmla="val 3137"/>
            </a:avLst>
          </a:prstGeom>
          <a:solidFill>
            <a:srgbClr val="EEEDF5"/>
          </a:solidFill>
          <a:ln w="12700">
            <a:solidFill>
              <a:srgbClr val="EEEDF5"/>
            </a:solidFill>
            <a:prstDash val="solid"/>
          </a:ln>
        </p:spPr>
      </p:sp>
      <p:sp>
        <p:nvSpPr>
          <p:cNvPr id="8" name="Shape 5"/>
          <p:cNvSpPr/>
          <p:nvPr/>
        </p:nvSpPr>
        <p:spPr>
          <a:xfrm>
            <a:off x="1415377" y="1691640"/>
            <a:ext cx="731520" cy="731520"/>
          </a:xfrm>
          <a:prstGeom prst="ellipse">
            <a:avLst/>
          </a:prstGeom>
          <a:solidFill>
            <a:srgbClr val="0A032B"/>
          </a:solidFill>
          <a:ln w="12700">
            <a:solidFill>
              <a:srgbClr val="0A032B"/>
            </a:solidFill>
            <a:prstDash val="solid"/>
          </a:ln>
        </p:spPr>
      </p:sp>
      <p:pic>
        <p:nvPicPr>
          <p:cNvPr id="9" name="Image 1" descr="preencoded.png">    </p:cNvPr>
          <p:cNvPicPr>
            <a:picLocks noChangeAspect="1"/>
          </p:cNvPicPr>
          <p:nvPr/>
        </p:nvPicPr>
        <p:blipFill>
          <a:blip r:embed="rId2"/>
          <a:stretch>
            <a:fillRect/>
          </a:stretch>
        </p:blipFill>
        <p:spPr>
          <a:xfrm>
            <a:off x="1598257" y="1874520"/>
            <a:ext cx="365760" cy="365760"/>
          </a:xfrm>
          <a:prstGeom prst="rect">
            <a:avLst/>
          </a:prstGeom>
        </p:spPr>
      </p:pic>
      <p:sp>
        <p:nvSpPr>
          <p:cNvPr id="10" name="Text 6"/>
          <p:cNvSpPr txBox="1"/>
          <p:nvPr/>
        </p:nvSpPr>
        <p:spPr>
          <a:xfrm>
            <a:off x="731520" y="2514600"/>
            <a:ext cx="2099234" cy="411480"/>
          </a:xfrm>
          <a:prstGeom prst="rect">
            <a:avLst/>
          </a:prstGeom>
          <a:noFill/>
          <a:ln/>
        </p:spPr>
        <p:txBody>
          <a:bodyPr wrap="square" lIns="0" tIns="0" rIns="0" bIns="0" rtlCol="0" anchor="ctr"/>
          <a:lstStyle/>
          <a:p>
            <a:pPr algn="ctr" indent="0" marL="0">
              <a:buNone/>
            </a:pPr>
            <a:r>
              <a:rPr lang="en-US" sz="1700" b="1" dirty="0">
                <a:solidFill>
                  <a:srgbClr val="0A032B"/>
                </a:solidFill>
                <a:latin typeface="Montserrat" pitchFamily="34" charset="0"/>
                <a:ea typeface="Montserrat" pitchFamily="34" charset="-122"/>
                <a:cs typeface="Montserrat" pitchFamily="34" charset="-120"/>
              </a:rPr>
              <a:t>Identifier</a:t>
            </a:r>
            <a:endParaRPr lang="en-US" sz="1700" dirty="0"/>
          </a:p>
        </p:txBody>
      </p:sp>
      <p:sp>
        <p:nvSpPr>
          <p:cNvPr id="11" name="Text 7"/>
          <p:cNvSpPr txBox="1"/>
          <p:nvPr/>
        </p:nvSpPr>
        <p:spPr>
          <a:xfrm>
            <a:off x="731520" y="2926080"/>
            <a:ext cx="2099234" cy="731520"/>
          </a:xfrm>
          <a:prstGeom prst="rect">
            <a:avLst/>
          </a:prstGeom>
          <a:noFill/>
          <a:ln/>
        </p:spPr>
        <p:txBody>
          <a:bodyPr wrap="square" lIns="0" tIns="0" rIns="0" bIns="0" rtlCol="0" anchor="t"/>
          <a:lstStyle/>
          <a:p>
            <a:pPr algn="ctr" indent="0" marL="0">
              <a:buNone/>
            </a:pPr>
            <a:r>
              <a:rPr lang="en-US" sz="1300" dirty="0">
                <a:solidFill>
                  <a:srgbClr val="35305C"/>
                </a:solidFill>
                <a:latin typeface="Arial" pitchFamily="34" charset="0"/>
                <a:ea typeface="Arial" pitchFamily="34" charset="-122"/>
                <a:cs typeface="Arial" pitchFamily="34" charset="-120"/>
              </a:rPr>
              <a:t>les dangers par unité de travail</a:t>
            </a:r>
            <a:endParaRPr lang="en-US" sz="1300" dirty="0"/>
          </a:p>
        </p:txBody>
      </p:sp>
      <p:sp>
        <p:nvSpPr>
          <p:cNvPr id="12" name="Shape 8"/>
          <p:cNvSpPr/>
          <p:nvPr/>
        </p:nvSpPr>
        <p:spPr>
          <a:xfrm>
            <a:off x="3086786" y="2377440"/>
            <a:ext cx="274320" cy="365760"/>
          </a:xfrm>
          <a:prstGeom prst="rightArrow">
            <a:avLst/>
          </a:prstGeom>
          <a:solidFill>
            <a:srgbClr val="5E5A78"/>
          </a:solidFill>
          <a:ln w="12700">
            <a:solidFill>
              <a:srgbClr val="5E5A78"/>
            </a:solidFill>
            <a:prstDash val="solid"/>
          </a:ln>
        </p:spPr>
      </p:sp>
      <p:sp>
        <p:nvSpPr>
          <p:cNvPr id="13" name="Shape 9"/>
          <p:cNvSpPr/>
          <p:nvPr/>
        </p:nvSpPr>
        <p:spPr>
          <a:xfrm>
            <a:off x="3425114" y="1417320"/>
            <a:ext cx="2464994" cy="2331720"/>
          </a:xfrm>
          <a:prstGeom prst="roundRect">
            <a:avLst>
              <a:gd name="adj" fmla="val 3137"/>
            </a:avLst>
          </a:prstGeom>
          <a:solidFill>
            <a:srgbClr val="EEEDF5"/>
          </a:solidFill>
          <a:ln w="12700">
            <a:solidFill>
              <a:srgbClr val="EEEDF5"/>
            </a:solidFill>
            <a:prstDash val="solid"/>
          </a:ln>
        </p:spPr>
      </p:sp>
      <p:sp>
        <p:nvSpPr>
          <p:cNvPr id="14" name="Shape 10"/>
          <p:cNvSpPr/>
          <p:nvPr/>
        </p:nvSpPr>
        <p:spPr>
          <a:xfrm>
            <a:off x="4291851" y="1691640"/>
            <a:ext cx="731520" cy="731520"/>
          </a:xfrm>
          <a:prstGeom prst="ellipse">
            <a:avLst/>
          </a:prstGeom>
          <a:solidFill>
            <a:srgbClr val="0A032B"/>
          </a:solidFill>
          <a:ln w="12700">
            <a:solidFill>
              <a:srgbClr val="0A032B"/>
            </a:solidFill>
            <a:prstDash val="solid"/>
          </a:ln>
        </p:spPr>
      </p:sp>
      <p:pic>
        <p:nvPicPr>
          <p:cNvPr id="15" name="Image 2" descr="preencoded.png">    </p:cNvPr>
          <p:cNvPicPr>
            <a:picLocks noChangeAspect="1"/>
          </p:cNvPicPr>
          <p:nvPr/>
        </p:nvPicPr>
        <p:blipFill>
          <a:blip r:embed="rId3"/>
          <a:stretch>
            <a:fillRect/>
          </a:stretch>
        </p:blipFill>
        <p:spPr>
          <a:xfrm>
            <a:off x="4474731" y="1874520"/>
            <a:ext cx="365760" cy="365760"/>
          </a:xfrm>
          <a:prstGeom prst="rect">
            <a:avLst/>
          </a:prstGeom>
        </p:spPr>
      </p:pic>
      <p:sp>
        <p:nvSpPr>
          <p:cNvPr id="16" name="Text 11"/>
          <p:cNvSpPr txBox="1"/>
          <p:nvPr/>
        </p:nvSpPr>
        <p:spPr>
          <a:xfrm>
            <a:off x="3607994" y="2514600"/>
            <a:ext cx="2099234" cy="411480"/>
          </a:xfrm>
          <a:prstGeom prst="rect">
            <a:avLst/>
          </a:prstGeom>
          <a:noFill/>
          <a:ln/>
        </p:spPr>
        <p:txBody>
          <a:bodyPr wrap="square" lIns="0" tIns="0" rIns="0" bIns="0" rtlCol="0" anchor="ctr"/>
          <a:lstStyle/>
          <a:p>
            <a:pPr algn="ctr" indent="0" marL="0">
              <a:buNone/>
            </a:pPr>
            <a:r>
              <a:rPr lang="en-US" sz="1700" b="1" dirty="0">
                <a:solidFill>
                  <a:srgbClr val="0A032B"/>
                </a:solidFill>
                <a:latin typeface="Montserrat" pitchFamily="34" charset="0"/>
                <a:ea typeface="Montserrat" pitchFamily="34" charset="-122"/>
                <a:cs typeface="Montserrat" pitchFamily="34" charset="-120"/>
              </a:rPr>
              <a:t>Évaluer</a:t>
            </a:r>
            <a:endParaRPr lang="en-US" sz="1700" dirty="0"/>
          </a:p>
        </p:txBody>
      </p:sp>
      <p:sp>
        <p:nvSpPr>
          <p:cNvPr id="17" name="Text 12"/>
          <p:cNvSpPr txBox="1"/>
          <p:nvPr/>
        </p:nvSpPr>
        <p:spPr>
          <a:xfrm>
            <a:off x="3607994" y="2926080"/>
            <a:ext cx="2099234" cy="731520"/>
          </a:xfrm>
          <a:prstGeom prst="rect">
            <a:avLst/>
          </a:prstGeom>
          <a:noFill/>
          <a:ln/>
        </p:spPr>
        <p:txBody>
          <a:bodyPr wrap="square" lIns="0" tIns="0" rIns="0" bIns="0" rtlCol="0" anchor="t"/>
          <a:lstStyle/>
          <a:p>
            <a:pPr algn="ctr" indent="0" marL="0">
              <a:buNone/>
            </a:pPr>
            <a:r>
              <a:rPr lang="en-US" sz="1300" dirty="0">
                <a:solidFill>
                  <a:srgbClr val="35305C"/>
                </a:solidFill>
                <a:latin typeface="Arial" pitchFamily="34" charset="0"/>
                <a:ea typeface="Arial" pitchFamily="34" charset="-122"/>
                <a:cs typeface="Arial" pitchFamily="34" charset="-120"/>
              </a:rPr>
              <a:t>gravité × fréquence d'exposition</a:t>
            </a:r>
            <a:endParaRPr lang="en-US" sz="1300" dirty="0"/>
          </a:p>
        </p:txBody>
      </p:sp>
      <p:sp>
        <p:nvSpPr>
          <p:cNvPr id="18" name="Shape 13"/>
          <p:cNvSpPr/>
          <p:nvPr/>
        </p:nvSpPr>
        <p:spPr>
          <a:xfrm>
            <a:off x="5963260" y="2377440"/>
            <a:ext cx="274320" cy="365760"/>
          </a:xfrm>
          <a:prstGeom prst="rightArrow">
            <a:avLst/>
          </a:prstGeom>
          <a:solidFill>
            <a:srgbClr val="5E5A78"/>
          </a:solidFill>
          <a:ln w="12700">
            <a:solidFill>
              <a:srgbClr val="5E5A78"/>
            </a:solidFill>
            <a:prstDash val="solid"/>
          </a:ln>
        </p:spPr>
      </p:sp>
      <p:sp>
        <p:nvSpPr>
          <p:cNvPr id="19" name="Shape 14"/>
          <p:cNvSpPr/>
          <p:nvPr/>
        </p:nvSpPr>
        <p:spPr>
          <a:xfrm>
            <a:off x="6301588" y="1417320"/>
            <a:ext cx="2464994" cy="2331720"/>
          </a:xfrm>
          <a:prstGeom prst="roundRect">
            <a:avLst>
              <a:gd name="adj" fmla="val 3137"/>
            </a:avLst>
          </a:prstGeom>
          <a:solidFill>
            <a:srgbClr val="EEEDF5"/>
          </a:solidFill>
          <a:ln w="12700">
            <a:solidFill>
              <a:srgbClr val="EEEDF5"/>
            </a:solidFill>
            <a:prstDash val="solid"/>
          </a:ln>
        </p:spPr>
      </p:sp>
      <p:sp>
        <p:nvSpPr>
          <p:cNvPr id="20" name="Shape 15"/>
          <p:cNvSpPr/>
          <p:nvPr/>
        </p:nvSpPr>
        <p:spPr>
          <a:xfrm>
            <a:off x="7168325" y="1691640"/>
            <a:ext cx="731520" cy="731520"/>
          </a:xfrm>
          <a:prstGeom prst="ellipse">
            <a:avLst/>
          </a:prstGeom>
          <a:solidFill>
            <a:srgbClr val="0A032B"/>
          </a:solidFill>
          <a:ln w="12700">
            <a:solidFill>
              <a:srgbClr val="0A032B"/>
            </a:solidFill>
            <a:prstDash val="solid"/>
          </a:ln>
        </p:spPr>
      </p:sp>
      <p:pic>
        <p:nvPicPr>
          <p:cNvPr id="21" name="Image 3" descr="preencoded.png">    </p:cNvPr>
          <p:cNvPicPr>
            <a:picLocks noChangeAspect="1"/>
          </p:cNvPicPr>
          <p:nvPr/>
        </p:nvPicPr>
        <p:blipFill>
          <a:blip r:embed="rId4"/>
          <a:stretch>
            <a:fillRect/>
          </a:stretch>
        </p:blipFill>
        <p:spPr>
          <a:xfrm>
            <a:off x="7351205" y="1874520"/>
            <a:ext cx="365760" cy="365760"/>
          </a:xfrm>
          <a:prstGeom prst="rect">
            <a:avLst/>
          </a:prstGeom>
        </p:spPr>
      </p:pic>
      <p:sp>
        <p:nvSpPr>
          <p:cNvPr id="22" name="Text 16"/>
          <p:cNvSpPr txBox="1"/>
          <p:nvPr/>
        </p:nvSpPr>
        <p:spPr>
          <a:xfrm>
            <a:off x="6484468" y="2514600"/>
            <a:ext cx="2099234" cy="411480"/>
          </a:xfrm>
          <a:prstGeom prst="rect">
            <a:avLst/>
          </a:prstGeom>
          <a:noFill/>
          <a:ln/>
        </p:spPr>
        <p:txBody>
          <a:bodyPr wrap="square" lIns="0" tIns="0" rIns="0" bIns="0" rtlCol="0" anchor="ctr"/>
          <a:lstStyle/>
          <a:p>
            <a:pPr algn="ctr" indent="0" marL="0">
              <a:buNone/>
            </a:pPr>
            <a:r>
              <a:rPr lang="en-US" sz="1700" b="1" dirty="0">
                <a:solidFill>
                  <a:srgbClr val="0A032B"/>
                </a:solidFill>
                <a:latin typeface="Montserrat" pitchFamily="34" charset="0"/>
                <a:ea typeface="Montserrat" pitchFamily="34" charset="-122"/>
                <a:cs typeface="Montserrat" pitchFamily="34" charset="-120"/>
              </a:rPr>
              <a:t>Planifier</a:t>
            </a:r>
            <a:endParaRPr lang="en-US" sz="1700" dirty="0"/>
          </a:p>
        </p:txBody>
      </p:sp>
      <p:sp>
        <p:nvSpPr>
          <p:cNvPr id="23" name="Text 17"/>
          <p:cNvSpPr txBox="1"/>
          <p:nvPr/>
        </p:nvSpPr>
        <p:spPr>
          <a:xfrm>
            <a:off x="6484468" y="2926080"/>
            <a:ext cx="2099234" cy="731520"/>
          </a:xfrm>
          <a:prstGeom prst="rect">
            <a:avLst/>
          </a:prstGeom>
          <a:noFill/>
          <a:ln/>
        </p:spPr>
        <p:txBody>
          <a:bodyPr wrap="square" lIns="0" tIns="0" rIns="0" bIns="0" rtlCol="0" anchor="t"/>
          <a:lstStyle/>
          <a:p>
            <a:pPr algn="ctr" indent="0" marL="0">
              <a:buNone/>
            </a:pPr>
            <a:r>
              <a:rPr lang="en-US" sz="1300" dirty="0">
                <a:solidFill>
                  <a:srgbClr val="35305C"/>
                </a:solidFill>
                <a:latin typeface="Arial" pitchFamily="34" charset="0"/>
                <a:ea typeface="Arial" pitchFamily="34" charset="-122"/>
                <a:cs typeface="Arial" pitchFamily="34" charset="-120"/>
              </a:rPr>
              <a:t>actions, responsables, budget, délais</a:t>
            </a:r>
            <a:endParaRPr lang="en-US" sz="1300" dirty="0"/>
          </a:p>
        </p:txBody>
      </p:sp>
      <p:sp>
        <p:nvSpPr>
          <p:cNvPr id="24" name="Shape 18"/>
          <p:cNvSpPr/>
          <p:nvPr/>
        </p:nvSpPr>
        <p:spPr>
          <a:xfrm>
            <a:off x="8839733" y="2377440"/>
            <a:ext cx="274320" cy="365760"/>
          </a:xfrm>
          <a:prstGeom prst="rightArrow">
            <a:avLst/>
          </a:prstGeom>
          <a:solidFill>
            <a:srgbClr val="5E5A78"/>
          </a:solidFill>
          <a:ln w="12700">
            <a:solidFill>
              <a:srgbClr val="5E5A78"/>
            </a:solidFill>
            <a:prstDash val="solid"/>
          </a:ln>
        </p:spPr>
      </p:sp>
      <p:sp>
        <p:nvSpPr>
          <p:cNvPr id="25" name="Shape 19"/>
          <p:cNvSpPr/>
          <p:nvPr/>
        </p:nvSpPr>
        <p:spPr>
          <a:xfrm>
            <a:off x="9178061" y="1417320"/>
            <a:ext cx="2464994" cy="2331720"/>
          </a:xfrm>
          <a:prstGeom prst="roundRect">
            <a:avLst>
              <a:gd name="adj" fmla="val 3137"/>
            </a:avLst>
          </a:prstGeom>
          <a:solidFill>
            <a:srgbClr val="EEEDF5"/>
          </a:solidFill>
          <a:ln w="12700">
            <a:solidFill>
              <a:srgbClr val="EEEDF5"/>
            </a:solidFill>
            <a:prstDash val="solid"/>
          </a:ln>
        </p:spPr>
      </p:sp>
      <p:sp>
        <p:nvSpPr>
          <p:cNvPr id="26" name="Shape 20"/>
          <p:cNvSpPr/>
          <p:nvPr/>
        </p:nvSpPr>
        <p:spPr>
          <a:xfrm>
            <a:off x="10044798" y="1691640"/>
            <a:ext cx="731520" cy="731520"/>
          </a:xfrm>
          <a:prstGeom prst="ellipse">
            <a:avLst/>
          </a:prstGeom>
          <a:solidFill>
            <a:srgbClr val="0A032B"/>
          </a:solidFill>
          <a:ln w="12700">
            <a:solidFill>
              <a:srgbClr val="0A032B"/>
            </a:solidFill>
            <a:prstDash val="solid"/>
          </a:ln>
        </p:spPr>
      </p:sp>
      <p:pic>
        <p:nvPicPr>
          <p:cNvPr id="27" name="Image 4" descr="preencoded.png">    </p:cNvPr>
          <p:cNvPicPr>
            <a:picLocks noChangeAspect="1"/>
          </p:cNvPicPr>
          <p:nvPr/>
        </p:nvPicPr>
        <p:blipFill>
          <a:blip r:embed="rId5"/>
          <a:stretch>
            <a:fillRect/>
          </a:stretch>
        </p:blipFill>
        <p:spPr>
          <a:xfrm>
            <a:off x="10227678" y="1874520"/>
            <a:ext cx="365760" cy="365760"/>
          </a:xfrm>
          <a:prstGeom prst="rect">
            <a:avLst/>
          </a:prstGeom>
        </p:spPr>
      </p:pic>
      <p:sp>
        <p:nvSpPr>
          <p:cNvPr id="28" name="Text 21"/>
          <p:cNvSpPr txBox="1"/>
          <p:nvPr/>
        </p:nvSpPr>
        <p:spPr>
          <a:xfrm>
            <a:off x="9360941" y="2514600"/>
            <a:ext cx="2099234" cy="411480"/>
          </a:xfrm>
          <a:prstGeom prst="rect">
            <a:avLst/>
          </a:prstGeom>
          <a:noFill/>
          <a:ln/>
        </p:spPr>
        <p:txBody>
          <a:bodyPr wrap="square" lIns="0" tIns="0" rIns="0" bIns="0" rtlCol="0" anchor="ctr"/>
          <a:lstStyle/>
          <a:p>
            <a:pPr algn="ctr" indent="0" marL="0">
              <a:buNone/>
            </a:pPr>
            <a:r>
              <a:rPr lang="en-US" sz="1700" b="1" dirty="0">
                <a:solidFill>
                  <a:srgbClr val="0A032B"/>
                </a:solidFill>
                <a:latin typeface="Montserrat" pitchFamily="34" charset="0"/>
                <a:ea typeface="Montserrat" pitchFamily="34" charset="-122"/>
                <a:cs typeface="Montserrat" pitchFamily="34" charset="-120"/>
              </a:rPr>
              <a:t>Suivre</a:t>
            </a:r>
            <a:endParaRPr lang="en-US" sz="1700" dirty="0"/>
          </a:p>
        </p:txBody>
      </p:sp>
      <p:sp>
        <p:nvSpPr>
          <p:cNvPr id="29" name="Text 22"/>
          <p:cNvSpPr txBox="1"/>
          <p:nvPr/>
        </p:nvSpPr>
        <p:spPr>
          <a:xfrm>
            <a:off x="9360941" y="2926080"/>
            <a:ext cx="2099234" cy="731520"/>
          </a:xfrm>
          <a:prstGeom prst="rect">
            <a:avLst/>
          </a:prstGeom>
          <a:noFill/>
          <a:ln/>
        </p:spPr>
        <p:txBody>
          <a:bodyPr wrap="square" lIns="0" tIns="0" rIns="0" bIns="0" rtlCol="0" anchor="t"/>
          <a:lstStyle/>
          <a:p>
            <a:pPr algn="ctr" indent="0" marL="0">
              <a:buNone/>
            </a:pPr>
            <a:r>
              <a:rPr lang="en-US" sz="1300" dirty="0">
                <a:solidFill>
                  <a:srgbClr val="35305C"/>
                </a:solidFill>
                <a:latin typeface="Arial" pitchFamily="34" charset="0"/>
                <a:ea typeface="Arial" pitchFamily="34" charset="-122"/>
                <a:cs typeface="Arial" pitchFamily="34" charset="-120"/>
              </a:rPr>
              <a:t>mise à jour au moins annuelle et à chaque changement</a:t>
            </a:r>
            <a:endParaRPr lang="en-US" sz="1300" dirty="0"/>
          </a:p>
        </p:txBody>
      </p:sp>
      <p:sp>
        <p:nvSpPr>
          <p:cNvPr id="30" name="Shape 23"/>
          <p:cNvSpPr/>
          <p:nvPr/>
        </p:nvSpPr>
        <p:spPr>
          <a:xfrm>
            <a:off x="548640" y="3977640"/>
            <a:ext cx="5410048" cy="2057400"/>
          </a:xfrm>
          <a:prstGeom prst="roundRect">
            <a:avLst>
              <a:gd name="adj" fmla="val 3556"/>
            </a:avLst>
          </a:prstGeom>
          <a:solidFill>
            <a:srgbClr val="0A032B"/>
          </a:solidFill>
          <a:ln w="12700">
            <a:solidFill>
              <a:srgbClr val="0A032B"/>
            </a:solidFill>
            <a:prstDash val="solid"/>
          </a:ln>
        </p:spPr>
      </p:sp>
      <p:sp>
        <p:nvSpPr>
          <p:cNvPr id="31" name="Text 24"/>
          <p:cNvSpPr txBox="1"/>
          <p:nvPr/>
        </p:nvSpPr>
        <p:spPr>
          <a:xfrm>
            <a:off x="822960" y="4069080"/>
            <a:ext cx="4861408" cy="1874520"/>
          </a:xfrm>
          <a:prstGeom prst="rect">
            <a:avLst/>
          </a:prstGeom>
          <a:noFill/>
          <a:ln/>
        </p:spPr>
        <p:txBody>
          <a:bodyPr wrap="square" lIns="0" tIns="0" rIns="0" bIns="0" rtlCol="0" anchor="ctr"/>
          <a:lstStyle/>
          <a:p>
            <a:pPr indent="0" marL="0">
              <a:spcAft>
                <a:spcPts val="600"/>
              </a:spcAft>
              <a:buNone/>
            </a:pPr>
            <a:r>
              <a:rPr lang="en-US" sz="1600" b="1" dirty="0">
                <a:solidFill>
                  <a:srgbClr val="F0EF96"/>
                </a:solidFill>
                <a:latin typeface="Montserrat" pitchFamily="34" charset="0"/>
                <a:ea typeface="Montserrat" pitchFamily="34" charset="-122"/>
                <a:cs typeface="Montserrat" pitchFamily="34" charset="-120"/>
              </a:rPr>
              <a:t>Le document unique (DUERP)</a:t>
            </a:r>
            <a:endParaRPr lang="en-US" sz="1600" dirty="0"/>
          </a:p>
          <a:p>
            <a:pPr indent="0" marL="0">
              <a:spcAft>
                <a:spcPts val="600"/>
              </a:spcAft>
              <a:buNone/>
            </a:pPr>
            <a:r>
              <a:rPr lang="en-US" sz="1300" dirty="0">
                <a:solidFill>
                  <a:srgbClr val="FFFFFF"/>
                </a:solidFill>
                <a:latin typeface="Arial" pitchFamily="34" charset="0"/>
                <a:ea typeface="Arial" pitchFamily="34" charset="-122"/>
                <a:cs typeface="Arial" pitchFamily="34" charset="-120"/>
              </a:rPr>
              <a:t>Obligatoire dès le premier agent. Il recense les risques de chaque unité de travail : services techniques, écoles, restauration, administration… Les TMS et la manutention y figurent presque toujours.</a:t>
            </a:r>
            <a:endParaRPr lang="en-US" sz="1600" dirty="0"/>
          </a:p>
        </p:txBody>
      </p:sp>
      <p:sp>
        <p:nvSpPr>
          <p:cNvPr id="32" name="Shape 25"/>
          <p:cNvSpPr/>
          <p:nvPr/>
        </p:nvSpPr>
        <p:spPr>
          <a:xfrm>
            <a:off x="6233008" y="3977640"/>
            <a:ext cx="5410048" cy="2057400"/>
          </a:xfrm>
          <a:prstGeom prst="roundRect">
            <a:avLst>
              <a:gd name="adj" fmla="val 3556"/>
            </a:avLst>
          </a:prstGeom>
          <a:solidFill>
            <a:srgbClr val="F0EF96"/>
          </a:solidFill>
          <a:ln w="12700">
            <a:solidFill>
              <a:srgbClr val="F0EF96"/>
            </a:solidFill>
            <a:prstDash val="solid"/>
          </a:ln>
        </p:spPr>
      </p:sp>
      <p:sp>
        <p:nvSpPr>
          <p:cNvPr id="33" name="Text 26"/>
          <p:cNvSpPr txBox="1"/>
          <p:nvPr/>
        </p:nvSpPr>
        <p:spPr>
          <a:xfrm>
            <a:off x="6507328" y="4069080"/>
            <a:ext cx="4861408" cy="1874520"/>
          </a:xfrm>
          <a:prstGeom prst="rect">
            <a:avLst/>
          </a:prstGeom>
          <a:noFill/>
          <a:ln/>
        </p:spPr>
        <p:txBody>
          <a:bodyPr wrap="square" lIns="0" tIns="0" rIns="0" bIns="0" rtlCol="0" anchor="ctr"/>
          <a:lstStyle/>
          <a:p>
            <a:pPr indent="0" marL="0">
              <a:spcAft>
                <a:spcPts val="600"/>
              </a:spcAft>
              <a:buNone/>
            </a:pPr>
            <a:r>
              <a:rPr lang="en-US" sz="1600" b="1" dirty="0">
                <a:solidFill>
                  <a:srgbClr val="0A032B"/>
                </a:solidFill>
                <a:latin typeface="Montserrat" pitchFamily="34" charset="0"/>
                <a:ea typeface="Montserrat" pitchFamily="34" charset="-122"/>
                <a:cs typeface="Montserrat" pitchFamily="34" charset="-120"/>
              </a:rPr>
              <a:t>Le programme annuel de prévention</a:t>
            </a:r>
            <a:endParaRPr lang="en-US" sz="1600" dirty="0"/>
          </a:p>
          <a:p>
            <a:pPr indent="0" marL="0">
              <a:spcAft>
                <a:spcPts val="600"/>
              </a:spcAft>
              <a:buNone/>
            </a:pPr>
            <a:r>
              <a:rPr lang="en-US" sz="1300" dirty="0">
                <a:solidFill>
                  <a:srgbClr val="0A032B"/>
                </a:solidFill>
                <a:latin typeface="Arial" pitchFamily="34" charset="0"/>
                <a:ea typeface="Arial" pitchFamily="34" charset="-122"/>
                <a:cs typeface="Arial" pitchFamily="34" charset="-120"/>
              </a:rPr>
              <a:t>Il traduit l'évaluation en actions concrètes : achat d'aides à la manutention, formations, aménagements de postes. Il est présenté à l'instance de dialogue social.</a:t>
            </a:r>
            <a:endParaRPr lang="en-US" sz="1600" dirty="0"/>
          </a:p>
        </p:txBody>
      </p:sp>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235440" cy="685800"/>
          </a:xfrm>
          <a:prstGeom prst="rect">
            <a:avLst/>
          </a:prstGeom>
          <a:noFill/>
          <a:ln/>
        </p:spPr>
        <p:txBody>
          <a:bodyPr wrap="square" lIns="0" tIns="0" rIns="0" bIns="0" rtlCol="0" anchor="ctr"/>
          <a:lstStyle/>
          <a:p>
            <a:pPr indent="0" marL="0">
              <a:buNone/>
            </a:pPr>
            <a:r>
              <a:rPr lang="en-US" sz="2800" b="1" dirty="0">
                <a:solidFill>
                  <a:srgbClr val="0A032B"/>
                </a:solidFill>
                <a:latin typeface="Montserrat" pitchFamily="34" charset="0"/>
                <a:ea typeface="Montserrat" pitchFamily="34" charset="-122"/>
                <a:cs typeface="Montserrat" pitchFamily="34" charset="-120"/>
              </a:rPr>
              <a:t>Les acteurs de la prévention</a:t>
            </a:r>
            <a:endParaRPr lang="en-US" sz="2800" dirty="0"/>
          </a:p>
        </p:txBody>
      </p:sp>
      <p:sp>
        <p:nvSpPr>
          <p:cNvPr id="3" name="Text 1"/>
          <p:cNvSpPr txBox="1"/>
          <p:nvPr/>
        </p:nvSpPr>
        <p:spPr>
          <a:xfrm>
            <a:off x="548640" y="1024128"/>
            <a:ext cx="9235440" cy="365760"/>
          </a:xfrm>
          <a:prstGeom prst="rect">
            <a:avLst/>
          </a:prstGeom>
          <a:noFill/>
          <a:ln/>
        </p:spPr>
        <p:txBody>
          <a:bodyPr wrap="square" lIns="0" tIns="0" rIns="0" bIns="0" rtlCol="0" anchor="ctr"/>
          <a:lstStyle/>
          <a:p>
            <a:pPr indent="0" marL="0">
              <a:buNone/>
            </a:pPr>
            <a:r>
              <a:rPr lang="en-US" sz="1400" i="1" dirty="0">
                <a:solidFill>
                  <a:srgbClr val="5E5A78"/>
                </a:solidFill>
                <a:latin typeface="Arial" pitchFamily="34" charset="0"/>
                <a:ea typeface="Arial" pitchFamily="34" charset="-122"/>
                <a:cs typeface="Arial" pitchFamily="34" charset="-120"/>
              </a:rPr>
              <a:t>L'élu n'est pas seul : il s'appuie sur un réseau d'acteurs</a:t>
            </a:r>
            <a:endParaRPr lang="en-US" sz="1400" dirty="0"/>
          </a:p>
        </p:txBody>
      </p:sp>
      <p:sp>
        <p:nvSpPr>
          <p:cNvPr id="4" name="Shape 2"/>
          <p:cNvSpPr/>
          <p:nvPr/>
        </p:nvSpPr>
        <p:spPr>
          <a:xfrm>
            <a:off x="10042855" y="530352"/>
            <a:ext cx="1600200" cy="347472"/>
          </a:xfrm>
          <a:prstGeom prst="roundRect">
            <a:avLst>
              <a:gd name="adj" fmla="val 50000"/>
            </a:avLst>
          </a:prstGeom>
          <a:solidFill>
            <a:srgbClr val="0A032B"/>
          </a:solidFill>
          <a:ln w="12700">
            <a:solidFill>
              <a:srgbClr val="0A032B"/>
            </a:solidFill>
            <a:prstDash val="solid"/>
          </a:ln>
        </p:spPr>
      </p:sp>
      <p:sp>
        <p:nvSpPr>
          <p:cNvPr id="5" name="Text 3"/>
          <p:cNvSpPr txBox="1"/>
          <p:nvPr/>
        </p:nvSpPr>
        <p:spPr>
          <a:xfrm>
            <a:off x="10042855" y="530352"/>
            <a:ext cx="1600200" cy="347472"/>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Montserrat" pitchFamily="34" charset="0"/>
                <a:ea typeface="Montserrat" pitchFamily="34" charset="-122"/>
                <a:cs typeface="Montserrat" pitchFamily="34" charset="-120"/>
              </a:rPr>
              <a:t>THÉORIE</a:t>
            </a:r>
            <a:endParaRPr lang="en-US" sz="1100" dirty="0"/>
          </a:p>
        </p:txBody>
      </p:sp>
      <p:sp>
        <p:nvSpPr>
          <p:cNvPr id="6" name="Text 4"/>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5E5A78"/>
                </a:solidFill>
                <a:latin typeface="Arial" pitchFamily="34" charset="0"/>
                <a:ea typeface="Arial" pitchFamily="34" charset="-122"/>
                <a:cs typeface="Arial" pitchFamily="34" charset="-120"/>
              </a:rPr>
              <a:t>Gestes et postures de l'élu  ·  Séquence 6</a:t>
            </a:r>
            <a:endParaRPr lang="en-US" sz="900" dirty="0"/>
          </a:p>
        </p:txBody>
      </p:sp>
      <p:pic>
        <p:nvPicPr>
          <p:cNvPr id="7" name="Image 0" descr="logo_light.png">    </p:cNvPr>
          <p:cNvPicPr>
            <a:picLocks noChangeAspect="1"/>
          </p:cNvPicPr>
          <p:nvPr/>
        </p:nvPicPr>
        <p:blipFill>
          <a:blip r:embed="rId1"/>
          <a:stretch>
            <a:fillRect/>
          </a:stretch>
        </p:blipFill>
        <p:spPr>
          <a:xfrm>
            <a:off x="10682935" y="6236208"/>
            <a:ext cx="960120" cy="398441"/>
          </a:xfrm>
          <a:prstGeom prst="rect">
            <a:avLst/>
          </a:prstGeom>
        </p:spPr>
      </p:pic>
      <p:sp>
        <p:nvSpPr>
          <p:cNvPr id="8" name="Shape 5"/>
          <p:cNvSpPr/>
          <p:nvPr/>
        </p:nvSpPr>
        <p:spPr>
          <a:xfrm flipH="1">
            <a:off x="6099048" y="2057400"/>
            <a:ext cx="0" cy="1783080"/>
          </a:xfrm>
          <a:prstGeom prst="line">
            <a:avLst/>
          </a:prstGeom>
          <a:noFill/>
          <a:ln w="25400">
            <a:solidFill>
              <a:srgbClr val="DCDAEA"/>
            </a:solidFill>
            <a:prstDash val="solid"/>
          </a:ln>
        </p:spPr>
      </p:sp>
      <p:sp>
        <p:nvSpPr>
          <p:cNvPr id="9" name="Shape 6"/>
          <p:cNvSpPr/>
          <p:nvPr/>
        </p:nvSpPr>
        <p:spPr>
          <a:xfrm flipH="1">
            <a:off x="6099048" y="2948940"/>
            <a:ext cx="3011176" cy="891540"/>
          </a:xfrm>
          <a:prstGeom prst="line">
            <a:avLst/>
          </a:prstGeom>
          <a:noFill/>
          <a:ln w="25400">
            <a:solidFill>
              <a:srgbClr val="DCDAEA"/>
            </a:solidFill>
            <a:prstDash val="solid"/>
          </a:ln>
        </p:spPr>
      </p:sp>
      <p:sp>
        <p:nvSpPr>
          <p:cNvPr id="10" name="Shape 7"/>
          <p:cNvSpPr/>
          <p:nvPr/>
        </p:nvSpPr>
        <p:spPr>
          <a:xfrm>
            <a:off x="6099048" y="3840480"/>
            <a:ext cx="3011176" cy="891540"/>
          </a:xfrm>
          <a:prstGeom prst="line">
            <a:avLst/>
          </a:prstGeom>
          <a:noFill/>
          <a:ln w="25400">
            <a:solidFill>
              <a:srgbClr val="DCDAEA"/>
            </a:solidFill>
            <a:prstDash val="solid"/>
          </a:ln>
        </p:spPr>
      </p:sp>
      <p:sp>
        <p:nvSpPr>
          <p:cNvPr id="11" name="Shape 8"/>
          <p:cNvSpPr/>
          <p:nvPr/>
        </p:nvSpPr>
        <p:spPr>
          <a:xfrm>
            <a:off x="6099048" y="3840480"/>
            <a:ext cx="0" cy="1783080"/>
          </a:xfrm>
          <a:prstGeom prst="line">
            <a:avLst/>
          </a:prstGeom>
          <a:noFill/>
          <a:ln w="25400">
            <a:solidFill>
              <a:srgbClr val="DCDAEA"/>
            </a:solidFill>
            <a:prstDash val="solid"/>
          </a:ln>
        </p:spPr>
      </p:sp>
      <p:sp>
        <p:nvSpPr>
          <p:cNvPr id="12" name="Shape 9"/>
          <p:cNvSpPr/>
          <p:nvPr/>
        </p:nvSpPr>
        <p:spPr>
          <a:xfrm flipH="1">
            <a:off x="3087872" y="3840480"/>
            <a:ext cx="3011176" cy="891540"/>
          </a:xfrm>
          <a:prstGeom prst="line">
            <a:avLst/>
          </a:prstGeom>
          <a:noFill/>
          <a:ln w="25400">
            <a:solidFill>
              <a:srgbClr val="DCDAEA"/>
            </a:solidFill>
            <a:prstDash val="solid"/>
          </a:ln>
        </p:spPr>
      </p:sp>
      <p:sp>
        <p:nvSpPr>
          <p:cNvPr id="13" name="Shape 10"/>
          <p:cNvSpPr/>
          <p:nvPr/>
        </p:nvSpPr>
        <p:spPr>
          <a:xfrm>
            <a:off x="3087872" y="2948940"/>
            <a:ext cx="3011176" cy="891540"/>
          </a:xfrm>
          <a:prstGeom prst="line">
            <a:avLst/>
          </a:prstGeom>
          <a:noFill/>
          <a:ln w="25400">
            <a:solidFill>
              <a:srgbClr val="DCDAEA"/>
            </a:solidFill>
            <a:prstDash val="solid"/>
          </a:ln>
        </p:spPr>
      </p:sp>
      <p:sp>
        <p:nvSpPr>
          <p:cNvPr id="14" name="Shape 11"/>
          <p:cNvSpPr/>
          <p:nvPr/>
        </p:nvSpPr>
        <p:spPr>
          <a:xfrm>
            <a:off x="5001768" y="3154680"/>
            <a:ext cx="2194560" cy="1371600"/>
          </a:xfrm>
          <a:prstGeom prst="ellipse">
            <a:avLst/>
          </a:prstGeom>
          <a:solidFill>
            <a:srgbClr val="0A032B"/>
          </a:solidFill>
          <a:ln w="12700">
            <a:solidFill>
              <a:srgbClr val="0A032B"/>
            </a:solidFill>
            <a:prstDash val="solid"/>
          </a:ln>
        </p:spPr>
      </p:sp>
      <p:sp>
        <p:nvSpPr>
          <p:cNvPr id="15" name="Text 12"/>
          <p:cNvSpPr txBox="1"/>
          <p:nvPr/>
        </p:nvSpPr>
        <p:spPr>
          <a:xfrm>
            <a:off x="5093208" y="3200400"/>
            <a:ext cx="2011680" cy="1280160"/>
          </a:xfrm>
          <a:prstGeom prst="rect">
            <a:avLst/>
          </a:prstGeom>
          <a:noFill/>
          <a:ln/>
        </p:spPr>
        <p:txBody>
          <a:bodyPr wrap="square" lIns="0" tIns="0" rIns="0" bIns="0" rtlCol="0" anchor="ctr"/>
          <a:lstStyle/>
          <a:p>
            <a:pPr algn="ctr" indent="0" marL="0">
              <a:buNone/>
            </a:pPr>
            <a:r>
              <a:rPr lang="en-US" sz="1400" b="1" dirty="0">
                <a:solidFill>
                  <a:srgbClr val="F0EF96"/>
                </a:solidFill>
                <a:latin typeface="Montserrat" pitchFamily="34" charset="0"/>
                <a:ea typeface="Montserrat" pitchFamily="34" charset="-122"/>
                <a:cs typeface="Montserrat" pitchFamily="34" charset="-120"/>
              </a:rPr>
              <a:t>Autorité territoriale</a:t>
            </a:r>
            <a:endParaRPr lang="en-US" sz="1400" dirty="0"/>
          </a:p>
          <a:p>
            <a:pPr algn="ctr" indent="0" marL="0">
              <a:buNone/>
            </a:pPr>
            <a:r>
              <a:rPr lang="en-US" sz="1100" dirty="0">
                <a:solidFill>
                  <a:srgbClr val="FFFFFF"/>
                </a:solidFill>
                <a:latin typeface="Arial" pitchFamily="34" charset="0"/>
                <a:ea typeface="Arial" pitchFamily="34" charset="-122"/>
                <a:cs typeface="Arial" pitchFamily="34" charset="-120"/>
              </a:rPr>
              <a:t>Maire, président, élus délégués</a:t>
            </a:r>
            <a:endParaRPr lang="en-US" sz="1400" dirty="0"/>
          </a:p>
        </p:txBody>
      </p:sp>
      <p:sp>
        <p:nvSpPr>
          <p:cNvPr id="16" name="Shape 13"/>
          <p:cNvSpPr/>
          <p:nvPr/>
        </p:nvSpPr>
        <p:spPr>
          <a:xfrm>
            <a:off x="4727448" y="1623060"/>
            <a:ext cx="2743200" cy="868680"/>
          </a:xfrm>
          <a:prstGeom prst="roundRect">
            <a:avLst>
              <a:gd name="adj" fmla="val 8421"/>
            </a:avLst>
          </a:prstGeom>
          <a:solidFill>
            <a:srgbClr val="EEEDF5"/>
          </a:solidFill>
          <a:ln w="12700">
            <a:solidFill>
              <a:srgbClr val="EEEDF5"/>
            </a:solidFill>
            <a:prstDash val="solid"/>
          </a:ln>
        </p:spPr>
      </p:sp>
      <p:sp>
        <p:nvSpPr>
          <p:cNvPr id="17" name="Shape 14"/>
          <p:cNvSpPr/>
          <p:nvPr/>
        </p:nvSpPr>
        <p:spPr>
          <a:xfrm>
            <a:off x="4864608" y="1828800"/>
            <a:ext cx="457200" cy="457200"/>
          </a:xfrm>
          <a:prstGeom prst="ellipse">
            <a:avLst/>
          </a:prstGeom>
          <a:solidFill>
            <a:srgbClr val="0A032B"/>
          </a:solidFill>
          <a:ln w="12700">
            <a:solidFill>
              <a:srgbClr val="0A032B"/>
            </a:solidFill>
            <a:prstDash val="solid"/>
          </a:ln>
        </p:spPr>
      </p:sp>
      <p:pic>
        <p:nvPicPr>
          <p:cNvPr id="18" name="Image 1" descr="preencoded.png">    </p:cNvPr>
          <p:cNvPicPr>
            <a:picLocks noChangeAspect="1"/>
          </p:cNvPicPr>
          <p:nvPr/>
        </p:nvPicPr>
        <p:blipFill>
          <a:blip r:embed="rId2"/>
          <a:stretch>
            <a:fillRect/>
          </a:stretch>
        </p:blipFill>
        <p:spPr>
          <a:xfrm>
            <a:off x="4978908" y="1943100"/>
            <a:ext cx="228600" cy="228600"/>
          </a:xfrm>
          <a:prstGeom prst="rect">
            <a:avLst/>
          </a:prstGeom>
        </p:spPr>
      </p:pic>
      <p:sp>
        <p:nvSpPr>
          <p:cNvPr id="19" name="Text 15"/>
          <p:cNvSpPr txBox="1"/>
          <p:nvPr/>
        </p:nvSpPr>
        <p:spPr>
          <a:xfrm>
            <a:off x="5413248" y="1623060"/>
            <a:ext cx="1965960" cy="868680"/>
          </a:xfrm>
          <a:prstGeom prst="rect">
            <a:avLst/>
          </a:prstGeom>
          <a:noFill/>
          <a:ln/>
        </p:spPr>
        <p:txBody>
          <a:bodyPr wrap="square" lIns="0" tIns="0" rIns="0" bIns="0" rtlCol="0" anchor="ctr"/>
          <a:lstStyle/>
          <a:p>
            <a:pPr indent="0" marL="0">
              <a:buNone/>
            </a:pPr>
            <a:r>
              <a:rPr lang="en-US" sz="1150" b="1" dirty="0">
                <a:solidFill>
                  <a:srgbClr val="0A032B"/>
                </a:solidFill>
                <a:latin typeface="Montserrat" pitchFamily="34" charset="0"/>
                <a:ea typeface="Montserrat" pitchFamily="34" charset="-122"/>
                <a:cs typeface="Montserrat" pitchFamily="34" charset="-120"/>
              </a:rPr>
              <a:t>Assistant / conseiller de prévention</a:t>
            </a:r>
            <a:endParaRPr lang="en-US" sz="1150" dirty="0"/>
          </a:p>
          <a:p>
            <a:pPr indent="0" marL="0">
              <a:buNone/>
            </a:pPr>
            <a:r>
              <a:rPr lang="en-US" sz="1050" dirty="0">
                <a:solidFill>
                  <a:srgbClr val="35305C"/>
                </a:solidFill>
                <a:latin typeface="Arial" pitchFamily="34" charset="0"/>
                <a:ea typeface="Arial" pitchFamily="34" charset="-122"/>
                <a:cs typeface="Arial" pitchFamily="34" charset="-120"/>
              </a:rPr>
              <a:t>Conseille et assiste l'autorité</a:t>
            </a:r>
            <a:endParaRPr lang="en-US" sz="1150" dirty="0"/>
          </a:p>
        </p:txBody>
      </p:sp>
      <p:sp>
        <p:nvSpPr>
          <p:cNvPr id="20" name="Shape 16"/>
          <p:cNvSpPr/>
          <p:nvPr/>
        </p:nvSpPr>
        <p:spPr>
          <a:xfrm>
            <a:off x="7738624" y="2514600"/>
            <a:ext cx="2743200" cy="868680"/>
          </a:xfrm>
          <a:prstGeom prst="roundRect">
            <a:avLst>
              <a:gd name="adj" fmla="val 8421"/>
            </a:avLst>
          </a:prstGeom>
          <a:solidFill>
            <a:srgbClr val="EEEDF5"/>
          </a:solidFill>
          <a:ln w="12700">
            <a:solidFill>
              <a:srgbClr val="EEEDF5"/>
            </a:solidFill>
            <a:prstDash val="solid"/>
          </a:ln>
        </p:spPr>
      </p:sp>
      <p:sp>
        <p:nvSpPr>
          <p:cNvPr id="21" name="Shape 17"/>
          <p:cNvSpPr/>
          <p:nvPr/>
        </p:nvSpPr>
        <p:spPr>
          <a:xfrm>
            <a:off x="7875784" y="2720340"/>
            <a:ext cx="457200" cy="457200"/>
          </a:xfrm>
          <a:prstGeom prst="ellipse">
            <a:avLst/>
          </a:prstGeom>
          <a:solidFill>
            <a:srgbClr val="0A032B"/>
          </a:solidFill>
          <a:ln w="12700">
            <a:solidFill>
              <a:srgbClr val="0A032B"/>
            </a:solidFill>
            <a:prstDash val="solid"/>
          </a:ln>
        </p:spPr>
      </p:sp>
      <p:pic>
        <p:nvPicPr>
          <p:cNvPr id="22" name="Image 2" descr="preencoded.png">    </p:cNvPr>
          <p:cNvPicPr>
            <a:picLocks noChangeAspect="1"/>
          </p:cNvPicPr>
          <p:nvPr/>
        </p:nvPicPr>
        <p:blipFill>
          <a:blip r:embed="rId3"/>
          <a:stretch>
            <a:fillRect/>
          </a:stretch>
        </p:blipFill>
        <p:spPr>
          <a:xfrm>
            <a:off x="7990084" y="2834640"/>
            <a:ext cx="228600" cy="228600"/>
          </a:xfrm>
          <a:prstGeom prst="rect">
            <a:avLst/>
          </a:prstGeom>
        </p:spPr>
      </p:pic>
      <p:sp>
        <p:nvSpPr>
          <p:cNvPr id="23" name="Text 18"/>
          <p:cNvSpPr txBox="1"/>
          <p:nvPr/>
        </p:nvSpPr>
        <p:spPr>
          <a:xfrm>
            <a:off x="8424424" y="2514600"/>
            <a:ext cx="1965960" cy="868680"/>
          </a:xfrm>
          <a:prstGeom prst="rect">
            <a:avLst/>
          </a:prstGeom>
          <a:noFill/>
          <a:ln/>
        </p:spPr>
        <p:txBody>
          <a:bodyPr wrap="square" lIns="0" tIns="0" rIns="0" bIns="0" rtlCol="0" anchor="ctr"/>
          <a:lstStyle/>
          <a:p>
            <a:pPr indent="0" marL="0">
              <a:buNone/>
            </a:pPr>
            <a:r>
              <a:rPr lang="en-US" sz="1150" b="1" dirty="0">
                <a:solidFill>
                  <a:srgbClr val="0A032B"/>
                </a:solidFill>
                <a:latin typeface="Montserrat" pitchFamily="34" charset="0"/>
                <a:ea typeface="Montserrat" pitchFamily="34" charset="-122"/>
                <a:cs typeface="Montserrat" pitchFamily="34" charset="-120"/>
              </a:rPr>
              <a:t>Médecine préventive</a:t>
            </a:r>
            <a:endParaRPr lang="en-US" sz="1150" dirty="0"/>
          </a:p>
          <a:p>
            <a:pPr indent="0" marL="0">
              <a:buNone/>
            </a:pPr>
            <a:r>
              <a:rPr lang="en-US" sz="1050" dirty="0">
                <a:solidFill>
                  <a:srgbClr val="35305C"/>
                </a:solidFill>
                <a:latin typeface="Arial" pitchFamily="34" charset="0"/>
                <a:ea typeface="Arial" pitchFamily="34" charset="-122"/>
                <a:cs typeface="Arial" pitchFamily="34" charset="-120"/>
              </a:rPr>
              <a:t>Suivi médical, aménagement de postes</a:t>
            </a:r>
            <a:endParaRPr lang="en-US" sz="1150" dirty="0"/>
          </a:p>
        </p:txBody>
      </p:sp>
      <p:sp>
        <p:nvSpPr>
          <p:cNvPr id="24" name="Shape 19"/>
          <p:cNvSpPr/>
          <p:nvPr/>
        </p:nvSpPr>
        <p:spPr>
          <a:xfrm>
            <a:off x="7738624" y="4297680"/>
            <a:ext cx="2743200" cy="868680"/>
          </a:xfrm>
          <a:prstGeom prst="roundRect">
            <a:avLst>
              <a:gd name="adj" fmla="val 8421"/>
            </a:avLst>
          </a:prstGeom>
          <a:solidFill>
            <a:srgbClr val="EEEDF5"/>
          </a:solidFill>
          <a:ln w="12700">
            <a:solidFill>
              <a:srgbClr val="EEEDF5"/>
            </a:solidFill>
            <a:prstDash val="solid"/>
          </a:ln>
        </p:spPr>
      </p:sp>
      <p:sp>
        <p:nvSpPr>
          <p:cNvPr id="25" name="Shape 20"/>
          <p:cNvSpPr/>
          <p:nvPr/>
        </p:nvSpPr>
        <p:spPr>
          <a:xfrm>
            <a:off x="7875784" y="4503420"/>
            <a:ext cx="457200" cy="457200"/>
          </a:xfrm>
          <a:prstGeom prst="ellipse">
            <a:avLst/>
          </a:prstGeom>
          <a:solidFill>
            <a:srgbClr val="0A032B"/>
          </a:solidFill>
          <a:ln w="12700">
            <a:solidFill>
              <a:srgbClr val="0A032B"/>
            </a:solidFill>
            <a:prstDash val="solid"/>
          </a:ln>
        </p:spPr>
      </p:sp>
      <p:pic>
        <p:nvPicPr>
          <p:cNvPr id="26" name="Image 3" descr="preencoded.png">    </p:cNvPr>
          <p:cNvPicPr>
            <a:picLocks noChangeAspect="1"/>
          </p:cNvPicPr>
          <p:nvPr/>
        </p:nvPicPr>
        <p:blipFill>
          <a:blip r:embed="rId4"/>
          <a:stretch>
            <a:fillRect/>
          </a:stretch>
        </p:blipFill>
        <p:spPr>
          <a:xfrm>
            <a:off x="7990084" y="4617720"/>
            <a:ext cx="228600" cy="228600"/>
          </a:xfrm>
          <a:prstGeom prst="rect">
            <a:avLst/>
          </a:prstGeom>
        </p:spPr>
      </p:pic>
      <p:sp>
        <p:nvSpPr>
          <p:cNvPr id="27" name="Text 21"/>
          <p:cNvSpPr txBox="1"/>
          <p:nvPr/>
        </p:nvSpPr>
        <p:spPr>
          <a:xfrm>
            <a:off x="8424424" y="4297680"/>
            <a:ext cx="1965960" cy="868680"/>
          </a:xfrm>
          <a:prstGeom prst="rect">
            <a:avLst/>
          </a:prstGeom>
          <a:noFill/>
          <a:ln/>
        </p:spPr>
        <p:txBody>
          <a:bodyPr wrap="square" lIns="0" tIns="0" rIns="0" bIns="0" rtlCol="0" anchor="ctr"/>
          <a:lstStyle/>
          <a:p>
            <a:pPr indent="0" marL="0">
              <a:buNone/>
            </a:pPr>
            <a:r>
              <a:rPr lang="en-US" sz="1150" b="1" dirty="0">
                <a:solidFill>
                  <a:srgbClr val="0A032B"/>
                </a:solidFill>
                <a:latin typeface="Montserrat" pitchFamily="34" charset="0"/>
                <a:ea typeface="Montserrat" pitchFamily="34" charset="-122"/>
                <a:cs typeface="Montserrat" pitchFamily="34" charset="-120"/>
              </a:rPr>
              <a:t>ACFI</a:t>
            </a:r>
            <a:endParaRPr lang="en-US" sz="1150" dirty="0"/>
          </a:p>
          <a:p>
            <a:pPr indent="0" marL="0">
              <a:buNone/>
            </a:pPr>
            <a:r>
              <a:rPr lang="en-US" sz="1050" dirty="0">
                <a:solidFill>
                  <a:srgbClr val="35305C"/>
                </a:solidFill>
                <a:latin typeface="Arial" pitchFamily="34" charset="0"/>
                <a:ea typeface="Arial" pitchFamily="34" charset="-122"/>
                <a:cs typeface="Arial" pitchFamily="34" charset="-120"/>
              </a:rPr>
              <a:t>Contrôle les règles d'hygiène et de sécurité</a:t>
            </a:r>
            <a:endParaRPr lang="en-US" sz="1150" dirty="0"/>
          </a:p>
        </p:txBody>
      </p:sp>
      <p:sp>
        <p:nvSpPr>
          <p:cNvPr id="28" name="Shape 22"/>
          <p:cNvSpPr/>
          <p:nvPr/>
        </p:nvSpPr>
        <p:spPr>
          <a:xfrm>
            <a:off x="4727448" y="5189220"/>
            <a:ext cx="2743200" cy="868680"/>
          </a:xfrm>
          <a:prstGeom prst="roundRect">
            <a:avLst>
              <a:gd name="adj" fmla="val 8421"/>
            </a:avLst>
          </a:prstGeom>
          <a:solidFill>
            <a:srgbClr val="EEEDF5"/>
          </a:solidFill>
          <a:ln w="12700">
            <a:solidFill>
              <a:srgbClr val="EEEDF5"/>
            </a:solidFill>
            <a:prstDash val="solid"/>
          </a:ln>
        </p:spPr>
      </p:sp>
      <p:sp>
        <p:nvSpPr>
          <p:cNvPr id="29" name="Shape 23"/>
          <p:cNvSpPr/>
          <p:nvPr/>
        </p:nvSpPr>
        <p:spPr>
          <a:xfrm>
            <a:off x="4864608" y="5394960"/>
            <a:ext cx="457200" cy="457200"/>
          </a:xfrm>
          <a:prstGeom prst="ellipse">
            <a:avLst/>
          </a:prstGeom>
          <a:solidFill>
            <a:srgbClr val="0A032B"/>
          </a:solidFill>
          <a:ln w="12700">
            <a:solidFill>
              <a:srgbClr val="0A032B"/>
            </a:solidFill>
            <a:prstDash val="solid"/>
          </a:ln>
        </p:spPr>
      </p:sp>
      <p:pic>
        <p:nvPicPr>
          <p:cNvPr id="30" name="Image 4" descr="preencoded.png">    </p:cNvPr>
          <p:cNvPicPr>
            <a:picLocks noChangeAspect="1"/>
          </p:cNvPicPr>
          <p:nvPr/>
        </p:nvPicPr>
        <p:blipFill>
          <a:blip r:embed="rId5"/>
          <a:stretch>
            <a:fillRect/>
          </a:stretch>
        </p:blipFill>
        <p:spPr>
          <a:xfrm>
            <a:off x="4978908" y="5509260"/>
            <a:ext cx="228600" cy="228600"/>
          </a:xfrm>
          <a:prstGeom prst="rect">
            <a:avLst/>
          </a:prstGeom>
        </p:spPr>
      </p:pic>
      <p:sp>
        <p:nvSpPr>
          <p:cNvPr id="31" name="Text 24"/>
          <p:cNvSpPr txBox="1"/>
          <p:nvPr/>
        </p:nvSpPr>
        <p:spPr>
          <a:xfrm>
            <a:off x="5413248" y="5189220"/>
            <a:ext cx="1965960" cy="868680"/>
          </a:xfrm>
          <a:prstGeom prst="rect">
            <a:avLst/>
          </a:prstGeom>
          <a:noFill/>
          <a:ln/>
        </p:spPr>
        <p:txBody>
          <a:bodyPr wrap="square" lIns="0" tIns="0" rIns="0" bIns="0" rtlCol="0" anchor="ctr"/>
          <a:lstStyle/>
          <a:p>
            <a:pPr indent="0" marL="0">
              <a:buNone/>
            </a:pPr>
            <a:r>
              <a:rPr lang="en-US" sz="1150" b="1" dirty="0">
                <a:solidFill>
                  <a:srgbClr val="0A032B"/>
                </a:solidFill>
                <a:latin typeface="Montserrat" pitchFamily="34" charset="0"/>
                <a:ea typeface="Montserrat" pitchFamily="34" charset="-122"/>
                <a:cs typeface="Montserrat" pitchFamily="34" charset="-120"/>
              </a:rPr>
              <a:t>F3SCT / CST</a:t>
            </a:r>
            <a:endParaRPr lang="en-US" sz="1150" dirty="0"/>
          </a:p>
          <a:p>
            <a:pPr indent="0" marL="0">
              <a:buNone/>
            </a:pPr>
            <a:r>
              <a:rPr lang="en-US" sz="1050" dirty="0">
                <a:solidFill>
                  <a:srgbClr val="35305C"/>
                </a:solidFill>
                <a:latin typeface="Arial" pitchFamily="34" charset="0"/>
                <a:ea typeface="Arial" pitchFamily="34" charset="-122"/>
                <a:cs typeface="Arial" pitchFamily="34" charset="-120"/>
              </a:rPr>
              <a:t>Instance de dialogue social en santé-sécurité</a:t>
            </a:r>
            <a:endParaRPr lang="en-US" sz="1150" dirty="0"/>
          </a:p>
        </p:txBody>
      </p:sp>
      <p:sp>
        <p:nvSpPr>
          <p:cNvPr id="32" name="Shape 25"/>
          <p:cNvSpPr/>
          <p:nvPr/>
        </p:nvSpPr>
        <p:spPr>
          <a:xfrm>
            <a:off x="1716272" y="4297680"/>
            <a:ext cx="2743200" cy="868680"/>
          </a:xfrm>
          <a:prstGeom prst="roundRect">
            <a:avLst>
              <a:gd name="adj" fmla="val 8421"/>
            </a:avLst>
          </a:prstGeom>
          <a:solidFill>
            <a:srgbClr val="EEEDF5"/>
          </a:solidFill>
          <a:ln w="12700">
            <a:solidFill>
              <a:srgbClr val="EEEDF5"/>
            </a:solidFill>
            <a:prstDash val="solid"/>
          </a:ln>
        </p:spPr>
      </p:sp>
      <p:sp>
        <p:nvSpPr>
          <p:cNvPr id="33" name="Shape 26"/>
          <p:cNvSpPr/>
          <p:nvPr/>
        </p:nvSpPr>
        <p:spPr>
          <a:xfrm>
            <a:off x="1853432" y="4503420"/>
            <a:ext cx="457200" cy="457200"/>
          </a:xfrm>
          <a:prstGeom prst="ellipse">
            <a:avLst/>
          </a:prstGeom>
          <a:solidFill>
            <a:srgbClr val="0A032B"/>
          </a:solidFill>
          <a:ln w="12700">
            <a:solidFill>
              <a:srgbClr val="0A032B"/>
            </a:solidFill>
            <a:prstDash val="solid"/>
          </a:ln>
        </p:spPr>
      </p:sp>
      <p:pic>
        <p:nvPicPr>
          <p:cNvPr id="34" name="Image 5" descr="preencoded.png">    </p:cNvPr>
          <p:cNvPicPr>
            <a:picLocks noChangeAspect="1"/>
          </p:cNvPicPr>
          <p:nvPr/>
        </p:nvPicPr>
        <p:blipFill>
          <a:blip r:embed="rId6"/>
          <a:stretch>
            <a:fillRect/>
          </a:stretch>
        </p:blipFill>
        <p:spPr>
          <a:xfrm>
            <a:off x="1967732" y="4617720"/>
            <a:ext cx="228600" cy="228600"/>
          </a:xfrm>
          <a:prstGeom prst="rect">
            <a:avLst/>
          </a:prstGeom>
        </p:spPr>
      </p:pic>
      <p:sp>
        <p:nvSpPr>
          <p:cNvPr id="35" name="Text 27"/>
          <p:cNvSpPr txBox="1"/>
          <p:nvPr/>
        </p:nvSpPr>
        <p:spPr>
          <a:xfrm>
            <a:off x="2402072" y="4297680"/>
            <a:ext cx="1965960" cy="868680"/>
          </a:xfrm>
          <a:prstGeom prst="rect">
            <a:avLst/>
          </a:prstGeom>
          <a:noFill/>
          <a:ln/>
        </p:spPr>
        <p:txBody>
          <a:bodyPr wrap="square" lIns="0" tIns="0" rIns="0" bIns="0" rtlCol="0" anchor="ctr"/>
          <a:lstStyle/>
          <a:p>
            <a:pPr indent="0" marL="0">
              <a:buNone/>
            </a:pPr>
            <a:r>
              <a:rPr lang="en-US" sz="1150" b="1" dirty="0">
                <a:solidFill>
                  <a:srgbClr val="0A032B"/>
                </a:solidFill>
                <a:latin typeface="Montserrat" pitchFamily="34" charset="0"/>
                <a:ea typeface="Montserrat" pitchFamily="34" charset="-122"/>
                <a:cs typeface="Montserrat" pitchFamily="34" charset="-120"/>
              </a:rPr>
              <a:t>Centre de gestion</a:t>
            </a:r>
            <a:endParaRPr lang="en-US" sz="1150" dirty="0"/>
          </a:p>
          <a:p>
            <a:pPr indent="0" marL="0">
              <a:buNone/>
            </a:pPr>
            <a:r>
              <a:rPr lang="en-US" sz="1050" dirty="0">
                <a:solidFill>
                  <a:srgbClr val="35305C"/>
                </a:solidFill>
                <a:latin typeface="Arial" pitchFamily="34" charset="0"/>
                <a:ea typeface="Arial" pitchFamily="34" charset="-122"/>
                <a:cs typeface="Arial" pitchFamily="34" charset="-120"/>
              </a:rPr>
              <a:t>Appui, expertise, mise à disposition</a:t>
            </a:r>
            <a:endParaRPr lang="en-US" sz="1150" dirty="0"/>
          </a:p>
        </p:txBody>
      </p:sp>
      <p:sp>
        <p:nvSpPr>
          <p:cNvPr id="36" name="Shape 28"/>
          <p:cNvSpPr/>
          <p:nvPr/>
        </p:nvSpPr>
        <p:spPr>
          <a:xfrm>
            <a:off x="1716272" y="2514600"/>
            <a:ext cx="2743200" cy="868680"/>
          </a:xfrm>
          <a:prstGeom prst="roundRect">
            <a:avLst>
              <a:gd name="adj" fmla="val 8421"/>
            </a:avLst>
          </a:prstGeom>
          <a:solidFill>
            <a:srgbClr val="EEEDF5"/>
          </a:solidFill>
          <a:ln w="12700">
            <a:solidFill>
              <a:srgbClr val="EEEDF5"/>
            </a:solidFill>
            <a:prstDash val="solid"/>
          </a:ln>
        </p:spPr>
      </p:sp>
      <p:sp>
        <p:nvSpPr>
          <p:cNvPr id="37" name="Shape 29"/>
          <p:cNvSpPr/>
          <p:nvPr/>
        </p:nvSpPr>
        <p:spPr>
          <a:xfrm>
            <a:off x="1853432" y="2720340"/>
            <a:ext cx="457200" cy="457200"/>
          </a:xfrm>
          <a:prstGeom prst="ellipse">
            <a:avLst/>
          </a:prstGeom>
          <a:solidFill>
            <a:srgbClr val="0A032B"/>
          </a:solidFill>
          <a:ln w="12700">
            <a:solidFill>
              <a:srgbClr val="0A032B"/>
            </a:solidFill>
            <a:prstDash val="solid"/>
          </a:ln>
        </p:spPr>
      </p:sp>
      <p:pic>
        <p:nvPicPr>
          <p:cNvPr id="38" name="Image 6" descr="preencoded.png">    </p:cNvPr>
          <p:cNvPicPr>
            <a:picLocks noChangeAspect="1"/>
          </p:cNvPicPr>
          <p:nvPr/>
        </p:nvPicPr>
        <p:blipFill>
          <a:blip r:embed="rId7"/>
          <a:stretch>
            <a:fillRect/>
          </a:stretch>
        </p:blipFill>
        <p:spPr>
          <a:xfrm>
            <a:off x="1967732" y="2834640"/>
            <a:ext cx="228600" cy="228600"/>
          </a:xfrm>
          <a:prstGeom prst="rect">
            <a:avLst/>
          </a:prstGeom>
        </p:spPr>
      </p:pic>
      <p:sp>
        <p:nvSpPr>
          <p:cNvPr id="39" name="Text 30"/>
          <p:cNvSpPr txBox="1"/>
          <p:nvPr/>
        </p:nvSpPr>
        <p:spPr>
          <a:xfrm>
            <a:off x="2402072" y="2514600"/>
            <a:ext cx="1965960" cy="868680"/>
          </a:xfrm>
          <a:prstGeom prst="rect">
            <a:avLst/>
          </a:prstGeom>
          <a:noFill/>
          <a:ln/>
        </p:spPr>
        <p:txBody>
          <a:bodyPr wrap="square" lIns="0" tIns="0" rIns="0" bIns="0" rtlCol="0" anchor="ctr"/>
          <a:lstStyle/>
          <a:p>
            <a:pPr indent="0" marL="0">
              <a:buNone/>
            </a:pPr>
            <a:r>
              <a:rPr lang="en-US" sz="1150" b="1" dirty="0">
                <a:solidFill>
                  <a:srgbClr val="0A032B"/>
                </a:solidFill>
                <a:latin typeface="Montserrat" pitchFamily="34" charset="0"/>
                <a:ea typeface="Montserrat" pitchFamily="34" charset="-122"/>
                <a:cs typeface="Montserrat" pitchFamily="34" charset="-120"/>
              </a:rPr>
              <a:t>Encadrement et agents</a:t>
            </a:r>
            <a:endParaRPr lang="en-US" sz="1150" dirty="0"/>
          </a:p>
          <a:p>
            <a:pPr indent="0" marL="0">
              <a:buNone/>
            </a:pPr>
            <a:r>
              <a:rPr lang="en-US" sz="1050" dirty="0">
                <a:solidFill>
                  <a:srgbClr val="35305C"/>
                </a:solidFill>
                <a:latin typeface="Arial" pitchFamily="34" charset="0"/>
                <a:ea typeface="Arial" pitchFamily="34" charset="-122"/>
                <a:cs typeface="Arial" pitchFamily="34" charset="-120"/>
              </a:rPr>
              <a:t>Appliquent, signalent, proposent</a:t>
            </a:r>
            <a:endParaRPr lang="en-US" sz="1150" dirty="0"/>
          </a:p>
        </p:txBody>
      </p:sp>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235440" cy="685800"/>
          </a:xfrm>
          <a:prstGeom prst="rect">
            <a:avLst/>
          </a:prstGeom>
          <a:noFill/>
          <a:ln/>
        </p:spPr>
        <p:txBody>
          <a:bodyPr wrap="square" lIns="0" tIns="0" rIns="0" bIns="0" rtlCol="0" anchor="ctr"/>
          <a:lstStyle/>
          <a:p>
            <a:pPr indent="0" marL="0">
              <a:buNone/>
            </a:pPr>
            <a:r>
              <a:rPr lang="en-US" sz="2800" b="1" dirty="0">
                <a:solidFill>
                  <a:srgbClr val="0A032B"/>
                </a:solidFill>
                <a:latin typeface="Montserrat" pitchFamily="34" charset="0"/>
                <a:ea typeface="Montserrat" pitchFamily="34" charset="-122"/>
                <a:cs typeface="Montserrat" pitchFamily="34" charset="-120"/>
              </a:rPr>
              <a:t>Le rôle de l'élu : exemplarité et portage</a:t>
            </a:r>
            <a:endParaRPr lang="en-US" sz="2800" dirty="0"/>
          </a:p>
        </p:txBody>
      </p:sp>
      <p:sp>
        <p:nvSpPr>
          <p:cNvPr id="3" name="Shape 1"/>
          <p:cNvSpPr/>
          <p:nvPr/>
        </p:nvSpPr>
        <p:spPr>
          <a:xfrm>
            <a:off x="10042855" y="530352"/>
            <a:ext cx="1600200" cy="347472"/>
          </a:xfrm>
          <a:prstGeom prst="roundRect">
            <a:avLst>
              <a:gd name="adj" fmla="val 50000"/>
            </a:avLst>
          </a:prstGeom>
          <a:solidFill>
            <a:srgbClr val="DCDAEA"/>
          </a:solidFill>
          <a:ln w="12700">
            <a:solidFill>
              <a:srgbClr val="DCDAEA"/>
            </a:solidFill>
            <a:prstDash val="solid"/>
          </a:ln>
        </p:spPr>
      </p:sp>
      <p:sp>
        <p:nvSpPr>
          <p:cNvPr id="4" name="Text 2"/>
          <p:cNvSpPr txBox="1"/>
          <p:nvPr/>
        </p:nvSpPr>
        <p:spPr>
          <a:xfrm>
            <a:off x="10042855" y="530352"/>
            <a:ext cx="1600200" cy="347472"/>
          </a:xfrm>
          <a:prstGeom prst="rect">
            <a:avLst/>
          </a:prstGeom>
          <a:noFill/>
          <a:ln/>
        </p:spPr>
        <p:txBody>
          <a:bodyPr wrap="square" lIns="0" tIns="0" rIns="0" bIns="0" rtlCol="0" anchor="ctr"/>
          <a:lstStyle/>
          <a:p>
            <a:pPr algn="ctr" indent="0" marL="0">
              <a:buNone/>
            </a:pPr>
            <a:r>
              <a:rPr lang="en-US" sz="1100" b="1" spc="200" kern="0" dirty="0">
                <a:solidFill>
                  <a:srgbClr val="0A032B"/>
                </a:solidFill>
                <a:latin typeface="Montserrat" pitchFamily="34" charset="0"/>
                <a:ea typeface="Montserrat" pitchFamily="34" charset="-122"/>
                <a:cs typeface="Montserrat" pitchFamily="34" charset="-120"/>
              </a:rPr>
              <a:t>ÉCHANGES</a:t>
            </a:r>
            <a:endParaRPr lang="en-US" sz="1100" dirty="0"/>
          </a:p>
        </p:txBody>
      </p:sp>
      <p:sp>
        <p:nvSpPr>
          <p:cNvPr id="5" name="Text 3"/>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5E5A78"/>
                </a:solidFill>
                <a:latin typeface="Arial" pitchFamily="34" charset="0"/>
                <a:ea typeface="Arial" pitchFamily="34" charset="-122"/>
                <a:cs typeface="Arial" pitchFamily="34" charset="-120"/>
              </a:rPr>
              <a:t>Gestes et postures de l'élu  ·  Séquence 6</a:t>
            </a:r>
            <a:endParaRPr lang="en-US" sz="900" dirty="0"/>
          </a:p>
        </p:txBody>
      </p:sp>
      <p:pic>
        <p:nvPicPr>
          <p:cNvPr id="6" name="Image 0" descr="logo_light.png">    </p:cNvPr>
          <p:cNvPicPr>
            <a:picLocks noChangeAspect="1"/>
          </p:cNvPicPr>
          <p:nvPr/>
        </p:nvPicPr>
        <p:blipFill>
          <a:blip r:embed="rId1"/>
          <a:stretch>
            <a:fillRect/>
          </a:stretch>
        </p:blipFill>
        <p:spPr>
          <a:xfrm>
            <a:off x="10682935" y="6236208"/>
            <a:ext cx="960120" cy="398441"/>
          </a:xfrm>
          <a:prstGeom prst="rect">
            <a:avLst/>
          </a:prstGeom>
        </p:spPr>
      </p:pic>
      <p:sp>
        <p:nvSpPr>
          <p:cNvPr id="7" name="Shape 4"/>
          <p:cNvSpPr/>
          <p:nvPr/>
        </p:nvSpPr>
        <p:spPr>
          <a:xfrm>
            <a:off x="548640" y="1325880"/>
            <a:ext cx="3515258" cy="2217420"/>
          </a:xfrm>
          <a:prstGeom prst="roundRect">
            <a:avLst>
              <a:gd name="adj" fmla="val 3299"/>
            </a:avLst>
          </a:prstGeom>
          <a:solidFill>
            <a:srgbClr val="EEEDF5"/>
          </a:solidFill>
          <a:ln w="12700">
            <a:solidFill>
              <a:srgbClr val="EEEDF5"/>
            </a:solidFill>
            <a:prstDash val="solid"/>
          </a:ln>
        </p:spPr>
      </p:sp>
      <p:sp>
        <p:nvSpPr>
          <p:cNvPr id="8" name="Shape 5"/>
          <p:cNvSpPr/>
          <p:nvPr/>
        </p:nvSpPr>
        <p:spPr>
          <a:xfrm>
            <a:off x="777240" y="1554480"/>
            <a:ext cx="548640" cy="548640"/>
          </a:xfrm>
          <a:prstGeom prst="ellipse">
            <a:avLst/>
          </a:prstGeom>
          <a:solidFill>
            <a:srgbClr val="0A032B"/>
          </a:solidFill>
          <a:ln w="12700">
            <a:solidFill>
              <a:srgbClr val="0A032B"/>
            </a:solidFill>
            <a:prstDash val="solid"/>
          </a:ln>
        </p:spPr>
      </p:sp>
      <p:pic>
        <p:nvPicPr>
          <p:cNvPr id="9" name="Image 1" descr="preencoded.png">    </p:cNvPr>
          <p:cNvPicPr>
            <a:picLocks noChangeAspect="1"/>
          </p:cNvPicPr>
          <p:nvPr/>
        </p:nvPicPr>
        <p:blipFill>
          <a:blip r:embed="rId2"/>
          <a:stretch>
            <a:fillRect/>
          </a:stretch>
        </p:blipFill>
        <p:spPr>
          <a:xfrm>
            <a:off x="914400" y="1691640"/>
            <a:ext cx="274320" cy="274320"/>
          </a:xfrm>
          <a:prstGeom prst="rect">
            <a:avLst/>
          </a:prstGeom>
        </p:spPr>
      </p:pic>
      <p:sp>
        <p:nvSpPr>
          <p:cNvPr id="10" name="Text 6"/>
          <p:cNvSpPr txBox="1"/>
          <p:nvPr/>
        </p:nvSpPr>
        <p:spPr>
          <a:xfrm>
            <a:off x="1508760" y="1554480"/>
            <a:ext cx="2326538" cy="5486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Montrer l'exemple</a:t>
            </a:r>
            <a:endParaRPr lang="en-US" sz="1500" dirty="0"/>
          </a:p>
        </p:txBody>
      </p:sp>
      <p:sp>
        <p:nvSpPr>
          <p:cNvPr id="11" name="Text 7"/>
          <p:cNvSpPr txBox="1"/>
          <p:nvPr/>
        </p:nvSpPr>
        <p:spPr>
          <a:xfrm>
            <a:off x="777240" y="2240280"/>
            <a:ext cx="3058058" cy="1165860"/>
          </a:xfrm>
          <a:prstGeom prst="rect">
            <a:avLst/>
          </a:prstGeom>
          <a:noFill/>
          <a:ln/>
        </p:spPr>
        <p:txBody>
          <a:bodyPr wrap="square" lIns="0" tIns="0" rIns="0" bIns="0" rtlCol="0" anchor="t"/>
          <a:lstStyle/>
          <a:p>
            <a:pPr indent="0" marL="0">
              <a:buNone/>
            </a:pPr>
            <a:r>
              <a:rPr lang="en-US" sz="1250" dirty="0">
                <a:solidFill>
                  <a:srgbClr val="35305C"/>
                </a:solidFill>
                <a:latin typeface="Arial" pitchFamily="34" charset="0"/>
                <a:ea typeface="Arial" pitchFamily="34" charset="-122"/>
                <a:cs typeface="Arial" pitchFamily="34" charset="-120"/>
              </a:rPr>
              <a:t>Appliquer soi-même les bons gestes lors des événements, porter les EPI sur les chantiers, ne pas « donner un coup de main » dangereux.</a:t>
            </a:r>
            <a:endParaRPr lang="en-US" sz="1250" dirty="0"/>
          </a:p>
        </p:txBody>
      </p:sp>
      <p:sp>
        <p:nvSpPr>
          <p:cNvPr id="12" name="Shape 8"/>
          <p:cNvSpPr/>
          <p:nvPr/>
        </p:nvSpPr>
        <p:spPr>
          <a:xfrm>
            <a:off x="4338218" y="1325880"/>
            <a:ext cx="3515258" cy="2217420"/>
          </a:xfrm>
          <a:prstGeom prst="roundRect">
            <a:avLst>
              <a:gd name="adj" fmla="val 3299"/>
            </a:avLst>
          </a:prstGeom>
          <a:solidFill>
            <a:srgbClr val="EEEDF5"/>
          </a:solidFill>
          <a:ln w="12700">
            <a:solidFill>
              <a:srgbClr val="EEEDF5"/>
            </a:solidFill>
            <a:prstDash val="solid"/>
          </a:ln>
        </p:spPr>
      </p:sp>
      <p:sp>
        <p:nvSpPr>
          <p:cNvPr id="13" name="Shape 9"/>
          <p:cNvSpPr/>
          <p:nvPr/>
        </p:nvSpPr>
        <p:spPr>
          <a:xfrm>
            <a:off x="4566818" y="1554480"/>
            <a:ext cx="548640" cy="548640"/>
          </a:xfrm>
          <a:prstGeom prst="ellipse">
            <a:avLst/>
          </a:prstGeom>
          <a:solidFill>
            <a:srgbClr val="0A032B"/>
          </a:solidFill>
          <a:ln w="12700">
            <a:solidFill>
              <a:srgbClr val="0A032B"/>
            </a:solidFill>
            <a:prstDash val="solid"/>
          </a:ln>
        </p:spPr>
      </p:sp>
      <p:pic>
        <p:nvPicPr>
          <p:cNvPr id="14" name="Image 2" descr="preencoded.png">    </p:cNvPr>
          <p:cNvPicPr>
            <a:picLocks noChangeAspect="1"/>
          </p:cNvPicPr>
          <p:nvPr/>
        </p:nvPicPr>
        <p:blipFill>
          <a:blip r:embed="rId3"/>
          <a:stretch>
            <a:fillRect/>
          </a:stretch>
        </p:blipFill>
        <p:spPr>
          <a:xfrm>
            <a:off x="4703978" y="1691640"/>
            <a:ext cx="274320" cy="274320"/>
          </a:xfrm>
          <a:prstGeom prst="rect">
            <a:avLst/>
          </a:prstGeom>
        </p:spPr>
      </p:pic>
      <p:sp>
        <p:nvSpPr>
          <p:cNvPr id="15" name="Text 10"/>
          <p:cNvSpPr txBox="1"/>
          <p:nvPr/>
        </p:nvSpPr>
        <p:spPr>
          <a:xfrm>
            <a:off x="5298338" y="1554480"/>
            <a:ext cx="2326538" cy="5486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Porter la démarche</a:t>
            </a:r>
            <a:endParaRPr lang="en-US" sz="1500" dirty="0"/>
          </a:p>
        </p:txBody>
      </p:sp>
      <p:sp>
        <p:nvSpPr>
          <p:cNvPr id="16" name="Text 11"/>
          <p:cNvSpPr txBox="1"/>
          <p:nvPr/>
        </p:nvSpPr>
        <p:spPr>
          <a:xfrm>
            <a:off x="4566818" y="2240280"/>
            <a:ext cx="3058058" cy="1165860"/>
          </a:xfrm>
          <a:prstGeom prst="rect">
            <a:avLst/>
          </a:prstGeom>
          <a:noFill/>
          <a:ln/>
        </p:spPr>
        <p:txBody>
          <a:bodyPr wrap="square" lIns="0" tIns="0" rIns="0" bIns="0" rtlCol="0" anchor="t"/>
          <a:lstStyle/>
          <a:p>
            <a:pPr indent="0" marL="0">
              <a:buNone/>
            </a:pPr>
            <a:r>
              <a:rPr lang="en-US" sz="1250" dirty="0">
                <a:solidFill>
                  <a:srgbClr val="35305C"/>
                </a:solidFill>
                <a:latin typeface="Arial" pitchFamily="34" charset="0"/>
                <a:ea typeface="Arial" pitchFamily="34" charset="-122"/>
                <a:cs typeface="Arial" pitchFamily="34" charset="-120"/>
              </a:rPr>
              <a:t>Afficher la prévention comme une priorité politique, en parler en conseil, en réunion de service.</a:t>
            </a:r>
            <a:endParaRPr lang="en-US" sz="1250" dirty="0"/>
          </a:p>
        </p:txBody>
      </p:sp>
      <p:sp>
        <p:nvSpPr>
          <p:cNvPr id="17" name="Shape 12"/>
          <p:cNvSpPr/>
          <p:nvPr/>
        </p:nvSpPr>
        <p:spPr>
          <a:xfrm>
            <a:off x="8127797" y="1325880"/>
            <a:ext cx="3515258" cy="2217420"/>
          </a:xfrm>
          <a:prstGeom prst="roundRect">
            <a:avLst>
              <a:gd name="adj" fmla="val 3299"/>
            </a:avLst>
          </a:prstGeom>
          <a:solidFill>
            <a:srgbClr val="EEEDF5"/>
          </a:solidFill>
          <a:ln w="12700">
            <a:solidFill>
              <a:srgbClr val="EEEDF5"/>
            </a:solidFill>
            <a:prstDash val="solid"/>
          </a:ln>
        </p:spPr>
      </p:sp>
      <p:sp>
        <p:nvSpPr>
          <p:cNvPr id="18" name="Shape 13"/>
          <p:cNvSpPr/>
          <p:nvPr/>
        </p:nvSpPr>
        <p:spPr>
          <a:xfrm>
            <a:off x="8356397" y="1554480"/>
            <a:ext cx="548640" cy="548640"/>
          </a:xfrm>
          <a:prstGeom prst="ellipse">
            <a:avLst/>
          </a:prstGeom>
          <a:solidFill>
            <a:srgbClr val="0A032B"/>
          </a:solidFill>
          <a:ln w="12700">
            <a:solidFill>
              <a:srgbClr val="0A032B"/>
            </a:solidFill>
            <a:prstDash val="solid"/>
          </a:ln>
        </p:spPr>
      </p:sp>
      <p:pic>
        <p:nvPicPr>
          <p:cNvPr id="19" name="Image 3" descr="preencoded.png">    </p:cNvPr>
          <p:cNvPicPr>
            <a:picLocks noChangeAspect="1"/>
          </p:cNvPicPr>
          <p:nvPr/>
        </p:nvPicPr>
        <p:blipFill>
          <a:blip r:embed="rId4"/>
          <a:stretch>
            <a:fillRect/>
          </a:stretch>
        </p:blipFill>
        <p:spPr>
          <a:xfrm>
            <a:off x="8493557" y="1691640"/>
            <a:ext cx="274320" cy="274320"/>
          </a:xfrm>
          <a:prstGeom prst="rect">
            <a:avLst/>
          </a:prstGeom>
        </p:spPr>
      </p:pic>
      <p:sp>
        <p:nvSpPr>
          <p:cNvPr id="20" name="Text 14"/>
          <p:cNvSpPr txBox="1"/>
          <p:nvPr/>
        </p:nvSpPr>
        <p:spPr>
          <a:xfrm>
            <a:off x="9087917" y="1554480"/>
            <a:ext cx="2326538" cy="5486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Arbitrer les moyens</a:t>
            </a:r>
            <a:endParaRPr lang="en-US" sz="1500" dirty="0"/>
          </a:p>
        </p:txBody>
      </p:sp>
      <p:sp>
        <p:nvSpPr>
          <p:cNvPr id="21" name="Text 15"/>
          <p:cNvSpPr txBox="1"/>
          <p:nvPr/>
        </p:nvSpPr>
        <p:spPr>
          <a:xfrm>
            <a:off x="8356397" y="2240280"/>
            <a:ext cx="3058058" cy="1165860"/>
          </a:xfrm>
          <a:prstGeom prst="rect">
            <a:avLst/>
          </a:prstGeom>
          <a:noFill/>
          <a:ln/>
        </p:spPr>
        <p:txBody>
          <a:bodyPr wrap="square" lIns="0" tIns="0" rIns="0" bIns="0" rtlCol="0" anchor="t"/>
          <a:lstStyle/>
          <a:p>
            <a:pPr indent="0" marL="0">
              <a:buNone/>
            </a:pPr>
            <a:r>
              <a:rPr lang="en-US" sz="1250" dirty="0">
                <a:solidFill>
                  <a:srgbClr val="35305C"/>
                </a:solidFill>
                <a:latin typeface="Arial" pitchFamily="34" charset="0"/>
                <a:ea typeface="Arial" pitchFamily="34" charset="-122"/>
                <a:cs typeface="Arial" pitchFamily="34" charset="-120"/>
              </a:rPr>
              <a:t>Budget pour les aides à la manutention, le mobilier adapté, les formations des agents.</a:t>
            </a:r>
            <a:endParaRPr lang="en-US" sz="1250" dirty="0"/>
          </a:p>
        </p:txBody>
      </p:sp>
      <p:sp>
        <p:nvSpPr>
          <p:cNvPr id="22" name="Shape 16"/>
          <p:cNvSpPr/>
          <p:nvPr/>
        </p:nvSpPr>
        <p:spPr>
          <a:xfrm>
            <a:off x="548640" y="3817620"/>
            <a:ext cx="3515258" cy="2217420"/>
          </a:xfrm>
          <a:prstGeom prst="roundRect">
            <a:avLst>
              <a:gd name="adj" fmla="val 3299"/>
            </a:avLst>
          </a:prstGeom>
          <a:solidFill>
            <a:srgbClr val="EEEDF5"/>
          </a:solidFill>
          <a:ln w="12700">
            <a:solidFill>
              <a:srgbClr val="EEEDF5"/>
            </a:solidFill>
            <a:prstDash val="solid"/>
          </a:ln>
        </p:spPr>
      </p:sp>
      <p:sp>
        <p:nvSpPr>
          <p:cNvPr id="23" name="Shape 17"/>
          <p:cNvSpPr/>
          <p:nvPr/>
        </p:nvSpPr>
        <p:spPr>
          <a:xfrm>
            <a:off x="777240" y="4046220"/>
            <a:ext cx="548640" cy="548640"/>
          </a:xfrm>
          <a:prstGeom prst="ellipse">
            <a:avLst/>
          </a:prstGeom>
          <a:solidFill>
            <a:srgbClr val="0A032B"/>
          </a:solidFill>
          <a:ln w="12700">
            <a:solidFill>
              <a:srgbClr val="0A032B"/>
            </a:solidFill>
            <a:prstDash val="solid"/>
          </a:ln>
        </p:spPr>
      </p:sp>
      <p:pic>
        <p:nvPicPr>
          <p:cNvPr id="24" name="Image 4" descr="preencoded.png">    </p:cNvPr>
          <p:cNvPicPr>
            <a:picLocks noChangeAspect="1"/>
          </p:cNvPicPr>
          <p:nvPr/>
        </p:nvPicPr>
        <p:blipFill>
          <a:blip r:embed="rId5"/>
          <a:stretch>
            <a:fillRect/>
          </a:stretch>
        </p:blipFill>
        <p:spPr>
          <a:xfrm>
            <a:off x="914400" y="4183380"/>
            <a:ext cx="274320" cy="274320"/>
          </a:xfrm>
          <a:prstGeom prst="rect">
            <a:avLst/>
          </a:prstGeom>
        </p:spPr>
      </p:pic>
      <p:sp>
        <p:nvSpPr>
          <p:cNvPr id="25" name="Text 18"/>
          <p:cNvSpPr txBox="1"/>
          <p:nvPr/>
        </p:nvSpPr>
        <p:spPr>
          <a:xfrm>
            <a:off x="1508760" y="4046220"/>
            <a:ext cx="2326538" cy="5486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Écouter et dialoguer</a:t>
            </a:r>
            <a:endParaRPr lang="en-US" sz="1500" dirty="0"/>
          </a:p>
        </p:txBody>
      </p:sp>
      <p:sp>
        <p:nvSpPr>
          <p:cNvPr id="26" name="Text 19"/>
          <p:cNvSpPr txBox="1"/>
          <p:nvPr/>
        </p:nvSpPr>
        <p:spPr>
          <a:xfrm>
            <a:off x="777240" y="4732020"/>
            <a:ext cx="3058058" cy="1165860"/>
          </a:xfrm>
          <a:prstGeom prst="rect">
            <a:avLst/>
          </a:prstGeom>
          <a:noFill/>
          <a:ln/>
        </p:spPr>
        <p:txBody>
          <a:bodyPr wrap="square" lIns="0" tIns="0" rIns="0" bIns="0" rtlCol="0" anchor="t"/>
          <a:lstStyle/>
          <a:p>
            <a:pPr indent="0" marL="0">
              <a:buNone/>
            </a:pPr>
            <a:r>
              <a:rPr lang="en-US" sz="1250" dirty="0">
                <a:solidFill>
                  <a:srgbClr val="35305C"/>
                </a:solidFill>
                <a:latin typeface="Arial" pitchFamily="34" charset="0"/>
                <a:ea typeface="Arial" pitchFamily="34" charset="-122"/>
                <a:cs typeface="Arial" pitchFamily="34" charset="-120"/>
              </a:rPr>
              <a:t>Prendre au sérieux les signalements, participer au dialogue social, consulter les agents.</a:t>
            </a:r>
            <a:endParaRPr lang="en-US" sz="1250" dirty="0"/>
          </a:p>
        </p:txBody>
      </p:sp>
      <p:sp>
        <p:nvSpPr>
          <p:cNvPr id="27" name="Shape 20"/>
          <p:cNvSpPr/>
          <p:nvPr/>
        </p:nvSpPr>
        <p:spPr>
          <a:xfrm>
            <a:off x="4338218" y="3817620"/>
            <a:ext cx="3515258" cy="2217420"/>
          </a:xfrm>
          <a:prstGeom prst="roundRect">
            <a:avLst>
              <a:gd name="adj" fmla="val 3299"/>
            </a:avLst>
          </a:prstGeom>
          <a:solidFill>
            <a:srgbClr val="EEEDF5"/>
          </a:solidFill>
          <a:ln w="12700">
            <a:solidFill>
              <a:srgbClr val="EEEDF5"/>
            </a:solidFill>
            <a:prstDash val="solid"/>
          </a:ln>
        </p:spPr>
      </p:sp>
      <p:sp>
        <p:nvSpPr>
          <p:cNvPr id="28" name="Shape 21"/>
          <p:cNvSpPr/>
          <p:nvPr/>
        </p:nvSpPr>
        <p:spPr>
          <a:xfrm>
            <a:off x="4566818" y="4046220"/>
            <a:ext cx="548640" cy="548640"/>
          </a:xfrm>
          <a:prstGeom prst="ellipse">
            <a:avLst/>
          </a:prstGeom>
          <a:solidFill>
            <a:srgbClr val="0A032B"/>
          </a:solidFill>
          <a:ln w="12700">
            <a:solidFill>
              <a:srgbClr val="0A032B"/>
            </a:solidFill>
            <a:prstDash val="solid"/>
          </a:ln>
        </p:spPr>
      </p:sp>
      <p:pic>
        <p:nvPicPr>
          <p:cNvPr id="29" name="Image 5" descr="preencoded.png">    </p:cNvPr>
          <p:cNvPicPr>
            <a:picLocks noChangeAspect="1"/>
          </p:cNvPicPr>
          <p:nvPr/>
        </p:nvPicPr>
        <p:blipFill>
          <a:blip r:embed="rId6"/>
          <a:stretch>
            <a:fillRect/>
          </a:stretch>
        </p:blipFill>
        <p:spPr>
          <a:xfrm>
            <a:off x="4703978" y="4183380"/>
            <a:ext cx="274320" cy="274320"/>
          </a:xfrm>
          <a:prstGeom prst="rect">
            <a:avLst/>
          </a:prstGeom>
        </p:spPr>
      </p:pic>
      <p:sp>
        <p:nvSpPr>
          <p:cNvPr id="30" name="Text 22"/>
          <p:cNvSpPr txBox="1"/>
          <p:nvPr/>
        </p:nvSpPr>
        <p:spPr>
          <a:xfrm>
            <a:off x="5298338" y="4046220"/>
            <a:ext cx="2326538" cy="5486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Organiser le travail</a:t>
            </a:r>
            <a:endParaRPr lang="en-US" sz="1500" dirty="0"/>
          </a:p>
        </p:txBody>
      </p:sp>
      <p:sp>
        <p:nvSpPr>
          <p:cNvPr id="31" name="Text 23"/>
          <p:cNvSpPr txBox="1"/>
          <p:nvPr/>
        </p:nvSpPr>
        <p:spPr>
          <a:xfrm>
            <a:off x="4566818" y="4732020"/>
            <a:ext cx="3058058" cy="1165860"/>
          </a:xfrm>
          <a:prstGeom prst="rect">
            <a:avLst/>
          </a:prstGeom>
          <a:noFill/>
          <a:ln/>
        </p:spPr>
        <p:txBody>
          <a:bodyPr wrap="square" lIns="0" tIns="0" rIns="0" bIns="0" rtlCol="0" anchor="t"/>
          <a:lstStyle/>
          <a:p>
            <a:pPr indent="0" marL="0">
              <a:buNone/>
            </a:pPr>
            <a:r>
              <a:rPr lang="en-US" sz="1250" dirty="0">
                <a:solidFill>
                  <a:srgbClr val="35305C"/>
                </a:solidFill>
                <a:latin typeface="Arial" pitchFamily="34" charset="0"/>
                <a:ea typeface="Arial" pitchFamily="34" charset="-122"/>
                <a:cs typeface="Arial" pitchFamily="34" charset="-120"/>
              </a:rPr>
              <a:t>Anticiper les événements : temps de préparation, renforts, livraisons au bon endroit.</a:t>
            </a:r>
            <a:endParaRPr lang="en-US" sz="1250" dirty="0"/>
          </a:p>
        </p:txBody>
      </p:sp>
      <p:sp>
        <p:nvSpPr>
          <p:cNvPr id="32" name="Shape 24"/>
          <p:cNvSpPr/>
          <p:nvPr/>
        </p:nvSpPr>
        <p:spPr>
          <a:xfrm>
            <a:off x="8127797" y="3817620"/>
            <a:ext cx="3515258" cy="2217420"/>
          </a:xfrm>
          <a:prstGeom prst="roundRect">
            <a:avLst>
              <a:gd name="adj" fmla="val 3299"/>
            </a:avLst>
          </a:prstGeom>
          <a:solidFill>
            <a:srgbClr val="EEEDF5"/>
          </a:solidFill>
          <a:ln w="12700">
            <a:solidFill>
              <a:srgbClr val="EEEDF5"/>
            </a:solidFill>
            <a:prstDash val="solid"/>
          </a:ln>
        </p:spPr>
      </p:sp>
      <p:sp>
        <p:nvSpPr>
          <p:cNvPr id="33" name="Shape 25"/>
          <p:cNvSpPr/>
          <p:nvPr/>
        </p:nvSpPr>
        <p:spPr>
          <a:xfrm>
            <a:off x="8356397" y="4046220"/>
            <a:ext cx="548640" cy="548640"/>
          </a:xfrm>
          <a:prstGeom prst="ellipse">
            <a:avLst/>
          </a:prstGeom>
          <a:solidFill>
            <a:srgbClr val="0A032B"/>
          </a:solidFill>
          <a:ln w="12700">
            <a:solidFill>
              <a:srgbClr val="0A032B"/>
            </a:solidFill>
            <a:prstDash val="solid"/>
          </a:ln>
        </p:spPr>
      </p:sp>
      <p:pic>
        <p:nvPicPr>
          <p:cNvPr id="34" name="Image 6" descr="preencoded.png">    </p:cNvPr>
          <p:cNvPicPr>
            <a:picLocks noChangeAspect="1"/>
          </p:cNvPicPr>
          <p:nvPr/>
        </p:nvPicPr>
        <p:blipFill>
          <a:blip r:embed="rId7"/>
          <a:stretch>
            <a:fillRect/>
          </a:stretch>
        </p:blipFill>
        <p:spPr>
          <a:xfrm>
            <a:off x="8493557" y="4183380"/>
            <a:ext cx="274320" cy="274320"/>
          </a:xfrm>
          <a:prstGeom prst="rect">
            <a:avLst/>
          </a:prstGeom>
        </p:spPr>
      </p:pic>
      <p:sp>
        <p:nvSpPr>
          <p:cNvPr id="35" name="Text 26"/>
          <p:cNvSpPr txBox="1"/>
          <p:nvPr/>
        </p:nvSpPr>
        <p:spPr>
          <a:xfrm>
            <a:off x="9087917" y="4046220"/>
            <a:ext cx="2326538" cy="548640"/>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Associer les acteurs</a:t>
            </a:r>
            <a:endParaRPr lang="en-US" sz="1500" dirty="0"/>
          </a:p>
        </p:txBody>
      </p:sp>
      <p:sp>
        <p:nvSpPr>
          <p:cNvPr id="36" name="Text 27"/>
          <p:cNvSpPr txBox="1"/>
          <p:nvPr/>
        </p:nvSpPr>
        <p:spPr>
          <a:xfrm>
            <a:off x="8356397" y="4732020"/>
            <a:ext cx="3058058" cy="1165860"/>
          </a:xfrm>
          <a:prstGeom prst="rect">
            <a:avLst/>
          </a:prstGeom>
          <a:noFill/>
          <a:ln/>
        </p:spPr>
        <p:txBody>
          <a:bodyPr wrap="square" lIns="0" tIns="0" rIns="0" bIns="0" rtlCol="0" anchor="t"/>
          <a:lstStyle/>
          <a:p>
            <a:pPr indent="0" marL="0">
              <a:buNone/>
            </a:pPr>
            <a:r>
              <a:rPr lang="en-US" sz="1250" dirty="0">
                <a:solidFill>
                  <a:srgbClr val="35305C"/>
                </a:solidFill>
                <a:latin typeface="Arial" pitchFamily="34" charset="0"/>
                <a:ea typeface="Arial" pitchFamily="34" charset="-122"/>
                <a:cs typeface="Arial" pitchFamily="34" charset="-120"/>
              </a:rPr>
              <a:t>S'appuyer sur l'assistant de prévention, la médecine préventive et le centre de gestion.</a:t>
            </a:r>
            <a:endParaRPr lang="en-US" sz="1250" dirty="0"/>
          </a:p>
        </p:txBody>
      </p:sp>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14800" cy="6858000"/>
          </a:xfrm>
          <a:prstGeom prst="rect">
            <a:avLst/>
          </a:prstGeom>
          <a:solidFill>
            <a:srgbClr val="F0EF96"/>
          </a:solidFill>
          <a:ln w="12700">
            <a:solidFill>
              <a:srgbClr val="F0EF96"/>
            </a:solidFill>
            <a:prstDash val="solid"/>
          </a:ln>
        </p:spPr>
      </p:sp>
      <p:sp>
        <p:nvSpPr>
          <p:cNvPr id="3" name="Shape 1"/>
          <p:cNvSpPr/>
          <p:nvPr/>
        </p:nvSpPr>
        <p:spPr>
          <a:xfrm>
            <a:off x="548640" y="502920"/>
            <a:ext cx="1600200" cy="347472"/>
          </a:xfrm>
          <a:prstGeom prst="roundRect">
            <a:avLst>
              <a:gd name="adj" fmla="val 50000"/>
            </a:avLst>
          </a:prstGeom>
          <a:solidFill>
            <a:srgbClr val="F0EF96"/>
          </a:solidFill>
          <a:ln w="12700">
            <a:solidFill>
              <a:srgbClr val="F0EF96"/>
            </a:solidFill>
            <a:prstDash val="solid"/>
          </a:ln>
        </p:spPr>
      </p:sp>
      <p:sp>
        <p:nvSpPr>
          <p:cNvPr id="4" name="Text 2"/>
          <p:cNvSpPr txBox="1"/>
          <p:nvPr/>
        </p:nvSpPr>
        <p:spPr>
          <a:xfrm>
            <a:off x="548640" y="502920"/>
            <a:ext cx="1600200" cy="347472"/>
          </a:xfrm>
          <a:prstGeom prst="rect">
            <a:avLst/>
          </a:prstGeom>
          <a:noFill/>
          <a:ln/>
        </p:spPr>
        <p:txBody>
          <a:bodyPr wrap="square" lIns="0" tIns="0" rIns="0" bIns="0" rtlCol="0" anchor="ctr"/>
          <a:lstStyle/>
          <a:p>
            <a:pPr algn="ctr" indent="0" marL="0">
              <a:buNone/>
            </a:pPr>
            <a:r>
              <a:rPr lang="en-US" sz="1100" b="1" spc="200" kern="0" dirty="0">
                <a:solidFill>
                  <a:srgbClr val="0A032B"/>
                </a:solidFill>
                <a:latin typeface="Montserrat" pitchFamily="34" charset="0"/>
                <a:ea typeface="Montserrat" pitchFamily="34" charset="-122"/>
                <a:cs typeface="Montserrat" pitchFamily="34" charset="-120"/>
              </a:rPr>
              <a:t>PRATIQUE</a:t>
            </a:r>
            <a:endParaRPr lang="en-US" sz="1100" dirty="0"/>
          </a:p>
        </p:txBody>
      </p:sp>
      <p:sp>
        <p:nvSpPr>
          <p:cNvPr id="5" name="Text 3"/>
          <p:cNvSpPr txBox="1"/>
          <p:nvPr/>
        </p:nvSpPr>
        <p:spPr>
          <a:xfrm>
            <a:off x="548640" y="1005840"/>
            <a:ext cx="3108960" cy="365760"/>
          </a:xfrm>
          <a:prstGeom prst="rect">
            <a:avLst/>
          </a:prstGeom>
          <a:noFill/>
          <a:ln/>
        </p:spPr>
        <p:txBody>
          <a:bodyPr wrap="square" lIns="0" tIns="0" rIns="0" bIns="0" rtlCol="0" anchor="ctr"/>
          <a:lstStyle/>
          <a:p>
            <a:pPr indent="0" marL="0">
              <a:buNone/>
            </a:pPr>
            <a:r>
              <a:rPr lang="en-US" sz="1300" b="1" spc="100" kern="0" dirty="0">
                <a:solidFill>
                  <a:srgbClr val="35305C"/>
                </a:solidFill>
                <a:latin typeface="Montserrat" pitchFamily="34" charset="0"/>
                <a:ea typeface="Montserrat" pitchFamily="34" charset="-122"/>
                <a:cs typeface="Montserrat" pitchFamily="34" charset="-120"/>
              </a:rPr>
              <a:t>ÉTUDE DE CAS</a:t>
            </a:r>
            <a:endParaRPr lang="en-US" sz="1300" dirty="0"/>
          </a:p>
        </p:txBody>
      </p:sp>
      <p:sp>
        <p:nvSpPr>
          <p:cNvPr id="6" name="Text 4"/>
          <p:cNvSpPr txBox="1"/>
          <p:nvPr/>
        </p:nvSpPr>
        <p:spPr>
          <a:xfrm>
            <a:off x="548640" y="1371600"/>
            <a:ext cx="3200400" cy="1371600"/>
          </a:xfrm>
          <a:prstGeom prst="rect">
            <a:avLst/>
          </a:prstGeom>
          <a:noFill/>
          <a:ln/>
        </p:spPr>
        <p:txBody>
          <a:bodyPr wrap="square" lIns="0" tIns="0" rIns="0" bIns="0" rtlCol="0" anchor="t"/>
          <a:lstStyle/>
          <a:p>
            <a:pPr indent="0" marL="0">
              <a:buNone/>
            </a:pPr>
            <a:r>
              <a:rPr lang="en-US" sz="2400" b="1" dirty="0">
                <a:solidFill>
                  <a:srgbClr val="0A032B"/>
                </a:solidFill>
                <a:latin typeface="Montserrat" pitchFamily="34" charset="0"/>
                <a:ea typeface="Montserrat" pitchFamily="34" charset="-122"/>
                <a:cs typeface="Montserrat" pitchFamily="34" charset="-120"/>
              </a:rPr>
              <a:t>Étude de cas 1 : la fête communale</a:t>
            </a:r>
            <a:endParaRPr lang="en-US" sz="2400" dirty="0"/>
          </a:p>
        </p:txBody>
      </p:sp>
      <p:sp>
        <p:nvSpPr>
          <p:cNvPr id="7" name="Shape 5"/>
          <p:cNvSpPr/>
          <p:nvPr/>
        </p:nvSpPr>
        <p:spPr>
          <a:xfrm>
            <a:off x="548640" y="2971800"/>
            <a:ext cx="457200" cy="457200"/>
          </a:xfrm>
          <a:prstGeom prst="ellipse">
            <a:avLst/>
          </a:prstGeom>
          <a:solidFill>
            <a:srgbClr val="0A032B"/>
          </a:solidFill>
          <a:ln w="12700">
            <a:solidFill>
              <a:srgbClr val="0A032B"/>
            </a:solidFill>
            <a:prstDash val="solid"/>
          </a:ln>
        </p:spPr>
      </p:sp>
      <p:pic>
        <p:nvPicPr>
          <p:cNvPr id="8" name="Image 0" descr="preencoded.png">    </p:cNvPr>
          <p:cNvPicPr>
            <a:picLocks noChangeAspect="1"/>
          </p:cNvPicPr>
          <p:nvPr/>
        </p:nvPicPr>
        <p:blipFill>
          <a:blip r:embed="rId1"/>
          <a:stretch>
            <a:fillRect/>
          </a:stretch>
        </p:blipFill>
        <p:spPr>
          <a:xfrm>
            <a:off x="662940" y="3086100"/>
            <a:ext cx="228600" cy="228600"/>
          </a:xfrm>
          <a:prstGeom prst="rect">
            <a:avLst/>
          </a:prstGeom>
        </p:spPr>
      </p:pic>
      <p:sp>
        <p:nvSpPr>
          <p:cNvPr id="9" name="Text 6"/>
          <p:cNvSpPr txBox="1"/>
          <p:nvPr/>
        </p:nvSpPr>
        <p:spPr>
          <a:xfrm>
            <a:off x="1188720" y="2926080"/>
            <a:ext cx="2468880" cy="868680"/>
          </a:xfrm>
          <a:prstGeom prst="rect">
            <a:avLst/>
          </a:prstGeom>
          <a:noFill/>
          <a:ln/>
        </p:spPr>
        <p:txBody>
          <a:bodyPr wrap="square" lIns="0" tIns="0" rIns="0" bIns="0" rtlCol="0" anchor="t"/>
          <a:lstStyle/>
          <a:p>
            <a:pPr indent="0" marL="0">
              <a:buNone/>
            </a:pPr>
            <a:r>
              <a:rPr lang="en-US" sz="1000" b="1" spc="100" kern="0" dirty="0">
                <a:solidFill>
                  <a:srgbClr val="35305C"/>
                </a:solidFill>
                <a:latin typeface="Montserrat" pitchFamily="34" charset="0"/>
                <a:ea typeface="Montserrat" pitchFamily="34" charset="-122"/>
                <a:cs typeface="Montserrat" pitchFamily="34" charset="-120"/>
              </a:rPr>
              <a:t>DURÉE</a:t>
            </a:r>
            <a:endParaRPr lang="en-US" sz="1000" dirty="0"/>
          </a:p>
          <a:p>
            <a:pPr indent="0" marL="0">
              <a:buNone/>
            </a:pPr>
            <a:r>
              <a:rPr lang="en-US" sz="1250" dirty="0">
                <a:solidFill>
                  <a:srgbClr val="0A032B"/>
                </a:solidFill>
                <a:latin typeface="Arial" pitchFamily="34" charset="0"/>
                <a:ea typeface="Arial" pitchFamily="34" charset="-122"/>
                <a:cs typeface="Arial" pitchFamily="34" charset="-120"/>
              </a:rPr>
              <a:t>20 minutes, en parallèle du cas 2</a:t>
            </a:r>
            <a:endParaRPr lang="en-US" sz="1000" dirty="0"/>
          </a:p>
        </p:txBody>
      </p:sp>
      <p:sp>
        <p:nvSpPr>
          <p:cNvPr id="10" name="Shape 7"/>
          <p:cNvSpPr/>
          <p:nvPr/>
        </p:nvSpPr>
        <p:spPr>
          <a:xfrm>
            <a:off x="548640" y="3931920"/>
            <a:ext cx="457200" cy="457200"/>
          </a:xfrm>
          <a:prstGeom prst="ellipse">
            <a:avLst/>
          </a:prstGeom>
          <a:solidFill>
            <a:srgbClr val="0A032B"/>
          </a:solidFill>
          <a:ln w="12700">
            <a:solidFill>
              <a:srgbClr val="0A032B"/>
            </a:solidFill>
            <a:prstDash val="solid"/>
          </a:ln>
        </p:spPr>
      </p:sp>
      <p:pic>
        <p:nvPicPr>
          <p:cNvPr id="11" name="Image 1" descr="preencoded.png">    </p:cNvPr>
          <p:cNvPicPr>
            <a:picLocks noChangeAspect="1"/>
          </p:cNvPicPr>
          <p:nvPr/>
        </p:nvPicPr>
        <p:blipFill>
          <a:blip r:embed="rId2"/>
          <a:stretch>
            <a:fillRect/>
          </a:stretch>
        </p:blipFill>
        <p:spPr>
          <a:xfrm>
            <a:off x="662940" y="4046220"/>
            <a:ext cx="228600" cy="228600"/>
          </a:xfrm>
          <a:prstGeom prst="rect">
            <a:avLst/>
          </a:prstGeom>
        </p:spPr>
      </p:pic>
      <p:sp>
        <p:nvSpPr>
          <p:cNvPr id="12" name="Text 8"/>
          <p:cNvSpPr txBox="1"/>
          <p:nvPr/>
        </p:nvSpPr>
        <p:spPr>
          <a:xfrm>
            <a:off x="1188720" y="3886200"/>
            <a:ext cx="2468880" cy="868680"/>
          </a:xfrm>
          <a:prstGeom prst="rect">
            <a:avLst/>
          </a:prstGeom>
          <a:noFill/>
          <a:ln/>
        </p:spPr>
        <p:txBody>
          <a:bodyPr wrap="square" lIns="0" tIns="0" rIns="0" bIns="0" rtlCol="0" anchor="t"/>
          <a:lstStyle/>
          <a:p>
            <a:pPr indent="0" marL="0">
              <a:buNone/>
            </a:pPr>
            <a:r>
              <a:rPr lang="en-US" sz="1000" b="1" spc="100" kern="0" dirty="0">
                <a:solidFill>
                  <a:srgbClr val="35305C"/>
                </a:solidFill>
                <a:latin typeface="Montserrat" pitchFamily="34" charset="0"/>
                <a:ea typeface="Montserrat" pitchFamily="34" charset="-122"/>
                <a:cs typeface="Montserrat" pitchFamily="34" charset="-120"/>
              </a:rPr>
              <a:t>FORMAT</a:t>
            </a:r>
            <a:endParaRPr lang="en-US" sz="1000" dirty="0"/>
          </a:p>
          <a:p>
            <a:pPr indent="0" marL="0">
              <a:buNone/>
            </a:pPr>
            <a:r>
              <a:rPr lang="en-US" sz="1250" dirty="0">
                <a:solidFill>
                  <a:srgbClr val="0A032B"/>
                </a:solidFill>
                <a:latin typeface="Arial" pitchFamily="34" charset="0"/>
                <a:ea typeface="Arial" pitchFamily="34" charset="-122"/>
                <a:cs typeface="Arial" pitchFamily="34" charset="-120"/>
              </a:rPr>
              <a:t>La moitié des sous-groupes</a:t>
            </a:r>
            <a:endParaRPr lang="en-US" sz="1000" dirty="0"/>
          </a:p>
        </p:txBody>
      </p:sp>
      <p:sp>
        <p:nvSpPr>
          <p:cNvPr id="13" name="Shape 9"/>
          <p:cNvSpPr/>
          <p:nvPr/>
        </p:nvSpPr>
        <p:spPr>
          <a:xfrm>
            <a:off x="548640" y="4892040"/>
            <a:ext cx="457200" cy="457200"/>
          </a:xfrm>
          <a:prstGeom prst="ellipse">
            <a:avLst/>
          </a:prstGeom>
          <a:solidFill>
            <a:srgbClr val="0A032B"/>
          </a:solidFill>
          <a:ln w="12700">
            <a:solidFill>
              <a:srgbClr val="0A032B"/>
            </a:solidFill>
            <a:prstDash val="solid"/>
          </a:ln>
        </p:spPr>
      </p:sp>
      <p:pic>
        <p:nvPicPr>
          <p:cNvPr id="14" name="Image 2" descr="preencoded.png">    </p:cNvPr>
          <p:cNvPicPr>
            <a:picLocks noChangeAspect="1"/>
          </p:cNvPicPr>
          <p:nvPr/>
        </p:nvPicPr>
        <p:blipFill>
          <a:blip r:embed="rId3"/>
          <a:stretch>
            <a:fillRect/>
          </a:stretch>
        </p:blipFill>
        <p:spPr>
          <a:xfrm>
            <a:off x="662940" y="5006340"/>
            <a:ext cx="228600" cy="228600"/>
          </a:xfrm>
          <a:prstGeom prst="rect">
            <a:avLst/>
          </a:prstGeom>
        </p:spPr>
      </p:pic>
      <p:sp>
        <p:nvSpPr>
          <p:cNvPr id="15" name="Text 10"/>
          <p:cNvSpPr txBox="1"/>
          <p:nvPr/>
        </p:nvSpPr>
        <p:spPr>
          <a:xfrm>
            <a:off x="1188720" y="4846320"/>
            <a:ext cx="2468880" cy="868680"/>
          </a:xfrm>
          <a:prstGeom prst="rect">
            <a:avLst/>
          </a:prstGeom>
          <a:noFill/>
          <a:ln/>
        </p:spPr>
        <p:txBody>
          <a:bodyPr wrap="square" lIns="0" tIns="0" rIns="0" bIns="0" rtlCol="0" anchor="t"/>
          <a:lstStyle/>
          <a:p>
            <a:pPr indent="0" marL="0">
              <a:buNone/>
            </a:pPr>
            <a:r>
              <a:rPr lang="en-US" sz="1000" b="1" spc="100" kern="0" dirty="0">
                <a:solidFill>
                  <a:srgbClr val="35305C"/>
                </a:solidFill>
                <a:latin typeface="Montserrat" pitchFamily="34" charset="0"/>
                <a:ea typeface="Montserrat" pitchFamily="34" charset="-122"/>
                <a:cs typeface="Montserrat" pitchFamily="34" charset="-120"/>
              </a:rPr>
              <a:t>MATÉRIEL</a:t>
            </a:r>
            <a:endParaRPr lang="en-US" sz="1000" dirty="0"/>
          </a:p>
          <a:p>
            <a:pPr indent="0" marL="0">
              <a:buNone/>
            </a:pPr>
            <a:r>
              <a:rPr lang="en-US" sz="1250" dirty="0">
                <a:solidFill>
                  <a:srgbClr val="0A032B"/>
                </a:solidFill>
                <a:latin typeface="Arial" pitchFamily="34" charset="0"/>
                <a:ea typeface="Arial" pitchFamily="34" charset="-122"/>
                <a:cs typeface="Arial" pitchFamily="34" charset="-120"/>
              </a:rPr>
              <a:t>Fiche cas, fiches acteurs, paperboard</a:t>
            </a:r>
            <a:endParaRPr lang="en-US" sz="1000" dirty="0"/>
          </a:p>
        </p:txBody>
      </p:sp>
      <p:sp>
        <p:nvSpPr>
          <p:cNvPr id="16" name="Text 11"/>
          <p:cNvSpPr txBox="1"/>
          <p:nvPr/>
        </p:nvSpPr>
        <p:spPr>
          <a:xfrm>
            <a:off x="4663440" y="457200"/>
            <a:ext cx="6979615" cy="502920"/>
          </a:xfrm>
          <a:prstGeom prst="rect">
            <a:avLst/>
          </a:prstGeom>
          <a:noFill/>
          <a:ln/>
        </p:spPr>
        <p:txBody>
          <a:bodyPr wrap="square" lIns="0" tIns="0" rIns="0" bIns="0" rtlCol="0" anchor="ctr"/>
          <a:lstStyle/>
          <a:p>
            <a:pPr indent="0" marL="0">
              <a:buNone/>
            </a:pPr>
            <a:r>
              <a:rPr lang="en-US" sz="2200" b="1" dirty="0">
                <a:solidFill>
                  <a:srgbClr val="0A032B"/>
                </a:solidFill>
                <a:latin typeface="Montserrat" pitchFamily="34" charset="0"/>
                <a:ea typeface="Montserrat" pitchFamily="34" charset="-122"/>
                <a:cs typeface="Montserrat" pitchFamily="34" charset="-120"/>
              </a:rPr>
              <a:t>Consignes</a:t>
            </a:r>
            <a:endParaRPr lang="en-US" sz="2200" dirty="0"/>
          </a:p>
        </p:txBody>
      </p:sp>
      <p:sp>
        <p:nvSpPr>
          <p:cNvPr id="17" name="Shape 12"/>
          <p:cNvSpPr/>
          <p:nvPr/>
        </p:nvSpPr>
        <p:spPr>
          <a:xfrm>
            <a:off x="4663440" y="1234440"/>
            <a:ext cx="457200" cy="457200"/>
          </a:xfrm>
          <a:prstGeom prst="ellipse">
            <a:avLst/>
          </a:prstGeom>
          <a:solidFill>
            <a:srgbClr val="0A032B"/>
          </a:solidFill>
          <a:ln w="12700">
            <a:solidFill>
              <a:srgbClr val="0A032B"/>
            </a:solidFill>
            <a:prstDash val="solid"/>
          </a:ln>
        </p:spPr>
      </p:sp>
      <p:sp>
        <p:nvSpPr>
          <p:cNvPr id="18" name="Text 13"/>
          <p:cNvSpPr txBox="1"/>
          <p:nvPr/>
        </p:nvSpPr>
        <p:spPr>
          <a:xfrm>
            <a:off x="4663440" y="12344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1</a:t>
            </a:r>
            <a:endParaRPr lang="en-US" sz="1300" dirty="0"/>
          </a:p>
        </p:txBody>
      </p:sp>
      <p:sp>
        <p:nvSpPr>
          <p:cNvPr id="19" name="Text 14"/>
          <p:cNvSpPr txBox="1"/>
          <p:nvPr/>
        </p:nvSpPr>
        <p:spPr>
          <a:xfrm>
            <a:off x="5349240" y="1216152"/>
            <a:ext cx="6293815" cy="1008126"/>
          </a:xfrm>
          <a:prstGeom prst="rect">
            <a:avLst/>
          </a:prstGeom>
          <a:noFill/>
          <a:ln/>
        </p:spPr>
        <p:txBody>
          <a:bodyPr wrap="square" lIns="0" tIns="0" rIns="0" bIns="0" rtlCol="0" anchor="t"/>
          <a:lstStyle/>
          <a:p>
            <a:pPr indent="0" marL="0">
              <a:spcAft>
                <a:spcPts val="300"/>
              </a:spcAft>
              <a:buNone/>
            </a:pPr>
            <a:r>
              <a:rPr lang="en-US" sz="1500" b="1" dirty="0">
                <a:solidFill>
                  <a:srgbClr val="0A032B"/>
                </a:solidFill>
                <a:latin typeface="Montserrat" pitchFamily="34" charset="0"/>
                <a:ea typeface="Montserrat" pitchFamily="34" charset="-122"/>
                <a:cs typeface="Montserrat" pitchFamily="34" charset="-120"/>
              </a:rPr>
              <a:t>La situation</a:t>
            </a:r>
            <a:endParaRPr lang="en-US" sz="1500" dirty="0"/>
          </a:p>
          <a:p>
            <a:pPr indent="0" marL="0">
              <a:spcAft>
                <a:spcPts val="300"/>
              </a:spcAft>
              <a:buNone/>
            </a:pPr>
            <a:r>
              <a:rPr lang="en-US" sz="1300" dirty="0">
                <a:solidFill>
                  <a:srgbClr val="35305C"/>
                </a:solidFill>
                <a:latin typeface="Arial" pitchFamily="34" charset="0"/>
                <a:ea typeface="Arial" pitchFamily="34" charset="-122"/>
                <a:cs typeface="Arial" pitchFamily="34" charset="-120"/>
              </a:rPr>
              <a:t>Samedi matin, 3 agents techniques et 2 élus installent 40 tables, 300 chaises et un podium. Pas de chariot disponible, l'installation doit être finie à 11 h. Un agent se bloque le dos en déchargeant le camion.</a:t>
            </a:r>
            <a:endParaRPr lang="en-US" sz="1500" dirty="0"/>
          </a:p>
        </p:txBody>
      </p:sp>
      <p:sp>
        <p:nvSpPr>
          <p:cNvPr id="20" name="Shape 15"/>
          <p:cNvSpPr/>
          <p:nvPr/>
        </p:nvSpPr>
        <p:spPr>
          <a:xfrm>
            <a:off x="4663440" y="2407158"/>
            <a:ext cx="457200" cy="457200"/>
          </a:xfrm>
          <a:prstGeom prst="ellipse">
            <a:avLst/>
          </a:prstGeom>
          <a:solidFill>
            <a:srgbClr val="0A032B"/>
          </a:solidFill>
          <a:ln w="12700">
            <a:solidFill>
              <a:srgbClr val="0A032B"/>
            </a:solidFill>
            <a:prstDash val="solid"/>
          </a:ln>
        </p:spPr>
      </p:sp>
      <p:sp>
        <p:nvSpPr>
          <p:cNvPr id="21" name="Text 16"/>
          <p:cNvSpPr txBox="1"/>
          <p:nvPr/>
        </p:nvSpPr>
        <p:spPr>
          <a:xfrm>
            <a:off x="4663440" y="240715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2</a:t>
            </a:r>
            <a:endParaRPr lang="en-US" sz="1300" dirty="0"/>
          </a:p>
        </p:txBody>
      </p:sp>
      <p:sp>
        <p:nvSpPr>
          <p:cNvPr id="22" name="Text 17"/>
          <p:cNvSpPr txBox="1"/>
          <p:nvPr/>
        </p:nvSpPr>
        <p:spPr>
          <a:xfrm>
            <a:off x="5349240" y="2388870"/>
            <a:ext cx="6293815" cy="1008126"/>
          </a:xfrm>
          <a:prstGeom prst="rect">
            <a:avLst/>
          </a:prstGeom>
          <a:noFill/>
          <a:ln/>
        </p:spPr>
        <p:txBody>
          <a:bodyPr wrap="square" lIns="0" tIns="0" rIns="0" bIns="0" rtlCol="0" anchor="t"/>
          <a:lstStyle/>
          <a:p>
            <a:pPr indent="0" marL="0">
              <a:spcAft>
                <a:spcPts val="300"/>
              </a:spcAft>
              <a:buNone/>
            </a:pPr>
            <a:r>
              <a:rPr lang="en-US" sz="1500" b="1" dirty="0">
                <a:solidFill>
                  <a:srgbClr val="0A032B"/>
                </a:solidFill>
                <a:latin typeface="Montserrat" pitchFamily="34" charset="0"/>
                <a:ea typeface="Montserrat" pitchFamily="34" charset="-122"/>
                <a:cs typeface="Montserrat" pitchFamily="34" charset="-120"/>
              </a:rPr>
              <a:t>Analysez</a:t>
            </a:r>
            <a:endParaRPr lang="en-US" sz="1500" dirty="0"/>
          </a:p>
          <a:p>
            <a:pPr indent="0" marL="0">
              <a:spcAft>
                <a:spcPts val="300"/>
              </a:spcAft>
              <a:buNone/>
            </a:pPr>
            <a:r>
              <a:rPr lang="en-US" sz="1300" dirty="0">
                <a:solidFill>
                  <a:srgbClr val="35305C"/>
                </a:solidFill>
                <a:latin typeface="Arial" pitchFamily="34" charset="0"/>
                <a:ea typeface="Arial" pitchFamily="34" charset="-122"/>
                <a:cs typeface="Arial" pitchFamily="34" charset="-120"/>
              </a:rPr>
              <a:t>Quels facteurs de risque ? Quelles erreurs d'organisation ?</a:t>
            </a:r>
            <a:endParaRPr lang="en-US" sz="1500" dirty="0"/>
          </a:p>
        </p:txBody>
      </p:sp>
      <p:sp>
        <p:nvSpPr>
          <p:cNvPr id="23" name="Shape 18"/>
          <p:cNvSpPr/>
          <p:nvPr/>
        </p:nvSpPr>
        <p:spPr>
          <a:xfrm>
            <a:off x="4663440" y="3579876"/>
            <a:ext cx="457200" cy="457200"/>
          </a:xfrm>
          <a:prstGeom prst="ellipse">
            <a:avLst/>
          </a:prstGeom>
          <a:solidFill>
            <a:srgbClr val="0A032B"/>
          </a:solidFill>
          <a:ln w="12700">
            <a:solidFill>
              <a:srgbClr val="0A032B"/>
            </a:solidFill>
            <a:prstDash val="solid"/>
          </a:ln>
        </p:spPr>
      </p:sp>
      <p:sp>
        <p:nvSpPr>
          <p:cNvPr id="24" name="Text 19"/>
          <p:cNvSpPr txBox="1"/>
          <p:nvPr/>
        </p:nvSpPr>
        <p:spPr>
          <a:xfrm>
            <a:off x="4663440" y="357987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3</a:t>
            </a:r>
            <a:endParaRPr lang="en-US" sz="1300" dirty="0"/>
          </a:p>
        </p:txBody>
      </p:sp>
      <p:sp>
        <p:nvSpPr>
          <p:cNvPr id="25" name="Text 20"/>
          <p:cNvSpPr txBox="1"/>
          <p:nvPr/>
        </p:nvSpPr>
        <p:spPr>
          <a:xfrm>
            <a:off x="5349240" y="3561588"/>
            <a:ext cx="6293815" cy="1008126"/>
          </a:xfrm>
          <a:prstGeom prst="rect">
            <a:avLst/>
          </a:prstGeom>
          <a:noFill/>
          <a:ln/>
        </p:spPr>
        <p:txBody>
          <a:bodyPr wrap="square" lIns="0" tIns="0" rIns="0" bIns="0" rtlCol="0" anchor="t"/>
          <a:lstStyle/>
          <a:p>
            <a:pPr indent="0" marL="0">
              <a:spcAft>
                <a:spcPts val="300"/>
              </a:spcAft>
              <a:buNone/>
            </a:pPr>
            <a:r>
              <a:rPr lang="en-US" sz="1500" b="1" dirty="0">
                <a:solidFill>
                  <a:srgbClr val="0A032B"/>
                </a:solidFill>
                <a:latin typeface="Montserrat" pitchFamily="34" charset="0"/>
                <a:ea typeface="Montserrat" pitchFamily="34" charset="-122"/>
                <a:cs typeface="Montserrat" pitchFamily="34" charset="-120"/>
              </a:rPr>
              <a:t>Proposez</a:t>
            </a:r>
            <a:endParaRPr lang="en-US" sz="1500" dirty="0"/>
          </a:p>
          <a:p>
            <a:pPr indent="0" marL="0">
              <a:spcAft>
                <a:spcPts val="300"/>
              </a:spcAft>
              <a:buNone/>
            </a:pPr>
            <a:r>
              <a:rPr lang="en-US" sz="1300" dirty="0">
                <a:solidFill>
                  <a:srgbClr val="35305C"/>
                </a:solidFill>
                <a:latin typeface="Arial" pitchFamily="34" charset="0"/>
                <a:ea typeface="Arial" pitchFamily="34" charset="-122"/>
                <a:cs typeface="Arial" pitchFamily="34" charset="-120"/>
              </a:rPr>
              <a:t>Quelles mesures pour la prochaine édition (techniques, organisationnelles, humaines) ?</a:t>
            </a:r>
            <a:endParaRPr lang="en-US" sz="1500" dirty="0"/>
          </a:p>
        </p:txBody>
      </p:sp>
      <p:sp>
        <p:nvSpPr>
          <p:cNvPr id="26" name="Shape 21"/>
          <p:cNvSpPr/>
          <p:nvPr/>
        </p:nvSpPr>
        <p:spPr>
          <a:xfrm>
            <a:off x="4663440" y="4752594"/>
            <a:ext cx="457200" cy="457200"/>
          </a:xfrm>
          <a:prstGeom prst="ellipse">
            <a:avLst/>
          </a:prstGeom>
          <a:solidFill>
            <a:srgbClr val="0A032B"/>
          </a:solidFill>
          <a:ln w="12700">
            <a:solidFill>
              <a:srgbClr val="0A032B"/>
            </a:solidFill>
            <a:prstDash val="solid"/>
          </a:ln>
        </p:spPr>
      </p:sp>
      <p:sp>
        <p:nvSpPr>
          <p:cNvPr id="27" name="Text 22"/>
          <p:cNvSpPr txBox="1"/>
          <p:nvPr/>
        </p:nvSpPr>
        <p:spPr>
          <a:xfrm>
            <a:off x="4663440" y="475259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4</a:t>
            </a:r>
            <a:endParaRPr lang="en-US" sz="1300" dirty="0"/>
          </a:p>
        </p:txBody>
      </p:sp>
      <p:sp>
        <p:nvSpPr>
          <p:cNvPr id="28" name="Text 23"/>
          <p:cNvSpPr txBox="1"/>
          <p:nvPr/>
        </p:nvSpPr>
        <p:spPr>
          <a:xfrm>
            <a:off x="5349240" y="4734306"/>
            <a:ext cx="6293815" cy="1008126"/>
          </a:xfrm>
          <a:prstGeom prst="rect">
            <a:avLst/>
          </a:prstGeom>
          <a:noFill/>
          <a:ln/>
        </p:spPr>
        <p:txBody>
          <a:bodyPr wrap="square" lIns="0" tIns="0" rIns="0" bIns="0" rtlCol="0" anchor="t"/>
          <a:lstStyle/>
          <a:p>
            <a:pPr indent="0" marL="0">
              <a:spcAft>
                <a:spcPts val="300"/>
              </a:spcAft>
              <a:buNone/>
            </a:pPr>
            <a:r>
              <a:rPr lang="en-US" sz="1500" b="1" dirty="0">
                <a:solidFill>
                  <a:srgbClr val="0A032B"/>
                </a:solidFill>
                <a:latin typeface="Montserrat" pitchFamily="34" charset="0"/>
                <a:ea typeface="Montserrat" pitchFamily="34" charset="-122"/>
                <a:cs typeface="Montserrat" pitchFamily="34" charset="-120"/>
              </a:rPr>
              <a:t>Mobilisez</a:t>
            </a:r>
            <a:endParaRPr lang="en-US" sz="1500" dirty="0"/>
          </a:p>
          <a:p>
            <a:pPr indent="0" marL="0">
              <a:spcAft>
                <a:spcPts val="300"/>
              </a:spcAft>
              <a:buNone/>
            </a:pPr>
            <a:r>
              <a:rPr lang="en-US" sz="1300" dirty="0">
                <a:solidFill>
                  <a:srgbClr val="35305C"/>
                </a:solidFill>
                <a:latin typeface="Arial" pitchFamily="34" charset="0"/>
                <a:ea typeface="Arial" pitchFamily="34" charset="-122"/>
                <a:cs typeface="Arial" pitchFamily="34" charset="-120"/>
              </a:rPr>
              <a:t>Quels acteurs associer, et quel est le rôle des élus présents ?</a:t>
            </a:r>
            <a:endParaRPr lang="en-US" sz="1500" dirty="0"/>
          </a:p>
        </p:txBody>
      </p:sp>
      <p:sp>
        <p:nvSpPr>
          <p:cNvPr id="29" name="Text 24"/>
          <p:cNvSpPr txBox="1"/>
          <p:nvPr/>
        </p:nvSpPr>
        <p:spPr>
          <a:xfrm>
            <a:off x="548640" y="6355080"/>
            <a:ext cx="3291840" cy="274320"/>
          </a:xfrm>
          <a:prstGeom prst="rect">
            <a:avLst/>
          </a:prstGeom>
          <a:noFill/>
          <a:ln/>
        </p:spPr>
        <p:txBody>
          <a:bodyPr wrap="square" lIns="0" tIns="0" rIns="0" bIns="0" rtlCol="0" anchor="ctr"/>
          <a:lstStyle/>
          <a:p>
            <a:pPr indent="0" marL="0">
              <a:buNone/>
            </a:pPr>
            <a:r>
              <a:rPr lang="en-US" sz="900" dirty="0">
                <a:solidFill>
                  <a:srgbClr val="35305C"/>
                </a:solidFill>
                <a:latin typeface="Arial" pitchFamily="34" charset="0"/>
                <a:ea typeface="Arial" pitchFamily="34" charset="-122"/>
                <a:cs typeface="Arial" pitchFamily="34" charset="-120"/>
              </a:rPr>
              <a:t>Gestes et postures de l'élu  ·  Séquence 6</a:t>
            </a:r>
            <a:endParaRPr lang="en-US" sz="900" dirty="0"/>
          </a:p>
        </p:txBody>
      </p:sp>
      <p:pic>
        <p:nvPicPr>
          <p:cNvPr id="30" name="Image 3" descr="logo_light.png">    </p:cNvPr>
          <p:cNvPicPr>
            <a:picLocks noChangeAspect="1"/>
          </p:cNvPicPr>
          <p:nvPr/>
        </p:nvPicPr>
        <p:blipFill>
          <a:blip r:embed="rId4"/>
          <a:stretch>
            <a:fillRect/>
          </a:stretch>
        </p:blipFill>
        <p:spPr>
          <a:xfrm>
            <a:off x="10682935" y="6236208"/>
            <a:ext cx="960120" cy="398441"/>
          </a:xfrm>
          <a:prstGeom prst="rect">
            <a:avLst/>
          </a:prstGeom>
        </p:spPr>
      </p:pic>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14800" cy="6858000"/>
          </a:xfrm>
          <a:prstGeom prst="rect">
            <a:avLst/>
          </a:prstGeom>
          <a:solidFill>
            <a:srgbClr val="F0EF96"/>
          </a:solidFill>
          <a:ln w="12700">
            <a:solidFill>
              <a:srgbClr val="F0EF96"/>
            </a:solidFill>
            <a:prstDash val="solid"/>
          </a:ln>
        </p:spPr>
      </p:sp>
      <p:sp>
        <p:nvSpPr>
          <p:cNvPr id="3" name="Shape 1"/>
          <p:cNvSpPr/>
          <p:nvPr/>
        </p:nvSpPr>
        <p:spPr>
          <a:xfrm>
            <a:off x="548640" y="502920"/>
            <a:ext cx="1600200" cy="347472"/>
          </a:xfrm>
          <a:prstGeom prst="roundRect">
            <a:avLst>
              <a:gd name="adj" fmla="val 50000"/>
            </a:avLst>
          </a:prstGeom>
          <a:solidFill>
            <a:srgbClr val="F0EF96"/>
          </a:solidFill>
          <a:ln w="12700">
            <a:solidFill>
              <a:srgbClr val="F0EF96"/>
            </a:solidFill>
            <a:prstDash val="solid"/>
          </a:ln>
        </p:spPr>
      </p:sp>
      <p:sp>
        <p:nvSpPr>
          <p:cNvPr id="4" name="Text 2"/>
          <p:cNvSpPr txBox="1"/>
          <p:nvPr/>
        </p:nvSpPr>
        <p:spPr>
          <a:xfrm>
            <a:off x="548640" y="502920"/>
            <a:ext cx="1600200" cy="347472"/>
          </a:xfrm>
          <a:prstGeom prst="rect">
            <a:avLst/>
          </a:prstGeom>
          <a:noFill/>
          <a:ln/>
        </p:spPr>
        <p:txBody>
          <a:bodyPr wrap="square" lIns="0" tIns="0" rIns="0" bIns="0" rtlCol="0" anchor="ctr"/>
          <a:lstStyle/>
          <a:p>
            <a:pPr algn="ctr" indent="0" marL="0">
              <a:buNone/>
            </a:pPr>
            <a:r>
              <a:rPr lang="en-US" sz="1100" b="1" spc="200" kern="0" dirty="0">
                <a:solidFill>
                  <a:srgbClr val="0A032B"/>
                </a:solidFill>
                <a:latin typeface="Montserrat" pitchFamily="34" charset="0"/>
                <a:ea typeface="Montserrat" pitchFamily="34" charset="-122"/>
                <a:cs typeface="Montserrat" pitchFamily="34" charset="-120"/>
              </a:rPr>
              <a:t>PRATIQUE</a:t>
            </a:r>
            <a:endParaRPr lang="en-US" sz="1100" dirty="0"/>
          </a:p>
        </p:txBody>
      </p:sp>
      <p:sp>
        <p:nvSpPr>
          <p:cNvPr id="5" name="Text 3"/>
          <p:cNvSpPr txBox="1"/>
          <p:nvPr/>
        </p:nvSpPr>
        <p:spPr>
          <a:xfrm>
            <a:off x="548640" y="1005840"/>
            <a:ext cx="3108960" cy="365760"/>
          </a:xfrm>
          <a:prstGeom prst="rect">
            <a:avLst/>
          </a:prstGeom>
          <a:noFill/>
          <a:ln/>
        </p:spPr>
        <p:txBody>
          <a:bodyPr wrap="square" lIns="0" tIns="0" rIns="0" bIns="0" rtlCol="0" anchor="ctr"/>
          <a:lstStyle/>
          <a:p>
            <a:pPr indent="0" marL="0">
              <a:buNone/>
            </a:pPr>
            <a:r>
              <a:rPr lang="en-US" sz="1300" b="1" spc="100" kern="0" dirty="0">
                <a:solidFill>
                  <a:srgbClr val="35305C"/>
                </a:solidFill>
                <a:latin typeface="Montserrat" pitchFamily="34" charset="0"/>
                <a:ea typeface="Montserrat" pitchFamily="34" charset="-122"/>
                <a:cs typeface="Montserrat" pitchFamily="34" charset="-120"/>
              </a:rPr>
              <a:t>ÉTUDE DE CAS</a:t>
            </a:r>
            <a:endParaRPr lang="en-US" sz="1300" dirty="0"/>
          </a:p>
        </p:txBody>
      </p:sp>
      <p:sp>
        <p:nvSpPr>
          <p:cNvPr id="6" name="Text 4"/>
          <p:cNvSpPr txBox="1"/>
          <p:nvPr/>
        </p:nvSpPr>
        <p:spPr>
          <a:xfrm>
            <a:off x="548640" y="1371600"/>
            <a:ext cx="3200400" cy="1371600"/>
          </a:xfrm>
          <a:prstGeom prst="rect">
            <a:avLst/>
          </a:prstGeom>
          <a:noFill/>
          <a:ln/>
        </p:spPr>
        <p:txBody>
          <a:bodyPr wrap="square" lIns="0" tIns="0" rIns="0" bIns="0" rtlCol="0" anchor="t"/>
          <a:lstStyle/>
          <a:p>
            <a:pPr indent="0" marL="0">
              <a:buNone/>
            </a:pPr>
            <a:r>
              <a:rPr lang="en-US" sz="2400" b="1" dirty="0">
                <a:solidFill>
                  <a:srgbClr val="0A032B"/>
                </a:solidFill>
                <a:latin typeface="Montserrat" pitchFamily="34" charset="0"/>
                <a:ea typeface="Montserrat" pitchFamily="34" charset="-122"/>
                <a:cs typeface="Montserrat" pitchFamily="34" charset="-120"/>
              </a:rPr>
              <a:t>Étude de cas 2 : le restaurant scolaire</a:t>
            </a:r>
            <a:endParaRPr lang="en-US" sz="2400" dirty="0"/>
          </a:p>
        </p:txBody>
      </p:sp>
      <p:sp>
        <p:nvSpPr>
          <p:cNvPr id="7" name="Shape 5"/>
          <p:cNvSpPr/>
          <p:nvPr/>
        </p:nvSpPr>
        <p:spPr>
          <a:xfrm>
            <a:off x="548640" y="2971800"/>
            <a:ext cx="457200" cy="457200"/>
          </a:xfrm>
          <a:prstGeom prst="ellipse">
            <a:avLst/>
          </a:prstGeom>
          <a:solidFill>
            <a:srgbClr val="0A032B"/>
          </a:solidFill>
          <a:ln w="12700">
            <a:solidFill>
              <a:srgbClr val="0A032B"/>
            </a:solidFill>
            <a:prstDash val="solid"/>
          </a:ln>
        </p:spPr>
      </p:sp>
      <p:pic>
        <p:nvPicPr>
          <p:cNvPr id="8" name="Image 0" descr="preencoded.png">    </p:cNvPr>
          <p:cNvPicPr>
            <a:picLocks noChangeAspect="1"/>
          </p:cNvPicPr>
          <p:nvPr/>
        </p:nvPicPr>
        <p:blipFill>
          <a:blip r:embed="rId1"/>
          <a:stretch>
            <a:fillRect/>
          </a:stretch>
        </p:blipFill>
        <p:spPr>
          <a:xfrm>
            <a:off x="662940" y="3086100"/>
            <a:ext cx="228600" cy="228600"/>
          </a:xfrm>
          <a:prstGeom prst="rect">
            <a:avLst/>
          </a:prstGeom>
        </p:spPr>
      </p:pic>
      <p:sp>
        <p:nvSpPr>
          <p:cNvPr id="9" name="Text 6"/>
          <p:cNvSpPr txBox="1"/>
          <p:nvPr/>
        </p:nvSpPr>
        <p:spPr>
          <a:xfrm>
            <a:off x="1188720" y="2926080"/>
            <a:ext cx="2468880" cy="868680"/>
          </a:xfrm>
          <a:prstGeom prst="rect">
            <a:avLst/>
          </a:prstGeom>
          <a:noFill/>
          <a:ln/>
        </p:spPr>
        <p:txBody>
          <a:bodyPr wrap="square" lIns="0" tIns="0" rIns="0" bIns="0" rtlCol="0" anchor="t"/>
          <a:lstStyle/>
          <a:p>
            <a:pPr indent="0" marL="0">
              <a:buNone/>
            </a:pPr>
            <a:r>
              <a:rPr lang="en-US" sz="1000" b="1" spc="100" kern="0" dirty="0">
                <a:solidFill>
                  <a:srgbClr val="35305C"/>
                </a:solidFill>
                <a:latin typeface="Montserrat" pitchFamily="34" charset="0"/>
                <a:ea typeface="Montserrat" pitchFamily="34" charset="-122"/>
                <a:cs typeface="Montserrat" pitchFamily="34" charset="-120"/>
              </a:rPr>
              <a:t>DURÉE</a:t>
            </a:r>
            <a:endParaRPr lang="en-US" sz="1000" dirty="0"/>
          </a:p>
          <a:p>
            <a:pPr indent="0" marL="0">
              <a:buNone/>
            </a:pPr>
            <a:r>
              <a:rPr lang="en-US" sz="1250" dirty="0">
                <a:solidFill>
                  <a:srgbClr val="0A032B"/>
                </a:solidFill>
                <a:latin typeface="Arial" pitchFamily="34" charset="0"/>
                <a:ea typeface="Arial" pitchFamily="34" charset="-122"/>
                <a:cs typeface="Arial" pitchFamily="34" charset="-120"/>
              </a:rPr>
              <a:t>20 minutes, en parallèle du cas 1</a:t>
            </a:r>
            <a:endParaRPr lang="en-US" sz="1000" dirty="0"/>
          </a:p>
        </p:txBody>
      </p:sp>
      <p:sp>
        <p:nvSpPr>
          <p:cNvPr id="10" name="Shape 7"/>
          <p:cNvSpPr/>
          <p:nvPr/>
        </p:nvSpPr>
        <p:spPr>
          <a:xfrm>
            <a:off x="548640" y="3931920"/>
            <a:ext cx="457200" cy="457200"/>
          </a:xfrm>
          <a:prstGeom prst="ellipse">
            <a:avLst/>
          </a:prstGeom>
          <a:solidFill>
            <a:srgbClr val="0A032B"/>
          </a:solidFill>
          <a:ln w="12700">
            <a:solidFill>
              <a:srgbClr val="0A032B"/>
            </a:solidFill>
            <a:prstDash val="solid"/>
          </a:ln>
        </p:spPr>
      </p:sp>
      <p:pic>
        <p:nvPicPr>
          <p:cNvPr id="11" name="Image 1" descr="preencoded.png">    </p:cNvPr>
          <p:cNvPicPr>
            <a:picLocks noChangeAspect="1"/>
          </p:cNvPicPr>
          <p:nvPr/>
        </p:nvPicPr>
        <p:blipFill>
          <a:blip r:embed="rId2"/>
          <a:stretch>
            <a:fillRect/>
          </a:stretch>
        </p:blipFill>
        <p:spPr>
          <a:xfrm>
            <a:off x="662940" y="4046220"/>
            <a:ext cx="228600" cy="228600"/>
          </a:xfrm>
          <a:prstGeom prst="rect">
            <a:avLst/>
          </a:prstGeom>
        </p:spPr>
      </p:pic>
      <p:sp>
        <p:nvSpPr>
          <p:cNvPr id="12" name="Text 8"/>
          <p:cNvSpPr txBox="1"/>
          <p:nvPr/>
        </p:nvSpPr>
        <p:spPr>
          <a:xfrm>
            <a:off x="1188720" y="3886200"/>
            <a:ext cx="2468880" cy="868680"/>
          </a:xfrm>
          <a:prstGeom prst="rect">
            <a:avLst/>
          </a:prstGeom>
          <a:noFill/>
          <a:ln/>
        </p:spPr>
        <p:txBody>
          <a:bodyPr wrap="square" lIns="0" tIns="0" rIns="0" bIns="0" rtlCol="0" anchor="t"/>
          <a:lstStyle/>
          <a:p>
            <a:pPr indent="0" marL="0">
              <a:buNone/>
            </a:pPr>
            <a:r>
              <a:rPr lang="en-US" sz="1000" b="1" spc="100" kern="0" dirty="0">
                <a:solidFill>
                  <a:srgbClr val="35305C"/>
                </a:solidFill>
                <a:latin typeface="Montserrat" pitchFamily="34" charset="0"/>
                <a:ea typeface="Montserrat" pitchFamily="34" charset="-122"/>
                <a:cs typeface="Montserrat" pitchFamily="34" charset="-120"/>
              </a:rPr>
              <a:t>FORMAT</a:t>
            </a:r>
            <a:endParaRPr lang="en-US" sz="1000" dirty="0"/>
          </a:p>
          <a:p>
            <a:pPr indent="0" marL="0">
              <a:buNone/>
            </a:pPr>
            <a:r>
              <a:rPr lang="en-US" sz="1250" dirty="0">
                <a:solidFill>
                  <a:srgbClr val="0A032B"/>
                </a:solidFill>
                <a:latin typeface="Arial" pitchFamily="34" charset="0"/>
                <a:ea typeface="Arial" pitchFamily="34" charset="-122"/>
                <a:cs typeface="Arial" pitchFamily="34" charset="-120"/>
              </a:rPr>
              <a:t>L'autre moitié des sous-groupes</a:t>
            </a:r>
            <a:endParaRPr lang="en-US" sz="1000" dirty="0"/>
          </a:p>
        </p:txBody>
      </p:sp>
      <p:sp>
        <p:nvSpPr>
          <p:cNvPr id="13" name="Shape 9"/>
          <p:cNvSpPr/>
          <p:nvPr/>
        </p:nvSpPr>
        <p:spPr>
          <a:xfrm>
            <a:off x="548640" y="4892040"/>
            <a:ext cx="457200" cy="457200"/>
          </a:xfrm>
          <a:prstGeom prst="ellipse">
            <a:avLst/>
          </a:prstGeom>
          <a:solidFill>
            <a:srgbClr val="0A032B"/>
          </a:solidFill>
          <a:ln w="12700">
            <a:solidFill>
              <a:srgbClr val="0A032B"/>
            </a:solidFill>
            <a:prstDash val="solid"/>
          </a:ln>
        </p:spPr>
      </p:sp>
      <p:pic>
        <p:nvPicPr>
          <p:cNvPr id="14" name="Image 2" descr="preencoded.png">    </p:cNvPr>
          <p:cNvPicPr>
            <a:picLocks noChangeAspect="1"/>
          </p:cNvPicPr>
          <p:nvPr/>
        </p:nvPicPr>
        <p:blipFill>
          <a:blip r:embed="rId3"/>
          <a:stretch>
            <a:fillRect/>
          </a:stretch>
        </p:blipFill>
        <p:spPr>
          <a:xfrm>
            <a:off x="662940" y="5006340"/>
            <a:ext cx="228600" cy="228600"/>
          </a:xfrm>
          <a:prstGeom prst="rect">
            <a:avLst/>
          </a:prstGeom>
        </p:spPr>
      </p:pic>
      <p:sp>
        <p:nvSpPr>
          <p:cNvPr id="15" name="Text 10"/>
          <p:cNvSpPr txBox="1"/>
          <p:nvPr/>
        </p:nvSpPr>
        <p:spPr>
          <a:xfrm>
            <a:off x="1188720" y="4846320"/>
            <a:ext cx="2468880" cy="868680"/>
          </a:xfrm>
          <a:prstGeom prst="rect">
            <a:avLst/>
          </a:prstGeom>
          <a:noFill/>
          <a:ln/>
        </p:spPr>
        <p:txBody>
          <a:bodyPr wrap="square" lIns="0" tIns="0" rIns="0" bIns="0" rtlCol="0" anchor="t"/>
          <a:lstStyle/>
          <a:p>
            <a:pPr indent="0" marL="0">
              <a:buNone/>
            </a:pPr>
            <a:r>
              <a:rPr lang="en-US" sz="1000" b="1" spc="100" kern="0" dirty="0">
                <a:solidFill>
                  <a:srgbClr val="35305C"/>
                </a:solidFill>
                <a:latin typeface="Montserrat" pitchFamily="34" charset="0"/>
                <a:ea typeface="Montserrat" pitchFamily="34" charset="-122"/>
                <a:cs typeface="Montserrat" pitchFamily="34" charset="-120"/>
              </a:rPr>
              <a:t>MATÉRIEL</a:t>
            </a:r>
            <a:endParaRPr lang="en-US" sz="1000" dirty="0"/>
          </a:p>
          <a:p>
            <a:pPr indent="0" marL="0">
              <a:buNone/>
            </a:pPr>
            <a:r>
              <a:rPr lang="en-US" sz="1250" dirty="0">
                <a:solidFill>
                  <a:srgbClr val="0A032B"/>
                </a:solidFill>
                <a:latin typeface="Arial" pitchFamily="34" charset="0"/>
                <a:ea typeface="Arial" pitchFamily="34" charset="-122"/>
                <a:cs typeface="Arial" pitchFamily="34" charset="-120"/>
              </a:rPr>
              <a:t>Fiche cas, fiches acteurs</a:t>
            </a:r>
            <a:endParaRPr lang="en-US" sz="1000" dirty="0"/>
          </a:p>
        </p:txBody>
      </p:sp>
      <p:sp>
        <p:nvSpPr>
          <p:cNvPr id="16" name="Text 11"/>
          <p:cNvSpPr txBox="1"/>
          <p:nvPr/>
        </p:nvSpPr>
        <p:spPr>
          <a:xfrm>
            <a:off x="4663440" y="457200"/>
            <a:ext cx="6979615" cy="502920"/>
          </a:xfrm>
          <a:prstGeom prst="rect">
            <a:avLst/>
          </a:prstGeom>
          <a:noFill/>
          <a:ln/>
        </p:spPr>
        <p:txBody>
          <a:bodyPr wrap="square" lIns="0" tIns="0" rIns="0" bIns="0" rtlCol="0" anchor="ctr"/>
          <a:lstStyle/>
          <a:p>
            <a:pPr indent="0" marL="0">
              <a:buNone/>
            </a:pPr>
            <a:r>
              <a:rPr lang="en-US" sz="2200" b="1" dirty="0">
                <a:solidFill>
                  <a:srgbClr val="0A032B"/>
                </a:solidFill>
                <a:latin typeface="Montserrat" pitchFamily="34" charset="0"/>
                <a:ea typeface="Montserrat" pitchFamily="34" charset="-122"/>
                <a:cs typeface="Montserrat" pitchFamily="34" charset="-120"/>
              </a:rPr>
              <a:t>Consignes</a:t>
            </a:r>
            <a:endParaRPr lang="en-US" sz="2200" dirty="0"/>
          </a:p>
        </p:txBody>
      </p:sp>
      <p:sp>
        <p:nvSpPr>
          <p:cNvPr id="17" name="Shape 12"/>
          <p:cNvSpPr/>
          <p:nvPr/>
        </p:nvSpPr>
        <p:spPr>
          <a:xfrm>
            <a:off x="4663440" y="1234440"/>
            <a:ext cx="457200" cy="457200"/>
          </a:xfrm>
          <a:prstGeom prst="ellipse">
            <a:avLst/>
          </a:prstGeom>
          <a:solidFill>
            <a:srgbClr val="0A032B"/>
          </a:solidFill>
          <a:ln w="12700">
            <a:solidFill>
              <a:srgbClr val="0A032B"/>
            </a:solidFill>
            <a:prstDash val="solid"/>
          </a:ln>
        </p:spPr>
      </p:sp>
      <p:sp>
        <p:nvSpPr>
          <p:cNvPr id="18" name="Text 13"/>
          <p:cNvSpPr txBox="1"/>
          <p:nvPr/>
        </p:nvSpPr>
        <p:spPr>
          <a:xfrm>
            <a:off x="4663440" y="12344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1</a:t>
            </a:r>
            <a:endParaRPr lang="en-US" sz="1300" dirty="0"/>
          </a:p>
        </p:txBody>
      </p:sp>
      <p:sp>
        <p:nvSpPr>
          <p:cNvPr id="19" name="Text 14"/>
          <p:cNvSpPr txBox="1"/>
          <p:nvPr/>
        </p:nvSpPr>
        <p:spPr>
          <a:xfrm>
            <a:off x="5349240" y="1216152"/>
            <a:ext cx="6293815" cy="1008126"/>
          </a:xfrm>
          <a:prstGeom prst="rect">
            <a:avLst/>
          </a:prstGeom>
          <a:noFill/>
          <a:ln/>
        </p:spPr>
        <p:txBody>
          <a:bodyPr wrap="square" lIns="0" tIns="0" rIns="0" bIns="0" rtlCol="0" anchor="t"/>
          <a:lstStyle/>
          <a:p>
            <a:pPr indent="0" marL="0">
              <a:spcAft>
                <a:spcPts val="300"/>
              </a:spcAft>
              <a:buNone/>
            </a:pPr>
            <a:r>
              <a:rPr lang="en-US" sz="1500" b="1" dirty="0">
                <a:solidFill>
                  <a:srgbClr val="0A032B"/>
                </a:solidFill>
                <a:latin typeface="Montserrat" pitchFamily="34" charset="0"/>
                <a:ea typeface="Montserrat" pitchFamily="34" charset="-122"/>
                <a:cs typeface="Montserrat" pitchFamily="34" charset="-120"/>
              </a:rPr>
              <a:t>La situation</a:t>
            </a:r>
            <a:endParaRPr lang="en-US" sz="1500" dirty="0"/>
          </a:p>
          <a:p>
            <a:pPr indent="0" marL="0">
              <a:spcAft>
                <a:spcPts val="300"/>
              </a:spcAft>
              <a:buNone/>
            </a:pPr>
            <a:r>
              <a:rPr lang="en-US" sz="1300" dirty="0">
                <a:solidFill>
                  <a:srgbClr val="35305C"/>
                </a:solidFill>
                <a:latin typeface="Arial" pitchFamily="34" charset="0"/>
                <a:ea typeface="Arial" pitchFamily="34" charset="-122"/>
                <a:cs typeface="Arial" pitchFamily="34" charset="-120"/>
              </a:rPr>
              <a:t>Au restaurant scolaire, deux agentes se plaignent de douleurs aux épaules et aux poignets : bacs lourds, plonge, tables à nettoyer, chaises à retourner. L'une a été arrêtée 3 semaines.</a:t>
            </a:r>
            <a:endParaRPr lang="en-US" sz="1500" dirty="0"/>
          </a:p>
        </p:txBody>
      </p:sp>
      <p:sp>
        <p:nvSpPr>
          <p:cNvPr id="20" name="Shape 15"/>
          <p:cNvSpPr/>
          <p:nvPr/>
        </p:nvSpPr>
        <p:spPr>
          <a:xfrm>
            <a:off x="4663440" y="2407158"/>
            <a:ext cx="457200" cy="457200"/>
          </a:xfrm>
          <a:prstGeom prst="ellipse">
            <a:avLst/>
          </a:prstGeom>
          <a:solidFill>
            <a:srgbClr val="0A032B"/>
          </a:solidFill>
          <a:ln w="12700">
            <a:solidFill>
              <a:srgbClr val="0A032B"/>
            </a:solidFill>
            <a:prstDash val="solid"/>
          </a:ln>
        </p:spPr>
      </p:sp>
      <p:sp>
        <p:nvSpPr>
          <p:cNvPr id="21" name="Text 16"/>
          <p:cNvSpPr txBox="1"/>
          <p:nvPr/>
        </p:nvSpPr>
        <p:spPr>
          <a:xfrm>
            <a:off x="4663440" y="240715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2</a:t>
            </a:r>
            <a:endParaRPr lang="en-US" sz="1300" dirty="0"/>
          </a:p>
        </p:txBody>
      </p:sp>
      <p:sp>
        <p:nvSpPr>
          <p:cNvPr id="22" name="Text 17"/>
          <p:cNvSpPr txBox="1"/>
          <p:nvPr/>
        </p:nvSpPr>
        <p:spPr>
          <a:xfrm>
            <a:off x="5349240" y="2388870"/>
            <a:ext cx="6293815" cy="1008126"/>
          </a:xfrm>
          <a:prstGeom prst="rect">
            <a:avLst/>
          </a:prstGeom>
          <a:noFill/>
          <a:ln/>
        </p:spPr>
        <p:txBody>
          <a:bodyPr wrap="square" lIns="0" tIns="0" rIns="0" bIns="0" rtlCol="0" anchor="t"/>
          <a:lstStyle/>
          <a:p>
            <a:pPr indent="0" marL="0">
              <a:spcAft>
                <a:spcPts val="300"/>
              </a:spcAft>
              <a:buNone/>
            </a:pPr>
            <a:r>
              <a:rPr lang="en-US" sz="1500" b="1" dirty="0">
                <a:solidFill>
                  <a:srgbClr val="0A032B"/>
                </a:solidFill>
                <a:latin typeface="Montserrat" pitchFamily="34" charset="0"/>
                <a:ea typeface="Montserrat" pitchFamily="34" charset="-122"/>
                <a:cs typeface="Montserrat" pitchFamily="34" charset="-120"/>
              </a:rPr>
              <a:t>Analysez</a:t>
            </a:r>
            <a:endParaRPr lang="en-US" sz="1500" dirty="0"/>
          </a:p>
          <a:p>
            <a:pPr indent="0" marL="0">
              <a:spcAft>
                <a:spcPts val="300"/>
              </a:spcAft>
              <a:buNone/>
            </a:pPr>
            <a:r>
              <a:rPr lang="en-US" sz="1300" dirty="0">
                <a:solidFill>
                  <a:srgbClr val="35305C"/>
                </a:solidFill>
                <a:latin typeface="Arial" pitchFamily="34" charset="0"/>
                <a:ea typeface="Arial" pitchFamily="34" charset="-122"/>
                <a:cs typeface="Arial" pitchFamily="34" charset="-120"/>
              </a:rPr>
              <a:t>À quel stade de TMS en sont-elles ? Quels facteurs de risque ?</a:t>
            </a:r>
            <a:endParaRPr lang="en-US" sz="1500" dirty="0"/>
          </a:p>
        </p:txBody>
      </p:sp>
      <p:sp>
        <p:nvSpPr>
          <p:cNvPr id="23" name="Shape 18"/>
          <p:cNvSpPr/>
          <p:nvPr/>
        </p:nvSpPr>
        <p:spPr>
          <a:xfrm>
            <a:off x="4663440" y="3579876"/>
            <a:ext cx="457200" cy="457200"/>
          </a:xfrm>
          <a:prstGeom prst="ellipse">
            <a:avLst/>
          </a:prstGeom>
          <a:solidFill>
            <a:srgbClr val="0A032B"/>
          </a:solidFill>
          <a:ln w="12700">
            <a:solidFill>
              <a:srgbClr val="0A032B"/>
            </a:solidFill>
            <a:prstDash val="solid"/>
          </a:ln>
        </p:spPr>
      </p:sp>
      <p:sp>
        <p:nvSpPr>
          <p:cNvPr id="24" name="Text 19"/>
          <p:cNvSpPr txBox="1"/>
          <p:nvPr/>
        </p:nvSpPr>
        <p:spPr>
          <a:xfrm>
            <a:off x="4663440" y="357987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3</a:t>
            </a:r>
            <a:endParaRPr lang="en-US" sz="1300" dirty="0"/>
          </a:p>
        </p:txBody>
      </p:sp>
      <p:sp>
        <p:nvSpPr>
          <p:cNvPr id="25" name="Text 20"/>
          <p:cNvSpPr txBox="1"/>
          <p:nvPr/>
        </p:nvSpPr>
        <p:spPr>
          <a:xfrm>
            <a:off x="5349240" y="3561588"/>
            <a:ext cx="6293815" cy="1008126"/>
          </a:xfrm>
          <a:prstGeom prst="rect">
            <a:avLst/>
          </a:prstGeom>
          <a:noFill/>
          <a:ln/>
        </p:spPr>
        <p:txBody>
          <a:bodyPr wrap="square" lIns="0" tIns="0" rIns="0" bIns="0" rtlCol="0" anchor="t"/>
          <a:lstStyle/>
          <a:p>
            <a:pPr indent="0" marL="0">
              <a:spcAft>
                <a:spcPts val="300"/>
              </a:spcAft>
              <a:buNone/>
            </a:pPr>
            <a:r>
              <a:rPr lang="en-US" sz="1500" b="1" dirty="0">
                <a:solidFill>
                  <a:srgbClr val="0A032B"/>
                </a:solidFill>
                <a:latin typeface="Montserrat" pitchFamily="34" charset="0"/>
                <a:ea typeface="Montserrat" pitchFamily="34" charset="-122"/>
                <a:cs typeface="Montserrat" pitchFamily="34" charset="-120"/>
              </a:rPr>
              <a:t>Vérifiez</a:t>
            </a:r>
            <a:endParaRPr lang="en-US" sz="1500" dirty="0"/>
          </a:p>
          <a:p>
            <a:pPr indent="0" marL="0">
              <a:spcAft>
                <a:spcPts val="300"/>
              </a:spcAft>
              <a:buNone/>
            </a:pPr>
            <a:r>
              <a:rPr lang="en-US" sz="1300" dirty="0">
                <a:solidFill>
                  <a:srgbClr val="35305C"/>
                </a:solidFill>
                <a:latin typeface="Arial" pitchFamily="34" charset="0"/>
                <a:ea typeface="Arial" pitchFamily="34" charset="-122"/>
                <a:cs typeface="Arial" pitchFamily="34" charset="-120"/>
              </a:rPr>
              <a:t>Ce risque figure-t-il au document unique ? Que faut-il y inscrire ?</a:t>
            </a:r>
            <a:endParaRPr lang="en-US" sz="1500" dirty="0"/>
          </a:p>
        </p:txBody>
      </p:sp>
      <p:sp>
        <p:nvSpPr>
          <p:cNvPr id="26" name="Shape 21"/>
          <p:cNvSpPr/>
          <p:nvPr/>
        </p:nvSpPr>
        <p:spPr>
          <a:xfrm>
            <a:off x="4663440" y="4752594"/>
            <a:ext cx="457200" cy="457200"/>
          </a:xfrm>
          <a:prstGeom prst="ellipse">
            <a:avLst/>
          </a:prstGeom>
          <a:solidFill>
            <a:srgbClr val="0A032B"/>
          </a:solidFill>
          <a:ln w="12700">
            <a:solidFill>
              <a:srgbClr val="0A032B"/>
            </a:solidFill>
            <a:prstDash val="solid"/>
          </a:ln>
        </p:spPr>
      </p:sp>
      <p:sp>
        <p:nvSpPr>
          <p:cNvPr id="27" name="Text 22"/>
          <p:cNvSpPr txBox="1"/>
          <p:nvPr/>
        </p:nvSpPr>
        <p:spPr>
          <a:xfrm>
            <a:off x="4663440" y="475259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4</a:t>
            </a:r>
            <a:endParaRPr lang="en-US" sz="1300" dirty="0"/>
          </a:p>
        </p:txBody>
      </p:sp>
      <p:sp>
        <p:nvSpPr>
          <p:cNvPr id="28" name="Text 23"/>
          <p:cNvSpPr txBox="1"/>
          <p:nvPr/>
        </p:nvSpPr>
        <p:spPr>
          <a:xfrm>
            <a:off x="5349240" y="4734306"/>
            <a:ext cx="6293815" cy="1008126"/>
          </a:xfrm>
          <a:prstGeom prst="rect">
            <a:avLst/>
          </a:prstGeom>
          <a:noFill/>
          <a:ln/>
        </p:spPr>
        <p:txBody>
          <a:bodyPr wrap="square" lIns="0" tIns="0" rIns="0" bIns="0" rtlCol="0" anchor="t"/>
          <a:lstStyle/>
          <a:p>
            <a:pPr indent="0" marL="0">
              <a:spcAft>
                <a:spcPts val="300"/>
              </a:spcAft>
              <a:buNone/>
            </a:pPr>
            <a:r>
              <a:rPr lang="en-US" sz="1500" b="1" dirty="0">
                <a:solidFill>
                  <a:srgbClr val="0A032B"/>
                </a:solidFill>
                <a:latin typeface="Montserrat" pitchFamily="34" charset="0"/>
                <a:ea typeface="Montserrat" pitchFamily="34" charset="-122"/>
                <a:cs typeface="Montserrat" pitchFamily="34" charset="-120"/>
              </a:rPr>
              <a:t>Agissez</a:t>
            </a:r>
            <a:endParaRPr lang="en-US" sz="1500" dirty="0"/>
          </a:p>
          <a:p>
            <a:pPr indent="0" marL="0">
              <a:spcAft>
                <a:spcPts val="300"/>
              </a:spcAft>
              <a:buNone/>
            </a:pPr>
            <a:r>
              <a:rPr lang="en-US" sz="1300" dirty="0">
                <a:solidFill>
                  <a:srgbClr val="35305C"/>
                </a:solidFill>
                <a:latin typeface="Arial" pitchFamily="34" charset="0"/>
                <a:ea typeface="Arial" pitchFamily="34" charset="-122"/>
                <a:cs typeface="Arial" pitchFamily="34" charset="-120"/>
              </a:rPr>
              <a:t>Quelles actions, avec quels acteurs, et quel suivi par l'élu ?</a:t>
            </a:r>
            <a:endParaRPr lang="en-US" sz="1500" dirty="0"/>
          </a:p>
        </p:txBody>
      </p:sp>
      <p:sp>
        <p:nvSpPr>
          <p:cNvPr id="29" name="Text 24"/>
          <p:cNvSpPr txBox="1"/>
          <p:nvPr/>
        </p:nvSpPr>
        <p:spPr>
          <a:xfrm>
            <a:off x="548640" y="6355080"/>
            <a:ext cx="3291840" cy="274320"/>
          </a:xfrm>
          <a:prstGeom prst="rect">
            <a:avLst/>
          </a:prstGeom>
          <a:noFill/>
          <a:ln/>
        </p:spPr>
        <p:txBody>
          <a:bodyPr wrap="square" lIns="0" tIns="0" rIns="0" bIns="0" rtlCol="0" anchor="ctr"/>
          <a:lstStyle/>
          <a:p>
            <a:pPr indent="0" marL="0">
              <a:buNone/>
            </a:pPr>
            <a:r>
              <a:rPr lang="en-US" sz="900" dirty="0">
                <a:solidFill>
                  <a:srgbClr val="35305C"/>
                </a:solidFill>
                <a:latin typeface="Arial" pitchFamily="34" charset="0"/>
                <a:ea typeface="Arial" pitchFamily="34" charset="-122"/>
                <a:cs typeface="Arial" pitchFamily="34" charset="-120"/>
              </a:rPr>
              <a:t>Gestes et postures de l'élu  ·  Séquence 6</a:t>
            </a:r>
            <a:endParaRPr lang="en-US" sz="900" dirty="0"/>
          </a:p>
        </p:txBody>
      </p:sp>
      <p:pic>
        <p:nvPicPr>
          <p:cNvPr id="30" name="Image 3" descr="logo_light.png">    </p:cNvPr>
          <p:cNvPicPr>
            <a:picLocks noChangeAspect="1"/>
          </p:cNvPicPr>
          <p:nvPr/>
        </p:nvPicPr>
        <p:blipFill>
          <a:blip r:embed="rId4"/>
          <a:stretch>
            <a:fillRect/>
          </a:stretch>
        </p:blipFill>
        <p:spPr>
          <a:xfrm>
            <a:off x="10682935" y="6236208"/>
            <a:ext cx="960120" cy="398441"/>
          </a:xfrm>
          <a:prstGeom prst="rect">
            <a:avLst/>
          </a:prstGeom>
        </p:spPr>
      </p:pic>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235440" cy="685800"/>
          </a:xfrm>
          <a:prstGeom prst="rect">
            <a:avLst/>
          </a:prstGeom>
          <a:noFill/>
          <a:ln/>
        </p:spPr>
        <p:txBody>
          <a:bodyPr wrap="square" lIns="0" tIns="0" rIns="0" bIns="0" rtlCol="0" anchor="ctr"/>
          <a:lstStyle/>
          <a:p>
            <a:pPr indent="0" marL="0">
              <a:buNone/>
            </a:pPr>
            <a:r>
              <a:rPr lang="en-US" sz="2800" b="1" dirty="0">
                <a:solidFill>
                  <a:srgbClr val="0A032B"/>
                </a:solidFill>
                <a:latin typeface="Montserrat" pitchFamily="34" charset="0"/>
                <a:ea typeface="Montserrat" pitchFamily="34" charset="-122"/>
                <a:cs typeface="Montserrat" pitchFamily="34" charset="-120"/>
              </a:rPr>
              <a:t>Grille d'orientation : qui solliciter ?</a:t>
            </a:r>
            <a:endParaRPr lang="en-US" sz="2800" dirty="0"/>
          </a:p>
        </p:txBody>
      </p:sp>
      <p:sp>
        <p:nvSpPr>
          <p:cNvPr id="3" name="Text 1"/>
          <p:cNvSpPr txBox="1"/>
          <p:nvPr/>
        </p:nvSpPr>
        <p:spPr>
          <a:xfrm>
            <a:off x="548640" y="1024128"/>
            <a:ext cx="9235440" cy="365760"/>
          </a:xfrm>
          <a:prstGeom prst="rect">
            <a:avLst/>
          </a:prstGeom>
          <a:noFill/>
          <a:ln/>
        </p:spPr>
        <p:txBody>
          <a:bodyPr wrap="square" lIns="0" tIns="0" rIns="0" bIns="0" rtlCol="0" anchor="ctr"/>
          <a:lstStyle/>
          <a:p>
            <a:pPr indent="0" marL="0">
              <a:buNone/>
            </a:pPr>
            <a:r>
              <a:rPr lang="en-US" sz="1400" i="1" dirty="0">
                <a:solidFill>
                  <a:srgbClr val="5E5A78"/>
                </a:solidFill>
                <a:latin typeface="Arial" pitchFamily="34" charset="0"/>
                <a:ea typeface="Arial" pitchFamily="34" charset="-122"/>
                <a:cs typeface="Arial" pitchFamily="34" charset="-120"/>
              </a:rPr>
              <a:t>En binôme, complétez la colonne de droite à l'aide des fiches acteurs (10 minutes)</a:t>
            </a:r>
            <a:endParaRPr lang="en-US" sz="1400" dirty="0"/>
          </a:p>
        </p:txBody>
      </p:sp>
      <p:sp>
        <p:nvSpPr>
          <p:cNvPr id="4" name="Shape 2"/>
          <p:cNvSpPr/>
          <p:nvPr/>
        </p:nvSpPr>
        <p:spPr>
          <a:xfrm>
            <a:off x="10042855" y="530352"/>
            <a:ext cx="1600200" cy="347472"/>
          </a:xfrm>
          <a:prstGeom prst="roundRect">
            <a:avLst>
              <a:gd name="adj" fmla="val 50000"/>
            </a:avLst>
          </a:prstGeom>
          <a:solidFill>
            <a:srgbClr val="F0EF96"/>
          </a:solidFill>
          <a:ln w="12700">
            <a:solidFill>
              <a:srgbClr val="F0EF96"/>
            </a:solidFill>
            <a:prstDash val="solid"/>
          </a:ln>
        </p:spPr>
      </p:sp>
      <p:sp>
        <p:nvSpPr>
          <p:cNvPr id="5" name="Text 3"/>
          <p:cNvSpPr txBox="1"/>
          <p:nvPr/>
        </p:nvSpPr>
        <p:spPr>
          <a:xfrm>
            <a:off x="10042855" y="530352"/>
            <a:ext cx="1600200" cy="347472"/>
          </a:xfrm>
          <a:prstGeom prst="rect">
            <a:avLst/>
          </a:prstGeom>
          <a:noFill/>
          <a:ln/>
        </p:spPr>
        <p:txBody>
          <a:bodyPr wrap="square" lIns="0" tIns="0" rIns="0" bIns="0" rtlCol="0" anchor="ctr"/>
          <a:lstStyle/>
          <a:p>
            <a:pPr algn="ctr" indent="0" marL="0">
              <a:buNone/>
            </a:pPr>
            <a:r>
              <a:rPr lang="en-US" sz="1100" b="1" spc="200" kern="0" dirty="0">
                <a:solidFill>
                  <a:srgbClr val="0A032B"/>
                </a:solidFill>
                <a:latin typeface="Montserrat" pitchFamily="34" charset="0"/>
                <a:ea typeface="Montserrat" pitchFamily="34" charset="-122"/>
                <a:cs typeface="Montserrat" pitchFamily="34" charset="-120"/>
              </a:rPr>
              <a:t>PRATIQUE</a:t>
            </a:r>
            <a:endParaRPr lang="en-US" sz="1100" dirty="0"/>
          </a:p>
        </p:txBody>
      </p:sp>
      <p:sp>
        <p:nvSpPr>
          <p:cNvPr id="6" name="Text 4"/>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5E5A78"/>
                </a:solidFill>
                <a:latin typeface="Arial" pitchFamily="34" charset="0"/>
                <a:ea typeface="Arial" pitchFamily="34" charset="-122"/>
                <a:cs typeface="Arial" pitchFamily="34" charset="-120"/>
              </a:rPr>
              <a:t>Gestes et postures de l'élu  ·  Séquence 6</a:t>
            </a:r>
            <a:endParaRPr lang="en-US" sz="900" dirty="0"/>
          </a:p>
        </p:txBody>
      </p:sp>
      <p:pic>
        <p:nvPicPr>
          <p:cNvPr id="7" name="Image 0" descr="logo_light.png">    </p:cNvPr>
          <p:cNvPicPr>
            <a:picLocks noChangeAspect="1"/>
          </p:cNvPicPr>
          <p:nvPr/>
        </p:nvPicPr>
        <p:blipFill>
          <a:blip r:embed="rId1"/>
          <a:stretch>
            <a:fillRect/>
          </a:stretch>
        </p:blipFill>
        <p:spPr>
          <a:xfrm>
            <a:off x="10682935" y="6236208"/>
            <a:ext cx="960120" cy="398441"/>
          </a:xfrm>
          <a:prstGeom prst="rect">
            <a:avLst/>
          </a:prstGeom>
        </p:spPr>
      </p:pic>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7132320"/>
                <a:gridCol w="3962095"/>
              </a:tblGrid>
              <a:tr h="603504">
                <a:tc>
                  <a:txBody>
                    <a:bodyPr/>
                    <a:lstStyle/>
                    <a:p>
                      <a:pPr indent="0" marL="0">
                        <a:buNone/>
                      </a:pPr>
                      <a:r>
                        <a:rPr lang="en-US" sz="1300" b="1" dirty="0">
                          <a:solidFill>
                            <a:srgbClr val="FFFFFF"/>
                          </a:solidFill>
                          <a:latin typeface="Montserrat" pitchFamily="34" charset="0"/>
                          <a:ea typeface="Montserrat" pitchFamily="34" charset="-122"/>
                          <a:cs typeface="Montserrat" pitchFamily="34" charset="-120"/>
                        </a:rPr>
                        <a:t>Situation rencontrée</a:t>
                      </a:r>
                      <a:endParaRPr lang="en-US" sz="1300" dirty="0">
                        <a:latin typeface="Montserrat" charset="0"/>
                        <a:ea typeface="Montserrat" charset="0"/>
                        <a:cs typeface="Montserrat"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0A032B"/>
                    </a:solidFill>
                  </a:tcPr>
                </a:tc>
                <a:tc>
                  <a:txBody>
                    <a:bodyPr/>
                    <a:lstStyle/>
                    <a:p>
                      <a:pPr indent="0" marL="0">
                        <a:buNone/>
                      </a:pPr>
                      <a:r>
                        <a:rPr lang="en-US" sz="1300" b="1" dirty="0">
                          <a:solidFill>
                            <a:srgbClr val="FFFFFF"/>
                          </a:solidFill>
                          <a:latin typeface="Montserrat" pitchFamily="34" charset="0"/>
                          <a:ea typeface="Montserrat" pitchFamily="34" charset="-122"/>
                          <a:cs typeface="Montserrat" pitchFamily="34" charset="-120"/>
                        </a:rPr>
                        <a:t>Qui solliciter ?</a:t>
                      </a:r>
                      <a:endParaRPr lang="en-US" sz="1300" dirty="0">
                        <a:latin typeface="Montserrat" charset="0"/>
                        <a:ea typeface="Montserrat" charset="0"/>
                        <a:cs typeface="Montserrat"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0A032B"/>
                    </a:solidFill>
                  </a:tcPr>
                </a:tc>
              </a:tr>
              <a:tr h="603504">
                <a:tc>
                  <a:txBody>
                    <a:bodyPr/>
                    <a:lstStyle/>
                    <a:p>
                      <a:pPr indent="0" marL="0">
                        <a:buNone/>
                      </a:pPr>
                      <a:r>
                        <a:rPr lang="en-US" sz="1400" dirty="0">
                          <a:solidFill>
                            <a:srgbClr val="0A032B"/>
                          </a:solidFill>
                          <a:latin typeface="Arial" pitchFamily="34" charset="0"/>
                          <a:ea typeface="Arial" pitchFamily="34" charset="-122"/>
                          <a:cs typeface="Arial" pitchFamily="34" charset="-120"/>
                        </a:rPr>
                        <a:t>Un agent signale des douleurs récurrentes au dos.</a:t>
                      </a:r>
                      <a:endParaRPr lang="en-US" sz="14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EEEDF5"/>
                    </a:solidFill>
                  </a:tcPr>
                </a:tc>
                <a:tc>
                  <a:txBody>
                    <a:bodyPr/>
                    <a:lstStyle/>
                    <a:p>
                      <a:pPr indent="0" marL="0">
                        <a:buNone/>
                      </a:pPr>
                      <a:endParaRPr lang="en-US" sz="14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EEEDF5"/>
                    </a:solidFill>
                  </a:tcPr>
                </a:tc>
              </a:tr>
              <a:tr h="603504">
                <a:tc>
                  <a:txBody>
                    <a:bodyPr/>
                    <a:lstStyle/>
                    <a:p>
                      <a:pPr indent="0" marL="0">
                        <a:buNone/>
                      </a:pPr>
                      <a:r>
                        <a:rPr lang="en-US" sz="1400" dirty="0">
                          <a:solidFill>
                            <a:srgbClr val="0A032B"/>
                          </a:solidFill>
                          <a:latin typeface="Arial" pitchFamily="34" charset="0"/>
                          <a:ea typeface="Arial" pitchFamily="34" charset="-122"/>
                          <a:cs typeface="Arial" pitchFamily="34" charset="-120"/>
                        </a:rPr>
                        <a:t>Vous souhaitez mettre à jour l'évaluation des risques des services techniques.</a:t>
                      </a:r>
                      <a:endParaRPr lang="en-US" sz="14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FFFFFF"/>
                    </a:solidFill>
                  </a:tcPr>
                </a:tc>
                <a:tc>
                  <a:txBody>
                    <a:bodyPr/>
                    <a:lstStyle/>
                    <a:p>
                      <a:pPr indent="0" marL="0">
                        <a:buNone/>
                      </a:pPr>
                      <a:endParaRPr lang="en-US" sz="14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FFFFFF"/>
                    </a:solidFill>
                  </a:tcPr>
                </a:tc>
              </a:tr>
              <a:tr h="603504">
                <a:tc>
                  <a:txBody>
                    <a:bodyPr/>
                    <a:lstStyle/>
                    <a:p>
                      <a:pPr indent="0" marL="0">
                        <a:buNone/>
                      </a:pPr>
                      <a:r>
                        <a:rPr lang="en-US" sz="1400" dirty="0">
                          <a:solidFill>
                            <a:srgbClr val="0A032B"/>
                          </a:solidFill>
                          <a:latin typeface="Arial" pitchFamily="34" charset="0"/>
                          <a:ea typeface="Arial" pitchFamily="34" charset="-122"/>
                          <a:cs typeface="Arial" pitchFamily="34" charset="-120"/>
                        </a:rPr>
                        <a:t>Un projet de réorganisation modifie les conditions de travail des agents.</a:t>
                      </a:r>
                      <a:endParaRPr lang="en-US" sz="14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EEEDF5"/>
                    </a:solidFill>
                  </a:tcPr>
                </a:tc>
                <a:tc>
                  <a:txBody>
                    <a:bodyPr/>
                    <a:lstStyle/>
                    <a:p>
                      <a:pPr indent="0" marL="0">
                        <a:buNone/>
                      </a:pPr>
                      <a:endParaRPr lang="en-US" sz="14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EEEDF5"/>
                    </a:solidFill>
                  </a:tcPr>
                </a:tc>
              </a:tr>
              <a:tr h="603504">
                <a:tc>
                  <a:txBody>
                    <a:bodyPr/>
                    <a:lstStyle/>
                    <a:p>
                      <a:pPr indent="0" marL="0">
                        <a:buNone/>
                      </a:pPr>
                      <a:r>
                        <a:rPr lang="en-US" sz="1400" dirty="0">
                          <a:solidFill>
                            <a:srgbClr val="0A032B"/>
                          </a:solidFill>
                          <a:latin typeface="Arial" pitchFamily="34" charset="0"/>
                          <a:ea typeface="Arial" pitchFamily="34" charset="-122"/>
                          <a:cs typeface="Arial" pitchFamily="34" charset="-120"/>
                        </a:rPr>
                        <a:t>Vous voulez faire contrôler l'application des règles d'hygiène et de sécurité.</a:t>
                      </a:r>
                      <a:endParaRPr lang="en-US" sz="14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FFFFFF"/>
                    </a:solidFill>
                  </a:tcPr>
                </a:tc>
                <a:tc>
                  <a:txBody>
                    <a:bodyPr/>
                    <a:lstStyle/>
                    <a:p>
                      <a:pPr indent="0" marL="0">
                        <a:buNone/>
                      </a:pPr>
                      <a:endParaRPr lang="en-US" sz="14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FFFFFF"/>
                    </a:solidFill>
                  </a:tcPr>
                </a:tc>
              </a:tr>
              <a:tr h="603504">
                <a:tc>
                  <a:txBody>
                    <a:bodyPr/>
                    <a:lstStyle/>
                    <a:p>
                      <a:pPr indent="0" marL="0">
                        <a:buNone/>
                      </a:pPr>
                      <a:r>
                        <a:rPr lang="en-US" sz="1400" dirty="0">
                          <a:solidFill>
                            <a:srgbClr val="0A032B"/>
                          </a:solidFill>
                          <a:latin typeface="Arial" pitchFamily="34" charset="0"/>
                          <a:ea typeface="Arial" pitchFamily="34" charset="-122"/>
                          <a:cs typeface="Arial" pitchFamily="34" charset="-120"/>
                        </a:rPr>
                        <a:t>Vous avez besoin d'un appui technique pour structurer votre démarche.</a:t>
                      </a:r>
                      <a:endParaRPr lang="en-US" sz="14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EEEDF5"/>
                    </a:solidFill>
                  </a:tcPr>
                </a:tc>
                <a:tc>
                  <a:txBody>
                    <a:bodyPr/>
                    <a:lstStyle/>
                    <a:p>
                      <a:pPr indent="0" marL="0">
                        <a:buNone/>
                      </a:pPr>
                      <a:endParaRPr lang="en-US" sz="14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EEEDF5"/>
                    </a:solidFill>
                  </a:tcPr>
                </a:tc>
              </a:tr>
              <a:tr h="603504">
                <a:tc>
                  <a:txBody>
                    <a:bodyPr/>
                    <a:lstStyle/>
                    <a:p>
                      <a:pPr indent="0" marL="0">
                        <a:buNone/>
                      </a:pPr>
                      <a:r>
                        <a:rPr lang="en-US" sz="1400" dirty="0">
                          <a:solidFill>
                            <a:srgbClr val="0A032B"/>
                          </a:solidFill>
                          <a:latin typeface="Arial" pitchFamily="34" charset="0"/>
                          <a:ea typeface="Arial" pitchFamily="34" charset="-122"/>
                          <a:cs typeface="Arial" pitchFamily="34" charset="-120"/>
                        </a:rPr>
                        <a:t>Un agent vous alerte sur un danger grave et imminent.</a:t>
                      </a:r>
                      <a:endParaRPr lang="en-US" sz="14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FFFFFF"/>
                    </a:solidFill>
                  </a:tcPr>
                </a:tc>
                <a:tc>
                  <a:txBody>
                    <a:bodyPr/>
                    <a:lstStyle/>
                    <a:p>
                      <a:pPr indent="0" marL="0">
                        <a:buNone/>
                      </a:pPr>
                      <a:endParaRPr lang="en-US" sz="14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EEEDF5"/>
        </a:solidFill>
      </p:bgPr>
    </p:bg>
    <p:spTree>
      <p:nvGrpSpPr>
        <p:cNvPr id="1" name=""/>
        <p:cNvGrpSpPr/>
        <p:nvPr/>
      </p:nvGrpSpPr>
      <p:grpSpPr>
        <a:xfrm>
          <a:off x="0" y="0"/>
          <a:ext cx="0" cy="0"/>
          <a:chOff x="0" y="0"/>
          <a:chExt cx="0" cy="0"/>
        </a:xfrm>
      </p:grpSpPr>
      <p:sp>
        <p:nvSpPr>
          <p:cNvPr id="2" name="Text 0"/>
          <p:cNvSpPr txBox="1"/>
          <p:nvPr/>
        </p:nvSpPr>
        <p:spPr>
          <a:xfrm>
            <a:off x="548640" y="365760"/>
            <a:ext cx="9235440" cy="685800"/>
          </a:xfrm>
          <a:prstGeom prst="rect">
            <a:avLst/>
          </a:prstGeom>
          <a:noFill/>
          <a:ln/>
        </p:spPr>
        <p:txBody>
          <a:bodyPr wrap="square" lIns="0" tIns="0" rIns="0" bIns="0" rtlCol="0" anchor="ctr"/>
          <a:lstStyle/>
          <a:p>
            <a:pPr indent="0" marL="0">
              <a:buNone/>
            </a:pPr>
            <a:r>
              <a:rPr lang="en-US" sz="2800" b="1" dirty="0">
                <a:solidFill>
                  <a:srgbClr val="0A032B"/>
                </a:solidFill>
                <a:latin typeface="Montserrat" pitchFamily="34" charset="0"/>
                <a:ea typeface="Montserrat" pitchFamily="34" charset="-122"/>
                <a:cs typeface="Montserrat" pitchFamily="34" charset="-120"/>
              </a:rPr>
              <a:t>À retenir</a:t>
            </a:r>
            <a:endParaRPr lang="en-US" sz="2800" dirty="0"/>
          </a:p>
        </p:txBody>
      </p:sp>
      <p:sp>
        <p:nvSpPr>
          <p:cNvPr id="3" name="Text 1"/>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5E5A78"/>
                </a:solidFill>
                <a:latin typeface="Arial" pitchFamily="34" charset="0"/>
                <a:ea typeface="Arial" pitchFamily="34" charset="-122"/>
                <a:cs typeface="Arial" pitchFamily="34" charset="-120"/>
              </a:rPr>
              <a:t>Gestes et postures de l'élu  ·  Séquence 6</a:t>
            </a:r>
            <a:endParaRPr lang="en-US" sz="900" dirty="0"/>
          </a:p>
        </p:txBody>
      </p:sp>
      <p:pic>
        <p:nvPicPr>
          <p:cNvPr id="4" name="Image 0" descr="logo_light.png">    </p:cNvPr>
          <p:cNvPicPr>
            <a:picLocks noChangeAspect="1"/>
          </p:cNvPicPr>
          <p:nvPr/>
        </p:nvPicPr>
        <p:blipFill>
          <a:blip r:embed="rId1"/>
          <a:stretch>
            <a:fillRect/>
          </a:stretch>
        </p:blipFill>
        <p:spPr>
          <a:xfrm>
            <a:off x="10682935" y="6236208"/>
            <a:ext cx="960120" cy="398441"/>
          </a:xfrm>
          <a:prstGeom prst="rect">
            <a:avLst/>
          </a:prstGeom>
        </p:spPr>
      </p:pic>
      <p:sp>
        <p:nvSpPr>
          <p:cNvPr id="5" name="Shape 2"/>
          <p:cNvSpPr/>
          <p:nvPr/>
        </p:nvSpPr>
        <p:spPr>
          <a:xfrm>
            <a:off x="548640" y="1417320"/>
            <a:ext cx="5410048" cy="1341120"/>
          </a:xfrm>
          <a:prstGeom prst="roundRect">
            <a:avLst>
              <a:gd name="adj" fmla="val 5455"/>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777240" y="1859280"/>
            <a:ext cx="457200" cy="457200"/>
          </a:xfrm>
          <a:prstGeom prst="ellipse">
            <a:avLst/>
          </a:prstGeom>
          <a:solidFill>
            <a:srgbClr val="F0EF96"/>
          </a:solidFill>
          <a:ln w="12700">
            <a:solidFill>
              <a:srgbClr val="F0EF96"/>
            </a:solidFill>
            <a:prstDash val="solid"/>
          </a:ln>
        </p:spPr>
      </p:sp>
      <p:pic>
        <p:nvPicPr>
          <p:cNvPr id="7" name="Image 1" descr="preencoded.png">    </p:cNvPr>
          <p:cNvPicPr>
            <a:picLocks noChangeAspect="1"/>
          </p:cNvPicPr>
          <p:nvPr/>
        </p:nvPicPr>
        <p:blipFill>
          <a:blip r:embed="rId2"/>
          <a:stretch>
            <a:fillRect/>
          </a:stretch>
        </p:blipFill>
        <p:spPr>
          <a:xfrm>
            <a:off x="891540" y="1973580"/>
            <a:ext cx="228600" cy="228600"/>
          </a:xfrm>
          <a:prstGeom prst="rect">
            <a:avLst/>
          </a:prstGeom>
        </p:spPr>
      </p:pic>
      <p:sp>
        <p:nvSpPr>
          <p:cNvPr id="8" name="Text 4"/>
          <p:cNvSpPr txBox="1"/>
          <p:nvPr/>
        </p:nvSpPr>
        <p:spPr>
          <a:xfrm>
            <a:off x="1417320" y="1508760"/>
            <a:ext cx="4358488" cy="1158240"/>
          </a:xfrm>
          <a:prstGeom prst="rect">
            <a:avLst/>
          </a:prstGeom>
          <a:noFill/>
          <a:ln/>
        </p:spPr>
        <p:txBody>
          <a:bodyPr wrap="square" lIns="0" tIns="0" rIns="0" bIns="0" rtlCol="0" anchor="ctr"/>
          <a:lstStyle/>
          <a:p>
            <a:pPr indent="0" marL="0">
              <a:buNone/>
            </a:pPr>
            <a:r>
              <a:rPr lang="en-US" sz="1400" dirty="0">
                <a:solidFill>
                  <a:srgbClr val="0A032B"/>
                </a:solidFill>
                <a:latin typeface="Arial" pitchFamily="34" charset="0"/>
                <a:ea typeface="Arial" pitchFamily="34" charset="-122"/>
                <a:cs typeface="Arial" pitchFamily="34" charset="-120"/>
              </a:rPr>
              <a:t>L'autorité territoriale est responsable de la santé et de la sécurité des agents.</a:t>
            </a:r>
            <a:endParaRPr lang="en-US" sz="1400" dirty="0"/>
          </a:p>
        </p:txBody>
      </p:sp>
      <p:sp>
        <p:nvSpPr>
          <p:cNvPr id="9" name="Shape 5"/>
          <p:cNvSpPr/>
          <p:nvPr/>
        </p:nvSpPr>
        <p:spPr>
          <a:xfrm>
            <a:off x="6233008" y="1417320"/>
            <a:ext cx="5410048" cy="1341120"/>
          </a:xfrm>
          <a:prstGeom prst="roundRect">
            <a:avLst>
              <a:gd name="adj" fmla="val 5455"/>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0" name="Shape 6"/>
          <p:cNvSpPr/>
          <p:nvPr/>
        </p:nvSpPr>
        <p:spPr>
          <a:xfrm>
            <a:off x="6461608" y="1859280"/>
            <a:ext cx="457200" cy="457200"/>
          </a:xfrm>
          <a:prstGeom prst="ellipse">
            <a:avLst/>
          </a:prstGeom>
          <a:solidFill>
            <a:srgbClr val="F0EF96"/>
          </a:solidFill>
          <a:ln w="12700">
            <a:solidFill>
              <a:srgbClr val="F0EF96"/>
            </a:solidFill>
            <a:prstDash val="solid"/>
          </a:ln>
        </p:spPr>
      </p:sp>
      <p:pic>
        <p:nvPicPr>
          <p:cNvPr id="11" name="Image 2" descr="preencoded.png">    </p:cNvPr>
          <p:cNvPicPr>
            <a:picLocks noChangeAspect="1"/>
          </p:cNvPicPr>
          <p:nvPr/>
        </p:nvPicPr>
        <p:blipFill>
          <a:blip r:embed="rId3"/>
          <a:stretch>
            <a:fillRect/>
          </a:stretch>
        </p:blipFill>
        <p:spPr>
          <a:xfrm>
            <a:off x="6575908" y="1973580"/>
            <a:ext cx="228600" cy="228600"/>
          </a:xfrm>
          <a:prstGeom prst="rect">
            <a:avLst/>
          </a:prstGeom>
        </p:spPr>
      </p:pic>
      <p:sp>
        <p:nvSpPr>
          <p:cNvPr id="12" name="Text 7"/>
          <p:cNvSpPr txBox="1"/>
          <p:nvPr/>
        </p:nvSpPr>
        <p:spPr>
          <a:xfrm>
            <a:off x="7101688" y="1508760"/>
            <a:ext cx="4358488" cy="1158240"/>
          </a:xfrm>
          <a:prstGeom prst="rect">
            <a:avLst/>
          </a:prstGeom>
          <a:noFill/>
          <a:ln/>
        </p:spPr>
        <p:txBody>
          <a:bodyPr wrap="square" lIns="0" tIns="0" rIns="0" bIns="0" rtlCol="0" anchor="ctr"/>
          <a:lstStyle/>
          <a:p>
            <a:pPr indent="0" marL="0">
              <a:buNone/>
            </a:pPr>
            <a:r>
              <a:rPr lang="en-US" sz="1400" dirty="0">
                <a:solidFill>
                  <a:srgbClr val="0A032B"/>
                </a:solidFill>
                <a:latin typeface="Arial" pitchFamily="34" charset="0"/>
                <a:ea typeface="Arial" pitchFamily="34" charset="-122"/>
                <a:cs typeface="Arial" pitchFamily="34" charset="-120"/>
              </a:rPr>
              <a:t>Le document unique recense les risques, le programme de prévention les traite.</a:t>
            </a:r>
            <a:endParaRPr lang="en-US" sz="1400" dirty="0"/>
          </a:p>
        </p:txBody>
      </p:sp>
      <p:sp>
        <p:nvSpPr>
          <p:cNvPr id="13" name="Shape 8"/>
          <p:cNvSpPr/>
          <p:nvPr/>
        </p:nvSpPr>
        <p:spPr>
          <a:xfrm>
            <a:off x="548640" y="3032760"/>
            <a:ext cx="5410048" cy="1341120"/>
          </a:xfrm>
          <a:prstGeom prst="roundRect">
            <a:avLst>
              <a:gd name="adj" fmla="val 5455"/>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4" name="Shape 9"/>
          <p:cNvSpPr/>
          <p:nvPr/>
        </p:nvSpPr>
        <p:spPr>
          <a:xfrm>
            <a:off x="777240" y="3474720"/>
            <a:ext cx="457200" cy="457200"/>
          </a:xfrm>
          <a:prstGeom prst="ellipse">
            <a:avLst/>
          </a:prstGeom>
          <a:solidFill>
            <a:srgbClr val="F0EF96"/>
          </a:solidFill>
          <a:ln w="12700">
            <a:solidFill>
              <a:srgbClr val="F0EF96"/>
            </a:solidFill>
            <a:prstDash val="solid"/>
          </a:ln>
        </p:spPr>
      </p:sp>
      <p:pic>
        <p:nvPicPr>
          <p:cNvPr id="15" name="Image 3" descr="preencoded.png">    </p:cNvPr>
          <p:cNvPicPr>
            <a:picLocks noChangeAspect="1"/>
          </p:cNvPicPr>
          <p:nvPr/>
        </p:nvPicPr>
        <p:blipFill>
          <a:blip r:embed="rId4"/>
          <a:stretch>
            <a:fillRect/>
          </a:stretch>
        </p:blipFill>
        <p:spPr>
          <a:xfrm>
            <a:off x="891540" y="3589020"/>
            <a:ext cx="228600" cy="228600"/>
          </a:xfrm>
          <a:prstGeom prst="rect">
            <a:avLst/>
          </a:prstGeom>
        </p:spPr>
      </p:pic>
      <p:sp>
        <p:nvSpPr>
          <p:cNvPr id="16" name="Text 10"/>
          <p:cNvSpPr txBox="1"/>
          <p:nvPr/>
        </p:nvSpPr>
        <p:spPr>
          <a:xfrm>
            <a:off x="1417320" y="3124200"/>
            <a:ext cx="4358488" cy="1158240"/>
          </a:xfrm>
          <a:prstGeom prst="rect">
            <a:avLst/>
          </a:prstGeom>
          <a:noFill/>
          <a:ln/>
        </p:spPr>
        <p:txBody>
          <a:bodyPr wrap="square" lIns="0" tIns="0" rIns="0" bIns="0" rtlCol="0" anchor="ctr"/>
          <a:lstStyle/>
          <a:p>
            <a:pPr indent="0" marL="0">
              <a:buNone/>
            </a:pPr>
            <a:r>
              <a:rPr lang="en-US" sz="1400" dirty="0">
                <a:solidFill>
                  <a:srgbClr val="0A032B"/>
                </a:solidFill>
                <a:latin typeface="Arial" pitchFamily="34" charset="0"/>
                <a:ea typeface="Arial" pitchFamily="34" charset="-122"/>
                <a:cs typeface="Arial" pitchFamily="34" charset="-120"/>
              </a:rPr>
              <a:t>Assistant de prévention, médecine préventive, ACFI, F3SCT, centre de gestion : des appuis.</a:t>
            </a:r>
            <a:endParaRPr lang="en-US" sz="1400" dirty="0"/>
          </a:p>
        </p:txBody>
      </p:sp>
      <p:sp>
        <p:nvSpPr>
          <p:cNvPr id="17" name="Shape 11"/>
          <p:cNvSpPr/>
          <p:nvPr/>
        </p:nvSpPr>
        <p:spPr>
          <a:xfrm>
            <a:off x="6233008" y="3032760"/>
            <a:ext cx="5410048" cy="1341120"/>
          </a:xfrm>
          <a:prstGeom prst="roundRect">
            <a:avLst>
              <a:gd name="adj" fmla="val 5455"/>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8" name="Shape 12"/>
          <p:cNvSpPr/>
          <p:nvPr/>
        </p:nvSpPr>
        <p:spPr>
          <a:xfrm>
            <a:off x="6461608" y="3474720"/>
            <a:ext cx="457200" cy="457200"/>
          </a:xfrm>
          <a:prstGeom prst="ellipse">
            <a:avLst/>
          </a:prstGeom>
          <a:solidFill>
            <a:srgbClr val="F0EF96"/>
          </a:solidFill>
          <a:ln w="12700">
            <a:solidFill>
              <a:srgbClr val="F0EF96"/>
            </a:solidFill>
            <a:prstDash val="solid"/>
          </a:ln>
        </p:spPr>
      </p:sp>
      <p:pic>
        <p:nvPicPr>
          <p:cNvPr id="19" name="Image 4" descr="preencoded.png">    </p:cNvPr>
          <p:cNvPicPr>
            <a:picLocks noChangeAspect="1"/>
          </p:cNvPicPr>
          <p:nvPr/>
        </p:nvPicPr>
        <p:blipFill>
          <a:blip r:embed="rId5"/>
          <a:stretch>
            <a:fillRect/>
          </a:stretch>
        </p:blipFill>
        <p:spPr>
          <a:xfrm>
            <a:off x="6575908" y="3589020"/>
            <a:ext cx="228600" cy="228600"/>
          </a:xfrm>
          <a:prstGeom prst="rect">
            <a:avLst/>
          </a:prstGeom>
        </p:spPr>
      </p:pic>
      <p:sp>
        <p:nvSpPr>
          <p:cNvPr id="20" name="Text 13"/>
          <p:cNvSpPr txBox="1"/>
          <p:nvPr/>
        </p:nvSpPr>
        <p:spPr>
          <a:xfrm>
            <a:off x="7101688" y="3124200"/>
            <a:ext cx="4358488" cy="1158240"/>
          </a:xfrm>
          <a:prstGeom prst="rect">
            <a:avLst/>
          </a:prstGeom>
          <a:noFill/>
          <a:ln/>
        </p:spPr>
        <p:txBody>
          <a:bodyPr wrap="square" lIns="0" tIns="0" rIns="0" bIns="0" rtlCol="0" anchor="ctr"/>
          <a:lstStyle/>
          <a:p>
            <a:pPr indent="0" marL="0">
              <a:buNone/>
            </a:pPr>
            <a:r>
              <a:rPr lang="en-US" sz="1400" dirty="0">
                <a:solidFill>
                  <a:srgbClr val="0A032B"/>
                </a:solidFill>
                <a:latin typeface="Arial" pitchFamily="34" charset="0"/>
                <a:ea typeface="Arial" pitchFamily="34" charset="-122"/>
                <a:cs typeface="Arial" pitchFamily="34" charset="-120"/>
              </a:rPr>
              <a:t>Un signalement de douleur doit être pris au sérieux et orienté.</a:t>
            </a:r>
            <a:endParaRPr lang="en-US" sz="1400" dirty="0"/>
          </a:p>
        </p:txBody>
      </p:sp>
      <p:sp>
        <p:nvSpPr>
          <p:cNvPr id="21" name="Shape 14"/>
          <p:cNvSpPr/>
          <p:nvPr/>
        </p:nvSpPr>
        <p:spPr>
          <a:xfrm>
            <a:off x="548640" y="4648200"/>
            <a:ext cx="5410048" cy="1341120"/>
          </a:xfrm>
          <a:prstGeom prst="roundRect">
            <a:avLst>
              <a:gd name="adj" fmla="val 5455"/>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22" name="Shape 15"/>
          <p:cNvSpPr/>
          <p:nvPr/>
        </p:nvSpPr>
        <p:spPr>
          <a:xfrm>
            <a:off x="777240" y="5090160"/>
            <a:ext cx="457200" cy="457200"/>
          </a:xfrm>
          <a:prstGeom prst="ellipse">
            <a:avLst/>
          </a:prstGeom>
          <a:solidFill>
            <a:srgbClr val="F0EF96"/>
          </a:solidFill>
          <a:ln w="12700">
            <a:solidFill>
              <a:srgbClr val="F0EF96"/>
            </a:solidFill>
            <a:prstDash val="solid"/>
          </a:ln>
        </p:spPr>
      </p:sp>
      <p:pic>
        <p:nvPicPr>
          <p:cNvPr id="23" name="Image 5" descr="preencoded.png">    </p:cNvPr>
          <p:cNvPicPr>
            <a:picLocks noChangeAspect="1"/>
          </p:cNvPicPr>
          <p:nvPr/>
        </p:nvPicPr>
        <p:blipFill>
          <a:blip r:embed="rId6"/>
          <a:stretch>
            <a:fillRect/>
          </a:stretch>
        </p:blipFill>
        <p:spPr>
          <a:xfrm>
            <a:off x="891540" y="5204460"/>
            <a:ext cx="228600" cy="228600"/>
          </a:xfrm>
          <a:prstGeom prst="rect">
            <a:avLst/>
          </a:prstGeom>
        </p:spPr>
      </p:pic>
      <p:sp>
        <p:nvSpPr>
          <p:cNvPr id="24" name="Text 16"/>
          <p:cNvSpPr txBox="1"/>
          <p:nvPr/>
        </p:nvSpPr>
        <p:spPr>
          <a:xfrm>
            <a:off x="1417320" y="4739640"/>
            <a:ext cx="4358488" cy="1158240"/>
          </a:xfrm>
          <a:prstGeom prst="rect">
            <a:avLst/>
          </a:prstGeom>
          <a:noFill/>
          <a:ln/>
        </p:spPr>
        <p:txBody>
          <a:bodyPr wrap="square" lIns="0" tIns="0" rIns="0" bIns="0" rtlCol="0" anchor="ctr"/>
          <a:lstStyle/>
          <a:p>
            <a:pPr indent="0" marL="0">
              <a:buNone/>
            </a:pPr>
            <a:r>
              <a:rPr lang="en-US" sz="1400" dirty="0">
                <a:solidFill>
                  <a:srgbClr val="0A032B"/>
                </a:solidFill>
                <a:latin typeface="Arial" pitchFamily="34" charset="0"/>
                <a:ea typeface="Arial" pitchFamily="34" charset="-122"/>
                <a:cs typeface="Arial" pitchFamily="34" charset="-120"/>
              </a:rPr>
              <a:t>L'élu agit par l'exemple, l'arbitrage des moyens et le dialogue.</a:t>
            </a:r>
            <a:endParaRPr lang="en-US" sz="1400" dirty="0"/>
          </a:p>
        </p:txBody>
      </p:sp>
      <p:sp>
        <p:nvSpPr>
          <p:cNvPr id="25" name="Shape 17"/>
          <p:cNvSpPr/>
          <p:nvPr/>
        </p:nvSpPr>
        <p:spPr>
          <a:xfrm>
            <a:off x="6233008" y="4648200"/>
            <a:ext cx="5410048" cy="1341120"/>
          </a:xfrm>
          <a:prstGeom prst="roundRect">
            <a:avLst>
              <a:gd name="adj" fmla="val 5455"/>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26" name="Shape 18"/>
          <p:cNvSpPr/>
          <p:nvPr/>
        </p:nvSpPr>
        <p:spPr>
          <a:xfrm>
            <a:off x="6461608" y="5090160"/>
            <a:ext cx="457200" cy="457200"/>
          </a:xfrm>
          <a:prstGeom prst="ellipse">
            <a:avLst/>
          </a:prstGeom>
          <a:solidFill>
            <a:srgbClr val="F0EF96"/>
          </a:solidFill>
          <a:ln w="12700">
            <a:solidFill>
              <a:srgbClr val="F0EF96"/>
            </a:solidFill>
            <a:prstDash val="solid"/>
          </a:ln>
        </p:spPr>
      </p:sp>
      <p:pic>
        <p:nvPicPr>
          <p:cNvPr id="27" name="Image 6" descr="preencoded.png">    </p:cNvPr>
          <p:cNvPicPr>
            <a:picLocks noChangeAspect="1"/>
          </p:cNvPicPr>
          <p:nvPr/>
        </p:nvPicPr>
        <p:blipFill>
          <a:blip r:embed="rId7"/>
          <a:stretch>
            <a:fillRect/>
          </a:stretch>
        </p:blipFill>
        <p:spPr>
          <a:xfrm>
            <a:off x="6575908" y="5204460"/>
            <a:ext cx="228600" cy="228600"/>
          </a:xfrm>
          <a:prstGeom prst="rect">
            <a:avLst/>
          </a:prstGeom>
        </p:spPr>
      </p:pic>
      <p:sp>
        <p:nvSpPr>
          <p:cNvPr id="28" name="Text 19"/>
          <p:cNvSpPr txBox="1"/>
          <p:nvPr/>
        </p:nvSpPr>
        <p:spPr>
          <a:xfrm>
            <a:off x="7101688" y="4739640"/>
            <a:ext cx="4358488" cy="1158240"/>
          </a:xfrm>
          <a:prstGeom prst="rect">
            <a:avLst/>
          </a:prstGeom>
          <a:noFill/>
          <a:ln/>
        </p:spPr>
        <p:txBody>
          <a:bodyPr wrap="square" lIns="0" tIns="0" rIns="0" bIns="0" rtlCol="0" anchor="ctr"/>
          <a:lstStyle/>
          <a:p>
            <a:pPr indent="0" marL="0">
              <a:buNone/>
            </a:pPr>
            <a:r>
              <a:rPr lang="en-US" sz="1400" dirty="0">
                <a:solidFill>
                  <a:srgbClr val="0A032B"/>
                </a:solidFill>
                <a:latin typeface="Arial" pitchFamily="34" charset="0"/>
                <a:ea typeface="Arial" pitchFamily="34" charset="-122"/>
                <a:cs typeface="Arial" pitchFamily="34" charset="-120"/>
              </a:rPr>
              <a:t>Anticiper les événements, c'est prévenir les accidents.</a:t>
            </a:r>
            <a:endParaRPr lang="en-US" sz="1400" dirty="0"/>
          </a:p>
        </p:txBody>
      </p:sp>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0EF96"/>
        </a:solidFill>
      </p:bgPr>
    </p:bg>
    <p:spTree>
      <p:nvGrpSpPr>
        <p:cNvPr id="1" name=""/>
        <p:cNvGrpSpPr/>
        <p:nvPr/>
      </p:nvGrpSpPr>
      <p:grpSpPr>
        <a:xfrm>
          <a:off x="0" y="0"/>
          <a:ext cx="0" cy="0"/>
          <a:chOff x="0" y="0"/>
          <a:chExt cx="0" cy="0"/>
        </a:xfrm>
      </p:grpSpPr>
      <p:sp>
        <p:nvSpPr>
          <p:cNvPr id="2" name="Shape 0"/>
          <p:cNvSpPr/>
          <p:nvPr/>
        </p:nvSpPr>
        <p:spPr>
          <a:xfrm>
            <a:off x="5272888" y="1463040"/>
            <a:ext cx="1645920" cy="1645920"/>
          </a:xfrm>
          <a:prstGeom prst="ellipse">
            <a:avLst/>
          </a:prstGeom>
          <a:solidFill>
            <a:srgbClr val="0A032B"/>
          </a:solidFill>
          <a:ln w="12700">
            <a:solidFill>
              <a:srgbClr val="0A032B"/>
            </a:solidFill>
            <a:prstDash val="solid"/>
          </a:ln>
        </p:spPr>
      </p:sp>
      <p:pic>
        <p:nvPicPr>
          <p:cNvPr id="3" name="Image 0" descr="preencoded.png">    </p:cNvPr>
          <p:cNvPicPr>
            <a:picLocks noChangeAspect="1"/>
          </p:cNvPicPr>
          <p:nvPr/>
        </p:nvPicPr>
        <p:blipFill>
          <a:blip r:embed="rId1"/>
          <a:stretch>
            <a:fillRect/>
          </a:stretch>
        </p:blipFill>
        <p:spPr>
          <a:xfrm>
            <a:off x="5684368" y="1874520"/>
            <a:ext cx="822960" cy="822960"/>
          </a:xfrm>
          <a:prstGeom prst="rect">
            <a:avLst/>
          </a:prstGeom>
        </p:spPr>
      </p:pic>
      <p:sp>
        <p:nvSpPr>
          <p:cNvPr id="4" name="Text 1"/>
          <p:cNvSpPr txBox="1"/>
          <p:nvPr/>
        </p:nvSpPr>
        <p:spPr>
          <a:xfrm>
            <a:off x="548640" y="3383280"/>
            <a:ext cx="11094415" cy="822960"/>
          </a:xfrm>
          <a:prstGeom prst="rect">
            <a:avLst/>
          </a:prstGeom>
          <a:noFill/>
          <a:ln/>
        </p:spPr>
        <p:txBody>
          <a:bodyPr wrap="square" lIns="0" tIns="0" rIns="0" bIns="0" rtlCol="0" anchor="ctr"/>
          <a:lstStyle/>
          <a:p>
            <a:pPr algn="ctr" indent="0" marL="0">
              <a:buNone/>
            </a:pPr>
            <a:r>
              <a:rPr lang="en-US" sz="4400" b="1" dirty="0">
                <a:solidFill>
                  <a:srgbClr val="0A032B"/>
                </a:solidFill>
                <a:latin typeface="Montserrat" pitchFamily="34" charset="0"/>
                <a:ea typeface="Montserrat" pitchFamily="34" charset="-122"/>
                <a:cs typeface="Montserrat" pitchFamily="34" charset="-120"/>
              </a:rPr>
              <a:t>Pause</a:t>
            </a:r>
            <a:endParaRPr lang="en-US" sz="4400" dirty="0"/>
          </a:p>
        </p:txBody>
      </p:sp>
      <p:sp>
        <p:nvSpPr>
          <p:cNvPr id="5" name="Text 2"/>
          <p:cNvSpPr txBox="1"/>
          <p:nvPr/>
        </p:nvSpPr>
        <p:spPr>
          <a:xfrm>
            <a:off x="548640" y="4206240"/>
            <a:ext cx="11094415" cy="548640"/>
          </a:xfrm>
          <a:prstGeom prst="rect">
            <a:avLst/>
          </a:prstGeom>
          <a:noFill/>
          <a:ln/>
        </p:spPr>
        <p:txBody>
          <a:bodyPr wrap="square" lIns="0" tIns="0" rIns="0" bIns="0" rtlCol="0" anchor="ctr"/>
          <a:lstStyle/>
          <a:p>
            <a:pPr algn="ctr" indent="0" marL="0">
              <a:buNone/>
            </a:pPr>
            <a:r>
              <a:rPr lang="en-US" sz="2000" dirty="0">
                <a:solidFill>
                  <a:srgbClr val="35305C"/>
                </a:solidFill>
                <a:latin typeface="Arial" pitchFamily="34" charset="0"/>
                <a:ea typeface="Arial" pitchFamily="34" charset="-122"/>
                <a:cs typeface="Arial" pitchFamily="34" charset="-120"/>
              </a:rPr>
              <a:t>10 minutes</a:t>
            </a:r>
            <a:endParaRPr lang="en-US" sz="2000" dirty="0"/>
          </a:p>
        </p:txBody>
      </p:sp>
      <p:pic>
        <p:nvPicPr>
          <p:cNvPr id="6" name="Image 1" descr="logo_light.png">    </p:cNvPr>
          <p:cNvPicPr>
            <a:picLocks noChangeAspect="1"/>
          </p:cNvPicPr>
          <p:nvPr/>
        </p:nvPicPr>
        <p:blipFill>
          <a:blip r:embed="rId2"/>
          <a:stretch>
            <a:fillRect/>
          </a:stretch>
        </p:blipFill>
        <p:spPr>
          <a:xfrm>
            <a:off x="10682935" y="6236208"/>
            <a:ext cx="960120" cy="398441"/>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0A032B"/>
        </a:solidFill>
      </p:bgPr>
    </p:bg>
    <p:spTree>
      <p:nvGrpSpPr>
        <p:cNvPr id="1" name=""/>
        <p:cNvGrpSpPr/>
        <p:nvPr/>
      </p:nvGrpSpPr>
      <p:grpSpPr>
        <a:xfrm>
          <a:off x="0" y="0"/>
          <a:ext cx="0" cy="0"/>
          <a:chOff x="0" y="0"/>
          <a:chExt cx="0" cy="0"/>
        </a:xfrm>
      </p:grpSpPr>
      <p:sp>
        <p:nvSpPr>
          <p:cNvPr id="2" name="Text 0"/>
          <p:cNvSpPr txBox="1"/>
          <p:nvPr/>
        </p:nvSpPr>
        <p:spPr>
          <a:xfrm>
            <a:off x="548640" y="1371600"/>
            <a:ext cx="3657600" cy="2926080"/>
          </a:xfrm>
          <a:prstGeom prst="rect">
            <a:avLst/>
          </a:prstGeom>
          <a:noFill/>
          <a:ln/>
        </p:spPr>
        <p:txBody>
          <a:bodyPr wrap="square" lIns="0" tIns="0" rIns="0" bIns="0" rtlCol="0" anchor="ctr"/>
          <a:lstStyle/>
          <a:p>
            <a:pPr indent="0" marL="0">
              <a:buNone/>
            </a:pPr>
            <a:r>
              <a:rPr lang="en-US" sz="18000" b="1" dirty="0">
                <a:solidFill>
                  <a:srgbClr val="F0EF96"/>
                </a:solidFill>
                <a:latin typeface="Montserrat" pitchFamily="34" charset="0"/>
                <a:ea typeface="Montserrat" pitchFamily="34" charset="-122"/>
                <a:cs typeface="Montserrat" pitchFamily="34" charset="-120"/>
              </a:rPr>
              <a:t>07</a:t>
            </a:r>
            <a:endParaRPr lang="en-US" sz="18000" dirty="0"/>
          </a:p>
        </p:txBody>
      </p:sp>
      <p:sp>
        <p:nvSpPr>
          <p:cNvPr id="3" name="Text 1"/>
          <p:cNvSpPr txBox="1"/>
          <p:nvPr/>
        </p:nvSpPr>
        <p:spPr>
          <a:xfrm>
            <a:off x="4572000" y="1463040"/>
            <a:ext cx="7040880" cy="411480"/>
          </a:xfrm>
          <a:prstGeom prst="rect">
            <a:avLst/>
          </a:prstGeom>
          <a:noFill/>
          <a:ln/>
        </p:spPr>
        <p:txBody>
          <a:bodyPr wrap="square" lIns="0" tIns="0" rIns="0" bIns="0" rtlCol="0" anchor="ctr"/>
          <a:lstStyle/>
          <a:p>
            <a:pPr indent="0" marL="0">
              <a:buNone/>
            </a:pPr>
            <a:r>
              <a:rPr lang="en-US" sz="1600" b="1" spc="300" kern="0" dirty="0">
                <a:solidFill>
                  <a:srgbClr val="F0EF96"/>
                </a:solidFill>
                <a:latin typeface="Montserrat" pitchFamily="34" charset="0"/>
                <a:ea typeface="Montserrat" pitchFamily="34" charset="-122"/>
                <a:cs typeface="Montserrat" pitchFamily="34" charset="-120"/>
              </a:rPr>
              <a:t>SÉQUENCE 7</a:t>
            </a:r>
            <a:endParaRPr lang="en-US" sz="1600" dirty="0"/>
          </a:p>
        </p:txBody>
      </p:sp>
      <p:sp>
        <p:nvSpPr>
          <p:cNvPr id="4" name="Text 2"/>
          <p:cNvSpPr txBox="1"/>
          <p:nvPr/>
        </p:nvSpPr>
        <p:spPr>
          <a:xfrm>
            <a:off x="4572000" y="1920240"/>
            <a:ext cx="7040880" cy="1645920"/>
          </a:xfrm>
          <a:prstGeom prst="rect">
            <a:avLst/>
          </a:prstGeom>
          <a:noFill/>
          <a:ln/>
        </p:spPr>
        <p:txBody>
          <a:bodyPr wrap="square" lIns="0" tIns="0" rIns="0" bIns="0" rtlCol="0" anchor="t"/>
          <a:lstStyle/>
          <a:p>
            <a:pPr indent="0" marL="0">
              <a:buNone/>
            </a:pPr>
            <a:r>
              <a:rPr lang="en-US" sz="3400" b="1" dirty="0">
                <a:solidFill>
                  <a:srgbClr val="FFFFFF"/>
                </a:solidFill>
                <a:latin typeface="Montserrat" pitchFamily="34" charset="0"/>
                <a:ea typeface="Montserrat" pitchFamily="34" charset="-122"/>
                <a:cs typeface="Montserrat" pitchFamily="34" charset="-120"/>
              </a:rPr>
              <a:t>Les bons gestes en situation réelle</a:t>
            </a:r>
            <a:endParaRPr lang="en-US" sz="3400" dirty="0"/>
          </a:p>
        </p:txBody>
      </p:sp>
      <p:sp>
        <p:nvSpPr>
          <p:cNvPr id="5" name="Text 3"/>
          <p:cNvSpPr txBox="1"/>
          <p:nvPr/>
        </p:nvSpPr>
        <p:spPr>
          <a:xfrm>
            <a:off x="4572000" y="3657600"/>
            <a:ext cx="7040880" cy="914400"/>
          </a:xfrm>
          <a:prstGeom prst="rect">
            <a:avLst/>
          </a:prstGeom>
          <a:noFill/>
          <a:ln/>
        </p:spPr>
        <p:txBody>
          <a:bodyPr wrap="square" lIns="0" tIns="0" rIns="0" bIns="0" rtlCol="0" anchor="t"/>
          <a:lstStyle/>
          <a:p>
            <a:pPr indent="0" marL="0">
              <a:buNone/>
            </a:pPr>
            <a:r>
              <a:rPr lang="en-US" sz="1500" b="1" dirty="0">
                <a:solidFill>
                  <a:srgbClr val="F0EF96"/>
                </a:solidFill>
                <a:latin typeface="Arial" pitchFamily="34" charset="0"/>
                <a:ea typeface="Arial" pitchFamily="34" charset="-122"/>
                <a:cs typeface="Arial" pitchFamily="34" charset="-120"/>
              </a:rPr>
              <a:t>Objectif  </a:t>
            </a:r>
            <a:pPr indent="0" marL="0">
              <a:buNone/>
            </a:pPr>
            <a:r>
              <a:rPr lang="en-US" sz="1500" dirty="0">
                <a:solidFill>
                  <a:srgbClr val="FFFFFF"/>
                </a:solidFill>
                <a:latin typeface="Arial" pitchFamily="34" charset="0"/>
                <a:ea typeface="Arial" pitchFamily="34" charset="-122"/>
                <a:cs typeface="Arial" pitchFamily="34" charset="-120"/>
              </a:rPr>
              <a:t>Consolider les acquis des compétences 2 à 5 par des ateliers issus du quotidien de la collectivité, et évaluer la pratique.</a:t>
            </a:r>
            <a:endParaRPr lang="en-US" sz="1500" dirty="0"/>
          </a:p>
        </p:txBody>
      </p:sp>
      <p:sp>
        <p:nvSpPr>
          <p:cNvPr id="6" name="Shape 4"/>
          <p:cNvSpPr/>
          <p:nvPr/>
        </p:nvSpPr>
        <p:spPr>
          <a:xfrm>
            <a:off x="4572000" y="4754880"/>
            <a:ext cx="1463040" cy="411480"/>
          </a:xfrm>
          <a:prstGeom prst="roundRect">
            <a:avLst>
              <a:gd name="adj" fmla="val 48889"/>
            </a:avLst>
          </a:prstGeom>
          <a:solidFill>
            <a:srgbClr val="F0EF96"/>
          </a:solidFill>
          <a:ln w="12700">
            <a:solidFill>
              <a:srgbClr val="F0EF96"/>
            </a:solidFill>
            <a:prstDash val="solid"/>
          </a:ln>
        </p:spPr>
      </p:sp>
      <p:sp>
        <p:nvSpPr>
          <p:cNvPr id="7" name="Text 5"/>
          <p:cNvSpPr txBox="1"/>
          <p:nvPr/>
        </p:nvSpPr>
        <p:spPr>
          <a:xfrm>
            <a:off x="4572000" y="4754880"/>
            <a:ext cx="1463040" cy="411480"/>
          </a:xfrm>
          <a:prstGeom prst="rect">
            <a:avLst/>
          </a:prstGeom>
          <a:noFill/>
          <a:ln/>
        </p:spPr>
        <p:txBody>
          <a:bodyPr wrap="square" lIns="0" tIns="0" rIns="0" bIns="0" rtlCol="0" anchor="ctr"/>
          <a:lstStyle/>
          <a:p>
            <a:pPr algn="ctr" indent="0" marL="0">
              <a:buNone/>
            </a:pPr>
            <a:r>
              <a:rPr lang="en-US" sz="1400" b="1" dirty="0">
                <a:solidFill>
                  <a:srgbClr val="0A032B"/>
                </a:solidFill>
                <a:latin typeface="Montserrat" pitchFamily="34" charset="0"/>
                <a:ea typeface="Montserrat" pitchFamily="34" charset="-122"/>
                <a:cs typeface="Montserrat" pitchFamily="34" charset="-120"/>
              </a:rPr>
              <a:t>40 min</a:t>
            </a:r>
            <a:endParaRPr lang="en-US" sz="1400" dirty="0"/>
          </a:p>
        </p:txBody>
      </p:sp>
      <p:sp>
        <p:nvSpPr>
          <p:cNvPr id="8" name="Text 6"/>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DCDAEA"/>
                </a:solidFill>
                <a:latin typeface="Arial" pitchFamily="34" charset="0"/>
                <a:ea typeface="Arial" pitchFamily="34" charset="-122"/>
                <a:cs typeface="Arial" pitchFamily="34" charset="-120"/>
              </a:rPr>
              <a:t>Gestes et postures de l'élu</a:t>
            </a:r>
            <a:endParaRPr lang="en-US" sz="900" dirty="0"/>
          </a:p>
        </p:txBody>
      </p:sp>
      <p:pic>
        <p:nvPicPr>
          <p:cNvPr id="9" name="Image 0" descr="logo_dark.png">    </p:cNvPr>
          <p:cNvPicPr>
            <a:picLocks noChangeAspect="1"/>
          </p:cNvPicPr>
          <p:nvPr/>
        </p:nvPicPr>
        <p:blipFill>
          <a:blip r:embed="rId1"/>
          <a:stretch>
            <a:fillRect/>
          </a:stretch>
        </p:blipFill>
        <p:spPr>
          <a:xfrm>
            <a:off x="10682935" y="6236208"/>
            <a:ext cx="960120" cy="398441"/>
          </a:xfrm>
          <a:prstGeom prst="rect">
            <a:avLst/>
          </a:prstGeom>
        </p:spPr>
      </p:pic>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DCDAEA"/>
                </a:solidFill>
                <a:latin typeface="Arial"/>
                <a:ea typeface="Arial"/>
                <a:cs typeface="Arial"/>
              </a:defRPr>
            </a:lvl1pPr>
          </a:lstStyle>
          <a:p>
            <a:pPr algn="l"/>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235440" cy="685800"/>
          </a:xfrm>
          <a:prstGeom prst="rect">
            <a:avLst/>
          </a:prstGeom>
          <a:noFill/>
          <a:ln/>
        </p:spPr>
        <p:txBody>
          <a:bodyPr wrap="square" lIns="0" tIns="0" rIns="0" bIns="0" rtlCol="0" anchor="ctr"/>
          <a:lstStyle/>
          <a:p>
            <a:pPr indent="0" marL="0">
              <a:buNone/>
            </a:pPr>
            <a:r>
              <a:rPr lang="en-US" sz="2800" b="1" dirty="0">
                <a:solidFill>
                  <a:srgbClr val="0A032B"/>
                </a:solidFill>
                <a:latin typeface="Montserrat" pitchFamily="34" charset="0"/>
                <a:ea typeface="Montserrat" pitchFamily="34" charset="-122"/>
                <a:cs typeface="Montserrat" pitchFamily="34" charset="-120"/>
              </a:rPr>
              <a:t>Trois ateliers issus du quotidien de la collectivité</a:t>
            </a:r>
            <a:endParaRPr lang="en-US" sz="2800" dirty="0"/>
          </a:p>
        </p:txBody>
      </p:sp>
      <p:sp>
        <p:nvSpPr>
          <p:cNvPr id="3" name="Text 1"/>
          <p:cNvSpPr txBox="1"/>
          <p:nvPr/>
        </p:nvSpPr>
        <p:spPr>
          <a:xfrm>
            <a:off x="548640" y="1024128"/>
            <a:ext cx="9235440" cy="365760"/>
          </a:xfrm>
          <a:prstGeom prst="rect">
            <a:avLst/>
          </a:prstGeom>
          <a:noFill/>
          <a:ln/>
        </p:spPr>
        <p:txBody>
          <a:bodyPr wrap="square" lIns="0" tIns="0" rIns="0" bIns="0" rtlCol="0" anchor="ctr"/>
          <a:lstStyle/>
          <a:p>
            <a:pPr indent="0" marL="0">
              <a:buNone/>
            </a:pPr>
            <a:r>
              <a:rPr lang="en-US" sz="1400" i="1" dirty="0">
                <a:solidFill>
                  <a:srgbClr val="5E5A78"/>
                </a:solidFill>
                <a:latin typeface="Arial" pitchFamily="34" charset="0"/>
                <a:ea typeface="Arial" pitchFamily="34" charset="-122"/>
                <a:cs typeface="Arial" pitchFamily="34" charset="-120"/>
              </a:rPr>
              <a:t>Rotation : 3 ateliers de 10 minutes, puis 10 minutes de débriefing</a:t>
            </a:r>
            <a:endParaRPr lang="en-US" sz="1400" dirty="0"/>
          </a:p>
        </p:txBody>
      </p:sp>
      <p:sp>
        <p:nvSpPr>
          <p:cNvPr id="4" name="Shape 2"/>
          <p:cNvSpPr/>
          <p:nvPr/>
        </p:nvSpPr>
        <p:spPr>
          <a:xfrm>
            <a:off x="10042855" y="530352"/>
            <a:ext cx="1600200" cy="347472"/>
          </a:xfrm>
          <a:prstGeom prst="roundRect">
            <a:avLst>
              <a:gd name="adj" fmla="val 50000"/>
            </a:avLst>
          </a:prstGeom>
          <a:solidFill>
            <a:srgbClr val="F0EF96"/>
          </a:solidFill>
          <a:ln w="12700">
            <a:solidFill>
              <a:srgbClr val="F0EF96"/>
            </a:solidFill>
            <a:prstDash val="solid"/>
          </a:ln>
        </p:spPr>
      </p:sp>
      <p:sp>
        <p:nvSpPr>
          <p:cNvPr id="5" name="Text 3"/>
          <p:cNvSpPr txBox="1"/>
          <p:nvPr/>
        </p:nvSpPr>
        <p:spPr>
          <a:xfrm>
            <a:off x="10042855" y="530352"/>
            <a:ext cx="1600200" cy="347472"/>
          </a:xfrm>
          <a:prstGeom prst="rect">
            <a:avLst/>
          </a:prstGeom>
          <a:noFill/>
          <a:ln/>
        </p:spPr>
        <p:txBody>
          <a:bodyPr wrap="square" lIns="0" tIns="0" rIns="0" bIns="0" rtlCol="0" anchor="ctr"/>
          <a:lstStyle/>
          <a:p>
            <a:pPr algn="ctr" indent="0" marL="0">
              <a:buNone/>
            </a:pPr>
            <a:r>
              <a:rPr lang="en-US" sz="1100" b="1" spc="200" kern="0" dirty="0">
                <a:solidFill>
                  <a:srgbClr val="0A032B"/>
                </a:solidFill>
                <a:latin typeface="Montserrat" pitchFamily="34" charset="0"/>
                <a:ea typeface="Montserrat" pitchFamily="34" charset="-122"/>
                <a:cs typeface="Montserrat" pitchFamily="34" charset="-120"/>
              </a:rPr>
              <a:t>PRATIQUE</a:t>
            </a:r>
            <a:endParaRPr lang="en-US" sz="1100" dirty="0"/>
          </a:p>
        </p:txBody>
      </p:sp>
      <p:sp>
        <p:nvSpPr>
          <p:cNvPr id="6" name="Text 4"/>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5E5A78"/>
                </a:solidFill>
                <a:latin typeface="Arial" pitchFamily="34" charset="0"/>
                <a:ea typeface="Arial" pitchFamily="34" charset="-122"/>
                <a:cs typeface="Arial" pitchFamily="34" charset="-120"/>
              </a:rPr>
              <a:t>Gestes et postures de l'élu  ·  Séquence 7</a:t>
            </a:r>
            <a:endParaRPr lang="en-US" sz="900" dirty="0"/>
          </a:p>
        </p:txBody>
      </p:sp>
      <p:pic>
        <p:nvPicPr>
          <p:cNvPr id="7" name="Image 0" descr="logo_light.png">    </p:cNvPr>
          <p:cNvPicPr>
            <a:picLocks noChangeAspect="1"/>
          </p:cNvPicPr>
          <p:nvPr/>
        </p:nvPicPr>
        <p:blipFill>
          <a:blip r:embed="rId1"/>
          <a:stretch>
            <a:fillRect/>
          </a:stretch>
        </p:blipFill>
        <p:spPr>
          <a:xfrm>
            <a:off x="10682935" y="6236208"/>
            <a:ext cx="960120" cy="398441"/>
          </a:xfrm>
          <a:prstGeom prst="rect">
            <a:avLst/>
          </a:prstGeom>
        </p:spPr>
      </p:pic>
      <p:sp>
        <p:nvSpPr>
          <p:cNvPr id="8" name="Shape 5"/>
          <p:cNvSpPr/>
          <p:nvPr/>
        </p:nvSpPr>
        <p:spPr>
          <a:xfrm>
            <a:off x="548640" y="1600200"/>
            <a:ext cx="3515258" cy="4434840"/>
          </a:xfrm>
          <a:prstGeom prst="roundRect">
            <a:avLst>
              <a:gd name="adj" fmla="val 2081"/>
            </a:avLst>
          </a:prstGeom>
          <a:solidFill>
            <a:srgbClr val="EEEDF5"/>
          </a:solidFill>
          <a:ln w="12700">
            <a:solidFill>
              <a:srgbClr val="EEEDF5"/>
            </a:solidFill>
            <a:prstDash val="solid"/>
          </a:ln>
        </p:spPr>
      </p:sp>
      <p:sp>
        <p:nvSpPr>
          <p:cNvPr id="9" name="Shape 6"/>
          <p:cNvSpPr/>
          <p:nvPr/>
        </p:nvSpPr>
        <p:spPr>
          <a:xfrm>
            <a:off x="822960" y="1874520"/>
            <a:ext cx="822960" cy="822960"/>
          </a:xfrm>
          <a:prstGeom prst="roundRect">
            <a:avLst>
              <a:gd name="adj" fmla="val 11111"/>
            </a:avLst>
          </a:prstGeom>
          <a:solidFill>
            <a:srgbClr val="F0EF96"/>
          </a:solidFill>
          <a:ln w="12700">
            <a:solidFill>
              <a:srgbClr val="F0EF96"/>
            </a:solidFill>
            <a:prstDash val="solid"/>
          </a:ln>
        </p:spPr>
      </p:sp>
      <p:sp>
        <p:nvSpPr>
          <p:cNvPr id="10" name="Text 7"/>
          <p:cNvSpPr txBox="1"/>
          <p:nvPr/>
        </p:nvSpPr>
        <p:spPr>
          <a:xfrm>
            <a:off x="822960" y="1874520"/>
            <a:ext cx="822960" cy="822960"/>
          </a:xfrm>
          <a:prstGeom prst="rect">
            <a:avLst/>
          </a:prstGeom>
          <a:noFill/>
          <a:ln/>
        </p:spPr>
        <p:txBody>
          <a:bodyPr wrap="square" lIns="0" tIns="0" rIns="0" bIns="0" rtlCol="0" anchor="ctr"/>
          <a:lstStyle/>
          <a:p>
            <a:pPr algn="ctr" indent="0" marL="0">
              <a:buNone/>
            </a:pPr>
            <a:r>
              <a:rPr lang="en-US" sz="3200" b="1" dirty="0">
                <a:solidFill>
                  <a:srgbClr val="0A032B"/>
                </a:solidFill>
                <a:latin typeface="Montserrat" pitchFamily="34" charset="0"/>
                <a:ea typeface="Montserrat" pitchFamily="34" charset="-122"/>
                <a:cs typeface="Montserrat" pitchFamily="34" charset="-120"/>
              </a:rPr>
              <a:t>A</a:t>
            </a:r>
            <a:endParaRPr lang="en-US" sz="3200" dirty="0"/>
          </a:p>
        </p:txBody>
      </p:sp>
      <p:sp>
        <p:nvSpPr>
          <p:cNvPr id="11" name="Shape 8"/>
          <p:cNvSpPr/>
          <p:nvPr/>
        </p:nvSpPr>
        <p:spPr>
          <a:xfrm>
            <a:off x="2966618" y="1874520"/>
            <a:ext cx="822960" cy="822960"/>
          </a:xfrm>
          <a:prstGeom prst="ellipse">
            <a:avLst/>
          </a:prstGeom>
          <a:solidFill>
            <a:srgbClr val="0A032B"/>
          </a:solidFill>
          <a:ln w="12700">
            <a:solidFill>
              <a:srgbClr val="0A032B"/>
            </a:solidFill>
            <a:prstDash val="solid"/>
          </a:ln>
        </p:spPr>
      </p:sp>
      <p:pic>
        <p:nvPicPr>
          <p:cNvPr id="12" name="Image 1" descr="preencoded.png">    </p:cNvPr>
          <p:cNvPicPr>
            <a:picLocks noChangeAspect="1"/>
          </p:cNvPicPr>
          <p:nvPr/>
        </p:nvPicPr>
        <p:blipFill>
          <a:blip r:embed="rId2"/>
          <a:stretch>
            <a:fillRect/>
          </a:stretch>
        </p:blipFill>
        <p:spPr>
          <a:xfrm>
            <a:off x="3172358" y="2080260"/>
            <a:ext cx="411480" cy="411480"/>
          </a:xfrm>
          <a:prstGeom prst="rect">
            <a:avLst/>
          </a:prstGeom>
        </p:spPr>
      </p:pic>
      <p:sp>
        <p:nvSpPr>
          <p:cNvPr id="13" name="Text 9"/>
          <p:cNvSpPr txBox="1"/>
          <p:nvPr/>
        </p:nvSpPr>
        <p:spPr>
          <a:xfrm>
            <a:off x="822960" y="2926080"/>
            <a:ext cx="2966618" cy="457200"/>
          </a:xfrm>
          <a:prstGeom prst="rect">
            <a:avLst/>
          </a:prstGeom>
          <a:noFill/>
          <a:ln/>
        </p:spPr>
        <p:txBody>
          <a:bodyPr wrap="square" lIns="0" tIns="0" rIns="0" bIns="0" rtlCol="0" anchor="ctr"/>
          <a:lstStyle/>
          <a:p>
            <a:pPr indent="0" marL="0">
              <a:buNone/>
            </a:pPr>
            <a:r>
              <a:rPr lang="en-US" sz="1600" b="1" dirty="0">
                <a:solidFill>
                  <a:srgbClr val="0A032B"/>
                </a:solidFill>
                <a:latin typeface="Montserrat" pitchFamily="34" charset="0"/>
                <a:ea typeface="Montserrat" pitchFamily="34" charset="-122"/>
                <a:cs typeface="Montserrat" pitchFamily="34" charset="-120"/>
              </a:rPr>
              <a:t>Atelier A · Mobilier</a:t>
            </a:r>
            <a:endParaRPr lang="en-US" sz="1600" dirty="0"/>
          </a:p>
        </p:txBody>
      </p:sp>
      <p:sp>
        <p:nvSpPr>
          <p:cNvPr id="14" name="Text 10"/>
          <p:cNvSpPr txBox="1"/>
          <p:nvPr/>
        </p:nvSpPr>
        <p:spPr>
          <a:xfrm>
            <a:off x="822960" y="3520440"/>
            <a:ext cx="2966618" cy="2286000"/>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rgbClr val="35305C"/>
                </a:solidFill>
                <a:latin typeface="Arial" pitchFamily="34" charset="0"/>
                <a:ea typeface="Arial" pitchFamily="34" charset="-122"/>
                <a:cs typeface="Arial" pitchFamily="34" charset="-120"/>
              </a:rPr>
              <a:t>Déplier, déplacer et ranger des tables</a:t>
            </a:r>
            <a:endParaRPr lang="en-US" sz="1350" dirty="0"/>
          </a:p>
          <a:p>
            <a:pPr marL="177800" indent="-177800">
              <a:spcAft>
                <a:spcPts val="800"/>
              </a:spcAft>
              <a:buSzPct val="100000"/>
              <a:buChar char="•"/>
            </a:pPr>
            <a:r>
              <a:rPr lang="en-US" sz="1350" dirty="0">
                <a:solidFill>
                  <a:srgbClr val="35305C"/>
                </a:solidFill>
                <a:latin typeface="Arial" pitchFamily="34" charset="0"/>
                <a:ea typeface="Arial" pitchFamily="34" charset="-122"/>
                <a:cs typeface="Arial" pitchFamily="34" charset="-120"/>
              </a:rPr>
              <a:t>Empiler et transporter des chaises</a:t>
            </a:r>
            <a:endParaRPr lang="en-US" sz="1350" dirty="0"/>
          </a:p>
          <a:p>
            <a:pPr marL="177800" indent="-177800">
              <a:spcAft>
                <a:spcPts val="800"/>
              </a:spcAft>
              <a:buSzPct val="100000"/>
              <a:buChar char="•"/>
            </a:pPr>
            <a:r>
              <a:rPr lang="en-US" sz="1350" dirty="0">
                <a:solidFill>
                  <a:srgbClr val="35305C"/>
                </a:solidFill>
                <a:latin typeface="Arial" pitchFamily="34" charset="0"/>
                <a:ea typeface="Arial" pitchFamily="34" charset="-122"/>
                <a:cs typeface="Arial" pitchFamily="34" charset="-120"/>
              </a:rPr>
              <a:t>Installer une salle de conseil ou un bureau de vote</a:t>
            </a:r>
            <a:endParaRPr lang="en-US" sz="1350" dirty="0"/>
          </a:p>
        </p:txBody>
      </p:sp>
      <p:sp>
        <p:nvSpPr>
          <p:cNvPr id="15" name="Shape 11"/>
          <p:cNvSpPr/>
          <p:nvPr/>
        </p:nvSpPr>
        <p:spPr>
          <a:xfrm>
            <a:off x="4338218" y="1600200"/>
            <a:ext cx="3515258" cy="4434840"/>
          </a:xfrm>
          <a:prstGeom prst="roundRect">
            <a:avLst>
              <a:gd name="adj" fmla="val 2081"/>
            </a:avLst>
          </a:prstGeom>
          <a:solidFill>
            <a:srgbClr val="EEEDF5"/>
          </a:solidFill>
          <a:ln w="12700">
            <a:solidFill>
              <a:srgbClr val="EEEDF5"/>
            </a:solidFill>
            <a:prstDash val="solid"/>
          </a:ln>
        </p:spPr>
      </p:sp>
      <p:sp>
        <p:nvSpPr>
          <p:cNvPr id="16" name="Shape 12"/>
          <p:cNvSpPr/>
          <p:nvPr/>
        </p:nvSpPr>
        <p:spPr>
          <a:xfrm>
            <a:off x="4612538" y="1874520"/>
            <a:ext cx="822960" cy="822960"/>
          </a:xfrm>
          <a:prstGeom prst="roundRect">
            <a:avLst>
              <a:gd name="adj" fmla="val 11111"/>
            </a:avLst>
          </a:prstGeom>
          <a:solidFill>
            <a:srgbClr val="F0EF96"/>
          </a:solidFill>
          <a:ln w="12700">
            <a:solidFill>
              <a:srgbClr val="F0EF96"/>
            </a:solidFill>
            <a:prstDash val="solid"/>
          </a:ln>
        </p:spPr>
      </p:sp>
      <p:sp>
        <p:nvSpPr>
          <p:cNvPr id="17" name="Text 13"/>
          <p:cNvSpPr txBox="1"/>
          <p:nvPr/>
        </p:nvSpPr>
        <p:spPr>
          <a:xfrm>
            <a:off x="4612538" y="1874520"/>
            <a:ext cx="822960" cy="822960"/>
          </a:xfrm>
          <a:prstGeom prst="rect">
            <a:avLst/>
          </a:prstGeom>
          <a:noFill/>
          <a:ln/>
        </p:spPr>
        <p:txBody>
          <a:bodyPr wrap="square" lIns="0" tIns="0" rIns="0" bIns="0" rtlCol="0" anchor="ctr"/>
          <a:lstStyle/>
          <a:p>
            <a:pPr algn="ctr" indent="0" marL="0">
              <a:buNone/>
            </a:pPr>
            <a:r>
              <a:rPr lang="en-US" sz="3200" b="1" dirty="0">
                <a:solidFill>
                  <a:srgbClr val="0A032B"/>
                </a:solidFill>
                <a:latin typeface="Montserrat" pitchFamily="34" charset="0"/>
                <a:ea typeface="Montserrat" pitchFamily="34" charset="-122"/>
                <a:cs typeface="Montserrat" pitchFamily="34" charset="-120"/>
              </a:rPr>
              <a:t>B</a:t>
            </a:r>
            <a:endParaRPr lang="en-US" sz="3200" dirty="0"/>
          </a:p>
        </p:txBody>
      </p:sp>
      <p:sp>
        <p:nvSpPr>
          <p:cNvPr id="18" name="Shape 14"/>
          <p:cNvSpPr/>
          <p:nvPr/>
        </p:nvSpPr>
        <p:spPr>
          <a:xfrm>
            <a:off x="6756197" y="1874520"/>
            <a:ext cx="822960" cy="822960"/>
          </a:xfrm>
          <a:prstGeom prst="ellipse">
            <a:avLst/>
          </a:prstGeom>
          <a:solidFill>
            <a:srgbClr val="0A032B"/>
          </a:solidFill>
          <a:ln w="12700">
            <a:solidFill>
              <a:srgbClr val="0A032B"/>
            </a:solidFill>
            <a:prstDash val="solid"/>
          </a:ln>
        </p:spPr>
      </p:sp>
      <p:pic>
        <p:nvPicPr>
          <p:cNvPr id="19" name="Image 2" descr="preencoded.png">    </p:cNvPr>
          <p:cNvPicPr>
            <a:picLocks noChangeAspect="1"/>
          </p:cNvPicPr>
          <p:nvPr/>
        </p:nvPicPr>
        <p:blipFill>
          <a:blip r:embed="rId3"/>
          <a:stretch>
            <a:fillRect/>
          </a:stretch>
        </p:blipFill>
        <p:spPr>
          <a:xfrm>
            <a:off x="6961937" y="2080260"/>
            <a:ext cx="411480" cy="411480"/>
          </a:xfrm>
          <a:prstGeom prst="rect">
            <a:avLst/>
          </a:prstGeom>
        </p:spPr>
      </p:pic>
      <p:sp>
        <p:nvSpPr>
          <p:cNvPr id="20" name="Text 15"/>
          <p:cNvSpPr txBox="1"/>
          <p:nvPr/>
        </p:nvSpPr>
        <p:spPr>
          <a:xfrm>
            <a:off x="4612538" y="2926080"/>
            <a:ext cx="2966618" cy="457200"/>
          </a:xfrm>
          <a:prstGeom prst="rect">
            <a:avLst/>
          </a:prstGeom>
          <a:noFill/>
          <a:ln/>
        </p:spPr>
        <p:txBody>
          <a:bodyPr wrap="square" lIns="0" tIns="0" rIns="0" bIns="0" rtlCol="0" anchor="ctr"/>
          <a:lstStyle/>
          <a:p>
            <a:pPr indent="0" marL="0">
              <a:buNone/>
            </a:pPr>
            <a:r>
              <a:rPr lang="en-US" sz="1600" b="1" dirty="0">
                <a:solidFill>
                  <a:srgbClr val="0A032B"/>
                </a:solidFill>
                <a:latin typeface="Montserrat" pitchFamily="34" charset="0"/>
                <a:ea typeface="Montserrat" pitchFamily="34" charset="-122"/>
                <a:cs typeface="Montserrat" pitchFamily="34" charset="-120"/>
              </a:rPr>
              <a:t>Atelier B · Matériel de réunion</a:t>
            </a:r>
            <a:endParaRPr lang="en-US" sz="1600" dirty="0"/>
          </a:p>
        </p:txBody>
      </p:sp>
      <p:sp>
        <p:nvSpPr>
          <p:cNvPr id="21" name="Text 16"/>
          <p:cNvSpPr txBox="1"/>
          <p:nvPr/>
        </p:nvSpPr>
        <p:spPr>
          <a:xfrm>
            <a:off x="4612538" y="3520440"/>
            <a:ext cx="2966618" cy="2286000"/>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rgbClr val="35305C"/>
                </a:solidFill>
                <a:latin typeface="Arial" pitchFamily="34" charset="0"/>
                <a:ea typeface="Arial" pitchFamily="34" charset="-122"/>
                <a:cs typeface="Arial" pitchFamily="34" charset="-120"/>
              </a:rPr>
              <a:t>Cartons d'archives et de documents</a:t>
            </a:r>
            <a:endParaRPr lang="en-US" sz="1350" dirty="0"/>
          </a:p>
          <a:p>
            <a:pPr marL="177800" indent="-177800">
              <a:spcAft>
                <a:spcPts val="800"/>
              </a:spcAft>
              <a:buSzPct val="100000"/>
              <a:buChar char="•"/>
            </a:pPr>
            <a:r>
              <a:rPr lang="en-US" sz="1350" dirty="0">
                <a:solidFill>
                  <a:srgbClr val="35305C"/>
                </a:solidFill>
                <a:latin typeface="Arial" pitchFamily="34" charset="0"/>
                <a:ea typeface="Arial" pitchFamily="34" charset="-122"/>
                <a:cs typeface="Arial" pitchFamily="34" charset="-120"/>
              </a:rPr>
              <a:t>Urnes, isoloirs, pupitre, vidéoprojecteur</a:t>
            </a:r>
            <a:endParaRPr lang="en-US" sz="1350" dirty="0"/>
          </a:p>
          <a:p>
            <a:pPr marL="177800" indent="-177800">
              <a:spcAft>
                <a:spcPts val="800"/>
              </a:spcAft>
              <a:buSzPct val="100000"/>
              <a:buChar char="•"/>
            </a:pPr>
            <a:r>
              <a:rPr lang="en-US" sz="1350" dirty="0">
                <a:solidFill>
                  <a:srgbClr val="35305C"/>
                </a:solidFill>
                <a:latin typeface="Arial" pitchFamily="34" charset="0"/>
                <a:ea typeface="Arial" pitchFamily="34" charset="-122"/>
                <a:cs typeface="Arial" pitchFamily="34" charset="-120"/>
              </a:rPr>
              <a:t>Charger et décharger un coffre de voiture</a:t>
            </a:r>
            <a:endParaRPr lang="en-US" sz="1350" dirty="0"/>
          </a:p>
        </p:txBody>
      </p:sp>
      <p:sp>
        <p:nvSpPr>
          <p:cNvPr id="22" name="Shape 17"/>
          <p:cNvSpPr/>
          <p:nvPr/>
        </p:nvSpPr>
        <p:spPr>
          <a:xfrm>
            <a:off x="8127797" y="1600200"/>
            <a:ext cx="3515258" cy="4434840"/>
          </a:xfrm>
          <a:prstGeom prst="roundRect">
            <a:avLst>
              <a:gd name="adj" fmla="val 2081"/>
            </a:avLst>
          </a:prstGeom>
          <a:solidFill>
            <a:srgbClr val="EEEDF5"/>
          </a:solidFill>
          <a:ln w="12700">
            <a:solidFill>
              <a:srgbClr val="EEEDF5"/>
            </a:solidFill>
            <a:prstDash val="solid"/>
          </a:ln>
        </p:spPr>
      </p:sp>
      <p:sp>
        <p:nvSpPr>
          <p:cNvPr id="23" name="Shape 18"/>
          <p:cNvSpPr/>
          <p:nvPr/>
        </p:nvSpPr>
        <p:spPr>
          <a:xfrm>
            <a:off x="8402117" y="1874520"/>
            <a:ext cx="822960" cy="822960"/>
          </a:xfrm>
          <a:prstGeom prst="roundRect">
            <a:avLst>
              <a:gd name="adj" fmla="val 11111"/>
            </a:avLst>
          </a:prstGeom>
          <a:solidFill>
            <a:srgbClr val="F0EF96"/>
          </a:solidFill>
          <a:ln w="12700">
            <a:solidFill>
              <a:srgbClr val="F0EF96"/>
            </a:solidFill>
            <a:prstDash val="solid"/>
          </a:ln>
        </p:spPr>
      </p:sp>
      <p:sp>
        <p:nvSpPr>
          <p:cNvPr id="24" name="Text 19"/>
          <p:cNvSpPr txBox="1"/>
          <p:nvPr/>
        </p:nvSpPr>
        <p:spPr>
          <a:xfrm>
            <a:off x="8402117" y="1874520"/>
            <a:ext cx="822960" cy="822960"/>
          </a:xfrm>
          <a:prstGeom prst="rect">
            <a:avLst/>
          </a:prstGeom>
          <a:noFill/>
          <a:ln/>
        </p:spPr>
        <p:txBody>
          <a:bodyPr wrap="square" lIns="0" tIns="0" rIns="0" bIns="0" rtlCol="0" anchor="ctr"/>
          <a:lstStyle/>
          <a:p>
            <a:pPr algn="ctr" indent="0" marL="0">
              <a:buNone/>
            </a:pPr>
            <a:r>
              <a:rPr lang="en-US" sz="3200" b="1" dirty="0">
                <a:solidFill>
                  <a:srgbClr val="0A032B"/>
                </a:solidFill>
                <a:latin typeface="Montserrat" pitchFamily="34" charset="0"/>
                <a:ea typeface="Montserrat" pitchFamily="34" charset="-122"/>
                <a:cs typeface="Montserrat" pitchFamily="34" charset="-120"/>
              </a:rPr>
              <a:t>C</a:t>
            </a:r>
            <a:endParaRPr lang="en-US" sz="3200" dirty="0"/>
          </a:p>
        </p:txBody>
      </p:sp>
      <p:sp>
        <p:nvSpPr>
          <p:cNvPr id="25" name="Shape 20"/>
          <p:cNvSpPr/>
          <p:nvPr/>
        </p:nvSpPr>
        <p:spPr>
          <a:xfrm>
            <a:off x="10545775" y="1874520"/>
            <a:ext cx="822960" cy="822960"/>
          </a:xfrm>
          <a:prstGeom prst="ellipse">
            <a:avLst/>
          </a:prstGeom>
          <a:solidFill>
            <a:srgbClr val="0A032B"/>
          </a:solidFill>
          <a:ln w="12700">
            <a:solidFill>
              <a:srgbClr val="0A032B"/>
            </a:solidFill>
            <a:prstDash val="solid"/>
          </a:ln>
        </p:spPr>
      </p:sp>
      <p:pic>
        <p:nvPicPr>
          <p:cNvPr id="26" name="Image 3" descr="preencoded.png">    </p:cNvPr>
          <p:cNvPicPr>
            <a:picLocks noChangeAspect="1"/>
          </p:cNvPicPr>
          <p:nvPr/>
        </p:nvPicPr>
        <p:blipFill>
          <a:blip r:embed="rId4"/>
          <a:stretch>
            <a:fillRect/>
          </a:stretch>
        </p:blipFill>
        <p:spPr>
          <a:xfrm>
            <a:off x="10751515" y="2080260"/>
            <a:ext cx="411480" cy="411480"/>
          </a:xfrm>
          <a:prstGeom prst="rect">
            <a:avLst/>
          </a:prstGeom>
        </p:spPr>
      </p:pic>
      <p:sp>
        <p:nvSpPr>
          <p:cNvPr id="27" name="Text 21"/>
          <p:cNvSpPr txBox="1"/>
          <p:nvPr/>
        </p:nvSpPr>
        <p:spPr>
          <a:xfrm>
            <a:off x="8402117" y="2926080"/>
            <a:ext cx="2966618" cy="457200"/>
          </a:xfrm>
          <a:prstGeom prst="rect">
            <a:avLst/>
          </a:prstGeom>
          <a:noFill/>
          <a:ln/>
        </p:spPr>
        <p:txBody>
          <a:bodyPr wrap="square" lIns="0" tIns="0" rIns="0" bIns="0" rtlCol="0" anchor="ctr"/>
          <a:lstStyle/>
          <a:p>
            <a:pPr indent="0" marL="0">
              <a:buNone/>
            </a:pPr>
            <a:r>
              <a:rPr lang="en-US" sz="1600" b="1" dirty="0">
                <a:solidFill>
                  <a:srgbClr val="0A032B"/>
                </a:solidFill>
                <a:latin typeface="Montserrat" pitchFamily="34" charset="0"/>
                <a:ea typeface="Montserrat" pitchFamily="34" charset="-122"/>
                <a:cs typeface="Montserrat" pitchFamily="34" charset="-120"/>
              </a:rPr>
              <a:t>Atelier C · Charges encombrantes</a:t>
            </a:r>
            <a:endParaRPr lang="en-US" sz="1600" dirty="0"/>
          </a:p>
        </p:txBody>
      </p:sp>
      <p:sp>
        <p:nvSpPr>
          <p:cNvPr id="28" name="Text 22"/>
          <p:cNvSpPr txBox="1"/>
          <p:nvPr/>
        </p:nvSpPr>
        <p:spPr>
          <a:xfrm>
            <a:off x="8402117" y="3520440"/>
            <a:ext cx="2966618" cy="2286000"/>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rgbClr val="35305C"/>
                </a:solidFill>
                <a:latin typeface="Arial" pitchFamily="34" charset="0"/>
                <a:ea typeface="Arial" pitchFamily="34" charset="-122"/>
                <a:cs typeface="Arial" pitchFamily="34" charset="-120"/>
              </a:rPr>
              <a:t>Barrières, grilles d'exposition, panneaux</a:t>
            </a:r>
            <a:endParaRPr lang="en-US" sz="1350" dirty="0"/>
          </a:p>
          <a:p>
            <a:pPr marL="177800" indent="-177800">
              <a:spcAft>
                <a:spcPts val="800"/>
              </a:spcAft>
              <a:buSzPct val="100000"/>
              <a:buChar char="•"/>
            </a:pPr>
            <a:r>
              <a:rPr lang="en-US" sz="1350" dirty="0">
                <a:solidFill>
                  <a:srgbClr val="35305C"/>
                </a:solidFill>
                <a:latin typeface="Arial" pitchFamily="34" charset="0"/>
                <a:ea typeface="Arial" pitchFamily="34" charset="-122"/>
                <a:cs typeface="Arial" pitchFamily="34" charset="-120"/>
              </a:rPr>
              <a:t>Barnum ou tente de réception</a:t>
            </a:r>
            <a:endParaRPr lang="en-US" sz="1350" dirty="0"/>
          </a:p>
          <a:p>
            <a:pPr marL="177800" indent="-177800">
              <a:spcAft>
                <a:spcPts val="800"/>
              </a:spcAft>
              <a:buSzPct val="100000"/>
              <a:buChar char="•"/>
            </a:pPr>
            <a:r>
              <a:rPr lang="en-US" sz="1350" dirty="0">
                <a:solidFill>
                  <a:srgbClr val="35305C"/>
                </a:solidFill>
                <a:latin typeface="Arial" pitchFamily="34" charset="0"/>
                <a:ea typeface="Arial" pitchFamily="34" charset="-122"/>
                <a:cs typeface="Arial" pitchFamily="34" charset="-120"/>
              </a:rPr>
              <a:t>Plantes et jardinières pour une cérémonie</a:t>
            </a:r>
            <a:endParaRPr lang="en-US" sz="1350" dirty="0"/>
          </a:p>
        </p:txBody>
      </p:sp>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14800" cy="6858000"/>
          </a:xfrm>
          <a:prstGeom prst="rect">
            <a:avLst/>
          </a:prstGeom>
          <a:solidFill>
            <a:srgbClr val="F0EF96"/>
          </a:solidFill>
          <a:ln w="12700">
            <a:solidFill>
              <a:srgbClr val="F0EF96"/>
            </a:solidFill>
            <a:prstDash val="solid"/>
          </a:ln>
        </p:spPr>
      </p:sp>
      <p:sp>
        <p:nvSpPr>
          <p:cNvPr id="3" name="Shape 1"/>
          <p:cNvSpPr/>
          <p:nvPr/>
        </p:nvSpPr>
        <p:spPr>
          <a:xfrm>
            <a:off x="548640" y="502920"/>
            <a:ext cx="1600200" cy="347472"/>
          </a:xfrm>
          <a:prstGeom prst="roundRect">
            <a:avLst>
              <a:gd name="adj" fmla="val 50000"/>
            </a:avLst>
          </a:prstGeom>
          <a:solidFill>
            <a:srgbClr val="F0EF96"/>
          </a:solidFill>
          <a:ln w="12700">
            <a:solidFill>
              <a:srgbClr val="F0EF96"/>
            </a:solidFill>
            <a:prstDash val="solid"/>
          </a:ln>
        </p:spPr>
      </p:sp>
      <p:sp>
        <p:nvSpPr>
          <p:cNvPr id="4" name="Text 2"/>
          <p:cNvSpPr txBox="1"/>
          <p:nvPr/>
        </p:nvSpPr>
        <p:spPr>
          <a:xfrm>
            <a:off x="548640" y="502920"/>
            <a:ext cx="1600200" cy="347472"/>
          </a:xfrm>
          <a:prstGeom prst="rect">
            <a:avLst/>
          </a:prstGeom>
          <a:noFill/>
          <a:ln/>
        </p:spPr>
        <p:txBody>
          <a:bodyPr wrap="square" lIns="0" tIns="0" rIns="0" bIns="0" rtlCol="0" anchor="ctr"/>
          <a:lstStyle/>
          <a:p>
            <a:pPr algn="ctr" indent="0" marL="0">
              <a:buNone/>
            </a:pPr>
            <a:r>
              <a:rPr lang="en-US" sz="1100" b="1" spc="200" kern="0" dirty="0">
                <a:solidFill>
                  <a:srgbClr val="0A032B"/>
                </a:solidFill>
                <a:latin typeface="Montserrat" pitchFamily="34" charset="0"/>
                <a:ea typeface="Montserrat" pitchFamily="34" charset="-122"/>
                <a:cs typeface="Montserrat" pitchFamily="34" charset="-120"/>
              </a:rPr>
              <a:t>PRATIQUE</a:t>
            </a:r>
            <a:endParaRPr lang="en-US" sz="1100" dirty="0"/>
          </a:p>
        </p:txBody>
      </p:sp>
      <p:sp>
        <p:nvSpPr>
          <p:cNvPr id="5" name="Text 3"/>
          <p:cNvSpPr txBox="1"/>
          <p:nvPr/>
        </p:nvSpPr>
        <p:spPr>
          <a:xfrm>
            <a:off x="548640" y="1005840"/>
            <a:ext cx="3108960" cy="365760"/>
          </a:xfrm>
          <a:prstGeom prst="rect">
            <a:avLst/>
          </a:prstGeom>
          <a:noFill/>
          <a:ln/>
        </p:spPr>
        <p:txBody>
          <a:bodyPr wrap="square" lIns="0" tIns="0" rIns="0" bIns="0" rtlCol="0" anchor="ctr"/>
          <a:lstStyle/>
          <a:p>
            <a:pPr indent="0" marL="0">
              <a:buNone/>
            </a:pPr>
            <a:r>
              <a:rPr lang="en-US" sz="1300" b="1" spc="100" kern="0" dirty="0">
                <a:solidFill>
                  <a:srgbClr val="35305C"/>
                </a:solidFill>
                <a:latin typeface="Montserrat" pitchFamily="34" charset="0"/>
                <a:ea typeface="Montserrat" pitchFamily="34" charset="-122"/>
                <a:cs typeface="Montserrat" pitchFamily="34" charset="-120"/>
              </a:rPr>
              <a:t>ATELIERS ENCADRÉS</a:t>
            </a:r>
            <a:endParaRPr lang="en-US" sz="1300" dirty="0"/>
          </a:p>
        </p:txBody>
      </p:sp>
      <p:sp>
        <p:nvSpPr>
          <p:cNvPr id="6" name="Text 4"/>
          <p:cNvSpPr txBox="1"/>
          <p:nvPr/>
        </p:nvSpPr>
        <p:spPr>
          <a:xfrm>
            <a:off x="548640" y="1371600"/>
            <a:ext cx="3200400" cy="1371600"/>
          </a:xfrm>
          <a:prstGeom prst="rect">
            <a:avLst/>
          </a:prstGeom>
          <a:noFill/>
          <a:ln/>
        </p:spPr>
        <p:txBody>
          <a:bodyPr wrap="square" lIns="0" tIns="0" rIns="0" bIns="0" rtlCol="0" anchor="t"/>
          <a:lstStyle/>
          <a:p>
            <a:pPr indent="0" marL="0">
              <a:buNone/>
            </a:pPr>
            <a:r>
              <a:rPr lang="en-US" sz="2400" b="1" dirty="0">
                <a:solidFill>
                  <a:srgbClr val="0A032B"/>
                </a:solidFill>
                <a:latin typeface="Montserrat" pitchFamily="34" charset="0"/>
                <a:ea typeface="Montserrat" pitchFamily="34" charset="-122"/>
                <a:cs typeface="Montserrat" pitchFamily="34" charset="-120"/>
              </a:rPr>
              <a:t>Consignes communes aux ateliers</a:t>
            </a:r>
            <a:endParaRPr lang="en-US" sz="2400" dirty="0"/>
          </a:p>
        </p:txBody>
      </p:sp>
      <p:sp>
        <p:nvSpPr>
          <p:cNvPr id="7" name="Shape 5"/>
          <p:cNvSpPr/>
          <p:nvPr/>
        </p:nvSpPr>
        <p:spPr>
          <a:xfrm>
            <a:off x="548640" y="2971800"/>
            <a:ext cx="457200" cy="457200"/>
          </a:xfrm>
          <a:prstGeom prst="ellipse">
            <a:avLst/>
          </a:prstGeom>
          <a:solidFill>
            <a:srgbClr val="0A032B"/>
          </a:solidFill>
          <a:ln w="12700">
            <a:solidFill>
              <a:srgbClr val="0A032B"/>
            </a:solidFill>
            <a:prstDash val="solid"/>
          </a:ln>
        </p:spPr>
      </p:sp>
      <p:pic>
        <p:nvPicPr>
          <p:cNvPr id="8" name="Image 0" descr="preencoded.png">    </p:cNvPr>
          <p:cNvPicPr>
            <a:picLocks noChangeAspect="1"/>
          </p:cNvPicPr>
          <p:nvPr/>
        </p:nvPicPr>
        <p:blipFill>
          <a:blip r:embed="rId1"/>
          <a:stretch>
            <a:fillRect/>
          </a:stretch>
        </p:blipFill>
        <p:spPr>
          <a:xfrm>
            <a:off x="662940" y="3086100"/>
            <a:ext cx="228600" cy="228600"/>
          </a:xfrm>
          <a:prstGeom prst="rect">
            <a:avLst/>
          </a:prstGeom>
        </p:spPr>
      </p:pic>
      <p:sp>
        <p:nvSpPr>
          <p:cNvPr id="9" name="Text 6"/>
          <p:cNvSpPr txBox="1"/>
          <p:nvPr/>
        </p:nvSpPr>
        <p:spPr>
          <a:xfrm>
            <a:off x="1188720" y="2926080"/>
            <a:ext cx="2468880" cy="868680"/>
          </a:xfrm>
          <a:prstGeom prst="rect">
            <a:avLst/>
          </a:prstGeom>
          <a:noFill/>
          <a:ln/>
        </p:spPr>
        <p:txBody>
          <a:bodyPr wrap="square" lIns="0" tIns="0" rIns="0" bIns="0" rtlCol="0" anchor="t"/>
          <a:lstStyle/>
          <a:p>
            <a:pPr indent="0" marL="0">
              <a:buNone/>
            </a:pPr>
            <a:r>
              <a:rPr lang="en-US" sz="1000" b="1" spc="100" kern="0" dirty="0">
                <a:solidFill>
                  <a:srgbClr val="35305C"/>
                </a:solidFill>
                <a:latin typeface="Montserrat" pitchFamily="34" charset="0"/>
                <a:ea typeface="Montserrat" pitchFamily="34" charset="-122"/>
                <a:cs typeface="Montserrat" pitchFamily="34" charset="-120"/>
              </a:rPr>
              <a:t>DURÉE</a:t>
            </a:r>
            <a:endParaRPr lang="en-US" sz="1000" dirty="0"/>
          </a:p>
          <a:p>
            <a:pPr indent="0" marL="0">
              <a:buNone/>
            </a:pPr>
            <a:r>
              <a:rPr lang="en-US" sz="1250" dirty="0">
                <a:solidFill>
                  <a:srgbClr val="0A032B"/>
                </a:solidFill>
                <a:latin typeface="Arial" pitchFamily="34" charset="0"/>
                <a:ea typeface="Arial" pitchFamily="34" charset="-122"/>
                <a:cs typeface="Arial" pitchFamily="34" charset="-120"/>
              </a:rPr>
              <a:t>3 × 10 minutes</a:t>
            </a:r>
            <a:endParaRPr lang="en-US" sz="1000" dirty="0"/>
          </a:p>
        </p:txBody>
      </p:sp>
      <p:sp>
        <p:nvSpPr>
          <p:cNvPr id="10" name="Shape 7"/>
          <p:cNvSpPr/>
          <p:nvPr/>
        </p:nvSpPr>
        <p:spPr>
          <a:xfrm>
            <a:off x="548640" y="3931920"/>
            <a:ext cx="457200" cy="457200"/>
          </a:xfrm>
          <a:prstGeom prst="ellipse">
            <a:avLst/>
          </a:prstGeom>
          <a:solidFill>
            <a:srgbClr val="0A032B"/>
          </a:solidFill>
          <a:ln w="12700">
            <a:solidFill>
              <a:srgbClr val="0A032B"/>
            </a:solidFill>
            <a:prstDash val="solid"/>
          </a:ln>
        </p:spPr>
      </p:sp>
      <p:pic>
        <p:nvPicPr>
          <p:cNvPr id="11" name="Image 1" descr="preencoded.png">    </p:cNvPr>
          <p:cNvPicPr>
            <a:picLocks noChangeAspect="1"/>
          </p:cNvPicPr>
          <p:nvPr/>
        </p:nvPicPr>
        <p:blipFill>
          <a:blip r:embed="rId2"/>
          <a:stretch>
            <a:fillRect/>
          </a:stretch>
        </p:blipFill>
        <p:spPr>
          <a:xfrm>
            <a:off x="662940" y="4046220"/>
            <a:ext cx="228600" cy="228600"/>
          </a:xfrm>
          <a:prstGeom prst="rect">
            <a:avLst/>
          </a:prstGeom>
        </p:spPr>
      </p:pic>
      <p:sp>
        <p:nvSpPr>
          <p:cNvPr id="12" name="Text 8"/>
          <p:cNvSpPr txBox="1"/>
          <p:nvPr/>
        </p:nvSpPr>
        <p:spPr>
          <a:xfrm>
            <a:off x="1188720" y="3886200"/>
            <a:ext cx="2468880" cy="868680"/>
          </a:xfrm>
          <a:prstGeom prst="rect">
            <a:avLst/>
          </a:prstGeom>
          <a:noFill/>
          <a:ln/>
        </p:spPr>
        <p:txBody>
          <a:bodyPr wrap="square" lIns="0" tIns="0" rIns="0" bIns="0" rtlCol="0" anchor="t"/>
          <a:lstStyle/>
          <a:p>
            <a:pPr indent="0" marL="0">
              <a:buNone/>
            </a:pPr>
            <a:r>
              <a:rPr lang="en-US" sz="1000" b="1" spc="100" kern="0" dirty="0">
                <a:solidFill>
                  <a:srgbClr val="35305C"/>
                </a:solidFill>
                <a:latin typeface="Montserrat" pitchFamily="34" charset="0"/>
                <a:ea typeface="Montserrat" pitchFamily="34" charset="-122"/>
                <a:cs typeface="Montserrat" pitchFamily="34" charset="-120"/>
              </a:rPr>
              <a:t>FORMAT</a:t>
            </a:r>
            <a:endParaRPr lang="en-US" sz="1000" dirty="0"/>
          </a:p>
          <a:p>
            <a:pPr indent="0" marL="0">
              <a:buNone/>
            </a:pPr>
            <a:r>
              <a:rPr lang="en-US" sz="1250" dirty="0">
                <a:solidFill>
                  <a:srgbClr val="0A032B"/>
                </a:solidFill>
                <a:latin typeface="Arial" pitchFamily="34" charset="0"/>
                <a:ea typeface="Arial" pitchFamily="34" charset="-122"/>
                <a:cs typeface="Arial" pitchFamily="34" charset="-120"/>
              </a:rPr>
              <a:t>3 groupes en rotation, observateur tournant</a:t>
            </a:r>
            <a:endParaRPr lang="en-US" sz="1000" dirty="0"/>
          </a:p>
        </p:txBody>
      </p:sp>
      <p:sp>
        <p:nvSpPr>
          <p:cNvPr id="13" name="Shape 9"/>
          <p:cNvSpPr/>
          <p:nvPr/>
        </p:nvSpPr>
        <p:spPr>
          <a:xfrm>
            <a:off x="548640" y="4892040"/>
            <a:ext cx="457200" cy="457200"/>
          </a:xfrm>
          <a:prstGeom prst="ellipse">
            <a:avLst/>
          </a:prstGeom>
          <a:solidFill>
            <a:srgbClr val="0A032B"/>
          </a:solidFill>
          <a:ln w="12700">
            <a:solidFill>
              <a:srgbClr val="0A032B"/>
            </a:solidFill>
            <a:prstDash val="solid"/>
          </a:ln>
        </p:spPr>
      </p:sp>
      <p:pic>
        <p:nvPicPr>
          <p:cNvPr id="14" name="Image 2" descr="preencoded.png">    </p:cNvPr>
          <p:cNvPicPr>
            <a:picLocks noChangeAspect="1"/>
          </p:cNvPicPr>
          <p:nvPr/>
        </p:nvPicPr>
        <p:blipFill>
          <a:blip r:embed="rId3"/>
          <a:stretch>
            <a:fillRect/>
          </a:stretch>
        </p:blipFill>
        <p:spPr>
          <a:xfrm>
            <a:off x="662940" y="5006340"/>
            <a:ext cx="228600" cy="228600"/>
          </a:xfrm>
          <a:prstGeom prst="rect">
            <a:avLst/>
          </a:prstGeom>
        </p:spPr>
      </p:pic>
      <p:sp>
        <p:nvSpPr>
          <p:cNvPr id="15" name="Text 10"/>
          <p:cNvSpPr txBox="1"/>
          <p:nvPr/>
        </p:nvSpPr>
        <p:spPr>
          <a:xfrm>
            <a:off x="1188720" y="4846320"/>
            <a:ext cx="2468880" cy="868680"/>
          </a:xfrm>
          <a:prstGeom prst="rect">
            <a:avLst/>
          </a:prstGeom>
          <a:noFill/>
          <a:ln/>
        </p:spPr>
        <p:txBody>
          <a:bodyPr wrap="square" lIns="0" tIns="0" rIns="0" bIns="0" rtlCol="0" anchor="t"/>
          <a:lstStyle/>
          <a:p>
            <a:pPr indent="0" marL="0">
              <a:buNone/>
            </a:pPr>
            <a:r>
              <a:rPr lang="en-US" sz="1000" b="1" spc="100" kern="0" dirty="0">
                <a:solidFill>
                  <a:srgbClr val="35305C"/>
                </a:solidFill>
                <a:latin typeface="Montserrat" pitchFamily="34" charset="0"/>
                <a:ea typeface="Montserrat" pitchFamily="34" charset="-122"/>
                <a:cs typeface="Montserrat" pitchFamily="34" charset="-120"/>
              </a:rPr>
              <a:t>MATÉRIEL</a:t>
            </a:r>
            <a:endParaRPr lang="en-US" sz="1000" dirty="0"/>
          </a:p>
          <a:p>
            <a:pPr indent="0" marL="0">
              <a:buNone/>
            </a:pPr>
            <a:r>
              <a:rPr lang="en-US" sz="1250" dirty="0">
                <a:solidFill>
                  <a:srgbClr val="0A032B"/>
                </a:solidFill>
                <a:latin typeface="Arial" pitchFamily="34" charset="0"/>
                <a:ea typeface="Arial" pitchFamily="34" charset="-122"/>
                <a:cs typeface="Arial" pitchFamily="34" charset="-120"/>
              </a:rPr>
              <a:t>Mobilier, charges, aides à la manutention, grille d'évaluation pratique</a:t>
            </a:r>
            <a:endParaRPr lang="en-US" sz="1000" dirty="0"/>
          </a:p>
        </p:txBody>
      </p:sp>
      <p:sp>
        <p:nvSpPr>
          <p:cNvPr id="16" name="Text 11"/>
          <p:cNvSpPr txBox="1"/>
          <p:nvPr/>
        </p:nvSpPr>
        <p:spPr>
          <a:xfrm>
            <a:off x="4663440" y="457200"/>
            <a:ext cx="6979615" cy="502920"/>
          </a:xfrm>
          <a:prstGeom prst="rect">
            <a:avLst/>
          </a:prstGeom>
          <a:noFill/>
          <a:ln/>
        </p:spPr>
        <p:txBody>
          <a:bodyPr wrap="square" lIns="0" tIns="0" rIns="0" bIns="0" rtlCol="0" anchor="ctr"/>
          <a:lstStyle/>
          <a:p>
            <a:pPr indent="0" marL="0">
              <a:buNone/>
            </a:pPr>
            <a:r>
              <a:rPr lang="en-US" sz="2200" b="1" dirty="0">
                <a:solidFill>
                  <a:srgbClr val="0A032B"/>
                </a:solidFill>
                <a:latin typeface="Montserrat" pitchFamily="34" charset="0"/>
                <a:ea typeface="Montserrat" pitchFamily="34" charset="-122"/>
                <a:cs typeface="Montserrat" pitchFamily="34" charset="-120"/>
              </a:rPr>
              <a:t>Consignes</a:t>
            </a:r>
            <a:endParaRPr lang="en-US" sz="2200" dirty="0"/>
          </a:p>
        </p:txBody>
      </p:sp>
      <p:sp>
        <p:nvSpPr>
          <p:cNvPr id="17" name="Shape 12"/>
          <p:cNvSpPr/>
          <p:nvPr/>
        </p:nvSpPr>
        <p:spPr>
          <a:xfrm>
            <a:off x="4663440" y="1234440"/>
            <a:ext cx="457200" cy="457200"/>
          </a:xfrm>
          <a:prstGeom prst="ellipse">
            <a:avLst/>
          </a:prstGeom>
          <a:solidFill>
            <a:srgbClr val="0A032B"/>
          </a:solidFill>
          <a:ln w="12700">
            <a:solidFill>
              <a:srgbClr val="0A032B"/>
            </a:solidFill>
            <a:prstDash val="solid"/>
          </a:ln>
        </p:spPr>
      </p:sp>
      <p:sp>
        <p:nvSpPr>
          <p:cNvPr id="18" name="Text 13"/>
          <p:cNvSpPr txBox="1"/>
          <p:nvPr/>
        </p:nvSpPr>
        <p:spPr>
          <a:xfrm>
            <a:off x="4663440" y="12344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1</a:t>
            </a:r>
            <a:endParaRPr lang="en-US" sz="1300" dirty="0"/>
          </a:p>
        </p:txBody>
      </p:sp>
      <p:sp>
        <p:nvSpPr>
          <p:cNvPr id="19" name="Text 14"/>
          <p:cNvSpPr txBox="1"/>
          <p:nvPr/>
        </p:nvSpPr>
        <p:spPr>
          <a:xfrm>
            <a:off x="5349240" y="1216152"/>
            <a:ext cx="6293815" cy="745236"/>
          </a:xfrm>
          <a:prstGeom prst="rect">
            <a:avLst/>
          </a:prstGeom>
          <a:noFill/>
          <a:ln/>
        </p:spPr>
        <p:txBody>
          <a:bodyPr wrap="square" lIns="0" tIns="0" rIns="0" bIns="0" rtlCol="0" anchor="t"/>
          <a:lstStyle/>
          <a:p>
            <a:pPr indent="0" marL="0">
              <a:spcAft>
                <a:spcPts val="300"/>
              </a:spcAft>
              <a:buNone/>
            </a:pPr>
            <a:r>
              <a:rPr lang="en-US" sz="1500" b="1" dirty="0">
                <a:solidFill>
                  <a:srgbClr val="0A032B"/>
                </a:solidFill>
                <a:latin typeface="Montserrat" pitchFamily="34" charset="0"/>
                <a:ea typeface="Montserrat" pitchFamily="34" charset="-122"/>
                <a:cs typeface="Montserrat" pitchFamily="34" charset="-120"/>
              </a:rPr>
              <a:t>Analyser avant d'agir</a:t>
            </a:r>
            <a:endParaRPr lang="en-US" sz="1500" dirty="0"/>
          </a:p>
          <a:p>
            <a:pPr indent="0" marL="0">
              <a:spcAft>
                <a:spcPts val="300"/>
              </a:spcAft>
              <a:buNone/>
            </a:pPr>
            <a:r>
              <a:rPr lang="en-US" sz="1300" dirty="0">
                <a:solidFill>
                  <a:srgbClr val="35305C"/>
                </a:solidFill>
                <a:latin typeface="Arial" pitchFamily="34" charset="0"/>
                <a:ea typeface="Arial" pitchFamily="34" charset="-122"/>
                <a:cs typeface="Arial" pitchFamily="34" charset="-120"/>
              </a:rPr>
              <a:t>Le groupe observe la tâche, choisit l'aide technique et organise le travail (qui fait quoi, quel trajet, qui mène).</a:t>
            </a:r>
            <a:endParaRPr lang="en-US" sz="1500" dirty="0"/>
          </a:p>
        </p:txBody>
      </p:sp>
      <p:sp>
        <p:nvSpPr>
          <p:cNvPr id="20" name="Shape 15"/>
          <p:cNvSpPr/>
          <p:nvPr/>
        </p:nvSpPr>
        <p:spPr>
          <a:xfrm>
            <a:off x="4663440" y="2144268"/>
            <a:ext cx="457200" cy="457200"/>
          </a:xfrm>
          <a:prstGeom prst="ellipse">
            <a:avLst/>
          </a:prstGeom>
          <a:solidFill>
            <a:srgbClr val="0A032B"/>
          </a:solidFill>
          <a:ln w="12700">
            <a:solidFill>
              <a:srgbClr val="0A032B"/>
            </a:solidFill>
            <a:prstDash val="solid"/>
          </a:ln>
        </p:spPr>
      </p:sp>
      <p:sp>
        <p:nvSpPr>
          <p:cNvPr id="21" name="Text 16"/>
          <p:cNvSpPr txBox="1"/>
          <p:nvPr/>
        </p:nvSpPr>
        <p:spPr>
          <a:xfrm>
            <a:off x="4663440" y="214426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2</a:t>
            </a:r>
            <a:endParaRPr lang="en-US" sz="1300" dirty="0"/>
          </a:p>
        </p:txBody>
      </p:sp>
      <p:sp>
        <p:nvSpPr>
          <p:cNvPr id="22" name="Text 17"/>
          <p:cNvSpPr txBox="1"/>
          <p:nvPr/>
        </p:nvSpPr>
        <p:spPr>
          <a:xfrm>
            <a:off x="5349240" y="2125980"/>
            <a:ext cx="6293815" cy="745236"/>
          </a:xfrm>
          <a:prstGeom prst="rect">
            <a:avLst/>
          </a:prstGeom>
          <a:noFill/>
          <a:ln/>
        </p:spPr>
        <p:txBody>
          <a:bodyPr wrap="square" lIns="0" tIns="0" rIns="0" bIns="0" rtlCol="0" anchor="t"/>
          <a:lstStyle/>
          <a:p>
            <a:pPr indent="0" marL="0">
              <a:spcAft>
                <a:spcPts val="300"/>
              </a:spcAft>
              <a:buNone/>
            </a:pPr>
            <a:r>
              <a:rPr lang="en-US" sz="1500" b="1" dirty="0">
                <a:solidFill>
                  <a:srgbClr val="0A032B"/>
                </a:solidFill>
                <a:latin typeface="Montserrat" pitchFamily="34" charset="0"/>
                <a:ea typeface="Montserrat" pitchFamily="34" charset="-122"/>
                <a:cs typeface="Montserrat" pitchFamily="34" charset="-120"/>
              </a:rPr>
              <a:t>Réaliser la tâche</a:t>
            </a:r>
            <a:endParaRPr lang="en-US" sz="1500" dirty="0"/>
          </a:p>
          <a:p>
            <a:pPr indent="0" marL="0">
              <a:spcAft>
                <a:spcPts val="300"/>
              </a:spcAft>
              <a:buNone/>
            </a:pPr>
            <a:r>
              <a:rPr lang="en-US" sz="1300" dirty="0">
                <a:solidFill>
                  <a:srgbClr val="35305C"/>
                </a:solidFill>
                <a:latin typeface="Arial" pitchFamily="34" charset="0"/>
                <a:ea typeface="Arial" pitchFamily="34" charset="-122"/>
                <a:cs typeface="Arial" pitchFamily="34" charset="-120"/>
              </a:rPr>
              <a:t>En appliquant les principes de sécurité physique et d'économie d'effort, seul ou à deux.</a:t>
            </a:r>
            <a:endParaRPr lang="en-US" sz="1500" dirty="0"/>
          </a:p>
        </p:txBody>
      </p:sp>
      <p:sp>
        <p:nvSpPr>
          <p:cNvPr id="23" name="Shape 18"/>
          <p:cNvSpPr/>
          <p:nvPr/>
        </p:nvSpPr>
        <p:spPr>
          <a:xfrm>
            <a:off x="4663440" y="3054096"/>
            <a:ext cx="457200" cy="457200"/>
          </a:xfrm>
          <a:prstGeom prst="ellipse">
            <a:avLst/>
          </a:prstGeom>
          <a:solidFill>
            <a:srgbClr val="0A032B"/>
          </a:solidFill>
          <a:ln w="12700">
            <a:solidFill>
              <a:srgbClr val="0A032B"/>
            </a:solidFill>
            <a:prstDash val="solid"/>
          </a:ln>
        </p:spPr>
      </p:sp>
      <p:sp>
        <p:nvSpPr>
          <p:cNvPr id="24" name="Text 19"/>
          <p:cNvSpPr txBox="1"/>
          <p:nvPr/>
        </p:nvSpPr>
        <p:spPr>
          <a:xfrm>
            <a:off x="4663440" y="305409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3</a:t>
            </a:r>
            <a:endParaRPr lang="en-US" sz="1300" dirty="0"/>
          </a:p>
        </p:txBody>
      </p:sp>
      <p:sp>
        <p:nvSpPr>
          <p:cNvPr id="25" name="Text 20"/>
          <p:cNvSpPr txBox="1"/>
          <p:nvPr/>
        </p:nvSpPr>
        <p:spPr>
          <a:xfrm>
            <a:off x="5349240" y="3035808"/>
            <a:ext cx="6293815" cy="745236"/>
          </a:xfrm>
          <a:prstGeom prst="rect">
            <a:avLst/>
          </a:prstGeom>
          <a:noFill/>
          <a:ln/>
        </p:spPr>
        <p:txBody>
          <a:bodyPr wrap="square" lIns="0" tIns="0" rIns="0" bIns="0" rtlCol="0" anchor="t"/>
          <a:lstStyle/>
          <a:p>
            <a:pPr indent="0" marL="0">
              <a:spcAft>
                <a:spcPts val="300"/>
              </a:spcAft>
              <a:buNone/>
            </a:pPr>
            <a:r>
              <a:rPr lang="en-US" sz="1500" b="1" dirty="0">
                <a:solidFill>
                  <a:srgbClr val="0A032B"/>
                </a:solidFill>
                <a:latin typeface="Montserrat" pitchFamily="34" charset="0"/>
                <a:ea typeface="Montserrat" pitchFamily="34" charset="-122"/>
                <a:cs typeface="Montserrat" pitchFamily="34" charset="-120"/>
              </a:rPr>
              <a:t>Observer et évaluer</a:t>
            </a:r>
            <a:endParaRPr lang="en-US" sz="1500" dirty="0"/>
          </a:p>
          <a:p>
            <a:pPr indent="0" marL="0">
              <a:spcAft>
                <a:spcPts val="300"/>
              </a:spcAft>
              <a:buNone/>
            </a:pPr>
            <a:r>
              <a:rPr lang="en-US" sz="1300" dirty="0">
                <a:solidFill>
                  <a:srgbClr val="35305C"/>
                </a:solidFill>
                <a:latin typeface="Arial" pitchFamily="34" charset="0"/>
                <a:ea typeface="Arial" pitchFamily="34" charset="-122"/>
                <a:cs typeface="Arial" pitchFamily="34" charset="-120"/>
              </a:rPr>
              <a:t>L'observateur remplit la grille d'évaluation pratique pour un stagiaire, puis les rôles tournent.</a:t>
            </a:r>
            <a:endParaRPr lang="en-US" sz="1500" dirty="0"/>
          </a:p>
        </p:txBody>
      </p:sp>
      <p:sp>
        <p:nvSpPr>
          <p:cNvPr id="26" name="Shape 21"/>
          <p:cNvSpPr/>
          <p:nvPr/>
        </p:nvSpPr>
        <p:spPr>
          <a:xfrm>
            <a:off x="4663440" y="3963924"/>
            <a:ext cx="457200" cy="457200"/>
          </a:xfrm>
          <a:prstGeom prst="ellipse">
            <a:avLst/>
          </a:prstGeom>
          <a:solidFill>
            <a:srgbClr val="0A032B"/>
          </a:solidFill>
          <a:ln w="12700">
            <a:solidFill>
              <a:srgbClr val="0A032B"/>
            </a:solidFill>
            <a:prstDash val="solid"/>
          </a:ln>
        </p:spPr>
      </p:sp>
      <p:sp>
        <p:nvSpPr>
          <p:cNvPr id="27" name="Text 22"/>
          <p:cNvSpPr txBox="1"/>
          <p:nvPr/>
        </p:nvSpPr>
        <p:spPr>
          <a:xfrm>
            <a:off x="4663440" y="396392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4</a:t>
            </a:r>
            <a:endParaRPr lang="en-US" sz="1300" dirty="0"/>
          </a:p>
        </p:txBody>
      </p:sp>
      <p:sp>
        <p:nvSpPr>
          <p:cNvPr id="28" name="Text 23"/>
          <p:cNvSpPr txBox="1"/>
          <p:nvPr/>
        </p:nvSpPr>
        <p:spPr>
          <a:xfrm>
            <a:off x="5349240" y="3945636"/>
            <a:ext cx="6293815" cy="745236"/>
          </a:xfrm>
          <a:prstGeom prst="rect">
            <a:avLst/>
          </a:prstGeom>
          <a:noFill/>
          <a:ln/>
        </p:spPr>
        <p:txBody>
          <a:bodyPr wrap="square" lIns="0" tIns="0" rIns="0" bIns="0" rtlCol="0" anchor="t"/>
          <a:lstStyle/>
          <a:p>
            <a:pPr indent="0" marL="0">
              <a:spcAft>
                <a:spcPts val="300"/>
              </a:spcAft>
              <a:buNone/>
            </a:pPr>
            <a:r>
              <a:rPr lang="en-US" sz="1500" b="1" dirty="0">
                <a:solidFill>
                  <a:srgbClr val="0A032B"/>
                </a:solidFill>
                <a:latin typeface="Montserrat" pitchFamily="34" charset="0"/>
                <a:ea typeface="Montserrat" pitchFamily="34" charset="-122"/>
                <a:cs typeface="Montserrat" pitchFamily="34" charset="-120"/>
              </a:rPr>
              <a:t>Noter une amélioration</a:t>
            </a:r>
            <a:endParaRPr lang="en-US" sz="1500" dirty="0"/>
          </a:p>
          <a:p>
            <a:pPr indent="0" marL="0">
              <a:spcAft>
                <a:spcPts val="300"/>
              </a:spcAft>
              <a:buNone/>
            </a:pPr>
            <a:r>
              <a:rPr lang="en-US" sz="1300" dirty="0">
                <a:solidFill>
                  <a:srgbClr val="35305C"/>
                </a:solidFill>
                <a:latin typeface="Arial" pitchFamily="34" charset="0"/>
                <a:ea typeface="Arial" pitchFamily="34" charset="-122"/>
                <a:cs typeface="Arial" pitchFamily="34" charset="-120"/>
              </a:rPr>
              <a:t>Chaque groupe note une piste d'amélioration pour sa collectivité avant de changer d'atelier.</a:t>
            </a:r>
            <a:endParaRPr lang="en-US" sz="1500" dirty="0"/>
          </a:p>
        </p:txBody>
      </p:sp>
      <p:sp>
        <p:nvSpPr>
          <p:cNvPr id="29" name="Shape 24"/>
          <p:cNvSpPr/>
          <p:nvPr/>
        </p:nvSpPr>
        <p:spPr>
          <a:xfrm>
            <a:off x="4663440" y="4983480"/>
            <a:ext cx="6979615" cy="1051560"/>
          </a:xfrm>
          <a:prstGeom prst="roundRect">
            <a:avLst>
              <a:gd name="adj" fmla="val 6957"/>
            </a:avLst>
          </a:prstGeom>
          <a:solidFill>
            <a:srgbClr val="EEEDF5"/>
          </a:solidFill>
          <a:ln w="12700">
            <a:solidFill>
              <a:srgbClr val="EEEDF5"/>
            </a:solidFill>
            <a:prstDash val="solid"/>
          </a:ln>
        </p:spPr>
      </p:sp>
      <p:sp>
        <p:nvSpPr>
          <p:cNvPr id="30" name="Shape 25"/>
          <p:cNvSpPr/>
          <p:nvPr/>
        </p:nvSpPr>
        <p:spPr>
          <a:xfrm>
            <a:off x="4846320" y="5230368"/>
            <a:ext cx="548640" cy="548640"/>
          </a:xfrm>
          <a:prstGeom prst="ellipse">
            <a:avLst/>
          </a:prstGeom>
          <a:solidFill>
            <a:srgbClr val="0A032B"/>
          </a:solidFill>
          <a:ln w="12700">
            <a:solidFill>
              <a:srgbClr val="0A032B"/>
            </a:solidFill>
            <a:prstDash val="solid"/>
          </a:ln>
        </p:spPr>
      </p:sp>
      <p:pic>
        <p:nvPicPr>
          <p:cNvPr id="31" name="Image 3" descr="preencoded.png">    </p:cNvPr>
          <p:cNvPicPr>
            <a:picLocks noChangeAspect="1"/>
          </p:cNvPicPr>
          <p:nvPr/>
        </p:nvPicPr>
        <p:blipFill>
          <a:blip r:embed="rId4"/>
          <a:stretch>
            <a:fillRect/>
          </a:stretch>
        </p:blipFill>
        <p:spPr>
          <a:xfrm>
            <a:off x="4983480" y="5367528"/>
            <a:ext cx="274320" cy="274320"/>
          </a:xfrm>
          <a:prstGeom prst="rect">
            <a:avLst/>
          </a:prstGeom>
        </p:spPr>
      </p:pic>
      <p:sp>
        <p:nvSpPr>
          <p:cNvPr id="32" name="Text 26"/>
          <p:cNvSpPr txBox="1"/>
          <p:nvPr/>
        </p:nvSpPr>
        <p:spPr>
          <a:xfrm>
            <a:off x="5577840" y="5029200"/>
            <a:ext cx="5882335" cy="960120"/>
          </a:xfrm>
          <a:prstGeom prst="rect">
            <a:avLst/>
          </a:prstGeom>
          <a:noFill/>
          <a:ln/>
        </p:spPr>
        <p:txBody>
          <a:bodyPr wrap="square" lIns="0" tIns="0" rIns="0" bIns="0" rtlCol="0" anchor="ctr"/>
          <a:lstStyle/>
          <a:p>
            <a:pPr indent="0" marL="0">
              <a:buNone/>
            </a:pPr>
            <a:r>
              <a:rPr lang="en-US" sz="1200" b="1" dirty="0">
                <a:solidFill>
                  <a:srgbClr val="0A032B"/>
                </a:solidFill>
                <a:latin typeface="Montserrat" pitchFamily="34" charset="0"/>
                <a:ea typeface="Montserrat" pitchFamily="34" charset="-122"/>
                <a:cs typeface="Montserrat" pitchFamily="34" charset="-120"/>
              </a:rPr>
              <a:t>Point de vigilance  </a:t>
            </a:r>
            <a:endParaRPr lang="en-US" sz="1200" dirty="0"/>
          </a:p>
          <a:p>
            <a:pPr indent="0" marL="0">
              <a:buNone/>
            </a:pPr>
            <a:r>
              <a:rPr lang="en-US" sz="1200" dirty="0">
                <a:solidFill>
                  <a:srgbClr val="35305C"/>
                </a:solidFill>
                <a:latin typeface="Arial" pitchFamily="34" charset="0"/>
                <a:ea typeface="Arial" pitchFamily="34" charset="-122"/>
                <a:cs typeface="Arial" pitchFamily="34" charset="-120"/>
              </a:rPr>
              <a:t>Priorité à la qualité du geste et à l'organisation, pas à la vitesse. Aucune charge au-delà de ses capacités.</a:t>
            </a:r>
            <a:endParaRPr lang="en-US" sz="1200" dirty="0"/>
          </a:p>
        </p:txBody>
      </p:sp>
      <p:sp>
        <p:nvSpPr>
          <p:cNvPr id="33" name="Text 27"/>
          <p:cNvSpPr txBox="1"/>
          <p:nvPr/>
        </p:nvSpPr>
        <p:spPr>
          <a:xfrm>
            <a:off x="548640" y="6355080"/>
            <a:ext cx="3291840" cy="274320"/>
          </a:xfrm>
          <a:prstGeom prst="rect">
            <a:avLst/>
          </a:prstGeom>
          <a:noFill/>
          <a:ln/>
        </p:spPr>
        <p:txBody>
          <a:bodyPr wrap="square" lIns="0" tIns="0" rIns="0" bIns="0" rtlCol="0" anchor="ctr"/>
          <a:lstStyle/>
          <a:p>
            <a:pPr indent="0" marL="0">
              <a:buNone/>
            </a:pPr>
            <a:r>
              <a:rPr lang="en-US" sz="900" dirty="0">
                <a:solidFill>
                  <a:srgbClr val="35305C"/>
                </a:solidFill>
                <a:latin typeface="Arial" pitchFamily="34" charset="0"/>
                <a:ea typeface="Arial" pitchFamily="34" charset="-122"/>
                <a:cs typeface="Arial" pitchFamily="34" charset="-120"/>
              </a:rPr>
              <a:t>Gestes et postures de l'élu  ·  Séquence 7</a:t>
            </a:r>
            <a:endParaRPr lang="en-US" sz="900" dirty="0"/>
          </a:p>
        </p:txBody>
      </p:sp>
      <p:pic>
        <p:nvPicPr>
          <p:cNvPr id="34" name="Image 4" descr="logo_light.png">    </p:cNvPr>
          <p:cNvPicPr>
            <a:picLocks noChangeAspect="1"/>
          </p:cNvPicPr>
          <p:nvPr/>
        </p:nvPicPr>
        <p:blipFill>
          <a:blip r:embed="rId5"/>
          <a:stretch>
            <a:fillRect/>
          </a:stretch>
        </p:blipFill>
        <p:spPr>
          <a:xfrm>
            <a:off x="10682935" y="6236208"/>
            <a:ext cx="960120" cy="398441"/>
          </a:xfrm>
          <a:prstGeom prst="rect">
            <a:avLst/>
          </a:prstGeom>
        </p:spPr>
      </p:pic>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235440" cy="685800"/>
          </a:xfrm>
          <a:prstGeom prst="rect">
            <a:avLst/>
          </a:prstGeom>
          <a:noFill/>
          <a:ln/>
        </p:spPr>
        <p:txBody>
          <a:bodyPr wrap="square" lIns="0" tIns="0" rIns="0" bIns="0" rtlCol="0" anchor="ctr"/>
          <a:lstStyle/>
          <a:p>
            <a:pPr indent="0" marL="0">
              <a:buNone/>
            </a:pPr>
            <a:r>
              <a:rPr lang="en-US" sz="2800" b="1" dirty="0">
                <a:solidFill>
                  <a:srgbClr val="0A032B"/>
                </a:solidFill>
                <a:latin typeface="Montserrat" pitchFamily="34" charset="0"/>
                <a:ea typeface="Montserrat" pitchFamily="34" charset="-122"/>
                <a:cs typeface="Montserrat" pitchFamily="34" charset="-120"/>
              </a:rPr>
              <a:t>Débriefing des ateliers</a:t>
            </a:r>
            <a:endParaRPr lang="en-US" sz="2800" dirty="0"/>
          </a:p>
        </p:txBody>
      </p:sp>
      <p:sp>
        <p:nvSpPr>
          <p:cNvPr id="3" name="Text 1"/>
          <p:cNvSpPr txBox="1"/>
          <p:nvPr/>
        </p:nvSpPr>
        <p:spPr>
          <a:xfrm>
            <a:off x="548640" y="1024128"/>
            <a:ext cx="9235440" cy="365760"/>
          </a:xfrm>
          <a:prstGeom prst="rect">
            <a:avLst/>
          </a:prstGeom>
          <a:noFill/>
          <a:ln/>
        </p:spPr>
        <p:txBody>
          <a:bodyPr wrap="square" lIns="0" tIns="0" rIns="0" bIns="0" rtlCol="0" anchor="ctr"/>
          <a:lstStyle/>
          <a:p>
            <a:pPr indent="0" marL="0">
              <a:buNone/>
            </a:pPr>
            <a:r>
              <a:rPr lang="en-US" sz="1400" i="1" dirty="0">
                <a:solidFill>
                  <a:srgbClr val="5E5A78"/>
                </a:solidFill>
                <a:latin typeface="Arial" pitchFamily="34" charset="0"/>
                <a:ea typeface="Arial" pitchFamily="34" charset="-122"/>
                <a:cs typeface="Arial" pitchFamily="34" charset="-120"/>
              </a:rPr>
              <a:t>10 minutes en grand groupe</a:t>
            </a:r>
            <a:endParaRPr lang="en-US" sz="1400" dirty="0"/>
          </a:p>
        </p:txBody>
      </p:sp>
      <p:sp>
        <p:nvSpPr>
          <p:cNvPr id="4" name="Shape 2"/>
          <p:cNvSpPr/>
          <p:nvPr/>
        </p:nvSpPr>
        <p:spPr>
          <a:xfrm>
            <a:off x="10042855" y="530352"/>
            <a:ext cx="1600200" cy="347472"/>
          </a:xfrm>
          <a:prstGeom prst="roundRect">
            <a:avLst>
              <a:gd name="adj" fmla="val 50000"/>
            </a:avLst>
          </a:prstGeom>
          <a:solidFill>
            <a:srgbClr val="DCDAEA"/>
          </a:solidFill>
          <a:ln w="12700">
            <a:solidFill>
              <a:srgbClr val="DCDAEA"/>
            </a:solidFill>
            <a:prstDash val="solid"/>
          </a:ln>
        </p:spPr>
      </p:sp>
      <p:sp>
        <p:nvSpPr>
          <p:cNvPr id="5" name="Text 3"/>
          <p:cNvSpPr txBox="1"/>
          <p:nvPr/>
        </p:nvSpPr>
        <p:spPr>
          <a:xfrm>
            <a:off x="10042855" y="530352"/>
            <a:ext cx="1600200" cy="347472"/>
          </a:xfrm>
          <a:prstGeom prst="rect">
            <a:avLst/>
          </a:prstGeom>
          <a:noFill/>
          <a:ln/>
        </p:spPr>
        <p:txBody>
          <a:bodyPr wrap="square" lIns="0" tIns="0" rIns="0" bIns="0" rtlCol="0" anchor="ctr"/>
          <a:lstStyle/>
          <a:p>
            <a:pPr algn="ctr" indent="0" marL="0">
              <a:buNone/>
            </a:pPr>
            <a:r>
              <a:rPr lang="en-US" sz="1100" b="1" spc="200" kern="0" dirty="0">
                <a:solidFill>
                  <a:srgbClr val="0A032B"/>
                </a:solidFill>
                <a:latin typeface="Montserrat" pitchFamily="34" charset="0"/>
                <a:ea typeface="Montserrat" pitchFamily="34" charset="-122"/>
                <a:cs typeface="Montserrat" pitchFamily="34" charset="-120"/>
              </a:rPr>
              <a:t>ÉCHANGES</a:t>
            </a:r>
            <a:endParaRPr lang="en-US" sz="1100" dirty="0"/>
          </a:p>
        </p:txBody>
      </p:sp>
      <p:sp>
        <p:nvSpPr>
          <p:cNvPr id="6" name="Text 4"/>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5E5A78"/>
                </a:solidFill>
                <a:latin typeface="Arial" pitchFamily="34" charset="0"/>
                <a:ea typeface="Arial" pitchFamily="34" charset="-122"/>
                <a:cs typeface="Arial" pitchFamily="34" charset="-120"/>
              </a:rPr>
              <a:t>Gestes et postures de l'élu  ·  Séquence 7</a:t>
            </a:r>
            <a:endParaRPr lang="en-US" sz="900" dirty="0"/>
          </a:p>
        </p:txBody>
      </p:sp>
      <p:pic>
        <p:nvPicPr>
          <p:cNvPr id="7" name="Image 0" descr="logo_light.png">    </p:cNvPr>
          <p:cNvPicPr>
            <a:picLocks noChangeAspect="1"/>
          </p:cNvPicPr>
          <p:nvPr/>
        </p:nvPicPr>
        <p:blipFill>
          <a:blip r:embed="rId1"/>
          <a:stretch>
            <a:fillRect/>
          </a:stretch>
        </p:blipFill>
        <p:spPr>
          <a:xfrm>
            <a:off x="10682935" y="6236208"/>
            <a:ext cx="960120" cy="398441"/>
          </a:xfrm>
          <a:prstGeom prst="rect">
            <a:avLst/>
          </a:prstGeom>
        </p:spPr>
      </p:pic>
      <p:sp>
        <p:nvSpPr>
          <p:cNvPr id="8" name="Shape 5"/>
          <p:cNvSpPr/>
          <p:nvPr/>
        </p:nvSpPr>
        <p:spPr>
          <a:xfrm>
            <a:off x="548640" y="1600200"/>
            <a:ext cx="6035040" cy="1298448"/>
          </a:xfrm>
          <a:prstGeom prst="roundRect">
            <a:avLst>
              <a:gd name="adj" fmla="val 5634"/>
            </a:avLst>
          </a:prstGeom>
          <a:solidFill>
            <a:srgbClr val="EEEDF5"/>
          </a:solidFill>
          <a:ln w="12700">
            <a:solidFill>
              <a:srgbClr val="EEEDF5"/>
            </a:solidFill>
            <a:prstDash val="solid"/>
          </a:ln>
        </p:spPr>
      </p:sp>
      <p:sp>
        <p:nvSpPr>
          <p:cNvPr id="9" name="Shape 6"/>
          <p:cNvSpPr/>
          <p:nvPr/>
        </p:nvSpPr>
        <p:spPr>
          <a:xfrm>
            <a:off x="777240" y="1901952"/>
            <a:ext cx="685800" cy="685800"/>
          </a:xfrm>
          <a:prstGeom prst="ellipse">
            <a:avLst/>
          </a:prstGeom>
          <a:solidFill>
            <a:srgbClr val="0A032B"/>
          </a:solidFill>
          <a:ln w="12700">
            <a:solidFill>
              <a:srgbClr val="0A032B"/>
            </a:solidFill>
            <a:prstDash val="solid"/>
          </a:ln>
        </p:spPr>
      </p:sp>
      <p:pic>
        <p:nvPicPr>
          <p:cNvPr id="10" name="Image 1" descr="preencoded.png">    </p:cNvPr>
          <p:cNvPicPr>
            <a:picLocks noChangeAspect="1"/>
          </p:cNvPicPr>
          <p:nvPr/>
        </p:nvPicPr>
        <p:blipFill>
          <a:blip r:embed="rId2"/>
          <a:stretch>
            <a:fillRect/>
          </a:stretch>
        </p:blipFill>
        <p:spPr>
          <a:xfrm>
            <a:off x="948690" y="2073402"/>
            <a:ext cx="342900" cy="342900"/>
          </a:xfrm>
          <a:prstGeom prst="rect">
            <a:avLst/>
          </a:prstGeom>
        </p:spPr>
      </p:pic>
      <p:sp>
        <p:nvSpPr>
          <p:cNvPr id="11" name="Text 7"/>
          <p:cNvSpPr txBox="1"/>
          <p:nvPr/>
        </p:nvSpPr>
        <p:spPr>
          <a:xfrm>
            <a:off x="1691640" y="1600200"/>
            <a:ext cx="4754880" cy="1298448"/>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Ce qui a bien fonctionné</a:t>
            </a:r>
            <a:endParaRPr lang="en-US" sz="1500" dirty="0"/>
          </a:p>
          <a:p>
            <a:pPr indent="0" marL="0">
              <a:buNone/>
            </a:pPr>
            <a:r>
              <a:rPr lang="en-US" sz="1300" dirty="0">
                <a:solidFill>
                  <a:srgbClr val="35305C"/>
                </a:solidFill>
                <a:latin typeface="Arial" pitchFamily="34" charset="0"/>
                <a:ea typeface="Arial" pitchFamily="34" charset="-122"/>
                <a:cs typeface="Arial" pitchFamily="34" charset="-120"/>
              </a:rPr>
              <a:t>Quels gestes et quelles organisations avez-vous réussis ?</a:t>
            </a:r>
            <a:endParaRPr lang="en-US" sz="1500" dirty="0"/>
          </a:p>
        </p:txBody>
      </p:sp>
      <p:sp>
        <p:nvSpPr>
          <p:cNvPr id="12" name="Shape 8"/>
          <p:cNvSpPr/>
          <p:nvPr/>
        </p:nvSpPr>
        <p:spPr>
          <a:xfrm>
            <a:off x="548640" y="3081528"/>
            <a:ext cx="6035040" cy="1298448"/>
          </a:xfrm>
          <a:prstGeom prst="roundRect">
            <a:avLst>
              <a:gd name="adj" fmla="val 5634"/>
            </a:avLst>
          </a:prstGeom>
          <a:solidFill>
            <a:srgbClr val="EEEDF5"/>
          </a:solidFill>
          <a:ln w="12700">
            <a:solidFill>
              <a:srgbClr val="EEEDF5"/>
            </a:solidFill>
            <a:prstDash val="solid"/>
          </a:ln>
        </p:spPr>
      </p:sp>
      <p:sp>
        <p:nvSpPr>
          <p:cNvPr id="13" name="Shape 9"/>
          <p:cNvSpPr/>
          <p:nvPr/>
        </p:nvSpPr>
        <p:spPr>
          <a:xfrm>
            <a:off x="777240" y="3383280"/>
            <a:ext cx="685800" cy="685800"/>
          </a:xfrm>
          <a:prstGeom prst="ellipse">
            <a:avLst/>
          </a:prstGeom>
          <a:solidFill>
            <a:srgbClr val="0A032B"/>
          </a:solidFill>
          <a:ln w="12700">
            <a:solidFill>
              <a:srgbClr val="0A032B"/>
            </a:solidFill>
            <a:prstDash val="solid"/>
          </a:ln>
        </p:spPr>
      </p:sp>
      <p:pic>
        <p:nvPicPr>
          <p:cNvPr id="14" name="Image 2" descr="preencoded.png">    </p:cNvPr>
          <p:cNvPicPr>
            <a:picLocks noChangeAspect="1"/>
          </p:cNvPicPr>
          <p:nvPr/>
        </p:nvPicPr>
        <p:blipFill>
          <a:blip r:embed="rId3"/>
          <a:stretch>
            <a:fillRect/>
          </a:stretch>
        </p:blipFill>
        <p:spPr>
          <a:xfrm>
            <a:off x="948690" y="3554730"/>
            <a:ext cx="342900" cy="342900"/>
          </a:xfrm>
          <a:prstGeom prst="rect">
            <a:avLst/>
          </a:prstGeom>
        </p:spPr>
      </p:pic>
      <p:sp>
        <p:nvSpPr>
          <p:cNvPr id="15" name="Text 10"/>
          <p:cNvSpPr txBox="1"/>
          <p:nvPr/>
        </p:nvSpPr>
        <p:spPr>
          <a:xfrm>
            <a:off x="1691640" y="3081528"/>
            <a:ext cx="4754880" cy="1298448"/>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Ce qui a été difficile</a:t>
            </a:r>
            <a:endParaRPr lang="en-US" sz="1500" dirty="0"/>
          </a:p>
          <a:p>
            <a:pPr indent="0" marL="0">
              <a:buNone/>
            </a:pPr>
            <a:r>
              <a:rPr lang="en-US" sz="1300" dirty="0">
                <a:solidFill>
                  <a:srgbClr val="35305C"/>
                </a:solidFill>
                <a:latin typeface="Arial" pitchFamily="34" charset="0"/>
                <a:ea typeface="Arial" pitchFamily="34" charset="-122"/>
                <a:cs typeface="Arial" pitchFamily="34" charset="-120"/>
              </a:rPr>
              <a:t>Quelles situations restent délicates ? Pourquoi ?</a:t>
            </a:r>
            <a:endParaRPr lang="en-US" sz="1500" dirty="0"/>
          </a:p>
        </p:txBody>
      </p:sp>
      <p:sp>
        <p:nvSpPr>
          <p:cNvPr id="16" name="Shape 11"/>
          <p:cNvSpPr/>
          <p:nvPr/>
        </p:nvSpPr>
        <p:spPr>
          <a:xfrm>
            <a:off x="548640" y="4562856"/>
            <a:ext cx="6035040" cy="1298448"/>
          </a:xfrm>
          <a:prstGeom prst="roundRect">
            <a:avLst>
              <a:gd name="adj" fmla="val 5634"/>
            </a:avLst>
          </a:prstGeom>
          <a:solidFill>
            <a:srgbClr val="EEEDF5"/>
          </a:solidFill>
          <a:ln w="12700">
            <a:solidFill>
              <a:srgbClr val="EEEDF5"/>
            </a:solidFill>
            <a:prstDash val="solid"/>
          </a:ln>
        </p:spPr>
      </p:sp>
      <p:sp>
        <p:nvSpPr>
          <p:cNvPr id="17" name="Shape 12"/>
          <p:cNvSpPr/>
          <p:nvPr/>
        </p:nvSpPr>
        <p:spPr>
          <a:xfrm>
            <a:off x="777240" y="4864608"/>
            <a:ext cx="685800" cy="685800"/>
          </a:xfrm>
          <a:prstGeom prst="ellipse">
            <a:avLst/>
          </a:prstGeom>
          <a:solidFill>
            <a:srgbClr val="0A032B"/>
          </a:solidFill>
          <a:ln w="12700">
            <a:solidFill>
              <a:srgbClr val="0A032B"/>
            </a:solidFill>
            <a:prstDash val="solid"/>
          </a:ln>
        </p:spPr>
      </p:sp>
      <p:pic>
        <p:nvPicPr>
          <p:cNvPr id="18" name="Image 3" descr="preencoded.png">    </p:cNvPr>
          <p:cNvPicPr>
            <a:picLocks noChangeAspect="1"/>
          </p:cNvPicPr>
          <p:nvPr/>
        </p:nvPicPr>
        <p:blipFill>
          <a:blip r:embed="rId4"/>
          <a:stretch>
            <a:fillRect/>
          </a:stretch>
        </p:blipFill>
        <p:spPr>
          <a:xfrm>
            <a:off x="948690" y="5036058"/>
            <a:ext cx="342900" cy="342900"/>
          </a:xfrm>
          <a:prstGeom prst="rect">
            <a:avLst/>
          </a:prstGeom>
        </p:spPr>
      </p:pic>
      <p:sp>
        <p:nvSpPr>
          <p:cNvPr id="19" name="Text 13"/>
          <p:cNvSpPr txBox="1"/>
          <p:nvPr/>
        </p:nvSpPr>
        <p:spPr>
          <a:xfrm>
            <a:off x="1691640" y="4562856"/>
            <a:ext cx="4754880" cy="1298448"/>
          </a:xfrm>
          <a:prstGeom prst="rect">
            <a:avLst/>
          </a:prstGeom>
          <a:noFill/>
          <a:ln/>
        </p:spPr>
        <p:txBody>
          <a:bodyPr wrap="square" lIns="0" tIns="0" rIns="0" bIns="0" rtlCol="0" anchor="ctr"/>
          <a:lstStyle/>
          <a:p>
            <a:pPr indent="0" marL="0">
              <a:buNone/>
            </a:pPr>
            <a:r>
              <a:rPr lang="en-US" sz="1500" b="1" dirty="0">
                <a:solidFill>
                  <a:srgbClr val="0A032B"/>
                </a:solidFill>
                <a:latin typeface="Montserrat" pitchFamily="34" charset="0"/>
                <a:ea typeface="Montserrat" pitchFamily="34" charset="-122"/>
                <a:cs typeface="Montserrat" pitchFamily="34" charset="-120"/>
              </a:rPr>
              <a:t>Pistes pour la collectivité</a:t>
            </a:r>
            <a:endParaRPr lang="en-US" sz="1500" dirty="0"/>
          </a:p>
          <a:p>
            <a:pPr indent="0" marL="0">
              <a:buNone/>
            </a:pPr>
            <a:r>
              <a:rPr lang="en-US" sz="1300" dirty="0">
                <a:solidFill>
                  <a:srgbClr val="35305C"/>
                </a:solidFill>
                <a:latin typeface="Arial" pitchFamily="34" charset="0"/>
                <a:ea typeface="Arial" pitchFamily="34" charset="-122"/>
                <a:cs typeface="Arial" pitchFamily="34" charset="-120"/>
              </a:rPr>
              <a:t>Matériel, organisation des événements, formation des agents, budget.</a:t>
            </a:r>
            <a:endParaRPr lang="en-US" sz="1500" dirty="0"/>
          </a:p>
        </p:txBody>
      </p:sp>
      <p:sp>
        <p:nvSpPr>
          <p:cNvPr id="20" name="Shape 14"/>
          <p:cNvSpPr/>
          <p:nvPr/>
        </p:nvSpPr>
        <p:spPr>
          <a:xfrm>
            <a:off x="6858000" y="1600200"/>
            <a:ext cx="4785055" cy="4261104"/>
          </a:xfrm>
          <a:prstGeom prst="roundRect">
            <a:avLst>
              <a:gd name="adj" fmla="val 1717"/>
            </a:avLst>
          </a:prstGeom>
          <a:solidFill>
            <a:srgbClr val="F0EF96"/>
          </a:solidFill>
          <a:ln w="12700">
            <a:solidFill>
              <a:srgbClr val="F0EF96"/>
            </a:solidFill>
            <a:prstDash val="solid"/>
          </a:ln>
        </p:spPr>
      </p:sp>
      <p:sp>
        <p:nvSpPr>
          <p:cNvPr id="21" name="Text 15"/>
          <p:cNvSpPr txBox="1"/>
          <p:nvPr/>
        </p:nvSpPr>
        <p:spPr>
          <a:xfrm>
            <a:off x="7132320" y="1783080"/>
            <a:ext cx="4236415" cy="457200"/>
          </a:xfrm>
          <a:prstGeom prst="rect">
            <a:avLst/>
          </a:prstGeom>
          <a:noFill/>
          <a:ln/>
        </p:spPr>
        <p:txBody>
          <a:bodyPr wrap="square" lIns="0" tIns="0" rIns="0" bIns="0" rtlCol="0" anchor="ctr"/>
          <a:lstStyle/>
          <a:p>
            <a:pPr indent="0" marL="0">
              <a:buNone/>
            </a:pPr>
            <a:r>
              <a:rPr lang="en-US" sz="1900" b="1" dirty="0">
                <a:solidFill>
                  <a:srgbClr val="0A032B"/>
                </a:solidFill>
                <a:latin typeface="Montserrat" pitchFamily="34" charset="0"/>
                <a:ea typeface="Montserrat" pitchFamily="34" charset="-122"/>
                <a:cs typeface="Montserrat" pitchFamily="34" charset="-120"/>
              </a:rPr>
              <a:t>Mes 3 engagements</a:t>
            </a:r>
            <a:endParaRPr lang="en-US" sz="1900" dirty="0"/>
          </a:p>
        </p:txBody>
      </p:sp>
      <p:sp>
        <p:nvSpPr>
          <p:cNvPr id="22" name="Shape 16"/>
          <p:cNvSpPr/>
          <p:nvPr/>
        </p:nvSpPr>
        <p:spPr>
          <a:xfrm>
            <a:off x="7132320" y="2468880"/>
            <a:ext cx="502920" cy="502920"/>
          </a:xfrm>
          <a:prstGeom prst="ellipse">
            <a:avLst/>
          </a:prstGeom>
          <a:solidFill>
            <a:srgbClr val="0A032B"/>
          </a:solidFill>
          <a:ln w="12700">
            <a:solidFill>
              <a:srgbClr val="0A032B"/>
            </a:solidFill>
            <a:prstDash val="solid"/>
          </a:ln>
        </p:spPr>
      </p:sp>
      <p:sp>
        <p:nvSpPr>
          <p:cNvPr id="23" name="Text 17"/>
          <p:cNvSpPr txBox="1"/>
          <p:nvPr/>
        </p:nvSpPr>
        <p:spPr>
          <a:xfrm>
            <a:off x="7132320" y="2468880"/>
            <a:ext cx="502920" cy="502920"/>
          </a:xfrm>
          <a:prstGeom prst="rect">
            <a:avLst/>
          </a:prstGeom>
          <a:noFill/>
          <a:ln/>
        </p:spPr>
        <p:txBody>
          <a:bodyPr wrap="square" lIns="0" tIns="0" rIns="0" bIns="0" rtlCol="0" anchor="ctr"/>
          <a:lstStyle/>
          <a:p>
            <a:pPr algn="ctr" indent="0" marL="0">
              <a:buNone/>
            </a:pPr>
            <a:r>
              <a:rPr lang="en-US" sz="1800" b="1" dirty="0">
                <a:solidFill>
                  <a:srgbClr val="F0EF96"/>
                </a:solidFill>
                <a:latin typeface="Montserrat" pitchFamily="34" charset="0"/>
                <a:ea typeface="Montserrat" pitchFamily="34" charset="-122"/>
                <a:cs typeface="Montserrat" pitchFamily="34" charset="-120"/>
              </a:rPr>
              <a:t>1</a:t>
            </a:r>
            <a:endParaRPr lang="en-US" sz="1800" dirty="0"/>
          </a:p>
        </p:txBody>
      </p:sp>
      <p:sp>
        <p:nvSpPr>
          <p:cNvPr id="24" name="Text 18"/>
          <p:cNvSpPr txBox="1"/>
          <p:nvPr/>
        </p:nvSpPr>
        <p:spPr>
          <a:xfrm>
            <a:off x="7818120" y="2395728"/>
            <a:ext cx="3596335" cy="868680"/>
          </a:xfrm>
          <a:prstGeom prst="rect">
            <a:avLst/>
          </a:prstGeom>
          <a:noFill/>
          <a:ln/>
        </p:spPr>
        <p:txBody>
          <a:bodyPr wrap="square" lIns="0" tIns="0" rIns="0" bIns="0" rtlCol="0" anchor="t"/>
          <a:lstStyle/>
          <a:p>
            <a:pPr indent="0" marL="0">
              <a:buNone/>
            </a:pPr>
            <a:r>
              <a:rPr lang="en-US" sz="1400" b="1" dirty="0">
                <a:solidFill>
                  <a:srgbClr val="0A032B"/>
                </a:solidFill>
                <a:latin typeface="Montserrat" pitchFamily="34" charset="0"/>
                <a:ea typeface="Montserrat" pitchFamily="34" charset="-122"/>
                <a:cs typeface="Montserrat" pitchFamily="34" charset="-120"/>
              </a:rPr>
              <a:t>Pour ma santé</a:t>
            </a:r>
            <a:endParaRPr lang="en-US" sz="1400" dirty="0"/>
          </a:p>
          <a:p>
            <a:pPr indent="0" marL="0">
              <a:buNone/>
            </a:pPr>
            <a:r>
              <a:rPr lang="en-US" sz="1250" dirty="0">
                <a:solidFill>
                  <a:srgbClr val="35305C"/>
                </a:solidFill>
                <a:latin typeface="Arial" pitchFamily="34" charset="0"/>
                <a:ea typeface="Arial" pitchFamily="34" charset="-122"/>
                <a:cs typeface="Arial" pitchFamily="34" charset="-120"/>
              </a:rPr>
              <a:t>un geste ou une habitude que je change dès demain</a:t>
            </a:r>
            <a:endParaRPr lang="en-US" sz="1400" dirty="0"/>
          </a:p>
        </p:txBody>
      </p:sp>
      <p:sp>
        <p:nvSpPr>
          <p:cNvPr id="25" name="Shape 19"/>
          <p:cNvSpPr/>
          <p:nvPr/>
        </p:nvSpPr>
        <p:spPr>
          <a:xfrm>
            <a:off x="7132320" y="3547872"/>
            <a:ext cx="502920" cy="502920"/>
          </a:xfrm>
          <a:prstGeom prst="ellipse">
            <a:avLst/>
          </a:prstGeom>
          <a:solidFill>
            <a:srgbClr val="0A032B"/>
          </a:solidFill>
          <a:ln w="12700">
            <a:solidFill>
              <a:srgbClr val="0A032B"/>
            </a:solidFill>
            <a:prstDash val="solid"/>
          </a:ln>
        </p:spPr>
      </p:sp>
      <p:sp>
        <p:nvSpPr>
          <p:cNvPr id="26" name="Text 20"/>
          <p:cNvSpPr txBox="1"/>
          <p:nvPr/>
        </p:nvSpPr>
        <p:spPr>
          <a:xfrm>
            <a:off x="7132320" y="3547872"/>
            <a:ext cx="502920" cy="502920"/>
          </a:xfrm>
          <a:prstGeom prst="rect">
            <a:avLst/>
          </a:prstGeom>
          <a:noFill/>
          <a:ln/>
        </p:spPr>
        <p:txBody>
          <a:bodyPr wrap="square" lIns="0" tIns="0" rIns="0" bIns="0" rtlCol="0" anchor="ctr"/>
          <a:lstStyle/>
          <a:p>
            <a:pPr algn="ctr" indent="0" marL="0">
              <a:buNone/>
            </a:pPr>
            <a:r>
              <a:rPr lang="en-US" sz="1800" b="1" dirty="0">
                <a:solidFill>
                  <a:srgbClr val="F0EF96"/>
                </a:solidFill>
                <a:latin typeface="Montserrat" pitchFamily="34" charset="0"/>
                <a:ea typeface="Montserrat" pitchFamily="34" charset="-122"/>
                <a:cs typeface="Montserrat" pitchFamily="34" charset="-120"/>
              </a:rPr>
              <a:t>2</a:t>
            </a:r>
            <a:endParaRPr lang="en-US" sz="1800" dirty="0"/>
          </a:p>
        </p:txBody>
      </p:sp>
      <p:sp>
        <p:nvSpPr>
          <p:cNvPr id="27" name="Text 21"/>
          <p:cNvSpPr txBox="1"/>
          <p:nvPr/>
        </p:nvSpPr>
        <p:spPr>
          <a:xfrm>
            <a:off x="7818120" y="3474720"/>
            <a:ext cx="3596335" cy="868680"/>
          </a:xfrm>
          <a:prstGeom prst="rect">
            <a:avLst/>
          </a:prstGeom>
          <a:noFill/>
          <a:ln/>
        </p:spPr>
        <p:txBody>
          <a:bodyPr wrap="square" lIns="0" tIns="0" rIns="0" bIns="0" rtlCol="0" anchor="t"/>
          <a:lstStyle/>
          <a:p>
            <a:pPr indent="0" marL="0">
              <a:buNone/>
            </a:pPr>
            <a:r>
              <a:rPr lang="en-US" sz="1400" b="1" dirty="0">
                <a:solidFill>
                  <a:srgbClr val="0A032B"/>
                </a:solidFill>
                <a:latin typeface="Montserrat" pitchFamily="34" charset="0"/>
                <a:ea typeface="Montserrat" pitchFamily="34" charset="-122"/>
                <a:cs typeface="Montserrat" pitchFamily="34" charset="-120"/>
              </a:rPr>
              <a:t>Dans mon mandat</a:t>
            </a:r>
            <a:endParaRPr lang="en-US" sz="1400" dirty="0"/>
          </a:p>
          <a:p>
            <a:pPr indent="0" marL="0">
              <a:buNone/>
            </a:pPr>
            <a:r>
              <a:rPr lang="en-US" sz="1250" dirty="0">
                <a:solidFill>
                  <a:srgbClr val="35305C"/>
                </a:solidFill>
                <a:latin typeface="Arial" pitchFamily="34" charset="0"/>
                <a:ea typeface="Arial" pitchFamily="34" charset="-122"/>
                <a:cs typeface="Arial" pitchFamily="34" charset="-120"/>
              </a:rPr>
              <a:t>une situation que j'organise autrement</a:t>
            </a:r>
            <a:endParaRPr lang="en-US" sz="1400" dirty="0"/>
          </a:p>
        </p:txBody>
      </p:sp>
      <p:sp>
        <p:nvSpPr>
          <p:cNvPr id="28" name="Shape 22"/>
          <p:cNvSpPr/>
          <p:nvPr/>
        </p:nvSpPr>
        <p:spPr>
          <a:xfrm>
            <a:off x="7132320" y="4626864"/>
            <a:ext cx="502920" cy="502920"/>
          </a:xfrm>
          <a:prstGeom prst="ellipse">
            <a:avLst/>
          </a:prstGeom>
          <a:solidFill>
            <a:srgbClr val="0A032B"/>
          </a:solidFill>
          <a:ln w="12700">
            <a:solidFill>
              <a:srgbClr val="0A032B"/>
            </a:solidFill>
            <a:prstDash val="solid"/>
          </a:ln>
        </p:spPr>
      </p:sp>
      <p:sp>
        <p:nvSpPr>
          <p:cNvPr id="29" name="Text 23"/>
          <p:cNvSpPr txBox="1"/>
          <p:nvPr/>
        </p:nvSpPr>
        <p:spPr>
          <a:xfrm>
            <a:off x="7132320" y="4626864"/>
            <a:ext cx="502920" cy="502920"/>
          </a:xfrm>
          <a:prstGeom prst="rect">
            <a:avLst/>
          </a:prstGeom>
          <a:noFill/>
          <a:ln/>
        </p:spPr>
        <p:txBody>
          <a:bodyPr wrap="square" lIns="0" tIns="0" rIns="0" bIns="0" rtlCol="0" anchor="ctr"/>
          <a:lstStyle/>
          <a:p>
            <a:pPr algn="ctr" indent="0" marL="0">
              <a:buNone/>
            </a:pPr>
            <a:r>
              <a:rPr lang="en-US" sz="1800" b="1" dirty="0">
                <a:solidFill>
                  <a:srgbClr val="F0EF96"/>
                </a:solidFill>
                <a:latin typeface="Montserrat" pitchFamily="34" charset="0"/>
                <a:ea typeface="Montserrat" pitchFamily="34" charset="-122"/>
                <a:cs typeface="Montserrat" pitchFamily="34" charset="-120"/>
              </a:rPr>
              <a:t>3</a:t>
            </a:r>
            <a:endParaRPr lang="en-US" sz="1800" dirty="0"/>
          </a:p>
        </p:txBody>
      </p:sp>
      <p:sp>
        <p:nvSpPr>
          <p:cNvPr id="30" name="Text 24"/>
          <p:cNvSpPr txBox="1"/>
          <p:nvPr/>
        </p:nvSpPr>
        <p:spPr>
          <a:xfrm>
            <a:off x="7818120" y="4553712"/>
            <a:ext cx="3596335" cy="868680"/>
          </a:xfrm>
          <a:prstGeom prst="rect">
            <a:avLst/>
          </a:prstGeom>
          <a:noFill/>
          <a:ln/>
        </p:spPr>
        <p:txBody>
          <a:bodyPr wrap="square" lIns="0" tIns="0" rIns="0" bIns="0" rtlCol="0" anchor="t"/>
          <a:lstStyle/>
          <a:p>
            <a:pPr indent="0" marL="0">
              <a:buNone/>
            </a:pPr>
            <a:r>
              <a:rPr lang="en-US" sz="1400" b="1" dirty="0">
                <a:solidFill>
                  <a:srgbClr val="0A032B"/>
                </a:solidFill>
                <a:latin typeface="Montserrat" pitchFamily="34" charset="0"/>
                <a:ea typeface="Montserrat" pitchFamily="34" charset="-122"/>
                <a:cs typeface="Montserrat" pitchFamily="34" charset="-120"/>
              </a:rPr>
              <a:t>Pour les agents</a:t>
            </a:r>
            <a:endParaRPr lang="en-US" sz="1400" dirty="0"/>
          </a:p>
          <a:p>
            <a:pPr indent="0" marL="0">
              <a:buNone/>
            </a:pPr>
            <a:r>
              <a:rPr lang="en-US" sz="1250" dirty="0">
                <a:solidFill>
                  <a:srgbClr val="35305C"/>
                </a:solidFill>
                <a:latin typeface="Arial" pitchFamily="34" charset="0"/>
                <a:ea typeface="Arial" pitchFamily="34" charset="-122"/>
                <a:cs typeface="Arial" pitchFamily="34" charset="-120"/>
              </a:rPr>
              <a:t>une action que je porte dans ma collectivité</a:t>
            </a:r>
            <a:endParaRPr lang="en-US" sz="1400" dirty="0"/>
          </a:p>
        </p:txBody>
      </p:sp>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235440" cy="685800"/>
          </a:xfrm>
          <a:prstGeom prst="rect">
            <a:avLst/>
          </a:prstGeom>
          <a:noFill/>
          <a:ln/>
        </p:spPr>
        <p:txBody>
          <a:bodyPr wrap="square" lIns="0" tIns="0" rIns="0" bIns="0" rtlCol="0" anchor="ctr"/>
          <a:lstStyle/>
          <a:p>
            <a:pPr indent="0" marL="0">
              <a:buNone/>
            </a:pPr>
            <a:r>
              <a:rPr lang="en-US" sz="2800" b="1" dirty="0">
                <a:solidFill>
                  <a:srgbClr val="0A032B"/>
                </a:solidFill>
                <a:latin typeface="Montserrat" pitchFamily="34" charset="0"/>
                <a:ea typeface="Montserrat" pitchFamily="34" charset="-122"/>
                <a:cs typeface="Montserrat" pitchFamily="34" charset="-120"/>
              </a:rPr>
              <a:t>Évaluation des acquis : QCM</a:t>
            </a:r>
            <a:endParaRPr lang="en-US" sz="2800" dirty="0"/>
          </a:p>
        </p:txBody>
      </p:sp>
      <p:sp>
        <p:nvSpPr>
          <p:cNvPr id="3" name="Shape 1"/>
          <p:cNvSpPr/>
          <p:nvPr/>
        </p:nvSpPr>
        <p:spPr>
          <a:xfrm>
            <a:off x="10042855" y="530352"/>
            <a:ext cx="1600200" cy="347472"/>
          </a:xfrm>
          <a:prstGeom prst="roundRect">
            <a:avLst>
              <a:gd name="adj" fmla="val 50000"/>
            </a:avLst>
          </a:prstGeom>
          <a:solidFill>
            <a:srgbClr val="35305C"/>
          </a:solidFill>
          <a:ln w="12700">
            <a:solidFill>
              <a:srgbClr val="35305C"/>
            </a:solidFill>
            <a:prstDash val="solid"/>
          </a:ln>
        </p:spPr>
      </p:sp>
      <p:sp>
        <p:nvSpPr>
          <p:cNvPr id="4" name="Text 2"/>
          <p:cNvSpPr txBox="1"/>
          <p:nvPr/>
        </p:nvSpPr>
        <p:spPr>
          <a:xfrm>
            <a:off x="10042855" y="530352"/>
            <a:ext cx="1600200" cy="347472"/>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Montserrat" pitchFamily="34" charset="0"/>
                <a:ea typeface="Montserrat" pitchFamily="34" charset="-122"/>
                <a:cs typeface="Montserrat" pitchFamily="34" charset="-120"/>
              </a:rPr>
              <a:t>ÉVALUATION</a:t>
            </a:r>
            <a:endParaRPr lang="en-US" sz="1100" dirty="0"/>
          </a:p>
        </p:txBody>
      </p:sp>
      <p:sp>
        <p:nvSpPr>
          <p:cNvPr id="5" name="Text 3"/>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5E5A78"/>
                </a:solidFill>
                <a:latin typeface="Arial" pitchFamily="34" charset="0"/>
                <a:ea typeface="Arial" pitchFamily="34" charset="-122"/>
                <a:cs typeface="Arial" pitchFamily="34" charset="-120"/>
              </a:rPr>
              <a:t>Gestes et postures de l'élu  ·  Évaluation</a:t>
            </a:r>
            <a:endParaRPr lang="en-US" sz="900" dirty="0"/>
          </a:p>
        </p:txBody>
      </p:sp>
      <p:pic>
        <p:nvPicPr>
          <p:cNvPr id="6" name="Image 0" descr="logo_light.png">    </p:cNvPr>
          <p:cNvPicPr>
            <a:picLocks noChangeAspect="1"/>
          </p:cNvPicPr>
          <p:nvPr/>
        </p:nvPicPr>
        <p:blipFill>
          <a:blip r:embed="rId1"/>
          <a:stretch>
            <a:fillRect/>
          </a:stretch>
        </p:blipFill>
        <p:spPr>
          <a:xfrm>
            <a:off x="10682935" y="6236208"/>
            <a:ext cx="960120" cy="398441"/>
          </a:xfrm>
          <a:prstGeom prst="rect">
            <a:avLst/>
          </a:prstGeom>
        </p:spPr>
      </p:pic>
      <p:sp>
        <p:nvSpPr>
          <p:cNvPr id="7" name="Shape 4"/>
          <p:cNvSpPr/>
          <p:nvPr/>
        </p:nvSpPr>
        <p:spPr>
          <a:xfrm>
            <a:off x="548640" y="1463040"/>
            <a:ext cx="3515258" cy="2194560"/>
          </a:xfrm>
          <a:prstGeom prst="roundRect">
            <a:avLst>
              <a:gd name="adj" fmla="val 3333"/>
            </a:avLst>
          </a:prstGeom>
          <a:solidFill>
            <a:srgbClr val="0A032B"/>
          </a:solidFill>
          <a:ln w="12700">
            <a:solidFill>
              <a:srgbClr val="0A032B"/>
            </a:solidFill>
            <a:prstDash val="solid"/>
          </a:ln>
        </p:spPr>
      </p:sp>
      <p:sp>
        <p:nvSpPr>
          <p:cNvPr id="8" name="Text 5"/>
          <p:cNvSpPr txBox="1"/>
          <p:nvPr/>
        </p:nvSpPr>
        <p:spPr>
          <a:xfrm>
            <a:off x="822960" y="1600200"/>
            <a:ext cx="2966618" cy="1188720"/>
          </a:xfrm>
          <a:prstGeom prst="rect">
            <a:avLst/>
          </a:prstGeom>
          <a:noFill/>
          <a:ln/>
        </p:spPr>
        <p:txBody>
          <a:bodyPr wrap="square" lIns="0" tIns="0" rIns="0" bIns="0" rtlCol="0" anchor="ctr"/>
          <a:lstStyle/>
          <a:p>
            <a:pPr indent="0" marL="0">
              <a:buNone/>
            </a:pPr>
            <a:r>
              <a:rPr lang="en-US" sz="6400" b="1" dirty="0">
                <a:solidFill>
                  <a:srgbClr val="F0EF96"/>
                </a:solidFill>
                <a:latin typeface="Montserrat" pitchFamily="34" charset="0"/>
                <a:ea typeface="Montserrat" pitchFamily="34" charset="-122"/>
                <a:cs typeface="Montserrat" pitchFamily="34" charset="-120"/>
              </a:rPr>
              <a:t>15</a:t>
            </a:r>
            <a:endParaRPr lang="en-US" sz="6400" dirty="0"/>
          </a:p>
        </p:txBody>
      </p:sp>
      <p:sp>
        <p:nvSpPr>
          <p:cNvPr id="9" name="Text 6"/>
          <p:cNvSpPr txBox="1"/>
          <p:nvPr/>
        </p:nvSpPr>
        <p:spPr>
          <a:xfrm>
            <a:off x="822960" y="2788920"/>
            <a:ext cx="2966618" cy="64008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questions à choix multiple</a:t>
            </a:r>
            <a:endParaRPr lang="en-US" sz="1600" dirty="0"/>
          </a:p>
        </p:txBody>
      </p:sp>
      <p:sp>
        <p:nvSpPr>
          <p:cNvPr id="10" name="Shape 7"/>
          <p:cNvSpPr/>
          <p:nvPr/>
        </p:nvSpPr>
        <p:spPr>
          <a:xfrm>
            <a:off x="4338218" y="1463040"/>
            <a:ext cx="3515258" cy="2194560"/>
          </a:xfrm>
          <a:prstGeom prst="roundRect">
            <a:avLst>
              <a:gd name="adj" fmla="val 3333"/>
            </a:avLst>
          </a:prstGeom>
          <a:solidFill>
            <a:srgbClr val="EEEDF5"/>
          </a:solidFill>
          <a:ln w="12700">
            <a:solidFill>
              <a:srgbClr val="EEEDF5"/>
            </a:solidFill>
            <a:prstDash val="solid"/>
          </a:ln>
        </p:spPr>
      </p:sp>
      <p:sp>
        <p:nvSpPr>
          <p:cNvPr id="11" name="Text 8"/>
          <p:cNvSpPr txBox="1"/>
          <p:nvPr/>
        </p:nvSpPr>
        <p:spPr>
          <a:xfrm>
            <a:off x="4612538" y="1600200"/>
            <a:ext cx="2966618" cy="1188720"/>
          </a:xfrm>
          <a:prstGeom prst="rect">
            <a:avLst/>
          </a:prstGeom>
          <a:noFill/>
          <a:ln/>
        </p:spPr>
        <p:txBody>
          <a:bodyPr wrap="square" lIns="0" tIns="0" rIns="0" bIns="0" rtlCol="0" anchor="ctr"/>
          <a:lstStyle/>
          <a:p>
            <a:pPr indent="0" marL="0">
              <a:buNone/>
            </a:pPr>
            <a:r>
              <a:rPr lang="en-US" sz="6400" b="1" dirty="0">
                <a:solidFill>
                  <a:srgbClr val="0A032B"/>
                </a:solidFill>
                <a:latin typeface="Montserrat" pitchFamily="34" charset="0"/>
                <a:ea typeface="Montserrat" pitchFamily="34" charset="-122"/>
                <a:cs typeface="Montserrat" pitchFamily="34" charset="-120"/>
              </a:rPr>
              <a:t>20</a:t>
            </a:r>
            <a:endParaRPr lang="en-US" sz="6400" dirty="0"/>
          </a:p>
        </p:txBody>
      </p:sp>
      <p:sp>
        <p:nvSpPr>
          <p:cNvPr id="12" name="Text 9"/>
          <p:cNvSpPr txBox="1"/>
          <p:nvPr/>
        </p:nvSpPr>
        <p:spPr>
          <a:xfrm>
            <a:off x="4612538" y="2788920"/>
            <a:ext cx="2966618" cy="640080"/>
          </a:xfrm>
          <a:prstGeom prst="rect">
            <a:avLst/>
          </a:prstGeom>
          <a:noFill/>
          <a:ln/>
        </p:spPr>
        <p:txBody>
          <a:bodyPr wrap="square" lIns="0" tIns="0" rIns="0" bIns="0" rtlCol="0" anchor="ctr"/>
          <a:lstStyle/>
          <a:p>
            <a:pPr indent="0" marL="0">
              <a:buNone/>
            </a:pPr>
            <a:r>
              <a:rPr lang="en-US" sz="1600" dirty="0">
                <a:solidFill>
                  <a:srgbClr val="35305C"/>
                </a:solidFill>
                <a:latin typeface="Arial" pitchFamily="34" charset="0"/>
                <a:ea typeface="Arial" pitchFamily="34" charset="-122"/>
                <a:cs typeface="Arial" pitchFamily="34" charset="-120"/>
              </a:rPr>
              <a:t>minutes</a:t>
            </a:r>
            <a:endParaRPr lang="en-US" sz="1600" dirty="0"/>
          </a:p>
        </p:txBody>
      </p:sp>
      <p:sp>
        <p:nvSpPr>
          <p:cNvPr id="13" name="Shape 10"/>
          <p:cNvSpPr/>
          <p:nvPr/>
        </p:nvSpPr>
        <p:spPr>
          <a:xfrm>
            <a:off x="8127797" y="1463040"/>
            <a:ext cx="3515258" cy="2194560"/>
          </a:xfrm>
          <a:prstGeom prst="roundRect">
            <a:avLst>
              <a:gd name="adj" fmla="val 3333"/>
            </a:avLst>
          </a:prstGeom>
          <a:solidFill>
            <a:srgbClr val="EEEDF5"/>
          </a:solidFill>
          <a:ln w="12700">
            <a:solidFill>
              <a:srgbClr val="EEEDF5"/>
            </a:solidFill>
            <a:prstDash val="solid"/>
          </a:ln>
        </p:spPr>
      </p:sp>
      <p:sp>
        <p:nvSpPr>
          <p:cNvPr id="14" name="Text 11"/>
          <p:cNvSpPr txBox="1"/>
          <p:nvPr/>
        </p:nvSpPr>
        <p:spPr>
          <a:xfrm>
            <a:off x="8402117" y="1600200"/>
            <a:ext cx="2966618" cy="1188720"/>
          </a:xfrm>
          <a:prstGeom prst="rect">
            <a:avLst/>
          </a:prstGeom>
          <a:noFill/>
          <a:ln/>
        </p:spPr>
        <p:txBody>
          <a:bodyPr wrap="square" lIns="0" tIns="0" rIns="0" bIns="0" rtlCol="0" anchor="ctr"/>
          <a:lstStyle/>
          <a:p>
            <a:pPr indent="0" marL="0">
              <a:buNone/>
            </a:pPr>
            <a:r>
              <a:rPr lang="en-US" sz="6400" b="1" dirty="0">
                <a:solidFill>
                  <a:srgbClr val="0A032B"/>
                </a:solidFill>
                <a:latin typeface="Montserrat" pitchFamily="34" charset="0"/>
                <a:ea typeface="Montserrat" pitchFamily="34" charset="-122"/>
                <a:cs typeface="Montserrat" pitchFamily="34" charset="-120"/>
              </a:rPr>
              <a:t>6</a:t>
            </a:r>
            <a:endParaRPr lang="en-US" sz="6400" dirty="0"/>
          </a:p>
        </p:txBody>
      </p:sp>
      <p:sp>
        <p:nvSpPr>
          <p:cNvPr id="15" name="Text 12"/>
          <p:cNvSpPr txBox="1"/>
          <p:nvPr/>
        </p:nvSpPr>
        <p:spPr>
          <a:xfrm>
            <a:off x="8402117" y="2788920"/>
            <a:ext cx="2966618" cy="640080"/>
          </a:xfrm>
          <a:prstGeom prst="rect">
            <a:avLst/>
          </a:prstGeom>
          <a:noFill/>
          <a:ln/>
        </p:spPr>
        <p:txBody>
          <a:bodyPr wrap="square" lIns="0" tIns="0" rIns="0" bIns="0" rtlCol="0" anchor="ctr"/>
          <a:lstStyle/>
          <a:p>
            <a:pPr indent="0" marL="0">
              <a:buNone/>
            </a:pPr>
            <a:r>
              <a:rPr lang="en-US" sz="1600" dirty="0">
                <a:solidFill>
                  <a:srgbClr val="35305C"/>
                </a:solidFill>
                <a:latin typeface="Arial" pitchFamily="34" charset="0"/>
                <a:ea typeface="Arial" pitchFamily="34" charset="-122"/>
                <a:cs typeface="Arial" pitchFamily="34" charset="-120"/>
              </a:rPr>
              <a:t>compétences évaluées</a:t>
            </a:r>
            <a:endParaRPr lang="en-US" sz="1600" dirty="0"/>
          </a:p>
        </p:txBody>
      </p:sp>
      <p:sp>
        <p:nvSpPr>
          <p:cNvPr id="16" name="Shape 13"/>
          <p:cNvSpPr/>
          <p:nvPr/>
        </p:nvSpPr>
        <p:spPr>
          <a:xfrm>
            <a:off x="548640" y="4069080"/>
            <a:ext cx="548640" cy="548640"/>
          </a:xfrm>
          <a:prstGeom prst="ellipse">
            <a:avLst/>
          </a:prstGeom>
          <a:solidFill>
            <a:srgbClr val="F0EF96"/>
          </a:solidFill>
          <a:ln w="12700">
            <a:solidFill>
              <a:srgbClr val="F0EF96"/>
            </a:solidFill>
            <a:prstDash val="solid"/>
          </a:ln>
        </p:spPr>
      </p:sp>
      <p:pic>
        <p:nvPicPr>
          <p:cNvPr id="17" name="Image 1" descr="preencoded.png">    </p:cNvPr>
          <p:cNvPicPr>
            <a:picLocks noChangeAspect="1"/>
          </p:cNvPicPr>
          <p:nvPr/>
        </p:nvPicPr>
        <p:blipFill>
          <a:blip r:embed="rId2"/>
          <a:stretch>
            <a:fillRect/>
          </a:stretch>
        </p:blipFill>
        <p:spPr>
          <a:xfrm>
            <a:off x="685800" y="4206240"/>
            <a:ext cx="274320" cy="274320"/>
          </a:xfrm>
          <a:prstGeom prst="rect">
            <a:avLst/>
          </a:prstGeom>
        </p:spPr>
      </p:pic>
      <p:sp>
        <p:nvSpPr>
          <p:cNvPr id="18" name="Text 14"/>
          <p:cNvSpPr txBox="1"/>
          <p:nvPr/>
        </p:nvSpPr>
        <p:spPr>
          <a:xfrm>
            <a:off x="1280160" y="4023360"/>
            <a:ext cx="10362895" cy="1005840"/>
          </a:xfrm>
          <a:prstGeom prst="rect">
            <a:avLst/>
          </a:prstGeom>
          <a:noFill/>
          <a:ln/>
        </p:spPr>
        <p:txBody>
          <a:bodyPr wrap="square" lIns="0" tIns="0" rIns="0" bIns="0" rtlCol="0" anchor="t"/>
          <a:lstStyle/>
          <a:p>
            <a:pPr indent="0" marL="0">
              <a:buNone/>
            </a:pPr>
            <a:r>
              <a:rPr lang="en-US" sz="1600" b="1" dirty="0">
                <a:solidFill>
                  <a:srgbClr val="0A032B"/>
                </a:solidFill>
                <a:latin typeface="Montserrat" pitchFamily="34" charset="0"/>
                <a:ea typeface="Montserrat" pitchFamily="34" charset="-122"/>
                <a:cs typeface="Montserrat" pitchFamily="34" charset="-120"/>
              </a:rPr>
              <a:t>Consignes</a:t>
            </a:r>
            <a:endParaRPr lang="en-US" sz="1600" dirty="0"/>
          </a:p>
          <a:p>
            <a:pPr indent="0" marL="0">
              <a:buNone/>
            </a:pPr>
            <a:r>
              <a:rPr lang="en-US" sz="1400" dirty="0">
                <a:solidFill>
                  <a:srgbClr val="35305C"/>
                </a:solidFill>
                <a:latin typeface="Arial" pitchFamily="34" charset="0"/>
                <a:ea typeface="Arial" pitchFamily="34" charset="-122"/>
                <a:cs typeface="Arial" pitchFamily="34" charset="-120"/>
              </a:rPr>
              <a:t>Une seule bonne réponse par question. Travail individuel, sans le livret. Le questionnaire est corrigé collectivement ensuite.</a:t>
            </a:r>
            <a:endParaRPr lang="en-US" sz="1600" dirty="0"/>
          </a:p>
        </p:txBody>
      </p:sp>
      <p:sp>
        <p:nvSpPr>
          <p:cNvPr id="19" name="Shape 15"/>
          <p:cNvSpPr/>
          <p:nvPr/>
        </p:nvSpPr>
        <p:spPr>
          <a:xfrm>
            <a:off x="548640" y="5212080"/>
            <a:ext cx="548640" cy="548640"/>
          </a:xfrm>
          <a:prstGeom prst="ellipse">
            <a:avLst/>
          </a:prstGeom>
          <a:solidFill>
            <a:srgbClr val="F0EF96"/>
          </a:solidFill>
          <a:ln w="12700">
            <a:solidFill>
              <a:srgbClr val="F0EF96"/>
            </a:solidFill>
            <a:prstDash val="solid"/>
          </a:ln>
        </p:spPr>
      </p:sp>
      <p:pic>
        <p:nvPicPr>
          <p:cNvPr id="20" name="Image 2" descr="preencoded.png">    </p:cNvPr>
          <p:cNvPicPr>
            <a:picLocks noChangeAspect="1"/>
          </p:cNvPicPr>
          <p:nvPr/>
        </p:nvPicPr>
        <p:blipFill>
          <a:blip r:embed="rId3"/>
          <a:stretch>
            <a:fillRect/>
          </a:stretch>
        </p:blipFill>
        <p:spPr>
          <a:xfrm>
            <a:off x="685800" y="5349240"/>
            <a:ext cx="274320" cy="274320"/>
          </a:xfrm>
          <a:prstGeom prst="rect">
            <a:avLst/>
          </a:prstGeom>
        </p:spPr>
      </p:pic>
      <p:sp>
        <p:nvSpPr>
          <p:cNvPr id="21" name="Text 16"/>
          <p:cNvSpPr txBox="1"/>
          <p:nvPr/>
        </p:nvSpPr>
        <p:spPr>
          <a:xfrm>
            <a:off x="1280160" y="5166360"/>
            <a:ext cx="10362895" cy="914400"/>
          </a:xfrm>
          <a:prstGeom prst="rect">
            <a:avLst/>
          </a:prstGeom>
          <a:noFill/>
          <a:ln/>
        </p:spPr>
        <p:txBody>
          <a:bodyPr wrap="square" lIns="0" tIns="0" rIns="0" bIns="0" rtlCol="0" anchor="t"/>
          <a:lstStyle/>
          <a:p>
            <a:pPr indent="0" marL="0">
              <a:buNone/>
            </a:pPr>
            <a:r>
              <a:rPr lang="en-US" sz="1600" b="1" dirty="0">
                <a:solidFill>
                  <a:srgbClr val="0A032B"/>
                </a:solidFill>
                <a:latin typeface="Montserrat" pitchFamily="34" charset="0"/>
                <a:ea typeface="Montserrat" pitchFamily="34" charset="-122"/>
                <a:cs typeface="Montserrat" pitchFamily="34" charset="-120"/>
              </a:rPr>
              <a:t>Évaluation pratique</a:t>
            </a:r>
            <a:endParaRPr lang="en-US" sz="1600" dirty="0"/>
          </a:p>
          <a:p>
            <a:pPr indent="0" marL="0">
              <a:buNone/>
            </a:pPr>
            <a:r>
              <a:rPr lang="en-US" sz="1400" dirty="0">
                <a:solidFill>
                  <a:srgbClr val="35305C"/>
                </a:solidFill>
                <a:latin typeface="Arial" pitchFamily="34" charset="0"/>
                <a:ea typeface="Arial" pitchFamily="34" charset="-122"/>
                <a:cs typeface="Arial" pitchFamily="34" charset="-120"/>
              </a:rPr>
              <a:t>Elle a été réalisée pendant les ateliers de la séquence 7, à l'aide de la grille d'évaluation pratique.</a:t>
            </a:r>
            <a:endParaRPr lang="en-US" sz="1600" dirty="0"/>
          </a:p>
        </p:txBody>
      </p:sp>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235440" cy="685800"/>
          </a:xfrm>
          <a:prstGeom prst="rect">
            <a:avLst/>
          </a:prstGeom>
          <a:noFill/>
          <a:ln/>
        </p:spPr>
        <p:txBody>
          <a:bodyPr wrap="square" lIns="0" tIns="0" rIns="0" bIns="0" rtlCol="0" anchor="ctr"/>
          <a:lstStyle/>
          <a:p>
            <a:pPr indent="0" marL="0">
              <a:buNone/>
            </a:pPr>
            <a:r>
              <a:rPr lang="en-US" sz="2800" b="1" dirty="0">
                <a:solidFill>
                  <a:srgbClr val="0A032B"/>
                </a:solidFill>
                <a:latin typeface="Montserrat" pitchFamily="34" charset="0"/>
                <a:ea typeface="Montserrat" pitchFamily="34" charset="-122"/>
                <a:cs typeface="Montserrat" pitchFamily="34" charset="-120"/>
              </a:rPr>
              <a:t>Correction collective du QCM (1/3)</a:t>
            </a:r>
            <a:endParaRPr lang="en-US" sz="2800" dirty="0"/>
          </a:p>
        </p:txBody>
      </p:sp>
      <p:sp>
        <p:nvSpPr>
          <p:cNvPr id="3" name="Shape 1"/>
          <p:cNvSpPr/>
          <p:nvPr/>
        </p:nvSpPr>
        <p:spPr>
          <a:xfrm>
            <a:off x="10042855" y="530352"/>
            <a:ext cx="1600200" cy="347472"/>
          </a:xfrm>
          <a:prstGeom prst="roundRect">
            <a:avLst>
              <a:gd name="adj" fmla="val 50000"/>
            </a:avLst>
          </a:prstGeom>
          <a:solidFill>
            <a:srgbClr val="35305C"/>
          </a:solidFill>
          <a:ln w="12700">
            <a:solidFill>
              <a:srgbClr val="35305C"/>
            </a:solidFill>
            <a:prstDash val="solid"/>
          </a:ln>
        </p:spPr>
      </p:sp>
      <p:sp>
        <p:nvSpPr>
          <p:cNvPr id="4" name="Text 2"/>
          <p:cNvSpPr txBox="1"/>
          <p:nvPr/>
        </p:nvSpPr>
        <p:spPr>
          <a:xfrm>
            <a:off x="10042855" y="530352"/>
            <a:ext cx="1600200" cy="347472"/>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Montserrat" pitchFamily="34" charset="0"/>
                <a:ea typeface="Montserrat" pitchFamily="34" charset="-122"/>
                <a:cs typeface="Montserrat" pitchFamily="34" charset="-120"/>
              </a:rPr>
              <a:t>ÉVALUATION</a:t>
            </a:r>
            <a:endParaRPr lang="en-US" sz="1100" dirty="0"/>
          </a:p>
        </p:txBody>
      </p:sp>
      <p:sp>
        <p:nvSpPr>
          <p:cNvPr id="5" name="Text 3"/>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5E5A78"/>
                </a:solidFill>
                <a:latin typeface="Arial" pitchFamily="34" charset="0"/>
                <a:ea typeface="Arial" pitchFamily="34" charset="-122"/>
                <a:cs typeface="Arial" pitchFamily="34" charset="-120"/>
              </a:rPr>
              <a:t>Gestes et postures de l'élu  ·  Évaluation</a:t>
            </a:r>
            <a:endParaRPr lang="en-US" sz="900" dirty="0"/>
          </a:p>
        </p:txBody>
      </p:sp>
      <p:pic>
        <p:nvPicPr>
          <p:cNvPr id="6" name="Image 0" descr="logo_light.png">    </p:cNvPr>
          <p:cNvPicPr>
            <a:picLocks noChangeAspect="1"/>
          </p:cNvPicPr>
          <p:nvPr/>
        </p:nvPicPr>
        <p:blipFill>
          <a:blip r:embed="rId1"/>
          <a:stretch>
            <a:fillRect/>
          </a:stretch>
        </p:blipFill>
        <p:spPr>
          <a:xfrm>
            <a:off x="10682935" y="6236208"/>
            <a:ext cx="960120" cy="398441"/>
          </a:xfrm>
          <a:prstGeom prst="rect">
            <a:avLst/>
          </a:prstGeom>
        </p:spPr>
      </p:pic>
      <p:sp>
        <p:nvSpPr>
          <p:cNvPr id="7" name="Shape 4"/>
          <p:cNvSpPr/>
          <p:nvPr/>
        </p:nvSpPr>
        <p:spPr>
          <a:xfrm>
            <a:off x="548640" y="1371600"/>
            <a:ext cx="11094415" cy="822960"/>
          </a:xfrm>
          <a:prstGeom prst="roundRect">
            <a:avLst>
              <a:gd name="adj" fmla="val 8889"/>
            </a:avLst>
          </a:prstGeom>
          <a:solidFill>
            <a:srgbClr val="EEEDF5"/>
          </a:solidFill>
          <a:ln w="12700">
            <a:solidFill>
              <a:srgbClr val="EEEDF5"/>
            </a:solidFill>
            <a:prstDash val="solid"/>
          </a:ln>
        </p:spPr>
      </p:sp>
      <p:sp>
        <p:nvSpPr>
          <p:cNvPr id="8" name="Shape 5"/>
          <p:cNvSpPr/>
          <p:nvPr/>
        </p:nvSpPr>
        <p:spPr>
          <a:xfrm>
            <a:off x="731520" y="1545336"/>
            <a:ext cx="475488" cy="475488"/>
          </a:xfrm>
          <a:prstGeom prst="ellipse">
            <a:avLst/>
          </a:prstGeom>
          <a:solidFill>
            <a:srgbClr val="0A032B"/>
          </a:solidFill>
          <a:ln w="12700">
            <a:solidFill>
              <a:srgbClr val="0A032B"/>
            </a:solidFill>
            <a:prstDash val="solid"/>
          </a:ln>
        </p:spPr>
      </p:sp>
      <p:sp>
        <p:nvSpPr>
          <p:cNvPr id="9" name="Text 6"/>
          <p:cNvSpPr txBox="1"/>
          <p:nvPr/>
        </p:nvSpPr>
        <p:spPr>
          <a:xfrm>
            <a:off x="731520" y="154533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1</a:t>
            </a:r>
            <a:endParaRPr lang="en-US" sz="1800" dirty="0"/>
          </a:p>
        </p:txBody>
      </p:sp>
      <p:sp>
        <p:nvSpPr>
          <p:cNvPr id="10" name="Text 7"/>
          <p:cNvSpPr txBox="1"/>
          <p:nvPr/>
        </p:nvSpPr>
        <p:spPr>
          <a:xfrm>
            <a:off x="1371600" y="1371600"/>
            <a:ext cx="4754880" cy="822960"/>
          </a:xfrm>
          <a:prstGeom prst="rect">
            <a:avLst/>
          </a:prstGeom>
          <a:noFill/>
          <a:ln/>
        </p:spPr>
        <p:txBody>
          <a:bodyPr wrap="square" lIns="0" tIns="0" rIns="0" bIns="0" rtlCol="0" anchor="ctr"/>
          <a:lstStyle/>
          <a:p>
            <a:pPr indent="0" marL="0">
              <a:buNone/>
            </a:pPr>
            <a:r>
              <a:rPr lang="en-US" sz="1350" b="1" dirty="0">
                <a:solidFill>
                  <a:srgbClr val="0A032B"/>
                </a:solidFill>
                <a:latin typeface="Arial" pitchFamily="34" charset="0"/>
                <a:ea typeface="Arial" pitchFamily="34" charset="-122"/>
                <a:cs typeface="Arial" pitchFamily="34" charset="-120"/>
              </a:rPr>
              <a:t>Combien avons-nous de vertèbres lombaires ?</a:t>
            </a:r>
            <a:endParaRPr lang="en-US" sz="1350" dirty="0"/>
          </a:p>
        </p:txBody>
      </p:sp>
      <p:sp>
        <p:nvSpPr>
          <p:cNvPr id="11" name="Shape 8"/>
          <p:cNvSpPr/>
          <p:nvPr/>
        </p:nvSpPr>
        <p:spPr>
          <a:xfrm>
            <a:off x="6309360" y="1481328"/>
            <a:ext cx="1610258" cy="603504"/>
          </a:xfrm>
          <a:prstGeom prst="roundRect">
            <a:avLst>
              <a:gd name="adj" fmla="val 12121"/>
            </a:avLst>
          </a:prstGeom>
          <a:solidFill>
            <a:srgbClr val="F0EF96"/>
          </a:solidFill>
          <a:ln w="12700">
            <a:solidFill>
              <a:srgbClr val="D9D65A"/>
            </a:solidFill>
            <a:prstDash val="solid"/>
          </a:ln>
        </p:spPr>
      </p:sp>
      <p:sp>
        <p:nvSpPr>
          <p:cNvPr id="12" name="Text 9"/>
          <p:cNvSpPr txBox="1"/>
          <p:nvPr/>
        </p:nvSpPr>
        <p:spPr>
          <a:xfrm>
            <a:off x="6382512" y="1481328"/>
            <a:ext cx="1463954" cy="603504"/>
          </a:xfrm>
          <a:prstGeom prst="rect">
            <a:avLst/>
          </a:prstGeom>
          <a:noFill/>
          <a:ln/>
        </p:spPr>
        <p:txBody>
          <a:bodyPr wrap="square" lIns="0" tIns="0" rIns="0" bIns="0" rtlCol="0" anchor="ctr"/>
          <a:lstStyle/>
          <a:p>
            <a:pPr algn="ctr" indent="0" marL="0">
              <a:buNone/>
            </a:pPr>
            <a:r>
              <a:rPr lang="en-US" sz="1100" b="1" dirty="0">
                <a:solidFill>
                  <a:srgbClr val="0A032B"/>
                </a:solidFill>
                <a:latin typeface="Arial" pitchFamily="34" charset="0"/>
                <a:ea typeface="Arial" pitchFamily="34" charset="-122"/>
                <a:cs typeface="Arial" pitchFamily="34" charset="-120"/>
              </a:rPr>
              <a:t>5</a:t>
            </a:r>
            <a:endParaRPr lang="en-US" sz="1100" dirty="0"/>
          </a:p>
        </p:txBody>
      </p:sp>
      <p:sp>
        <p:nvSpPr>
          <p:cNvPr id="13" name="Shape 10"/>
          <p:cNvSpPr/>
          <p:nvPr/>
        </p:nvSpPr>
        <p:spPr>
          <a:xfrm>
            <a:off x="8102498" y="1481328"/>
            <a:ext cx="1610258" cy="603504"/>
          </a:xfrm>
          <a:prstGeom prst="roundRect">
            <a:avLst>
              <a:gd name="adj" fmla="val 12121"/>
            </a:avLst>
          </a:prstGeom>
          <a:solidFill>
            <a:srgbClr val="FFFFFF"/>
          </a:solidFill>
          <a:ln w="12700">
            <a:solidFill>
              <a:srgbClr val="DCDAEA"/>
            </a:solidFill>
            <a:prstDash val="solid"/>
          </a:ln>
        </p:spPr>
      </p:sp>
      <p:sp>
        <p:nvSpPr>
          <p:cNvPr id="14" name="Text 11"/>
          <p:cNvSpPr txBox="1"/>
          <p:nvPr/>
        </p:nvSpPr>
        <p:spPr>
          <a:xfrm>
            <a:off x="8175650" y="1481328"/>
            <a:ext cx="1463954" cy="603504"/>
          </a:xfrm>
          <a:prstGeom prst="rect">
            <a:avLst/>
          </a:prstGeom>
          <a:noFill/>
          <a:ln/>
        </p:spPr>
        <p:txBody>
          <a:bodyPr wrap="square" lIns="0" tIns="0" rIns="0" bIns="0" rtlCol="0" anchor="ctr"/>
          <a:lstStyle/>
          <a:p>
            <a:pPr algn="ctr" indent="0" marL="0">
              <a:buNone/>
            </a:pPr>
            <a:r>
              <a:rPr lang="en-US" sz="1100" dirty="0">
                <a:solidFill>
                  <a:srgbClr val="5E5A78"/>
                </a:solidFill>
                <a:latin typeface="Arial" pitchFamily="34" charset="0"/>
                <a:ea typeface="Arial" pitchFamily="34" charset="-122"/>
                <a:cs typeface="Arial" pitchFamily="34" charset="-120"/>
              </a:rPr>
              <a:t>7</a:t>
            </a:r>
            <a:endParaRPr lang="en-US" sz="1100" dirty="0"/>
          </a:p>
        </p:txBody>
      </p:sp>
      <p:sp>
        <p:nvSpPr>
          <p:cNvPr id="15" name="Shape 12"/>
          <p:cNvSpPr/>
          <p:nvPr/>
        </p:nvSpPr>
        <p:spPr>
          <a:xfrm>
            <a:off x="9895637" y="1481328"/>
            <a:ext cx="1610258" cy="603504"/>
          </a:xfrm>
          <a:prstGeom prst="roundRect">
            <a:avLst>
              <a:gd name="adj" fmla="val 12121"/>
            </a:avLst>
          </a:prstGeom>
          <a:solidFill>
            <a:srgbClr val="FFFFFF"/>
          </a:solidFill>
          <a:ln w="12700">
            <a:solidFill>
              <a:srgbClr val="DCDAEA"/>
            </a:solidFill>
            <a:prstDash val="solid"/>
          </a:ln>
        </p:spPr>
      </p:sp>
      <p:sp>
        <p:nvSpPr>
          <p:cNvPr id="16" name="Text 13"/>
          <p:cNvSpPr txBox="1"/>
          <p:nvPr/>
        </p:nvSpPr>
        <p:spPr>
          <a:xfrm>
            <a:off x="9968789" y="1481328"/>
            <a:ext cx="1463954" cy="603504"/>
          </a:xfrm>
          <a:prstGeom prst="rect">
            <a:avLst/>
          </a:prstGeom>
          <a:noFill/>
          <a:ln/>
        </p:spPr>
        <p:txBody>
          <a:bodyPr wrap="square" lIns="0" tIns="0" rIns="0" bIns="0" rtlCol="0" anchor="ctr"/>
          <a:lstStyle/>
          <a:p>
            <a:pPr algn="ctr" indent="0" marL="0">
              <a:buNone/>
            </a:pPr>
            <a:r>
              <a:rPr lang="en-US" sz="1100" dirty="0">
                <a:solidFill>
                  <a:srgbClr val="5E5A78"/>
                </a:solidFill>
                <a:latin typeface="Arial" pitchFamily="34" charset="0"/>
                <a:ea typeface="Arial" pitchFamily="34" charset="-122"/>
                <a:cs typeface="Arial" pitchFamily="34" charset="-120"/>
              </a:rPr>
              <a:t>12</a:t>
            </a:r>
            <a:endParaRPr lang="en-US" sz="1100" dirty="0"/>
          </a:p>
        </p:txBody>
      </p:sp>
      <p:sp>
        <p:nvSpPr>
          <p:cNvPr id="17" name="Shape 14"/>
          <p:cNvSpPr/>
          <p:nvPr/>
        </p:nvSpPr>
        <p:spPr>
          <a:xfrm>
            <a:off x="548640" y="2313432"/>
            <a:ext cx="11094415" cy="822960"/>
          </a:xfrm>
          <a:prstGeom prst="roundRect">
            <a:avLst>
              <a:gd name="adj" fmla="val 8889"/>
            </a:avLst>
          </a:prstGeom>
          <a:solidFill>
            <a:srgbClr val="EEEDF5"/>
          </a:solidFill>
          <a:ln w="12700">
            <a:solidFill>
              <a:srgbClr val="EEEDF5"/>
            </a:solidFill>
            <a:prstDash val="solid"/>
          </a:ln>
        </p:spPr>
      </p:sp>
      <p:sp>
        <p:nvSpPr>
          <p:cNvPr id="18" name="Shape 15"/>
          <p:cNvSpPr/>
          <p:nvPr/>
        </p:nvSpPr>
        <p:spPr>
          <a:xfrm>
            <a:off x="731520" y="2487168"/>
            <a:ext cx="475488" cy="475488"/>
          </a:xfrm>
          <a:prstGeom prst="ellipse">
            <a:avLst/>
          </a:prstGeom>
          <a:solidFill>
            <a:srgbClr val="0A032B"/>
          </a:solidFill>
          <a:ln w="12700">
            <a:solidFill>
              <a:srgbClr val="0A032B"/>
            </a:solidFill>
            <a:prstDash val="solid"/>
          </a:ln>
        </p:spPr>
      </p:sp>
      <p:sp>
        <p:nvSpPr>
          <p:cNvPr id="19" name="Text 16"/>
          <p:cNvSpPr txBox="1"/>
          <p:nvPr/>
        </p:nvSpPr>
        <p:spPr>
          <a:xfrm>
            <a:off x="731520" y="248716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2</a:t>
            </a:r>
            <a:endParaRPr lang="en-US" sz="1800" dirty="0"/>
          </a:p>
        </p:txBody>
      </p:sp>
      <p:sp>
        <p:nvSpPr>
          <p:cNvPr id="20" name="Text 17"/>
          <p:cNvSpPr txBox="1"/>
          <p:nvPr/>
        </p:nvSpPr>
        <p:spPr>
          <a:xfrm>
            <a:off x="1371600" y="2313432"/>
            <a:ext cx="4754880" cy="822960"/>
          </a:xfrm>
          <a:prstGeom prst="rect">
            <a:avLst/>
          </a:prstGeom>
          <a:noFill/>
          <a:ln/>
        </p:spPr>
        <p:txBody>
          <a:bodyPr wrap="square" lIns="0" tIns="0" rIns="0" bIns="0" rtlCol="0" anchor="ctr"/>
          <a:lstStyle/>
          <a:p>
            <a:pPr indent="0" marL="0">
              <a:buNone/>
            </a:pPr>
            <a:r>
              <a:rPr lang="en-US" sz="1350" b="1" dirty="0">
                <a:solidFill>
                  <a:srgbClr val="0A032B"/>
                </a:solidFill>
                <a:latin typeface="Arial" pitchFamily="34" charset="0"/>
                <a:ea typeface="Arial" pitchFamily="34" charset="-122"/>
                <a:cs typeface="Arial" pitchFamily="34" charset="-120"/>
              </a:rPr>
              <a:t>Au premier stade d'un TMS, la douleur…</a:t>
            </a:r>
            <a:endParaRPr lang="en-US" sz="1350" dirty="0"/>
          </a:p>
        </p:txBody>
      </p:sp>
      <p:sp>
        <p:nvSpPr>
          <p:cNvPr id="21" name="Shape 18"/>
          <p:cNvSpPr/>
          <p:nvPr/>
        </p:nvSpPr>
        <p:spPr>
          <a:xfrm>
            <a:off x="6309360" y="2423160"/>
            <a:ext cx="1610258" cy="603504"/>
          </a:xfrm>
          <a:prstGeom prst="roundRect">
            <a:avLst>
              <a:gd name="adj" fmla="val 12121"/>
            </a:avLst>
          </a:prstGeom>
          <a:solidFill>
            <a:srgbClr val="F0EF96"/>
          </a:solidFill>
          <a:ln w="12700">
            <a:solidFill>
              <a:srgbClr val="D9D65A"/>
            </a:solidFill>
            <a:prstDash val="solid"/>
          </a:ln>
        </p:spPr>
      </p:sp>
      <p:sp>
        <p:nvSpPr>
          <p:cNvPr id="22" name="Text 19"/>
          <p:cNvSpPr txBox="1"/>
          <p:nvPr/>
        </p:nvSpPr>
        <p:spPr>
          <a:xfrm>
            <a:off x="6382512" y="2423160"/>
            <a:ext cx="1463954" cy="603504"/>
          </a:xfrm>
          <a:prstGeom prst="rect">
            <a:avLst/>
          </a:prstGeom>
          <a:noFill/>
          <a:ln/>
        </p:spPr>
        <p:txBody>
          <a:bodyPr wrap="square" lIns="0" tIns="0" rIns="0" bIns="0" rtlCol="0" anchor="ctr"/>
          <a:lstStyle/>
          <a:p>
            <a:pPr algn="ctr" indent="0" marL="0">
              <a:buNone/>
            </a:pPr>
            <a:r>
              <a:rPr lang="en-US" sz="1100" b="1" dirty="0">
                <a:solidFill>
                  <a:srgbClr val="0A032B"/>
                </a:solidFill>
                <a:latin typeface="Arial" pitchFamily="34" charset="0"/>
                <a:ea typeface="Arial" pitchFamily="34" charset="-122"/>
                <a:cs typeface="Arial" pitchFamily="34" charset="-120"/>
              </a:rPr>
              <a:t>disparaît au repos</a:t>
            </a:r>
            <a:endParaRPr lang="en-US" sz="1100" dirty="0"/>
          </a:p>
        </p:txBody>
      </p:sp>
      <p:sp>
        <p:nvSpPr>
          <p:cNvPr id="23" name="Shape 20"/>
          <p:cNvSpPr/>
          <p:nvPr/>
        </p:nvSpPr>
        <p:spPr>
          <a:xfrm>
            <a:off x="8102498" y="2423160"/>
            <a:ext cx="1610258" cy="603504"/>
          </a:xfrm>
          <a:prstGeom prst="roundRect">
            <a:avLst>
              <a:gd name="adj" fmla="val 12121"/>
            </a:avLst>
          </a:prstGeom>
          <a:solidFill>
            <a:srgbClr val="FFFFFF"/>
          </a:solidFill>
          <a:ln w="12700">
            <a:solidFill>
              <a:srgbClr val="DCDAEA"/>
            </a:solidFill>
            <a:prstDash val="solid"/>
          </a:ln>
        </p:spPr>
      </p:sp>
      <p:sp>
        <p:nvSpPr>
          <p:cNvPr id="24" name="Text 21"/>
          <p:cNvSpPr txBox="1"/>
          <p:nvPr/>
        </p:nvSpPr>
        <p:spPr>
          <a:xfrm>
            <a:off x="8175650" y="2423160"/>
            <a:ext cx="1463954" cy="603504"/>
          </a:xfrm>
          <a:prstGeom prst="rect">
            <a:avLst/>
          </a:prstGeom>
          <a:noFill/>
          <a:ln/>
        </p:spPr>
        <p:txBody>
          <a:bodyPr wrap="square" lIns="0" tIns="0" rIns="0" bIns="0" rtlCol="0" anchor="ctr"/>
          <a:lstStyle/>
          <a:p>
            <a:pPr algn="ctr" indent="0" marL="0">
              <a:buNone/>
            </a:pPr>
            <a:r>
              <a:rPr lang="en-US" sz="1100" dirty="0">
                <a:solidFill>
                  <a:srgbClr val="5E5A78"/>
                </a:solidFill>
                <a:latin typeface="Arial" pitchFamily="34" charset="0"/>
                <a:ea typeface="Arial" pitchFamily="34" charset="-122"/>
                <a:cs typeface="Arial" pitchFamily="34" charset="-120"/>
              </a:rPr>
              <a:t>est permanente</a:t>
            </a:r>
            <a:endParaRPr lang="en-US" sz="1100" dirty="0"/>
          </a:p>
        </p:txBody>
      </p:sp>
      <p:sp>
        <p:nvSpPr>
          <p:cNvPr id="25" name="Shape 22"/>
          <p:cNvSpPr/>
          <p:nvPr/>
        </p:nvSpPr>
        <p:spPr>
          <a:xfrm>
            <a:off x="9895637" y="2423160"/>
            <a:ext cx="1610258" cy="603504"/>
          </a:xfrm>
          <a:prstGeom prst="roundRect">
            <a:avLst>
              <a:gd name="adj" fmla="val 12121"/>
            </a:avLst>
          </a:prstGeom>
          <a:solidFill>
            <a:srgbClr val="FFFFFF"/>
          </a:solidFill>
          <a:ln w="12700">
            <a:solidFill>
              <a:srgbClr val="DCDAEA"/>
            </a:solidFill>
            <a:prstDash val="solid"/>
          </a:ln>
        </p:spPr>
      </p:sp>
      <p:sp>
        <p:nvSpPr>
          <p:cNvPr id="26" name="Text 23"/>
          <p:cNvSpPr txBox="1"/>
          <p:nvPr/>
        </p:nvSpPr>
        <p:spPr>
          <a:xfrm>
            <a:off x="9968789" y="2423160"/>
            <a:ext cx="1463954" cy="603504"/>
          </a:xfrm>
          <a:prstGeom prst="rect">
            <a:avLst/>
          </a:prstGeom>
          <a:noFill/>
          <a:ln/>
        </p:spPr>
        <p:txBody>
          <a:bodyPr wrap="square" lIns="0" tIns="0" rIns="0" bIns="0" rtlCol="0" anchor="ctr"/>
          <a:lstStyle/>
          <a:p>
            <a:pPr algn="ctr" indent="0" marL="0">
              <a:buNone/>
            </a:pPr>
            <a:r>
              <a:rPr lang="en-US" sz="1100" dirty="0">
                <a:solidFill>
                  <a:srgbClr val="5E5A78"/>
                </a:solidFill>
                <a:latin typeface="Arial" pitchFamily="34" charset="0"/>
                <a:ea typeface="Arial" pitchFamily="34" charset="-122"/>
                <a:cs typeface="Arial" pitchFamily="34" charset="-120"/>
              </a:rPr>
              <a:t>empêche tout mouvement</a:t>
            </a:r>
            <a:endParaRPr lang="en-US" sz="1100" dirty="0"/>
          </a:p>
        </p:txBody>
      </p:sp>
      <p:sp>
        <p:nvSpPr>
          <p:cNvPr id="27" name="Shape 24"/>
          <p:cNvSpPr/>
          <p:nvPr/>
        </p:nvSpPr>
        <p:spPr>
          <a:xfrm>
            <a:off x="548640" y="3255264"/>
            <a:ext cx="11094415" cy="822960"/>
          </a:xfrm>
          <a:prstGeom prst="roundRect">
            <a:avLst>
              <a:gd name="adj" fmla="val 8889"/>
            </a:avLst>
          </a:prstGeom>
          <a:solidFill>
            <a:srgbClr val="EEEDF5"/>
          </a:solidFill>
          <a:ln w="12700">
            <a:solidFill>
              <a:srgbClr val="EEEDF5"/>
            </a:solidFill>
            <a:prstDash val="solid"/>
          </a:ln>
        </p:spPr>
      </p:sp>
      <p:sp>
        <p:nvSpPr>
          <p:cNvPr id="28" name="Shape 25"/>
          <p:cNvSpPr/>
          <p:nvPr/>
        </p:nvSpPr>
        <p:spPr>
          <a:xfrm>
            <a:off x="731520" y="3429000"/>
            <a:ext cx="475488" cy="475488"/>
          </a:xfrm>
          <a:prstGeom prst="ellipse">
            <a:avLst/>
          </a:prstGeom>
          <a:solidFill>
            <a:srgbClr val="0A032B"/>
          </a:solidFill>
          <a:ln w="12700">
            <a:solidFill>
              <a:srgbClr val="0A032B"/>
            </a:solidFill>
            <a:prstDash val="solid"/>
          </a:ln>
        </p:spPr>
      </p:sp>
      <p:sp>
        <p:nvSpPr>
          <p:cNvPr id="29" name="Text 26"/>
          <p:cNvSpPr txBox="1"/>
          <p:nvPr/>
        </p:nvSpPr>
        <p:spPr>
          <a:xfrm>
            <a:off x="731520" y="3429000"/>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3</a:t>
            </a:r>
            <a:endParaRPr lang="en-US" sz="1800" dirty="0"/>
          </a:p>
        </p:txBody>
      </p:sp>
      <p:sp>
        <p:nvSpPr>
          <p:cNvPr id="30" name="Text 27"/>
          <p:cNvSpPr txBox="1"/>
          <p:nvPr/>
        </p:nvSpPr>
        <p:spPr>
          <a:xfrm>
            <a:off x="1371600" y="3255264"/>
            <a:ext cx="4754880" cy="822960"/>
          </a:xfrm>
          <a:prstGeom prst="rect">
            <a:avLst/>
          </a:prstGeom>
          <a:noFill/>
          <a:ln/>
        </p:spPr>
        <p:txBody>
          <a:bodyPr wrap="square" lIns="0" tIns="0" rIns="0" bIns="0" rtlCol="0" anchor="ctr"/>
          <a:lstStyle/>
          <a:p>
            <a:pPr indent="0" marL="0">
              <a:buNone/>
            </a:pPr>
            <a:r>
              <a:rPr lang="en-US" sz="1350" b="1" dirty="0">
                <a:solidFill>
                  <a:srgbClr val="0A032B"/>
                </a:solidFill>
                <a:latin typeface="Arial" pitchFamily="34" charset="0"/>
                <a:ea typeface="Arial" pitchFamily="34" charset="-122"/>
                <a:cs typeface="Arial" pitchFamily="34" charset="-120"/>
              </a:rPr>
              <a:t>Pour analyser une situation de manutention, on examine…</a:t>
            </a:r>
            <a:endParaRPr lang="en-US" sz="1350" dirty="0"/>
          </a:p>
        </p:txBody>
      </p:sp>
      <p:sp>
        <p:nvSpPr>
          <p:cNvPr id="31" name="Shape 28"/>
          <p:cNvSpPr/>
          <p:nvPr/>
        </p:nvSpPr>
        <p:spPr>
          <a:xfrm>
            <a:off x="6309360" y="3364992"/>
            <a:ext cx="1610258" cy="603504"/>
          </a:xfrm>
          <a:prstGeom prst="roundRect">
            <a:avLst>
              <a:gd name="adj" fmla="val 12121"/>
            </a:avLst>
          </a:prstGeom>
          <a:solidFill>
            <a:srgbClr val="FFFFFF"/>
          </a:solidFill>
          <a:ln w="12700">
            <a:solidFill>
              <a:srgbClr val="DCDAEA"/>
            </a:solidFill>
            <a:prstDash val="solid"/>
          </a:ln>
        </p:spPr>
      </p:sp>
      <p:sp>
        <p:nvSpPr>
          <p:cNvPr id="32" name="Text 29"/>
          <p:cNvSpPr txBox="1"/>
          <p:nvPr/>
        </p:nvSpPr>
        <p:spPr>
          <a:xfrm>
            <a:off x="6382512" y="3364992"/>
            <a:ext cx="1463954" cy="603504"/>
          </a:xfrm>
          <a:prstGeom prst="rect">
            <a:avLst/>
          </a:prstGeom>
          <a:noFill/>
          <a:ln/>
        </p:spPr>
        <p:txBody>
          <a:bodyPr wrap="square" lIns="0" tIns="0" rIns="0" bIns="0" rtlCol="0" anchor="ctr"/>
          <a:lstStyle/>
          <a:p>
            <a:pPr algn="ctr" indent="0" marL="0">
              <a:buNone/>
            </a:pPr>
            <a:r>
              <a:rPr lang="en-US" sz="1100" dirty="0">
                <a:solidFill>
                  <a:srgbClr val="5E5A78"/>
                </a:solidFill>
                <a:latin typeface="Arial" pitchFamily="34" charset="0"/>
                <a:ea typeface="Arial" pitchFamily="34" charset="-122"/>
                <a:cs typeface="Arial" pitchFamily="34" charset="-120"/>
              </a:rPr>
              <a:t>uniquement le poids</a:t>
            </a:r>
            <a:endParaRPr lang="en-US" sz="1100" dirty="0"/>
          </a:p>
        </p:txBody>
      </p:sp>
      <p:sp>
        <p:nvSpPr>
          <p:cNvPr id="33" name="Shape 30"/>
          <p:cNvSpPr/>
          <p:nvPr/>
        </p:nvSpPr>
        <p:spPr>
          <a:xfrm>
            <a:off x="8102498" y="3364992"/>
            <a:ext cx="1610258" cy="603504"/>
          </a:xfrm>
          <a:prstGeom prst="roundRect">
            <a:avLst>
              <a:gd name="adj" fmla="val 12121"/>
            </a:avLst>
          </a:prstGeom>
          <a:solidFill>
            <a:srgbClr val="F0EF96"/>
          </a:solidFill>
          <a:ln w="12700">
            <a:solidFill>
              <a:srgbClr val="D9D65A"/>
            </a:solidFill>
            <a:prstDash val="solid"/>
          </a:ln>
        </p:spPr>
      </p:sp>
      <p:sp>
        <p:nvSpPr>
          <p:cNvPr id="34" name="Text 31"/>
          <p:cNvSpPr txBox="1"/>
          <p:nvPr/>
        </p:nvSpPr>
        <p:spPr>
          <a:xfrm>
            <a:off x="8175650" y="3364992"/>
            <a:ext cx="1463954" cy="603504"/>
          </a:xfrm>
          <a:prstGeom prst="rect">
            <a:avLst/>
          </a:prstGeom>
          <a:noFill/>
          <a:ln/>
        </p:spPr>
        <p:txBody>
          <a:bodyPr wrap="square" lIns="0" tIns="0" rIns="0" bIns="0" rtlCol="0" anchor="ctr"/>
          <a:lstStyle/>
          <a:p>
            <a:pPr algn="ctr" indent="0" marL="0">
              <a:buNone/>
            </a:pPr>
            <a:r>
              <a:rPr lang="en-US" sz="1100" b="1" dirty="0">
                <a:solidFill>
                  <a:srgbClr val="0A032B"/>
                </a:solidFill>
                <a:latin typeface="Arial" pitchFamily="34" charset="0"/>
                <a:ea typeface="Arial" pitchFamily="34" charset="-122"/>
                <a:cs typeface="Arial" pitchFamily="34" charset="-120"/>
              </a:rPr>
              <a:t>charge, tâche, lieu, organisation, personne</a:t>
            </a:r>
            <a:endParaRPr lang="en-US" sz="1100" dirty="0"/>
          </a:p>
        </p:txBody>
      </p:sp>
      <p:sp>
        <p:nvSpPr>
          <p:cNvPr id="35" name="Shape 32"/>
          <p:cNvSpPr/>
          <p:nvPr/>
        </p:nvSpPr>
        <p:spPr>
          <a:xfrm>
            <a:off x="9895637" y="3364992"/>
            <a:ext cx="1610258" cy="603504"/>
          </a:xfrm>
          <a:prstGeom prst="roundRect">
            <a:avLst>
              <a:gd name="adj" fmla="val 12121"/>
            </a:avLst>
          </a:prstGeom>
          <a:solidFill>
            <a:srgbClr val="FFFFFF"/>
          </a:solidFill>
          <a:ln w="12700">
            <a:solidFill>
              <a:srgbClr val="DCDAEA"/>
            </a:solidFill>
            <a:prstDash val="solid"/>
          </a:ln>
        </p:spPr>
      </p:sp>
      <p:sp>
        <p:nvSpPr>
          <p:cNvPr id="36" name="Text 33"/>
          <p:cNvSpPr txBox="1"/>
          <p:nvPr/>
        </p:nvSpPr>
        <p:spPr>
          <a:xfrm>
            <a:off x="9968789" y="3364992"/>
            <a:ext cx="1463954" cy="603504"/>
          </a:xfrm>
          <a:prstGeom prst="rect">
            <a:avLst/>
          </a:prstGeom>
          <a:noFill/>
          <a:ln/>
        </p:spPr>
        <p:txBody>
          <a:bodyPr wrap="square" lIns="0" tIns="0" rIns="0" bIns="0" rtlCol="0" anchor="ctr"/>
          <a:lstStyle/>
          <a:p>
            <a:pPr algn="ctr" indent="0" marL="0">
              <a:buNone/>
            </a:pPr>
            <a:r>
              <a:rPr lang="en-US" sz="1100" dirty="0">
                <a:solidFill>
                  <a:srgbClr val="5E5A78"/>
                </a:solidFill>
                <a:latin typeface="Arial" pitchFamily="34" charset="0"/>
                <a:ea typeface="Arial" pitchFamily="34" charset="-122"/>
                <a:cs typeface="Arial" pitchFamily="34" charset="-120"/>
              </a:rPr>
              <a:t>uniquement la distance</a:t>
            </a:r>
            <a:endParaRPr lang="en-US" sz="1100" dirty="0"/>
          </a:p>
        </p:txBody>
      </p:sp>
      <p:sp>
        <p:nvSpPr>
          <p:cNvPr id="37" name="Shape 34"/>
          <p:cNvSpPr/>
          <p:nvPr/>
        </p:nvSpPr>
        <p:spPr>
          <a:xfrm>
            <a:off x="548640" y="4197096"/>
            <a:ext cx="11094415" cy="822960"/>
          </a:xfrm>
          <a:prstGeom prst="roundRect">
            <a:avLst>
              <a:gd name="adj" fmla="val 8889"/>
            </a:avLst>
          </a:prstGeom>
          <a:solidFill>
            <a:srgbClr val="EEEDF5"/>
          </a:solidFill>
          <a:ln w="12700">
            <a:solidFill>
              <a:srgbClr val="EEEDF5"/>
            </a:solidFill>
            <a:prstDash val="solid"/>
          </a:ln>
        </p:spPr>
      </p:sp>
      <p:sp>
        <p:nvSpPr>
          <p:cNvPr id="38" name="Shape 35"/>
          <p:cNvSpPr/>
          <p:nvPr/>
        </p:nvSpPr>
        <p:spPr>
          <a:xfrm>
            <a:off x="731520" y="4370832"/>
            <a:ext cx="475488" cy="475488"/>
          </a:xfrm>
          <a:prstGeom prst="ellipse">
            <a:avLst/>
          </a:prstGeom>
          <a:solidFill>
            <a:srgbClr val="0A032B"/>
          </a:solidFill>
          <a:ln w="12700">
            <a:solidFill>
              <a:srgbClr val="0A032B"/>
            </a:solidFill>
            <a:prstDash val="solid"/>
          </a:ln>
        </p:spPr>
      </p:sp>
      <p:sp>
        <p:nvSpPr>
          <p:cNvPr id="39" name="Text 36"/>
          <p:cNvSpPr txBox="1"/>
          <p:nvPr/>
        </p:nvSpPr>
        <p:spPr>
          <a:xfrm>
            <a:off x="731520" y="4370832"/>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4</a:t>
            </a:r>
            <a:endParaRPr lang="en-US" sz="1800" dirty="0"/>
          </a:p>
        </p:txBody>
      </p:sp>
      <p:sp>
        <p:nvSpPr>
          <p:cNvPr id="40" name="Text 37"/>
          <p:cNvSpPr txBox="1"/>
          <p:nvPr/>
        </p:nvSpPr>
        <p:spPr>
          <a:xfrm>
            <a:off x="1371600" y="4197096"/>
            <a:ext cx="4754880" cy="822960"/>
          </a:xfrm>
          <a:prstGeom prst="rect">
            <a:avLst/>
          </a:prstGeom>
          <a:noFill/>
          <a:ln/>
        </p:spPr>
        <p:txBody>
          <a:bodyPr wrap="square" lIns="0" tIns="0" rIns="0" bIns="0" rtlCol="0" anchor="ctr"/>
          <a:lstStyle/>
          <a:p>
            <a:pPr indent="0" marL="0">
              <a:buNone/>
            </a:pPr>
            <a:r>
              <a:rPr lang="en-US" sz="1350" b="1" dirty="0">
                <a:solidFill>
                  <a:srgbClr val="0A032B"/>
                </a:solidFill>
                <a:latin typeface="Arial" pitchFamily="34" charset="0"/>
                <a:ea typeface="Arial" pitchFamily="34" charset="-122"/>
                <a:cs typeface="Arial" pitchFamily="34" charset="-120"/>
              </a:rPr>
              <a:t>Installer seul 300 chaises dans l'urgence, sans chariot, est une situation…</a:t>
            </a:r>
            <a:endParaRPr lang="en-US" sz="1350" dirty="0"/>
          </a:p>
        </p:txBody>
      </p:sp>
      <p:sp>
        <p:nvSpPr>
          <p:cNvPr id="41" name="Shape 38"/>
          <p:cNvSpPr/>
          <p:nvPr/>
        </p:nvSpPr>
        <p:spPr>
          <a:xfrm>
            <a:off x="6309360" y="4306824"/>
            <a:ext cx="1610258" cy="603504"/>
          </a:xfrm>
          <a:prstGeom prst="roundRect">
            <a:avLst>
              <a:gd name="adj" fmla="val 12121"/>
            </a:avLst>
          </a:prstGeom>
          <a:solidFill>
            <a:srgbClr val="FFFFFF"/>
          </a:solidFill>
          <a:ln w="12700">
            <a:solidFill>
              <a:srgbClr val="DCDAEA"/>
            </a:solidFill>
            <a:prstDash val="solid"/>
          </a:ln>
        </p:spPr>
      </p:sp>
      <p:sp>
        <p:nvSpPr>
          <p:cNvPr id="42" name="Text 39"/>
          <p:cNvSpPr txBox="1"/>
          <p:nvPr/>
        </p:nvSpPr>
        <p:spPr>
          <a:xfrm>
            <a:off x="6382512" y="4306824"/>
            <a:ext cx="1463954" cy="603504"/>
          </a:xfrm>
          <a:prstGeom prst="rect">
            <a:avLst/>
          </a:prstGeom>
          <a:noFill/>
          <a:ln/>
        </p:spPr>
        <p:txBody>
          <a:bodyPr wrap="square" lIns="0" tIns="0" rIns="0" bIns="0" rtlCol="0" anchor="ctr"/>
          <a:lstStyle/>
          <a:p>
            <a:pPr algn="ctr" indent="0" marL="0">
              <a:buNone/>
            </a:pPr>
            <a:r>
              <a:rPr lang="en-US" sz="1100" dirty="0">
                <a:solidFill>
                  <a:srgbClr val="5E5A78"/>
                </a:solidFill>
                <a:latin typeface="Arial" pitchFamily="34" charset="0"/>
                <a:ea typeface="Arial" pitchFamily="34" charset="-122"/>
                <a:cs typeface="Arial" pitchFamily="34" charset="-120"/>
              </a:rPr>
              <a:t>sans risque</a:t>
            </a:r>
            <a:endParaRPr lang="en-US" sz="1100" dirty="0"/>
          </a:p>
        </p:txBody>
      </p:sp>
      <p:sp>
        <p:nvSpPr>
          <p:cNvPr id="43" name="Shape 40"/>
          <p:cNvSpPr/>
          <p:nvPr/>
        </p:nvSpPr>
        <p:spPr>
          <a:xfrm>
            <a:off x="8102498" y="4306824"/>
            <a:ext cx="1610258" cy="603504"/>
          </a:xfrm>
          <a:prstGeom prst="roundRect">
            <a:avLst>
              <a:gd name="adj" fmla="val 12121"/>
            </a:avLst>
          </a:prstGeom>
          <a:solidFill>
            <a:srgbClr val="FFFFFF"/>
          </a:solidFill>
          <a:ln w="12700">
            <a:solidFill>
              <a:srgbClr val="DCDAEA"/>
            </a:solidFill>
            <a:prstDash val="solid"/>
          </a:ln>
        </p:spPr>
      </p:sp>
      <p:sp>
        <p:nvSpPr>
          <p:cNvPr id="44" name="Text 41"/>
          <p:cNvSpPr txBox="1"/>
          <p:nvPr/>
        </p:nvSpPr>
        <p:spPr>
          <a:xfrm>
            <a:off x="8175650" y="4306824"/>
            <a:ext cx="1463954" cy="603504"/>
          </a:xfrm>
          <a:prstGeom prst="rect">
            <a:avLst/>
          </a:prstGeom>
          <a:noFill/>
          <a:ln/>
        </p:spPr>
        <p:txBody>
          <a:bodyPr wrap="square" lIns="0" tIns="0" rIns="0" bIns="0" rtlCol="0" anchor="ctr"/>
          <a:lstStyle/>
          <a:p>
            <a:pPr algn="ctr" indent="0" marL="0">
              <a:buNone/>
            </a:pPr>
            <a:r>
              <a:rPr lang="en-US" sz="1100" dirty="0">
                <a:solidFill>
                  <a:srgbClr val="5E5A78"/>
                </a:solidFill>
                <a:latin typeface="Arial" pitchFamily="34" charset="0"/>
                <a:ea typeface="Arial" pitchFamily="34" charset="-122"/>
                <a:cs typeface="Arial" pitchFamily="34" charset="-120"/>
              </a:rPr>
              <a:t>à risque faible</a:t>
            </a:r>
            <a:endParaRPr lang="en-US" sz="1100" dirty="0"/>
          </a:p>
        </p:txBody>
      </p:sp>
      <p:sp>
        <p:nvSpPr>
          <p:cNvPr id="45" name="Shape 42"/>
          <p:cNvSpPr/>
          <p:nvPr/>
        </p:nvSpPr>
        <p:spPr>
          <a:xfrm>
            <a:off x="9895637" y="4306824"/>
            <a:ext cx="1610258" cy="603504"/>
          </a:xfrm>
          <a:prstGeom prst="roundRect">
            <a:avLst>
              <a:gd name="adj" fmla="val 12121"/>
            </a:avLst>
          </a:prstGeom>
          <a:solidFill>
            <a:srgbClr val="F0EF96"/>
          </a:solidFill>
          <a:ln w="12700">
            <a:solidFill>
              <a:srgbClr val="D9D65A"/>
            </a:solidFill>
            <a:prstDash val="solid"/>
          </a:ln>
        </p:spPr>
      </p:sp>
      <p:sp>
        <p:nvSpPr>
          <p:cNvPr id="46" name="Text 43"/>
          <p:cNvSpPr txBox="1"/>
          <p:nvPr/>
        </p:nvSpPr>
        <p:spPr>
          <a:xfrm>
            <a:off x="9968789" y="4306824"/>
            <a:ext cx="1463954" cy="603504"/>
          </a:xfrm>
          <a:prstGeom prst="rect">
            <a:avLst/>
          </a:prstGeom>
          <a:noFill/>
          <a:ln/>
        </p:spPr>
        <p:txBody>
          <a:bodyPr wrap="square" lIns="0" tIns="0" rIns="0" bIns="0" rtlCol="0" anchor="ctr"/>
          <a:lstStyle/>
          <a:p>
            <a:pPr algn="ctr" indent="0" marL="0">
              <a:buNone/>
            </a:pPr>
            <a:r>
              <a:rPr lang="en-US" sz="1100" b="1" dirty="0">
                <a:solidFill>
                  <a:srgbClr val="0A032B"/>
                </a:solidFill>
                <a:latin typeface="Arial" pitchFamily="34" charset="0"/>
                <a:ea typeface="Arial" pitchFamily="34" charset="-122"/>
                <a:cs typeface="Arial" pitchFamily="34" charset="-120"/>
              </a:rPr>
              <a:t>à traiter en priorité</a:t>
            </a:r>
            <a:endParaRPr lang="en-US" sz="1100" dirty="0"/>
          </a:p>
        </p:txBody>
      </p:sp>
      <p:sp>
        <p:nvSpPr>
          <p:cNvPr id="47" name="Shape 44"/>
          <p:cNvSpPr/>
          <p:nvPr/>
        </p:nvSpPr>
        <p:spPr>
          <a:xfrm>
            <a:off x="548640" y="5138928"/>
            <a:ext cx="11094415" cy="822960"/>
          </a:xfrm>
          <a:prstGeom prst="roundRect">
            <a:avLst>
              <a:gd name="adj" fmla="val 8889"/>
            </a:avLst>
          </a:prstGeom>
          <a:solidFill>
            <a:srgbClr val="EEEDF5"/>
          </a:solidFill>
          <a:ln w="12700">
            <a:solidFill>
              <a:srgbClr val="EEEDF5"/>
            </a:solidFill>
            <a:prstDash val="solid"/>
          </a:ln>
        </p:spPr>
      </p:sp>
      <p:sp>
        <p:nvSpPr>
          <p:cNvPr id="48" name="Shape 45"/>
          <p:cNvSpPr/>
          <p:nvPr/>
        </p:nvSpPr>
        <p:spPr>
          <a:xfrm>
            <a:off x="731520" y="5312664"/>
            <a:ext cx="475488" cy="475488"/>
          </a:xfrm>
          <a:prstGeom prst="ellipse">
            <a:avLst/>
          </a:prstGeom>
          <a:solidFill>
            <a:srgbClr val="0A032B"/>
          </a:solidFill>
          <a:ln w="12700">
            <a:solidFill>
              <a:srgbClr val="0A032B"/>
            </a:solidFill>
            <a:prstDash val="solid"/>
          </a:ln>
        </p:spPr>
      </p:sp>
      <p:sp>
        <p:nvSpPr>
          <p:cNvPr id="49" name="Text 46"/>
          <p:cNvSpPr txBox="1"/>
          <p:nvPr/>
        </p:nvSpPr>
        <p:spPr>
          <a:xfrm>
            <a:off x="731520" y="5312664"/>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5</a:t>
            </a:r>
            <a:endParaRPr lang="en-US" sz="1800" dirty="0"/>
          </a:p>
        </p:txBody>
      </p:sp>
      <p:sp>
        <p:nvSpPr>
          <p:cNvPr id="50" name="Text 47"/>
          <p:cNvSpPr txBox="1"/>
          <p:nvPr/>
        </p:nvSpPr>
        <p:spPr>
          <a:xfrm>
            <a:off x="1371600" y="5138928"/>
            <a:ext cx="4754880" cy="822960"/>
          </a:xfrm>
          <a:prstGeom prst="rect">
            <a:avLst/>
          </a:prstGeom>
          <a:noFill/>
          <a:ln/>
        </p:spPr>
        <p:txBody>
          <a:bodyPr wrap="square" lIns="0" tIns="0" rIns="0" bIns="0" rtlCol="0" anchor="ctr"/>
          <a:lstStyle/>
          <a:p>
            <a:pPr indent="0" marL="0">
              <a:buNone/>
            </a:pPr>
            <a:r>
              <a:rPr lang="en-US" sz="1350" b="1" dirty="0">
                <a:solidFill>
                  <a:srgbClr val="0A032B"/>
                </a:solidFill>
                <a:latin typeface="Arial" pitchFamily="34" charset="0"/>
                <a:ea typeface="Arial" pitchFamily="34" charset="-122"/>
                <a:cs typeface="Arial" pitchFamily="34" charset="-120"/>
              </a:rPr>
              <a:t>Pour soulever une charge au sol, on…</a:t>
            </a:r>
            <a:endParaRPr lang="en-US" sz="1350" dirty="0"/>
          </a:p>
        </p:txBody>
      </p:sp>
      <p:sp>
        <p:nvSpPr>
          <p:cNvPr id="51" name="Shape 48"/>
          <p:cNvSpPr/>
          <p:nvPr/>
        </p:nvSpPr>
        <p:spPr>
          <a:xfrm>
            <a:off x="6309360" y="5248656"/>
            <a:ext cx="1610258" cy="603504"/>
          </a:xfrm>
          <a:prstGeom prst="roundRect">
            <a:avLst>
              <a:gd name="adj" fmla="val 12121"/>
            </a:avLst>
          </a:prstGeom>
          <a:solidFill>
            <a:srgbClr val="FFFFFF"/>
          </a:solidFill>
          <a:ln w="12700">
            <a:solidFill>
              <a:srgbClr val="DCDAEA"/>
            </a:solidFill>
            <a:prstDash val="solid"/>
          </a:ln>
        </p:spPr>
      </p:sp>
      <p:sp>
        <p:nvSpPr>
          <p:cNvPr id="52" name="Text 49"/>
          <p:cNvSpPr txBox="1"/>
          <p:nvPr/>
        </p:nvSpPr>
        <p:spPr>
          <a:xfrm>
            <a:off x="6382512" y="5248656"/>
            <a:ext cx="1463954" cy="603504"/>
          </a:xfrm>
          <a:prstGeom prst="rect">
            <a:avLst/>
          </a:prstGeom>
          <a:noFill/>
          <a:ln/>
        </p:spPr>
        <p:txBody>
          <a:bodyPr wrap="square" lIns="0" tIns="0" rIns="0" bIns="0" rtlCol="0" anchor="ctr"/>
          <a:lstStyle/>
          <a:p>
            <a:pPr algn="ctr" indent="0" marL="0">
              <a:buNone/>
            </a:pPr>
            <a:r>
              <a:rPr lang="en-US" sz="1100" dirty="0">
                <a:solidFill>
                  <a:srgbClr val="5E5A78"/>
                </a:solidFill>
                <a:latin typeface="Arial" pitchFamily="34" charset="0"/>
                <a:ea typeface="Arial" pitchFamily="34" charset="-122"/>
                <a:cs typeface="Arial" pitchFamily="34" charset="-120"/>
              </a:rPr>
              <a:t>fléchit le dos</a:t>
            </a:r>
            <a:endParaRPr lang="en-US" sz="1100" dirty="0"/>
          </a:p>
        </p:txBody>
      </p:sp>
      <p:sp>
        <p:nvSpPr>
          <p:cNvPr id="53" name="Shape 50"/>
          <p:cNvSpPr/>
          <p:nvPr/>
        </p:nvSpPr>
        <p:spPr>
          <a:xfrm>
            <a:off x="8102498" y="5248656"/>
            <a:ext cx="1610258" cy="603504"/>
          </a:xfrm>
          <a:prstGeom prst="roundRect">
            <a:avLst>
              <a:gd name="adj" fmla="val 12121"/>
            </a:avLst>
          </a:prstGeom>
          <a:solidFill>
            <a:srgbClr val="F0EF96"/>
          </a:solidFill>
          <a:ln w="12700">
            <a:solidFill>
              <a:srgbClr val="D9D65A"/>
            </a:solidFill>
            <a:prstDash val="solid"/>
          </a:ln>
        </p:spPr>
      </p:sp>
      <p:sp>
        <p:nvSpPr>
          <p:cNvPr id="54" name="Text 51"/>
          <p:cNvSpPr txBox="1"/>
          <p:nvPr/>
        </p:nvSpPr>
        <p:spPr>
          <a:xfrm>
            <a:off x="8175650" y="5248656"/>
            <a:ext cx="1463954" cy="603504"/>
          </a:xfrm>
          <a:prstGeom prst="rect">
            <a:avLst/>
          </a:prstGeom>
          <a:noFill/>
          <a:ln/>
        </p:spPr>
        <p:txBody>
          <a:bodyPr wrap="square" lIns="0" tIns="0" rIns="0" bIns="0" rtlCol="0" anchor="ctr"/>
          <a:lstStyle/>
          <a:p>
            <a:pPr algn="ctr" indent="0" marL="0">
              <a:buNone/>
            </a:pPr>
            <a:r>
              <a:rPr lang="en-US" sz="1100" b="1" dirty="0">
                <a:solidFill>
                  <a:srgbClr val="0A032B"/>
                </a:solidFill>
                <a:latin typeface="Arial" pitchFamily="34" charset="0"/>
                <a:ea typeface="Arial" pitchFamily="34" charset="-122"/>
                <a:cs typeface="Arial" pitchFamily="34" charset="-120"/>
              </a:rPr>
              <a:t>fléchit les jambes en gardant le dos droit</a:t>
            </a:r>
            <a:endParaRPr lang="en-US" sz="1100" dirty="0"/>
          </a:p>
        </p:txBody>
      </p:sp>
      <p:sp>
        <p:nvSpPr>
          <p:cNvPr id="55" name="Shape 52"/>
          <p:cNvSpPr/>
          <p:nvPr/>
        </p:nvSpPr>
        <p:spPr>
          <a:xfrm>
            <a:off x="9895637" y="5248656"/>
            <a:ext cx="1610258" cy="603504"/>
          </a:xfrm>
          <a:prstGeom prst="roundRect">
            <a:avLst>
              <a:gd name="adj" fmla="val 12121"/>
            </a:avLst>
          </a:prstGeom>
          <a:solidFill>
            <a:srgbClr val="FFFFFF"/>
          </a:solidFill>
          <a:ln w="12700">
            <a:solidFill>
              <a:srgbClr val="DCDAEA"/>
            </a:solidFill>
            <a:prstDash val="solid"/>
          </a:ln>
        </p:spPr>
      </p:sp>
      <p:sp>
        <p:nvSpPr>
          <p:cNvPr id="56" name="Text 53"/>
          <p:cNvSpPr txBox="1"/>
          <p:nvPr/>
        </p:nvSpPr>
        <p:spPr>
          <a:xfrm>
            <a:off x="9968789" y="5248656"/>
            <a:ext cx="1463954" cy="603504"/>
          </a:xfrm>
          <a:prstGeom prst="rect">
            <a:avLst/>
          </a:prstGeom>
          <a:noFill/>
          <a:ln/>
        </p:spPr>
        <p:txBody>
          <a:bodyPr wrap="square" lIns="0" tIns="0" rIns="0" bIns="0" rtlCol="0" anchor="ctr"/>
          <a:lstStyle/>
          <a:p>
            <a:pPr algn="ctr" indent="0" marL="0">
              <a:buNone/>
            </a:pPr>
            <a:r>
              <a:rPr lang="en-US" sz="1100" dirty="0">
                <a:solidFill>
                  <a:srgbClr val="5E5A78"/>
                </a:solidFill>
                <a:latin typeface="Arial" pitchFamily="34" charset="0"/>
                <a:ea typeface="Arial" pitchFamily="34" charset="-122"/>
                <a:cs typeface="Arial" pitchFamily="34" charset="-120"/>
              </a:rPr>
              <a:t>garde les jambes tendues</a:t>
            </a:r>
            <a:endParaRPr lang="en-US" sz="1100" dirty="0"/>
          </a:p>
        </p:txBody>
      </p:sp>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235440" cy="685800"/>
          </a:xfrm>
          <a:prstGeom prst="rect">
            <a:avLst/>
          </a:prstGeom>
          <a:noFill/>
          <a:ln/>
        </p:spPr>
        <p:txBody>
          <a:bodyPr wrap="square" lIns="0" tIns="0" rIns="0" bIns="0" rtlCol="0" anchor="ctr"/>
          <a:lstStyle/>
          <a:p>
            <a:pPr indent="0" marL="0">
              <a:buNone/>
            </a:pPr>
            <a:r>
              <a:rPr lang="en-US" sz="2800" b="1" dirty="0">
                <a:solidFill>
                  <a:srgbClr val="0A032B"/>
                </a:solidFill>
                <a:latin typeface="Montserrat" pitchFamily="34" charset="0"/>
                <a:ea typeface="Montserrat" pitchFamily="34" charset="-122"/>
                <a:cs typeface="Montserrat" pitchFamily="34" charset="-120"/>
              </a:rPr>
              <a:t>Correction collective du QCM (2/3)</a:t>
            </a:r>
            <a:endParaRPr lang="en-US" sz="2800" dirty="0"/>
          </a:p>
        </p:txBody>
      </p:sp>
      <p:sp>
        <p:nvSpPr>
          <p:cNvPr id="3" name="Shape 1"/>
          <p:cNvSpPr/>
          <p:nvPr/>
        </p:nvSpPr>
        <p:spPr>
          <a:xfrm>
            <a:off x="10042855" y="530352"/>
            <a:ext cx="1600200" cy="347472"/>
          </a:xfrm>
          <a:prstGeom prst="roundRect">
            <a:avLst>
              <a:gd name="adj" fmla="val 50000"/>
            </a:avLst>
          </a:prstGeom>
          <a:solidFill>
            <a:srgbClr val="35305C"/>
          </a:solidFill>
          <a:ln w="12700">
            <a:solidFill>
              <a:srgbClr val="35305C"/>
            </a:solidFill>
            <a:prstDash val="solid"/>
          </a:ln>
        </p:spPr>
      </p:sp>
      <p:sp>
        <p:nvSpPr>
          <p:cNvPr id="4" name="Text 2"/>
          <p:cNvSpPr txBox="1"/>
          <p:nvPr/>
        </p:nvSpPr>
        <p:spPr>
          <a:xfrm>
            <a:off x="10042855" y="530352"/>
            <a:ext cx="1600200" cy="347472"/>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Montserrat" pitchFamily="34" charset="0"/>
                <a:ea typeface="Montserrat" pitchFamily="34" charset="-122"/>
                <a:cs typeface="Montserrat" pitchFamily="34" charset="-120"/>
              </a:rPr>
              <a:t>ÉVALUATION</a:t>
            </a:r>
            <a:endParaRPr lang="en-US" sz="1100" dirty="0"/>
          </a:p>
        </p:txBody>
      </p:sp>
      <p:sp>
        <p:nvSpPr>
          <p:cNvPr id="5" name="Text 3"/>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5E5A78"/>
                </a:solidFill>
                <a:latin typeface="Arial" pitchFamily="34" charset="0"/>
                <a:ea typeface="Arial" pitchFamily="34" charset="-122"/>
                <a:cs typeface="Arial" pitchFamily="34" charset="-120"/>
              </a:rPr>
              <a:t>Gestes et postures de l'élu  ·  Évaluation</a:t>
            </a:r>
            <a:endParaRPr lang="en-US" sz="900" dirty="0"/>
          </a:p>
        </p:txBody>
      </p:sp>
      <p:pic>
        <p:nvPicPr>
          <p:cNvPr id="6" name="Image 0" descr="logo_light.png">    </p:cNvPr>
          <p:cNvPicPr>
            <a:picLocks noChangeAspect="1"/>
          </p:cNvPicPr>
          <p:nvPr/>
        </p:nvPicPr>
        <p:blipFill>
          <a:blip r:embed="rId1"/>
          <a:stretch>
            <a:fillRect/>
          </a:stretch>
        </p:blipFill>
        <p:spPr>
          <a:xfrm>
            <a:off x="10682935" y="6236208"/>
            <a:ext cx="960120" cy="398441"/>
          </a:xfrm>
          <a:prstGeom prst="rect">
            <a:avLst/>
          </a:prstGeom>
        </p:spPr>
      </p:pic>
      <p:sp>
        <p:nvSpPr>
          <p:cNvPr id="7" name="Shape 4"/>
          <p:cNvSpPr/>
          <p:nvPr/>
        </p:nvSpPr>
        <p:spPr>
          <a:xfrm>
            <a:off x="548640" y="1371600"/>
            <a:ext cx="11094415" cy="822960"/>
          </a:xfrm>
          <a:prstGeom prst="roundRect">
            <a:avLst>
              <a:gd name="adj" fmla="val 8889"/>
            </a:avLst>
          </a:prstGeom>
          <a:solidFill>
            <a:srgbClr val="EEEDF5"/>
          </a:solidFill>
          <a:ln w="12700">
            <a:solidFill>
              <a:srgbClr val="EEEDF5"/>
            </a:solidFill>
            <a:prstDash val="solid"/>
          </a:ln>
        </p:spPr>
      </p:sp>
      <p:sp>
        <p:nvSpPr>
          <p:cNvPr id="8" name="Shape 5"/>
          <p:cNvSpPr/>
          <p:nvPr/>
        </p:nvSpPr>
        <p:spPr>
          <a:xfrm>
            <a:off x="731520" y="1545336"/>
            <a:ext cx="475488" cy="475488"/>
          </a:xfrm>
          <a:prstGeom prst="ellipse">
            <a:avLst/>
          </a:prstGeom>
          <a:solidFill>
            <a:srgbClr val="0A032B"/>
          </a:solidFill>
          <a:ln w="12700">
            <a:solidFill>
              <a:srgbClr val="0A032B"/>
            </a:solidFill>
            <a:prstDash val="solid"/>
          </a:ln>
        </p:spPr>
      </p:sp>
      <p:sp>
        <p:nvSpPr>
          <p:cNvPr id="9" name="Text 6"/>
          <p:cNvSpPr txBox="1"/>
          <p:nvPr/>
        </p:nvSpPr>
        <p:spPr>
          <a:xfrm>
            <a:off x="731520" y="154533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6</a:t>
            </a:r>
            <a:endParaRPr lang="en-US" sz="1800" dirty="0"/>
          </a:p>
        </p:txBody>
      </p:sp>
      <p:sp>
        <p:nvSpPr>
          <p:cNvPr id="10" name="Text 7"/>
          <p:cNvSpPr txBox="1"/>
          <p:nvPr/>
        </p:nvSpPr>
        <p:spPr>
          <a:xfrm>
            <a:off x="1371600" y="1371600"/>
            <a:ext cx="4754880" cy="822960"/>
          </a:xfrm>
          <a:prstGeom prst="rect">
            <a:avLst/>
          </a:prstGeom>
          <a:noFill/>
          <a:ln/>
        </p:spPr>
        <p:txBody>
          <a:bodyPr wrap="square" lIns="0" tIns="0" rIns="0" bIns="0" rtlCol="0" anchor="ctr"/>
          <a:lstStyle/>
          <a:p>
            <a:pPr indent="0" marL="0">
              <a:buNone/>
            </a:pPr>
            <a:r>
              <a:rPr lang="en-US" sz="1350" b="1" dirty="0">
                <a:solidFill>
                  <a:srgbClr val="0A032B"/>
                </a:solidFill>
                <a:latin typeface="Arial" pitchFamily="34" charset="0"/>
                <a:ea typeface="Arial" pitchFamily="34" charset="-122"/>
                <a:cs typeface="Arial" pitchFamily="34" charset="-120"/>
              </a:rPr>
              <a:t>Les pieds doivent être…</a:t>
            </a:r>
            <a:endParaRPr lang="en-US" sz="1350" dirty="0"/>
          </a:p>
        </p:txBody>
      </p:sp>
      <p:sp>
        <p:nvSpPr>
          <p:cNvPr id="11" name="Shape 8"/>
          <p:cNvSpPr/>
          <p:nvPr/>
        </p:nvSpPr>
        <p:spPr>
          <a:xfrm>
            <a:off x="6309360" y="1481328"/>
            <a:ext cx="1610258" cy="603504"/>
          </a:xfrm>
          <a:prstGeom prst="roundRect">
            <a:avLst>
              <a:gd name="adj" fmla="val 12121"/>
            </a:avLst>
          </a:prstGeom>
          <a:solidFill>
            <a:srgbClr val="FFFFFF"/>
          </a:solidFill>
          <a:ln w="12700">
            <a:solidFill>
              <a:srgbClr val="DCDAEA"/>
            </a:solidFill>
            <a:prstDash val="solid"/>
          </a:ln>
        </p:spPr>
      </p:sp>
      <p:sp>
        <p:nvSpPr>
          <p:cNvPr id="12" name="Text 9"/>
          <p:cNvSpPr txBox="1"/>
          <p:nvPr/>
        </p:nvSpPr>
        <p:spPr>
          <a:xfrm>
            <a:off x="6382512" y="1481328"/>
            <a:ext cx="1463954" cy="603504"/>
          </a:xfrm>
          <a:prstGeom prst="rect">
            <a:avLst/>
          </a:prstGeom>
          <a:noFill/>
          <a:ln/>
        </p:spPr>
        <p:txBody>
          <a:bodyPr wrap="square" lIns="0" tIns="0" rIns="0" bIns="0" rtlCol="0" anchor="ctr"/>
          <a:lstStyle/>
          <a:p>
            <a:pPr algn="ctr" indent="0" marL="0">
              <a:buNone/>
            </a:pPr>
            <a:r>
              <a:rPr lang="en-US" sz="1100" dirty="0">
                <a:solidFill>
                  <a:srgbClr val="5E5A78"/>
                </a:solidFill>
                <a:latin typeface="Arial" pitchFamily="34" charset="0"/>
                <a:ea typeface="Arial" pitchFamily="34" charset="-122"/>
                <a:cs typeface="Arial" pitchFamily="34" charset="-120"/>
              </a:rPr>
              <a:t>joints</a:t>
            </a:r>
            <a:endParaRPr lang="en-US" sz="1100" dirty="0"/>
          </a:p>
        </p:txBody>
      </p:sp>
      <p:sp>
        <p:nvSpPr>
          <p:cNvPr id="13" name="Shape 10"/>
          <p:cNvSpPr/>
          <p:nvPr/>
        </p:nvSpPr>
        <p:spPr>
          <a:xfrm>
            <a:off x="8102498" y="1481328"/>
            <a:ext cx="1610258" cy="603504"/>
          </a:xfrm>
          <a:prstGeom prst="roundRect">
            <a:avLst>
              <a:gd name="adj" fmla="val 12121"/>
            </a:avLst>
          </a:prstGeom>
          <a:solidFill>
            <a:srgbClr val="F0EF96"/>
          </a:solidFill>
          <a:ln w="12700">
            <a:solidFill>
              <a:srgbClr val="D9D65A"/>
            </a:solidFill>
            <a:prstDash val="solid"/>
          </a:ln>
        </p:spPr>
      </p:sp>
      <p:sp>
        <p:nvSpPr>
          <p:cNvPr id="14" name="Text 11"/>
          <p:cNvSpPr txBox="1"/>
          <p:nvPr/>
        </p:nvSpPr>
        <p:spPr>
          <a:xfrm>
            <a:off x="8175650" y="1481328"/>
            <a:ext cx="1463954" cy="603504"/>
          </a:xfrm>
          <a:prstGeom prst="rect">
            <a:avLst/>
          </a:prstGeom>
          <a:noFill/>
          <a:ln/>
        </p:spPr>
        <p:txBody>
          <a:bodyPr wrap="square" lIns="0" tIns="0" rIns="0" bIns="0" rtlCol="0" anchor="ctr"/>
          <a:lstStyle/>
          <a:p>
            <a:pPr algn="ctr" indent="0" marL="0">
              <a:buNone/>
            </a:pPr>
            <a:r>
              <a:rPr lang="en-US" sz="1100" b="1" dirty="0">
                <a:solidFill>
                  <a:srgbClr val="0A032B"/>
                </a:solidFill>
                <a:latin typeface="Arial" pitchFamily="34" charset="0"/>
                <a:ea typeface="Arial" pitchFamily="34" charset="-122"/>
                <a:cs typeface="Arial" pitchFamily="34" charset="-120"/>
              </a:rPr>
              <a:t>écartés, un pied en avant dans le sens du déplacement</a:t>
            </a:r>
            <a:endParaRPr lang="en-US" sz="1100" dirty="0"/>
          </a:p>
        </p:txBody>
      </p:sp>
      <p:sp>
        <p:nvSpPr>
          <p:cNvPr id="15" name="Shape 12"/>
          <p:cNvSpPr/>
          <p:nvPr/>
        </p:nvSpPr>
        <p:spPr>
          <a:xfrm>
            <a:off x="9895637" y="1481328"/>
            <a:ext cx="1610258" cy="603504"/>
          </a:xfrm>
          <a:prstGeom prst="roundRect">
            <a:avLst>
              <a:gd name="adj" fmla="val 12121"/>
            </a:avLst>
          </a:prstGeom>
          <a:solidFill>
            <a:srgbClr val="FFFFFF"/>
          </a:solidFill>
          <a:ln w="12700">
            <a:solidFill>
              <a:srgbClr val="DCDAEA"/>
            </a:solidFill>
            <a:prstDash val="solid"/>
          </a:ln>
        </p:spPr>
      </p:sp>
      <p:sp>
        <p:nvSpPr>
          <p:cNvPr id="16" name="Text 13"/>
          <p:cNvSpPr txBox="1"/>
          <p:nvPr/>
        </p:nvSpPr>
        <p:spPr>
          <a:xfrm>
            <a:off x="9968789" y="1481328"/>
            <a:ext cx="1463954" cy="603504"/>
          </a:xfrm>
          <a:prstGeom prst="rect">
            <a:avLst/>
          </a:prstGeom>
          <a:noFill/>
          <a:ln/>
        </p:spPr>
        <p:txBody>
          <a:bodyPr wrap="square" lIns="0" tIns="0" rIns="0" bIns="0" rtlCol="0" anchor="ctr"/>
          <a:lstStyle/>
          <a:p>
            <a:pPr algn="ctr" indent="0" marL="0">
              <a:buNone/>
            </a:pPr>
            <a:r>
              <a:rPr lang="en-US" sz="1100" dirty="0">
                <a:solidFill>
                  <a:srgbClr val="5E5A78"/>
                </a:solidFill>
                <a:latin typeface="Arial" pitchFamily="34" charset="0"/>
                <a:ea typeface="Arial" pitchFamily="34" charset="-122"/>
                <a:cs typeface="Arial" pitchFamily="34" charset="-120"/>
              </a:rPr>
              <a:t>croisés</a:t>
            </a:r>
            <a:endParaRPr lang="en-US" sz="1100" dirty="0"/>
          </a:p>
        </p:txBody>
      </p:sp>
      <p:sp>
        <p:nvSpPr>
          <p:cNvPr id="17" name="Shape 14"/>
          <p:cNvSpPr/>
          <p:nvPr/>
        </p:nvSpPr>
        <p:spPr>
          <a:xfrm>
            <a:off x="548640" y="2313432"/>
            <a:ext cx="11094415" cy="822960"/>
          </a:xfrm>
          <a:prstGeom prst="roundRect">
            <a:avLst>
              <a:gd name="adj" fmla="val 8889"/>
            </a:avLst>
          </a:prstGeom>
          <a:solidFill>
            <a:srgbClr val="EEEDF5"/>
          </a:solidFill>
          <a:ln w="12700">
            <a:solidFill>
              <a:srgbClr val="EEEDF5"/>
            </a:solidFill>
            <a:prstDash val="solid"/>
          </a:ln>
        </p:spPr>
      </p:sp>
      <p:sp>
        <p:nvSpPr>
          <p:cNvPr id="18" name="Shape 15"/>
          <p:cNvSpPr/>
          <p:nvPr/>
        </p:nvSpPr>
        <p:spPr>
          <a:xfrm>
            <a:off x="731520" y="2487168"/>
            <a:ext cx="475488" cy="475488"/>
          </a:xfrm>
          <a:prstGeom prst="ellipse">
            <a:avLst/>
          </a:prstGeom>
          <a:solidFill>
            <a:srgbClr val="0A032B"/>
          </a:solidFill>
          <a:ln w="12700">
            <a:solidFill>
              <a:srgbClr val="0A032B"/>
            </a:solidFill>
            <a:prstDash val="solid"/>
          </a:ln>
        </p:spPr>
      </p:sp>
      <p:sp>
        <p:nvSpPr>
          <p:cNvPr id="19" name="Text 16"/>
          <p:cNvSpPr txBox="1"/>
          <p:nvPr/>
        </p:nvSpPr>
        <p:spPr>
          <a:xfrm>
            <a:off x="731520" y="248716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7</a:t>
            </a:r>
            <a:endParaRPr lang="en-US" sz="1800" dirty="0"/>
          </a:p>
        </p:txBody>
      </p:sp>
      <p:sp>
        <p:nvSpPr>
          <p:cNvPr id="20" name="Text 17"/>
          <p:cNvSpPr txBox="1"/>
          <p:nvPr/>
        </p:nvSpPr>
        <p:spPr>
          <a:xfrm>
            <a:off x="1371600" y="2313432"/>
            <a:ext cx="4754880" cy="822960"/>
          </a:xfrm>
          <a:prstGeom prst="rect">
            <a:avLst/>
          </a:prstGeom>
          <a:noFill/>
          <a:ln/>
        </p:spPr>
        <p:txBody>
          <a:bodyPr wrap="square" lIns="0" tIns="0" rIns="0" bIns="0" rtlCol="0" anchor="ctr"/>
          <a:lstStyle/>
          <a:p>
            <a:pPr indent="0" marL="0">
              <a:buNone/>
            </a:pPr>
            <a:r>
              <a:rPr lang="en-US" sz="1350" b="1" dirty="0">
                <a:solidFill>
                  <a:srgbClr val="0A032B"/>
                </a:solidFill>
                <a:latin typeface="Arial" pitchFamily="34" charset="0"/>
                <a:ea typeface="Arial" pitchFamily="34" charset="-122"/>
                <a:cs typeface="Arial" pitchFamily="34" charset="-120"/>
              </a:rPr>
              <a:t>Pour changer de direction avec une charge, on…</a:t>
            </a:r>
            <a:endParaRPr lang="en-US" sz="1350" dirty="0"/>
          </a:p>
        </p:txBody>
      </p:sp>
      <p:sp>
        <p:nvSpPr>
          <p:cNvPr id="21" name="Shape 18"/>
          <p:cNvSpPr/>
          <p:nvPr/>
        </p:nvSpPr>
        <p:spPr>
          <a:xfrm>
            <a:off x="6309360" y="2423160"/>
            <a:ext cx="1610258" cy="603504"/>
          </a:xfrm>
          <a:prstGeom prst="roundRect">
            <a:avLst>
              <a:gd name="adj" fmla="val 12121"/>
            </a:avLst>
          </a:prstGeom>
          <a:solidFill>
            <a:srgbClr val="FFFFFF"/>
          </a:solidFill>
          <a:ln w="12700">
            <a:solidFill>
              <a:srgbClr val="DCDAEA"/>
            </a:solidFill>
            <a:prstDash val="solid"/>
          </a:ln>
        </p:spPr>
      </p:sp>
      <p:sp>
        <p:nvSpPr>
          <p:cNvPr id="22" name="Text 19"/>
          <p:cNvSpPr txBox="1"/>
          <p:nvPr/>
        </p:nvSpPr>
        <p:spPr>
          <a:xfrm>
            <a:off x="6382512" y="2423160"/>
            <a:ext cx="1463954" cy="603504"/>
          </a:xfrm>
          <a:prstGeom prst="rect">
            <a:avLst/>
          </a:prstGeom>
          <a:noFill/>
          <a:ln/>
        </p:spPr>
        <p:txBody>
          <a:bodyPr wrap="square" lIns="0" tIns="0" rIns="0" bIns="0" rtlCol="0" anchor="ctr"/>
          <a:lstStyle/>
          <a:p>
            <a:pPr algn="ctr" indent="0" marL="0">
              <a:buNone/>
            </a:pPr>
            <a:r>
              <a:rPr lang="en-US" sz="1100" dirty="0">
                <a:solidFill>
                  <a:srgbClr val="5E5A78"/>
                </a:solidFill>
                <a:latin typeface="Arial" pitchFamily="34" charset="0"/>
                <a:ea typeface="Arial" pitchFamily="34" charset="-122"/>
                <a:cs typeface="Arial" pitchFamily="34" charset="-120"/>
              </a:rPr>
              <a:t>tourne le buste</a:t>
            </a:r>
            <a:endParaRPr lang="en-US" sz="1100" dirty="0"/>
          </a:p>
        </p:txBody>
      </p:sp>
      <p:sp>
        <p:nvSpPr>
          <p:cNvPr id="23" name="Shape 20"/>
          <p:cNvSpPr/>
          <p:nvPr/>
        </p:nvSpPr>
        <p:spPr>
          <a:xfrm>
            <a:off x="8102498" y="2423160"/>
            <a:ext cx="1610258" cy="603504"/>
          </a:xfrm>
          <a:prstGeom prst="roundRect">
            <a:avLst>
              <a:gd name="adj" fmla="val 12121"/>
            </a:avLst>
          </a:prstGeom>
          <a:solidFill>
            <a:srgbClr val="F0EF96"/>
          </a:solidFill>
          <a:ln w="12700">
            <a:solidFill>
              <a:srgbClr val="D9D65A"/>
            </a:solidFill>
            <a:prstDash val="solid"/>
          </a:ln>
        </p:spPr>
      </p:sp>
      <p:sp>
        <p:nvSpPr>
          <p:cNvPr id="24" name="Text 21"/>
          <p:cNvSpPr txBox="1"/>
          <p:nvPr/>
        </p:nvSpPr>
        <p:spPr>
          <a:xfrm>
            <a:off x="8175650" y="2423160"/>
            <a:ext cx="1463954" cy="603504"/>
          </a:xfrm>
          <a:prstGeom prst="rect">
            <a:avLst/>
          </a:prstGeom>
          <a:noFill/>
          <a:ln/>
        </p:spPr>
        <p:txBody>
          <a:bodyPr wrap="square" lIns="0" tIns="0" rIns="0" bIns="0" rtlCol="0" anchor="ctr"/>
          <a:lstStyle/>
          <a:p>
            <a:pPr algn="ctr" indent="0" marL="0">
              <a:buNone/>
            </a:pPr>
            <a:r>
              <a:rPr lang="en-US" sz="1100" b="1" dirty="0">
                <a:solidFill>
                  <a:srgbClr val="0A032B"/>
                </a:solidFill>
                <a:latin typeface="Arial" pitchFamily="34" charset="0"/>
                <a:ea typeface="Arial" pitchFamily="34" charset="-122"/>
                <a:cs typeface="Arial" pitchFamily="34" charset="-120"/>
              </a:rPr>
              <a:t>pivote avec les pieds</a:t>
            </a:r>
            <a:endParaRPr lang="en-US" sz="1100" dirty="0"/>
          </a:p>
        </p:txBody>
      </p:sp>
      <p:sp>
        <p:nvSpPr>
          <p:cNvPr id="25" name="Shape 22"/>
          <p:cNvSpPr/>
          <p:nvPr/>
        </p:nvSpPr>
        <p:spPr>
          <a:xfrm>
            <a:off x="9895637" y="2423160"/>
            <a:ext cx="1610258" cy="603504"/>
          </a:xfrm>
          <a:prstGeom prst="roundRect">
            <a:avLst>
              <a:gd name="adj" fmla="val 12121"/>
            </a:avLst>
          </a:prstGeom>
          <a:solidFill>
            <a:srgbClr val="FFFFFF"/>
          </a:solidFill>
          <a:ln w="12700">
            <a:solidFill>
              <a:srgbClr val="DCDAEA"/>
            </a:solidFill>
            <a:prstDash val="solid"/>
          </a:ln>
        </p:spPr>
      </p:sp>
      <p:sp>
        <p:nvSpPr>
          <p:cNvPr id="26" name="Text 23"/>
          <p:cNvSpPr txBox="1"/>
          <p:nvPr/>
        </p:nvSpPr>
        <p:spPr>
          <a:xfrm>
            <a:off x="9968789" y="2423160"/>
            <a:ext cx="1463954" cy="603504"/>
          </a:xfrm>
          <a:prstGeom prst="rect">
            <a:avLst/>
          </a:prstGeom>
          <a:noFill/>
          <a:ln/>
        </p:spPr>
        <p:txBody>
          <a:bodyPr wrap="square" lIns="0" tIns="0" rIns="0" bIns="0" rtlCol="0" anchor="ctr"/>
          <a:lstStyle/>
          <a:p>
            <a:pPr algn="ctr" indent="0" marL="0">
              <a:buNone/>
            </a:pPr>
            <a:r>
              <a:rPr lang="en-US" sz="1100" dirty="0">
                <a:solidFill>
                  <a:srgbClr val="5E5A78"/>
                </a:solidFill>
                <a:latin typeface="Arial" pitchFamily="34" charset="0"/>
                <a:ea typeface="Arial" pitchFamily="34" charset="-122"/>
                <a:cs typeface="Arial" pitchFamily="34" charset="-120"/>
              </a:rPr>
              <a:t>lance la charge</a:t>
            </a:r>
            <a:endParaRPr lang="en-US" sz="1100" dirty="0"/>
          </a:p>
        </p:txBody>
      </p:sp>
      <p:sp>
        <p:nvSpPr>
          <p:cNvPr id="27" name="Shape 24"/>
          <p:cNvSpPr/>
          <p:nvPr/>
        </p:nvSpPr>
        <p:spPr>
          <a:xfrm>
            <a:off x="548640" y="3255264"/>
            <a:ext cx="11094415" cy="822960"/>
          </a:xfrm>
          <a:prstGeom prst="roundRect">
            <a:avLst>
              <a:gd name="adj" fmla="val 8889"/>
            </a:avLst>
          </a:prstGeom>
          <a:solidFill>
            <a:srgbClr val="EEEDF5"/>
          </a:solidFill>
          <a:ln w="12700">
            <a:solidFill>
              <a:srgbClr val="EEEDF5"/>
            </a:solidFill>
            <a:prstDash val="solid"/>
          </a:ln>
        </p:spPr>
      </p:sp>
      <p:sp>
        <p:nvSpPr>
          <p:cNvPr id="28" name="Shape 25"/>
          <p:cNvSpPr/>
          <p:nvPr/>
        </p:nvSpPr>
        <p:spPr>
          <a:xfrm>
            <a:off x="731520" y="3429000"/>
            <a:ext cx="475488" cy="475488"/>
          </a:xfrm>
          <a:prstGeom prst="ellipse">
            <a:avLst/>
          </a:prstGeom>
          <a:solidFill>
            <a:srgbClr val="0A032B"/>
          </a:solidFill>
          <a:ln w="12700">
            <a:solidFill>
              <a:srgbClr val="0A032B"/>
            </a:solidFill>
            <a:prstDash val="solid"/>
          </a:ln>
        </p:spPr>
      </p:sp>
      <p:sp>
        <p:nvSpPr>
          <p:cNvPr id="29" name="Text 26"/>
          <p:cNvSpPr txBox="1"/>
          <p:nvPr/>
        </p:nvSpPr>
        <p:spPr>
          <a:xfrm>
            <a:off x="731520" y="3429000"/>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8</a:t>
            </a:r>
            <a:endParaRPr lang="en-US" sz="1800" dirty="0"/>
          </a:p>
        </p:txBody>
      </p:sp>
      <p:sp>
        <p:nvSpPr>
          <p:cNvPr id="30" name="Text 27"/>
          <p:cNvSpPr txBox="1"/>
          <p:nvPr/>
        </p:nvSpPr>
        <p:spPr>
          <a:xfrm>
            <a:off x="1371600" y="3255264"/>
            <a:ext cx="4754880" cy="822960"/>
          </a:xfrm>
          <a:prstGeom prst="rect">
            <a:avLst/>
          </a:prstGeom>
          <a:noFill/>
          <a:ln/>
        </p:spPr>
        <p:txBody>
          <a:bodyPr wrap="square" lIns="0" tIns="0" rIns="0" bIns="0" rtlCol="0" anchor="ctr"/>
          <a:lstStyle/>
          <a:p>
            <a:pPr indent="0" marL="0">
              <a:buNone/>
            </a:pPr>
            <a:r>
              <a:rPr lang="en-US" sz="1350" b="1" dirty="0">
                <a:solidFill>
                  <a:srgbClr val="0A032B"/>
                </a:solidFill>
                <a:latin typeface="Arial" pitchFamily="34" charset="0"/>
                <a:ea typeface="Arial" pitchFamily="34" charset="-122"/>
                <a:cs typeface="Arial" pitchFamily="34" charset="-120"/>
              </a:rPr>
              <a:t>La charge doit être tenue…</a:t>
            </a:r>
            <a:endParaRPr lang="en-US" sz="1350" dirty="0"/>
          </a:p>
        </p:txBody>
      </p:sp>
      <p:sp>
        <p:nvSpPr>
          <p:cNvPr id="31" name="Shape 28"/>
          <p:cNvSpPr/>
          <p:nvPr/>
        </p:nvSpPr>
        <p:spPr>
          <a:xfrm>
            <a:off x="6309360" y="3364992"/>
            <a:ext cx="1610258" cy="603504"/>
          </a:xfrm>
          <a:prstGeom prst="roundRect">
            <a:avLst>
              <a:gd name="adj" fmla="val 12121"/>
            </a:avLst>
          </a:prstGeom>
          <a:solidFill>
            <a:srgbClr val="FFFFFF"/>
          </a:solidFill>
          <a:ln w="12700">
            <a:solidFill>
              <a:srgbClr val="DCDAEA"/>
            </a:solidFill>
            <a:prstDash val="solid"/>
          </a:ln>
        </p:spPr>
      </p:sp>
      <p:sp>
        <p:nvSpPr>
          <p:cNvPr id="32" name="Text 29"/>
          <p:cNvSpPr txBox="1"/>
          <p:nvPr/>
        </p:nvSpPr>
        <p:spPr>
          <a:xfrm>
            <a:off x="6382512" y="3364992"/>
            <a:ext cx="1463954" cy="603504"/>
          </a:xfrm>
          <a:prstGeom prst="rect">
            <a:avLst/>
          </a:prstGeom>
          <a:noFill/>
          <a:ln/>
        </p:spPr>
        <p:txBody>
          <a:bodyPr wrap="square" lIns="0" tIns="0" rIns="0" bIns="0" rtlCol="0" anchor="ctr"/>
          <a:lstStyle/>
          <a:p>
            <a:pPr algn="ctr" indent="0" marL="0">
              <a:buNone/>
            </a:pPr>
            <a:r>
              <a:rPr lang="en-US" sz="1100" dirty="0">
                <a:solidFill>
                  <a:srgbClr val="5E5A78"/>
                </a:solidFill>
                <a:latin typeface="Arial" pitchFamily="34" charset="0"/>
                <a:ea typeface="Arial" pitchFamily="34" charset="-122"/>
                <a:cs typeface="Arial" pitchFamily="34" charset="-120"/>
              </a:rPr>
              <a:t>bras tendus devant soi</a:t>
            </a:r>
            <a:endParaRPr lang="en-US" sz="1100" dirty="0"/>
          </a:p>
        </p:txBody>
      </p:sp>
      <p:sp>
        <p:nvSpPr>
          <p:cNvPr id="33" name="Shape 30"/>
          <p:cNvSpPr/>
          <p:nvPr/>
        </p:nvSpPr>
        <p:spPr>
          <a:xfrm>
            <a:off x="8102498" y="3364992"/>
            <a:ext cx="1610258" cy="603504"/>
          </a:xfrm>
          <a:prstGeom prst="roundRect">
            <a:avLst>
              <a:gd name="adj" fmla="val 12121"/>
            </a:avLst>
          </a:prstGeom>
          <a:solidFill>
            <a:srgbClr val="FFFFFF"/>
          </a:solidFill>
          <a:ln w="12700">
            <a:solidFill>
              <a:srgbClr val="DCDAEA"/>
            </a:solidFill>
            <a:prstDash val="solid"/>
          </a:ln>
        </p:spPr>
      </p:sp>
      <p:sp>
        <p:nvSpPr>
          <p:cNvPr id="34" name="Text 31"/>
          <p:cNvSpPr txBox="1"/>
          <p:nvPr/>
        </p:nvSpPr>
        <p:spPr>
          <a:xfrm>
            <a:off x="8175650" y="3364992"/>
            <a:ext cx="1463954" cy="603504"/>
          </a:xfrm>
          <a:prstGeom prst="rect">
            <a:avLst/>
          </a:prstGeom>
          <a:noFill/>
          <a:ln/>
        </p:spPr>
        <p:txBody>
          <a:bodyPr wrap="square" lIns="0" tIns="0" rIns="0" bIns="0" rtlCol="0" anchor="ctr"/>
          <a:lstStyle/>
          <a:p>
            <a:pPr algn="ctr" indent="0" marL="0">
              <a:buNone/>
            </a:pPr>
            <a:r>
              <a:rPr lang="en-US" sz="1100" dirty="0">
                <a:solidFill>
                  <a:srgbClr val="5E5A78"/>
                </a:solidFill>
                <a:latin typeface="Arial" pitchFamily="34" charset="0"/>
                <a:ea typeface="Arial" pitchFamily="34" charset="-122"/>
                <a:cs typeface="Arial" pitchFamily="34" charset="-120"/>
              </a:rPr>
              <a:t>au-dessus des épaules</a:t>
            </a:r>
            <a:endParaRPr lang="en-US" sz="1100" dirty="0"/>
          </a:p>
        </p:txBody>
      </p:sp>
      <p:sp>
        <p:nvSpPr>
          <p:cNvPr id="35" name="Shape 32"/>
          <p:cNvSpPr/>
          <p:nvPr/>
        </p:nvSpPr>
        <p:spPr>
          <a:xfrm>
            <a:off x="9895637" y="3364992"/>
            <a:ext cx="1610258" cy="603504"/>
          </a:xfrm>
          <a:prstGeom prst="roundRect">
            <a:avLst>
              <a:gd name="adj" fmla="val 12121"/>
            </a:avLst>
          </a:prstGeom>
          <a:solidFill>
            <a:srgbClr val="F0EF96"/>
          </a:solidFill>
          <a:ln w="12700">
            <a:solidFill>
              <a:srgbClr val="D9D65A"/>
            </a:solidFill>
            <a:prstDash val="solid"/>
          </a:ln>
        </p:spPr>
      </p:sp>
      <p:sp>
        <p:nvSpPr>
          <p:cNvPr id="36" name="Text 33"/>
          <p:cNvSpPr txBox="1"/>
          <p:nvPr/>
        </p:nvSpPr>
        <p:spPr>
          <a:xfrm>
            <a:off x="9968789" y="3364992"/>
            <a:ext cx="1463954" cy="603504"/>
          </a:xfrm>
          <a:prstGeom prst="rect">
            <a:avLst/>
          </a:prstGeom>
          <a:noFill/>
          <a:ln/>
        </p:spPr>
        <p:txBody>
          <a:bodyPr wrap="square" lIns="0" tIns="0" rIns="0" bIns="0" rtlCol="0" anchor="ctr"/>
          <a:lstStyle/>
          <a:p>
            <a:pPr algn="ctr" indent="0" marL="0">
              <a:buNone/>
            </a:pPr>
            <a:r>
              <a:rPr lang="en-US" sz="1100" b="1" dirty="0">
                <a:solidFill>
                  <a:srgbClr val="0A032B"/>
                </a:solidFill>
                <a:latin typeface="Arial" pitchFamily="34" charset="0"/>
                <a:ea typeface="Arial" pitchFamily="34" charset="-122"/>
                <a:cs typeface="Arial" pitchFamily="34" charset="-120"/>
              </a:rPr>
              <a:t>au plus près du corps</a:t>
            </a:r>
            <a:endParaRPr lang="en-US" sz="1100" dirty="0"/>
          </a:p>
        </p:txBody>
      </p:sp>
      <p:sp>
        <p:nvSpPr>
          <p:cNvPr id="37" name="Shape 34"/>
          <p:cNvSpPr/>
          <p:nvPr/>
        </p:nvSpPr>
        <p:spPr>
          <a:xfrm>
            <a:off x="548640" y="4197096"/>
            <a:ext cx="11094415" cy="822960"/>
          </a:xfrm>
          <a:prstGeom prst="roundRect">
            <a:avLst>
              <a:gd name="adj" fmla="val 8889"/>
            </a:avLst>
          </a:prstGeom>
          <a:solidFill>
            <a:srgbClr val="EEEDF5"/>
          </a:solidFill>
          <a:ln w="12700">
            <a:solidFill>
              <a:srgbClr val="EEEDF5"/>
            </a:solidFill>
            <a:prstDash val="solid"/>
          </a:ln>
        </p:spPr>
      </p:sp>
      <p:sp>
        <p:nvSpPr>
          <p:cNvPr id="38" name="Shape 35"/>
          <p:cNvSpPr/>
          <p:nvPr/>
        </p:nvSpPr>
        <p:spPr>
          <a:xfrm>
            <a:off x="731520" y="4370832"/>
            <a:ext cx="475488" cy="475488"/>
          </a:xfrm>
          <a:prstGeom prst="ellipse">
            <a:avLst/>
          </a:prstGeom>
          <a:solidFill>
            <a:srgbClr val="0A032B"/>
          </a:solidFill>
          <a:ln w="12700">
            <a:solidFill>
              <a:srgbClr val="0A032B"/>
            </a:solidFill>
            <a:prstDash val="solid"/>
          </a:ln>
        </p:spPr>
      </p:sp>
      <p:sp>
        <p:nvSpPr>
          <p:cNvPr id="39" name="Text 36"/>
          <p:cNvSpPr txBox="1"/>
          <p:nvPr/>
        </p:nvSpPr>
        <p:spPr>
          <a:xfrm>
            <a:off x="731520" y="4370832"/>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9</a:t>
            </a:r>
            <a:endParaRPr lang="en-US" sz="1800" dirty="0"/>
          </a:p>
        </p:txBody>
      </p:sp>
      <p:sp>
        <p:nvSpPr>
          <p:cNvPr id="40" name="Text 37"/>
          <p:cNvSpPr txBox="1"/>
          <p:nvPr/>
        </p:nvSpPr>
        <p:spPr>
          <a:xfrm>
            <a:off x="1371600" y="4197096"/>
            <a:ext cx="4754880" cy="822960"/>
          </a:xfrm>
          <a:prstGeom prst="rect">
            <a:avLst/>
          </a:prstGeom>
          <a:noFill/>
          <a:ln/>
        </p:spPr>
        <p:txBody>
          <a:bodyPr wrap="square" lIns="0" tIns="0" rIns="0" bIns="0" rtlCol="0" anchor="ctr"/>
          <a:lstStyle/>
          <a:p>
            <a:pPr indent="0" marL="0">
              <a:buNone/>
            </a:pPr>
            <a:r>
              <a:rPr lang="en-US" sz="1350" b="1" dirty="0">
                <a:solidFill>
                  <a:srgbClr val="0A032B"/>
                </a:solidFill>
                <a:latin typeface="Arial" pitchFamily="34" charset="0"/>
                <a:ea typeface="Arial" pitchFamily="34" charset="-122"/>
                <a:cs typeface="Arial" pitchFamily="34" charset="-120"/>
              </a:rPr>
              <a:t>Lors d'une manutention à deux…</a:t>
            </a:r>
            <a:endParaRPr lang="en-US" sz="1350" dirty="0"/>
          </a:p>
        </p:txBody>
      </p:sp>
      <p:sp>
        <p:nvSpPr>
          <p:cNvPr id="41" name="Shape 38"/>
          <p:cNvSpPr/>
          <p:nvPr/>
        </p:nvSpPr>
        <p:spPr>
          <a:xfrm>
            <a:off x="6309360" y="4306824"/>
            <a:ext cx="1610258" cy="603504"/>
          </a:xfrm>
          <a:prstGeom prst="roundRect">
            <a:avLst>
              <a:gd name="adj" fmla="val 12121"/>
            </a:avLst>
          </a:prstGeom>
          <a:solidFill>
            <a:srgbClr val="F0EF96"/>
          </a:solidFill>
          <a:ln w="12700">
            <a:solidFill>
              <a:srgbClr val="D9D65A"/>
            </a:solidFill>
            <a:prstDash val="solid"/>
          </a:ln>
        </p:spPr>
      </p:sp>
      <p:sp>
        <p:nvSpPr>
          <p:cNvPr id="42" name="Text 39"/>
          <p:cNvSpPr txBox="1"/>
          <p:nvPr/>
        </p:nvSpPr>
        <p:spPr>
          <a:xfrm>
            <a:off x="6382512" y="4306824"/>
            <a:ext cx="1463954" cy="603504"/>
          </a:xfrm>
          <a:prstGeom prst="rect">
            <a:avLst/>
          </a:prstGeom>
          <a:noFill/>
          <a:ln/>
        </p:spPr>
        <p:txBody>
          <a:bodyPr wrap="square" lIns="0" tIns="0" rIns="0" bIns="0" rtlCol="0" anchor="ctr"/>
          <a:lstStyle/>
          <a:p>
            <a:pPr algn="ctr" indent="0" marL="0">
              <a:buNone/>
            </a:pPr>
            <a:r>
              <a:rPr lang="en-US" sz="1100" b="1" dirty="0">
                <a:solidFill>
                  <a:srgbClr val="0A032B"/>
                </a:solidFill>
                <a:latin typeface="Arial" pitchFamily="34" charset="0"/>
                <a:ea typeface="Arial" pitchFamily="34" charset="-122"/>
                <a:cs typeface="Arial" pitchFamily="34" charset="-120"/>
              </a:rPr>
              <a:t>un meneur donne les consignes</a:t>
            </a:r>
            <a:endParaRPr lang="en-US" sz="1100" dirty="0"/>
          </a:p>
        </p:txBody>
      </p:sp>
      <p:sp>
        <p:nvSpPr>
          <p:cNvPr id="43" name="Shape 40"/>
          <p:cNvSpPr/>
          <p:nvPr/>
        </p:nvSpPr>
        <p:spPr>
          <a:xfrm>
            <a:off x="8102498" y="4306824"/>
            <a:ext cx="1610258" cy="603504"/>
          </a:xfrm>
          <a:prstGeom prst="roundRect">
            <a:avLst>
              <a:gd name="adj" fmla="val 12121"/>
            </a:avLst>
          </a:prstGeom>
          <a:solidFill>
            <a:srgbClr val="FFFFFF"/>
          </a:solidFill>
          <a:ln w="12700">
            <a:solidFill>
              <a:srgbClr val="DCDAEA"/>
            </a:solidFill>
            <a:prstDash val="solid"/>
          </a:ln>
        </p:spPr>
      </p:sp>
      <p:sp>
        <p:nvSpPr>
          <p:cNvPr id="44" name="Text 41"/>
          <p:cNvSpPr txBox="1"/>
          <p:nvPr/>
        </p:nvSpPr>
        <p:spPr>
          <a:xfrm>
            <a:off x="8175650" y="4306824"/>
            <a:ext cx="1463954" cy="603504"/>
          </a:xfrm>
          <a:prstGeom prst="rect">
            <a:avLst/>
          </a:prstGeom>
          <a:noFill/>
          <a:ln/>
        </p:spPr>
        <p:txBody>
          <a:bodyPr wrap="square" lIns="0" tIns="0" rIns="0" bIns="0" rtlCol="0" anchor="ctr"/>
          <a:lstStyle/>
          <a:p>
            <a:pPr algn="ctr" indent="0" marL="0">
              <a:buNone/>
            </a:pPr>
            <a:r>
              <a:rPr lang="en-US" sz="1100" dirty="0">
                <a:solidFill>
                  <a:srgbClr val="5E5A78"/>
                </a:solidFill>
                <a:latin typeface="Arial" pitchFamily="34" charset="0"/>
                <a:ea typeface="Arial" pitchFamily="34" charset="-122"/>
                <a:cs typeface="Arial" pitchFamily="34" charset="-120"/>
              </a:rPr>
              <a:t>chacun décide de son côté</a:t>
            </a:r>
            <a:endParaRPr lang="en-US" sz="1100" dirty="0"/>
          </a:p>
        </p:txBody>
      </p:sp>
      <p:sp>
        <p:nvSpPr>
          <p:cNvPr id="45" name="Shape 42"/>
          <p:cNvSpPr/>
          <p:nvPr/>
        </p:nvSpPr>
        <p:spPr>
          <a:xfrm>
            <a:off x="9895637" y="4306824"/>
            <a:ext cx="1610258" cy="603504"/>
          </a:xfrm>
          <a:prstGeom prst="roundRect">
            <a:avLst>
              <a:gd name="adj" fmla="val 12121"/>
            </a:avLst>
          </a:prstGeom>
          <a:solidFill>
            <a:srgbClr val="FFFFFF"/>
          </a:solidFill>
          <a:ln w="12700">
            <a:solidFill>
              <a:srgbClr val="DCDAEA"/>
            </a:solidFill>
            <a:prstDash val="solid"/>
          </a:ln>
        </p:spPr>
      </p:sp>
      <p:sp>
        <p:nvSpPr>
          <p:cNvPr id="46" name="Text 43"/>
          <p:cNvSpPr txBox="1"/>
          <p:nvPr/>
        </p:nvSpPr>
        <p:spPr>
          <a:xfrm>
            <a:off x="9968789" y="4306824"/>
            <a:ext cx="1463954" cy="603504"/>
          </a:xfrm>
          <a:prstGeom prst="rect">
            <a:avLst/>
          </a:prstGeom>
          <a:noFill/>
          <a:ln/>
        </p:spPr>
        <p:txBody>
          <a:bodyPr wrap="square" lIns="0" tIns="0" rIns="0" bIns="0" rtlCol="0" anchor="ctr"/>
          <a:lstStyle/>
          <a:p>
            <a:pPr algn="ctr" indent="0" marL="0">
              <a:buNone/>
            </a:pPr>
            <a:r>
              <a:rPr lang="en-US" sz="1100" dirty="0">
                <a:solidFill>
                  <a:srgbClr val="5E5A78"/>
                </a:solidFill>
                <a:latin typeface="Arial" pitchFamily="34" charset="0"/>
                <a:ea typeface="Arial" pitchFamily="34" charset="-122"/>
                <a:cs typeface="Arial" pitchFamily="34" charset="-120"/>
              </a:rPr>
              <a:t>le plus rapide mène</a:t>
            </a:r>
            <a:endParaRPr lang="en-US" sz="1100" dirty="0"/>
          </a:p>
        </p:txBody>
      </p:sp>
      <p:sp>
        <p:nvSpPr>
          <p:cNvPr id="47" name="Shape 44"/>
          <p:cNvSpPr/>
          <p:nvPr/>
        </p:nvSpPr>
        <p:spPr>
          <a:xfrm>
            <a:off x="548640" y="5138928"/>
            <a:ext cx="11094415" cy="822960"/>
          </a:xfrm>
          <a:prstGeom prst="roundRect">
            <a:avLst>
              <a:gd name="adj" fmla="val 8889"/>
            </a:avLst>
          </a:prstGeom>
          <a:solidFill>
            <a:srgbClr val="EEEDF5"/>
          </a:solidFill>
          <a:ln w="12700">
            <a:solidFill>
              <a:srgbClr val="EEEDF5"/>
            </a:solidFill>
            <a:prstDash val="solid"/>
          </a:ln>
        </p:spPr>
      </p:sp>
      <p:sp>
        <p:nvSpPr>
          <p:cNvPr id="48" name="Shape 45"/>
          <p:cNvSpPr/>
          <p:nvPr/>
        </p:nvSpPr>
        <p:spPr>
          <a:xfrm>
            <a:off x="731520" y="5312664"/>
            <a:ext cx="475488" cy="475488"/>
          </a:xfrm>
          <a:prstGeom prst="ellipse">
            <a:avLst/>
          </a:prstGeom>
          <a:solidFill>
            <a:srgbClr val="0A032B"/>
          </a:solidFill>
          <a:ln w="12700">
            <a:solidFill>
              <a:srgbClr val="0A032B"/>
            </a:solidFill>
            <a:prstDash val="solid"/>
          </a:ln>
        </p:spPr>
      </p:sp>
      <p:sp>
        <p:nvSpPr>
          <p:cNvPr id="49" name="Text 46"/>
          <p:cNvSpPr txBox="1"/>
          <p:nvPr/>
        </p:nvSpPr>
        <p:spPr>
          <a:xfrm>
            <a:off x="731520" y="5312664"/>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10</a:t>
            </a:r>
            <a:endParaRPr lang="en-US" sz="1800" dirty="0"/>
          </a:p>
        </p:txBody>
      </p:sp>
      <p:sp>
        <p:nvSpPr>
          <p:cNvPr id="50" name="Text 47"/>
          <p:cNvSpPr txBox="1"/>
          <p:nvPr/>
        </p:nvSpPr>
        <p:spPr>
          <a:xfrm>
            <a:off x="1371600" y="5138928"/>
            <a:ext cx="4754880" cy="822960"/>
          </a:xfrm>
          <a:prstGeom prst="rect">
            <a:avLst/>
          </a:prstGeom>
          <a:noFill/>
          <a:ln/>
        </p:spPr>
        <p:txBody>
          <a:bodyPr wrap="square" lIns="0" tIns="0" rIns="0" bIns="0" rtlCol="0" anchor="ctr"/>
          <a:lstStyle/>
          <a:p>
            <a:pPr indent="0" marL="0">
              <a:buNone/>
            </a:pPr>
            <a:r>
              <a:rPr lang="en-US" sz="1350" b="1" dirty="0">
                <a:solidFill>
                  <a:srgbClr val="0A032B"/>
                </a:solidFill>
                <a:latin typeface="Arial" pitchFamily="34" charset="0"/>
                <a:ea typeface="Arial" pitchFamily="34" charset="-122"/>
                <a:cs typeface="Arial" pitchFamily="34" charset="-120"/>
              </a:rPr>
              <a:t>Face à une charge lourde, le premier réflexe est de…</a:t>
            </a:r>
            <a:endParaRPr lang="en-US" sz="1350" dirty="0"/>
          </a:p>
        </p:txBody>
      </p:sp>
      <p:sp>
        <p:nvSpPr>
          <p:cNvPr id="51" name="Shape 48"/>
          <p:cNvSpPr/>
          <p:nvPr/>
        </p:nvSpPr>
        <p:spPr>
          <a:xfrm>
            <a:off x="6309360" y="5248656"/>
            <a:ext cx="1610258" cy="603504"/>
          </a:xfrm>
          <a:prstGeom prst="roundRect">
            <a:avLst>
              <a:gd name="adj" fmla="val 12121"/>
            </a:avLst>
          </a:prstGeom>
          <a:solidFill>
            <a:srgbClr val="FFFFFF"/>
          </a:solidFill>
          <a:ln w="12700">
            <a:solidFill>
              <a:srgbClr val="DCDAEA"/>
            </a:solidFill>
            <a:prstDash val="solid"/>
          </a:ln>
        </p:spPr>
      </p:sp>
      <p:sp>
        <p:nvSpPr>
          <p:cNvPr id="52" name="Text 49"/>
          <p:cNvSpPr txBox="1"/>
          <p:nvPr/>
        </p:nvSpPr>
        <p:spPr>
          <a:xfrm>
            <a:off x="6382512" y="5248656"/>
            <a:ext cx="1463954" cy="603504"/>
          </a:xfrm>
          <a:prstGeom prst="rect">
            <a:avLst/>
          </a:prstGeom>
          <a:noFill/>
          <a:ln/>
        </p:spPr>
        <p:txBody>
          <a:bodyPr wrap="square" lIns="0" tIns="0" rIns="0" bIns="0" rtlCol="0" anchor="ctr"/>
          <a:lstStyle/>
          <a:p>
            <a:pPr algn="ctr" indent="0" marL="0">
              <a:buNone/>
            </a:pPr>
            <a:r>
              <a:rPr lang="en-US" sz="1100" dirty="0">
                <a:solidFill>
                  <a:srgbClr val="5E5A78"/>
                </a:solidFill>
                <a:latin typeface="Arial" pitchFamily="34" charset="0"/>
                <a:ea typeface="Arial" pitchFamily="34" charset="-122"/>
                <a:cs typeface="Arial" pitchFamily="34" charset="-120"/>
              </a:rPr>
              <a:t>la porter vite</a:t>
            </a:r>
            <a:endParaRPr lang="en-US" sz="1100" dirty="0"/>
          </a:p>
        </p:txBody>
      </p:sp>
      <p:sp>
        <p:nvSpPr>
          <p:cNvPr id="53" name="Shape 50"/>
          <p:cNvSpPr/>
          <p:nvPr/>
        </p:nvSpPr>
        <p:spPr>
          <a:xfrm>
            <a:off x="8102498" y="5248656"/>
            <a:ext cx="1610258" cy="603504"/>
          </a:xfrm>
          <a:prstGeom prst="roundRect">
            <a:avLst>
              <a:gd name="adj" fmla="val 12121"/>
            </a:avLst>
          </a:prstGeom>
          <a:solidFill>
            <a:srgbClr val="F0EF96"/>
          </a:solidFill>
          <a:ln w="12700">
            <a:solidFill>
              <a:srgbClr val="D9D65A"/>
            </a:solidFill>
            <a:prstDash val="solid"/>
          </a:ln>
        </p:spPr>
      </p:sp>
      <p:sp>
        <p:nvSpPr>
          <p:cNvPr id="54" name="Text 51"/>
          <p:cNvSpPr txBox="1"/>
          <p:nvPr/>
        </p:nvSpPr>
        <p:spPr>
          <a:xfrm>
            <a:off x="8175650" y="5248656"/>
            <a:ext cx="1463954" cy="603504"/>
          </a:xfrm>
          <a:prstGeom prst="rect">
            <a:avLst/>
          </a:prstGeom>
          <a:noFill/>
          <a:ln/>
        </p:spPr>
        <p:txBody>
          <a:bodyPr wrap="square" lIns="0" tIns="0" rIns="0" bIns="0" rtlCol="0" anchor="ctr"/>
          <a:lstStyle/>
          <a:p>
            <a:pPr algn="ctr" indent="0" marL="0">
              <a:buNone/>
            </a:pPr>
            <a:r>
              <a:rPr lang="en-US" sz="1100" b="1" dirty="0">
                <a:solidFill>
                  <a:srgbClr val="0A032B"/>
                </a:solidFill>
                <a:latin typeface="Arial" pitchFamily="34" charset="0"/>
                <a:ea typeface="Arial" pitchFamily="34" charset="-122"/>
                <a:cs typeface="Arial" pitchFamily="34" charset="-120"/>
              </a:rPr>
              <a:t>chercher une aide technique</a:t>
            </a:r>
            <a:endParaRPr lang="en-US" sz="1100" dirty="0"/>
          </a:p>
        </p:txBody>
      </p:sp>
      <p:sp>
        <p:nvSpPr>
          <p:cNvPr id="55" name="Shape 52"/>
          <p:cNvSpPr/>
          <p:nvPr/>
        </p:nvSpPr>
        <p:spPr>
          <a:xfrm>
            <a:off x="9895637" y="5248656"/>
            <a:ext cx="1610258" cy="603504"/>
          </a:xfrm>
          <a:prstGeom prst="roundRect">
            <a:avLst>
              <a:gd name="adj" fmla="val 12121"/>
            </a:avLst>
          </a:prstGeom>
          <a:solidFill>
            <a:srgbClr val="FFFFFF"/>
          </a:solidFill>
          <a:ln w="12700">
            <a:solidFill>
              <a:srgbClr val="DCDAEA"/>
            </a:solidFill>
            <a:prstDash val="solid"/>
          </a:ln>
        </p:spPr>
      </p:sp>
      <p:sp>
        <p:nvSpPr>
          <p:cNvPr id="56" name="Text 53"/>
          <p:cNvSpPr txBox="1"/>
          <p:nvPr/>
        </p:nvSpPr>
        <p:spPr>
          <a:xfrm>
            <a:off x="9968789" y="5248656"/>
            <a:ext cx="1463954" cy="603504"/>
          </a:xfrm>
          <a:prstGeom prst="rect">
            <a:avLst/>
          </a:prstGeom>
          <a:noFill/>
          <a:ln/>
        </p:spPr>
        <p:txBody>
          <a:bodyPr wrap="square" lIns="0" tIns="0" rIns="0" bIns="0" rtlCol="0" anchor="ctr"/>
          <a:lstStyle/>
          <a:p>
            <a:pPr algn="ctr" indent="0" marL="0">
              <a:buNone/>
            </a:pPr>
            <a:r>
              <a:rPr lang="en-US" sz="1100" dirty="0">
                <a:solidFill>
                  <a:srgbClr val="5E5A78"/>
                </a:solidFill>
                <a:latin typeface="Arial" pitchFamily="34" charset="0"/>
                <a:ea typeface="Arial" pitchFamily="34" charset="-122"/>
                <a:cs typeface="Arial" pitchFamily="34" charset="-120"/>
              </a:rPr>
              <a:t>demander au plus fort</a:t>
            </a:r>
            <a:endParaRPr lang="en-US" sz="1100" dirty="0"/>
          </a:p>
        </p:txBody>
      </p:sp>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235440" cy="685800"/>
          </a:xfrm>
          <a:prstGeom prst="rect">
            <a:avLst/>
          </a:prstGeom>
          <a:noFill/>
          <a:ln/>
        </p:spPr>
        <p:txBody>
          <a:bodyPr wrap="square" lIns="0" tIns="0" rIns="0" bIns="0" rtlCol="0" anchor="ctr"/>
          <a:lstStyle/>
          <a:p>
            <a:pPr indent="0" marL="0">
              <a:buNone/>
            </a:pPr>
            <a:r>
              <a:rPr lang="en-US" sz="2800" b="1" dirty="0">
                <a:solidFill>
                  <a:srgbClr val="0A032B"/>
                </a:solidFill>
                <a:latin typeface="Montserrat" pitchFamily="34" charset="0"/>
                <a:ea typeface="Montserrat" pitchFamily="34" charset="-122"/>
                <a:cs typeface="Montserrat" pitchFamily="34" charset="-120"/>
              </a:rPr>
              <a:t>Correction collective du QCM (3/3)</a:t>
            </a:r>
            <a:endParaRPr lang="en-US" sz="2800" dirty="0"/>
          </a:p>
        </p:txBody>
      </p:sp>
      <p:sp>
        <p:nvSpPr>
          <p:cNvPr id="3" name="Shape 1"/>
          <p:cNvSpPr/>
          <p:nvPr/>
        </p:nvSpPr>
        <p:spPr>
          <a:xfrm>
            <a:off x="10042855" y="530352"/>
            <a:ext cx="1600200" cy="347472"/>
          </a:xfrm>
          <a:prstGeom prst="roundRect">
            <a:avLst>
              <a:gd name="adj" fmla="val 50000"/>
            </a:avLst>
          </a:prstGeom>
          <a:solidFill>
            <a:srgbClr val="35305C"/>
          </a:solidFill>
          <a:ln w="12700">
            <a:solidFill>
              <a:srgbClr val="35305C"/>
            </a:solidFill>
            <a:prstDash val="solid"/>
          </a:ln>
        </p:spPr>
      </p:sp>
      <p:sp>
        <p:nvSpPr>
          <p:cNvPr id="4" name="Text 2"/>
          <p:cNvSpPr txBox="1"/>
          <p:nvPr/>
        </p:nvSpPr>
        <p:spPr>
          <a:xfrm>
            <a:off x="10042855" y="530352"/>
            <a:ext cx="1600200" cy="347472"/>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Montserrat" pitchFamily="34" charset="0"/>
                <a:ea typeface="Montserrat" pitchFamily="34" charset="-122"/>
                <a:cs typeface="Montserrat" pitchFamily="34" charset="-120"/>
              </a:rPr>
              <a:t>ÉVALUATION</a:t>
            </a:r>
            <a:endParaRPr lang="en-US" sz="1100" dirty="0"/>
          </a:p>
        </p:txBody>
      </p:sp>
      <p:sp>
        <p:nvSpPr>
          <p:cNvPr id="5" name="Text 3"/>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5E5A78"/>
                </a:solidFill>
                <a:latin typeface="Arial" pitchFamily="34" charset="0"/>
                <a:ea typeface="Arial" pitchFamily="34" charset="-122"/>
                <a:cs typeface="Arial" pitchFamily="34" charset="-120"/>
              </a:rPr>
              <a:t>Gestes et postures de l'élu  ·  Évaluation</a:t>
            </a:r>
            <a:endParaRPr lang="en-US" sz="900" dirty="0"/>
          </a:p>
        </p:txBody>
      </p:sp>
      <p:pic>
        <p:nvPicPr>
          <p:cNvPr id="6" name="Image 0" descr="logo_light.png">    </p:cNvPr>
          <p:cNvPicPr>
            <a:picLocks noChangeAspect="1"/>
          </p:cNvPicPr>
          <p:nvPr/>
        </p:nvPicPr>
        <p:blipFill>
          <a:blip r:embed="rId1"/>
          <a:stretch>
            <a:fillRect/>
          </a:stretch>
        </p:blipFill>
        <p:spPr>
          <a:xfrm>
            <a:off x="10682935" y="6236208"/>
            <a:ext cx="960120" cy="398441"/>
          </a:xfrm>
          <a:prstGeom prst="rect">
            <a:avLst/>
          </a:prstGeom>
        </p:spPr>
      </p:pic>
      <p:sp>
        <p:nvSpPr>
          <p:cNvPr id="7" name="Shape 4"/>
          <p:cNvSpPr/>
          <p:nvPr/>
        </p:nvSpPr>
        <p:spPr>
          <a:xfrm>
            <a:off x="548640" y="1371600"/>
            <a:ext cx="11094415" cy="822960"/>
          </a:xfrm>
          <a:prstGeom prst="roundRect">
            <a:avLst>
              <a:gd name="adj" fmla="val 8889"/>
            </a:avLst>
          </a:prstGeom>
          <a:solidFill>
            <a:srgbClr val="EEEDF5"/>
          </a:solidFill>
          <a:ln w="12700">
            <a:solidFill>
              <a:srgbClr val="EEEDF5"/>
            </a:solidFill>
            <a:prstDash val="solid"/>
          </a:ln>
        </p:spPr>
      </p:sp>
      <p:sp>
        <p:nvSpPr>
          <p:cNvPr id="8" name="Shape 5"/>
          <p:cNvSpPr/>
          <p:nvPr/>
        </p:nvSpPr>
        <p:spPr>
          <a:xfrm>
            <a:off x="731520" y="1545336"/>
            <a:ext cx="475488" cy="475488"/>
          </a:xfrm>
          <a:prstGeom prst="ellipse">
            <a:avLst/>
          </a:prstGeom>
          <a:solidFill>
            <a:srgbClr val="0A032B"/>
          </a:solidFill>
          <a:ln w="12700">
            <a:solidFill>
              <a:srgbClr val="0A032B"/>
            </a:solidFill>
            <a:prstDash val="solid"/>
          </a:ln>
        </p:spPr>
      </p:sp>
      <p:sp>
        <p:nvSpPr>
          <p:cNvPr id="9" name="Text 6"/>
          <p:cNvSpPr txBox="1"/>
          <p:nvPr/>
        </p:nvSpPr>
        <p:spPr>
          <a:xfrm>
            <a:off x="731520" y="154533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11</a:t>
            </a:r>
            <a:endParaRPr lang="en-US" sz="1800" dirty="0"/>
          </a:p>
        </p:txBody>
      </p:sp>
      <p:sp>
        <p:nvSpPr>
          <p:cNvPr id="10" name="Text 7"/>
          <p:cNvSpPr txBox="1"/>
          <p:nvPr/>
        </p:nvSpPr>
        <p:spPr>
          <a:xfrm>
            <a:off x="1371600" y="1371600"/>
            <a:ext cx="4754880" cy="822960"/>
          </a:xfrm>
          <a:prstGeom prst="rect">
            <a:avLst/>
          </a:prstGeom>
          <a:noFill/>
          <a:ln/>
        </p:spPr>
        <p:txBody>
          <a:bodyPr wrap="square" lIns="0" tIns="0" rIns="0" bIns="0" rtlCol="0" anchor="ctr"/>
          <a:lstStyle/>
          <a:p>
            <a:pPr indent="0" marL="0">
              <a:buNone/>
            </a:pPr>
            <a:r>
              <a:rPr lang="en-US" sz="1350" b="1" dirty="0">
                <a:solidFill>
                  <a:srgbClr val="0A032B"/>
                </a:solidFill>
                <a:latin typeface="Arial" pitchFamily="34" charset="0"/>
                <a:ea typeface="Arial" pitchFamily="34" charset="-122"/>
                <a:cs typeface="Arial" pitchFamily="34" charset="-120"/>
              </a:rPr>
              <a:t>Avec un chariot, il est préférable de…</a:t>
            </a:r>
            <a:endParaRPr lang="en-US" sz="1350" dirty="0"/>
          </a:p>
        </p:txBody>
      </p:sp>
      <p:sp>
        <p:nvSpPr>
          <p:cNvPr id="11" name="Shape 8"/>
          <p:cNvSpPr/>
          <p:nvPr/>
        </p:nvSpPr>
        <p:spPr>
          <a:xfrm>
            <a:off x="6309360" y="1481328"/>
            <a:ext cx="1610258" cy="603504"/>
          </a:xfrm>
          <a:prstGeom prst="roundRect">
            <a:avLst>
              <a:gd name="adj" fmla="val 12121"/>
            </a:avLst>
          </a:prstGeom>
          <a:solidFill>
            <a:srgbClr val="FFFFFF"/>
          </a:solidFill>
          <a:ln w="12700">
            <a:solidFill>
              <a:srgbClr val="DCDAEA"/>
            </a:solidFill>
            <a:prstDash val="solid"/>
          </a:ln>
        </p:spPr>
      </p:sp>
      <p:sp>
        <p:nvSpPr>
          <p:cNvPr id="12" name="Text 9"/>
          <p:cNvSpPr txBox="1"/>
          <p:nvPr/>
        </p:nvSpPr>
        <p:spPr>
          <a:xfrm>
            <a:off x="6382512" y="1481328"/>
            <a:ext cx="1463954" cy="603504"/>
          </a:xfrm>
          <a:prstGeom prst="rect">
            <a:avLst/>
          </a:prstGeom>
          <a:noFill/>
          <a:ln/>
        </p:spPr>
        <p:txBody>
          <a:bodyPr wrap="square" lIns="0" tIns="0" rIns="0" bIns="0" rtlCol="0" anchor="ctr"/>
          <a:lstStyle/>
          <a:p>
            <a:pPr algn="ctr" indent="0" marL="0">
              <a:buNone/>
            </a:pPr>
            <a:r>
              <a:rPr lang="en-US" sz="1100" dirty="0">
                <a:solidFill>
                  <a:srgbClr val="5E5A78"/>
                </a:solidFill>
                <a:latin typeface="Arial" pitchFamily="34" charset="0"/>
                <a:ea typeface="Arial" pitchFamily="34" charset="-122"/>
                <a:cs typeface="Arial" pitchFamily="34" charset="-120"/>
              </a:rPr>
              <a:t>tirer</a:t>
            </a:r>
            <a:endParaRPr lang="en-US" sz="1100" dirty="0"/>
          </a:p>
        </p:txBody>
      </p:sp>
      <p:sp>
        <p:nvSpPr>
          <p:cNvPr id="13" name="Shape 10"/>
          <p:cNvSpPr/>
          <p:nvPr/>
        </p:nvSpPr>
        <p:spPr>
          <a:xfrm>
            <a:off x="8102498" y="1481328"/>
            <a:ext cx="1610258" cy="603504"/>
          </a:xfrm>
          <a:prstGeom prst="roundRect">
            <a:avLst>
              <a:gd name="adj" fmla="val 12121"/>
            </a:avLst>
          </a:prstGeom>
          <a:solidFill>
            <a:srgbClr val="F0EF96"/>
          </a:solidFill>
          <a:ln w="12700">
            <a:solidFill>
              <a:srgbClr val="D9D65A"/>
            </a:solidFill>
            <a:prstDash val="solid"/>
          </a:ln>
        </p:spPr>
      </p:sp>
      <p:sp>
        <p:nvSpPr>
          <p:cNvPr id="14" name="Text 11"/>
          <p:cNvSpPr txBox="1"/>
          <p:nvPr/>
        </p:nvSpPr>
        <p:spPr>
          <a:xfrm>
            <a:off x="8175650" y="1481328"/>
            <a:ext cx="1463954" cy="603504"/>
          </a:xfrm>
          <a:prstGeom prst="rect">
            <a:avLst/>
          </a:prstGeom>
          <a:noFill/>
          <a:ln/>
        </p:spPr>
        <p:txBody>
          <a:bodyPr wrap="square" lIns="0" tIns="0" rIns="0" bIns="0" rtlCol="0" anchor="ctr"/>
          <a:lstStyle/>
          <a:p>
            <a:pPr algn="ctr" indent="0" marL="0">
              <a:buNone/>
            </a:pPr>
            <a:r>
              <a:rPr lang="en-US" sz="1100" b="1" dirty="0">
                <a:solidFill>
                  <a:srgbClr val="0A032B"/>
                </a:solidFill>
                <a:latin typeface="Arial" pitchFamily="34" charset="0"/>
                <a:ea typeface="Arial" pitchFamily="34" charset="-122"/>
                <a:cs typeface="Arial" pitchFamily="34" charset="-120"/>
              </a:rPr>
              <a:t>pousser</a:t>
            </a:r>
            <a:endParaRPr lang="en-US" sz="1100" dirty="0"/>
          </a:p>
        </p:txBody>
      </p:sp>
      <p:sp>
        <p:nvSpPr>
          <p:cNvPr id="15" name="Shape 12"/>
          <p:cNvSpPr/>
          <p:nvPr/>
        </p:nvSpPr>
        <p:spPr>
          <a:xfrm>
            <a:off x="9895637" y="1481328"/>
            <a:ext cx="1610258" cy="603504"/>
          </a:xfrm>
          <a:prstGeom prst="roundRect">
            <a:avLst>
              <a:gd name="adj" fmla="val 12121"/>
            </a:avLst>
          </a:prstGeom>
          <a:solidFill>
            <a:srgbClr val="FFFFFF"/>
          </a:solidFill>
          <a:ln w="12700">
            <a:solidFill>
              <a:srgbClr val="DCDAEA"/>
            </a:solidFill>
            <a:prstDash val="solid"/>
          </a:ln>
        </p:spPr>
      </p:sp>
      <p:sp>
        <p:nvSpPr>
          <p:cNvPr id="16" name="Text 13"/>
          <p:cNvSpPr txBox="1"/>
          <p:nvPr/>
        </p:nvSpPr>
        <p:spPr>
          <a:xfrm>
            <a:off x="9968789" y="1481328"/>
            <a:ext cx="1463954" cy="603504"/>
          </a:xfrm>
          <a:prstGeom prst="rect">
            <a:avLst/>
          </a:prstGeom>
          <a:noFill/>
          <a:ln/>
        </p:spPr>
        <p:txBody>
          <a:bodyPr wrap="square" lIns="0" tIns="0" rIns="0" bIns="0" rtlCol="0" anchor="ctr"/>
          <a:lstStyle/>
          <a:p>
            <a:pPr algn="ctr" indent="0" marL="0">
              <a:buNone/>
            </a:pPr>
            <a:r>
              <a:rPr lang="en-US" sz="1100" dirty="0">
                <a:solidFill>
                  <a:srgbClr val="5E5A78"/>
                </a:solidFill>
                <a:latin typeface="Arial" pitchFamily="34" charset="0"/>
                <a:ea typeface="Arial" pitchFamily="34" charset="-122"/>
                <a:cs typeface="Arial" pitchFamily="34" charset="-120"/>
              </a:rPr>
              <a:t>porter</a:t>
            </a:r>
            <a:endParaRPr lang="en-US" sz="1100" dirty="0"/>
          </a:p>
        </p:txBody>
      </p:sp>
      <p:sp>
        <p:nvSpPr>
          <p:cNvPr id="17" name="Shape 14"/>
          <p:cNvSpPr/>
          <p:nvPr/>
        </p:nvSpPr>
        <p:spPr>
          <a:xfrm>
            <a:off x="548640" y="2313432"/>
            <a:ext cx="11094415" cy="822960"/>
          </a:xfrm>
          <a:prstGeom prst="roundRect">
            <a:avLst>
              <a:gd name="adj" fmla="val 8889"/>
            </a:avLst>
          </a:prstGeom>
          <a:solidFill>
            <a:srgbClr val="EEEDF5"/>
          </a:solidFill>
          <a:ln w="12700">
            <a:solidFill>
              <a:srgbClr val="EEEDF5"/>
            </a:solidFill>
            <a:prstDash val="solid"/>
          </a:ln>
        </p:spPr>
      </p:sp>
      <p:sp>
        <p:nvSpPr>
          <p:cNvPr id="18" name="Shape 15"/>
          <p:cNvSpPr/>
          <p:nvPr/>
        </p:nvSpPr>
        <p:spPr>
          <a:xfrm>
            <a:off x="731520" y="2487168"/>
            <a:ext cx="475488" cy="475488"/>
          </a:xfrm>
          <a:prstGeom prst="ellipse">
            <a:avLst/>
          </a:prstGeom>
          <a:solidFill>
            <a:srgbClr val="0A032B"/>
          </a:solidFill>
          <a:ln w="12700">
            <a:solidFill>
              <a:srgbClr val="0A032B"/>
            </a:solidFill>
            <a:prstDash val="solid"/>
          </a:ln>
        </p:spPr>
      </p:sp>
      <p:sp>
        <p:nvSpPr>
          <p:cNvPr id="19" name="Text 16"/>
          <p:cNvSpPr txBox="1"/>
          <p:nvPr/>
        </p:nvSpPr>
        <p:spPr>
          <a:xfrm>
            <a:off x="731520" y="248716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12</a:t>
            </a:r>
            <a:endParaRPr lang="en-US" sz="1800" dirty="0"/>
          </a:p>
        </p:txBody>
      </p:sp>
      <p:sp>
        <p:nvSpPr>
          <p:cNvPr id="20" name="Text 17"/>
          <p:cNvSpPr txBox="1"/>
          <p:nvPr/>
        </p:nvSpPr>
        <p:spPr>
          <a:xfrm>
            <a:off x="1371600" y="2313432"/>
            <a:ext cx="4754880" cy="822960"/>
          </a:xfrm>
          <a:prstGeom prst="rect">
            <a:avLst/>
          </a:prstGeom>
          <a:noFill/>
          <a:ln/>
        </p:spPr>
        <p:txBody>
          <a:bodyPr wrap="square" lIns="0" tIns="0" rIns="0" bIns="0" rtlCol="0" anchor="ctr"/>
          <a:lstStyle/>
          <a:p>
            <a:pPr indent="0" marL="0">
              <a:buNone/>
            </a:pPr>
            <a:r>
              <a:rPr lang="en-US" sz="1350" b="1" dirty="0">
                <a:solidFill>
                  <a:srgbClr val="0A032B"/>
                </a:solidFill>
                <a:latin typeface="Arial" pitchFamily="34" charset="0"/>
                <a:ea typeface="Arial" pitchFamily="34" charset="-122"/>
                <a:cs typeface="Arial" pitchFamily="34" charset="-120"/>
              </a:rPr>
              <a:t>Le haut de l'écran doit se situer…</a:t>
            </a:r>
            <a:endParaRPr lang="en-US" sz="1350" dirty="0"/>
          </a:p>
        </p:txBody>
      </p:sp>
      <p:sp>
        <p:nvSpPr>
          <p:cNvPr id="21" name="Shape 18"/>
          <p:cNvSpPr/>
          <p:nvPr/>
        </p:nvSpPr>
        <p:spPr>
          <a:xfrm>
            <a:off x="6309360" y="2423160"/>
            <a:ext cx="1610258" cy="603504"/>
          </a:xfrm>
          <a:prstGeom prst="roundRect">
            <a:avLst>
              <a:gd name="adj" fmla="val 12121"/>
            </a:avLst>
          </a:prstGeom>
          <a:solidFill>
            <a:srgbClr val="F0EF96"/>
          </a:solidFill>
          <a:ln w="12700">
            <a:solidFill>
              <a:srgbClr val="D9D65A"/>
            </a:solidFill>
            <a:prstDash val="solid"/>
          </a:ln>
        </p:spPr>
      </p:sp>
      <p:sp>
        <p:nvSpPr>
          <p:cNvPr id="22" name="Text 19"/>
          <p:cNvSpPr txBox="1"/>
          <p:nvPr/>
        </p:nvSpPr>
        <p:spPr>
          <a:xfrm>
            <a:off x="6382512" y="2423160"/>
            <a:ext cx="1463954" cy="603504"/>
          </a:xfrm>
          <a:prstGeom prst="rect">
            <a:avLst/>
          </a:prstGeom>
          <a:noFill/>
          <a:ln/>
        </p:spPr>
        <p:txBody>
          <a:bodyPr wrap="square" lIns="0" tIns="0" rIns="0" bIns="0" rtlCol="0" anchor="ctr"/>
          <a:lstStyle/>
          <a:p>
            <a:pPr algn="ctr" indent="0" marL="0">
              <a:buNone/>
            </a:pPr>
            <a:r>
              <a:rPr lang="en-US" sz="1100" b="1" dirty="0">
                <a:solidFill>
                  <a:srgbClr val="0A032B"/>
                </a:solidFill>
                <a:latin typeface="Arial" pitchFamily="34" charset="0"/>
                <a:ea typeface="Arial" pitchFamily="34" charset="-122"/>
                <a:cs typeface="Arial" pitchFamily="34" charset="-120"/>
              </a:rPr>
              <a:t>à hauteur des yeux</a:t>
            </a:r>
            <a:endParaRPr lang="en-US" sz="1100" dirty="0"/>
          </a:p>
        </p:txBody>
      </p:sp>
      <p:sp>
        <p:nvSpPr>
          <p:cNvPr id="23" name="Shape 20"/>
          <p:cNvSpPr/>
          <p:nvPr/>
        </p:nvSpPr>
        <p:spPr>
          <a:xfrm>
            <a:off x="8102498" y="2423160"/>
            <a:ext cx="1610258" cy="603504"/>
          </a:xfrm>
          <a:prstGeom prst="roundRect">
            <a:avLst>
              <a:gd name="adj" fmla="val 12121"/>
            </a:avLst>
          </a:prstGeom>
          <a:solidFill>
            <a:srgbClr val="FFFFFF"/>
          </a:solidFill>
          <a:ln w="12700">
            <a:solidFill>
              <a:srgbClr val="DCDAEA"/>
            </a:solidFill>
            <a:prstDash val="solid"/>
          </a:ln>
        </p:spPr>
      </p:sp>
      <p:sp>
        <p:nvSpPr>
          <p:cNvPr id="24" name="Text 21"/>
          <p:cNvSpPr txBox="1"/>
          <p:nvPr/>
        </p:nvSpPr>
        <p:spPr>
          <a:xfrm>
            <a:off x="8175650" y="2423160"/>
            <a:ext cx="1463954" cy="603504"/>
          </a:xfrm>
          <a:prstGeom prst="rect">
            <a:avLst/>
          </a:prstGeom>
          <a:noFill/>
          <a:ln/>
        </p:spPr>
        <p:txBody>
          <a:bodyPr wrap="square" lIns="0" tIns="0" rIns="0" bIns="0" rtlCol="0" anchor="ctr"/>
          <a:lstStyle/>
          <a:p>
            <a:pPr algn="ctr" indent="0" marL="0">
              <a:buNone/>
            </a:pPr>
            <a:r>
              <a:rPr lang="en-US" sz="1100" dirty="0">
                <a:solidFill>
                  <a:srgbClr val="5E5A78"/>
                </a:solidFill>
                <a:latin typeface="Arial" pitchFamily="34" charset="0"/>
                <a:ea typeface="Arial" pitchFamily="34" charset="-122"/>
                <a:cs typeface="Arial" pitchFamily="34" charset="-120"/>
              </a:rPr>
              <a:t>au-dessus de la tête</a:t>
            </a:r>
            <a:endParaRPr lang="en-US" sz="1100" dirty="0"/>
          </a:p>
        </p:txBody>
      </p:sp>
      <p:sp>
        <p:nvSpPr>
          <p:cNvPr id="25" name="Shape 22"/>
          <p:cNvSpPr/>
          <p:nvPr/>
        </p:nvSpPr>
        <p:spPr>
          <a:xfrm>
            <a:off x="9895637" y="2423160"/>
            <a:ext cx="1610258" cy="603504"/>
          </a:xfrm>
          <a:prstGeom prst="roundRect">
            <a:avLst>
              <a:gd name="adj" fmla="val 12121"/>
            </a:avLst>
          </a:prstGeom>
          <a:solidFill>
            <a:srgbClr val="FFFFFF"/>
          </a:solidFill>
          <a:ln w="12700">
            <a:solidFill>
              <a:srgbClr val="DCDAEA"/>
            </a:solidFill>
            <a:prstDash val="solid"/>
          </a:ln>
        </p:spPr>
      </p:sp>
      <p:sp>
        <p:nvSpPr>
          <p:cNvPr id="26" name="Text 23"/>
          <p:cNvSpPr txBox="1"/>
          <p:nvPr/>
        </p:nvSpPr>
        <p:spPr>
          <a:xfrm>
            <a:off x="9968789" y="2423160"/>
            <a:ext cx="1463954" cy="603504"/>
          </a:xfrm>
          <a:prstGeom prst="rect">
            <a:avLst/>
          </a:prstGeom>
          <a:noFill/>
          <a:ln/>
        </p:spPr>
        <p:txBody>
          <a:bodyPr wrap="square" lIns="0" tIns="0" rIns="0" bIns="0" rtlCol="0" anchor="ctr"/>
          <a:lstStyle/>
          <a:p>
            <a:pPr algn="ctr" indent="0" marL="0">
              <a:buNone/>
            </a:pPr>
            <a:r>
              <a:rPr lang="en-US" sz="1100" dirty="0">
                <a:solidFill>
                  <a:srgbClr val="5E5A78"/>
                </a:solidFill>
                <a:latin typeface="Arial" pitchFamily="34" charset="0"/>
                <a:ea typeface="Arial" pitchFamily="34" charset="-122"/>
                <a:cs typeface="Arial" pitchFamily="34" charset="-120"/>
              </a:rPr>
              <a:t>au niveau du menton</a:t>
            </a:r>
            <a:endParaRPr lang="en-US" sz="1100" dirty="0"/>
          </a:p>
        </p:txBody>
      </p:sp>
      <p:sp>
        <p:nvSpPr>
          <p:cNvPr id="27" name="Shape 24"/>
          <p:cNvSpPr/>
          <p:nvPr/>
        </p:nvSpPr>
        <p:spPr>
          <a:xfrm>
            <a:off x="548640" y="3255264"/>
            <a:ext cx="11094415" cy="822960"/>
          </a:xfrm>
          <a:prstGeom prst="roundRect">
            <a:avLst>
              <a:gd name="adj" fmla="val 8889"/>
            </a:avLst>
          </a:prstGeom>
          <a:solidFill>
            <a:srgbClr val="EEEDF5"/>
          </a:solidFill>
          <a:ln w="12700">
            <a:solidFill>
              <a:srgbClr val="EEEDF5"/>
            </a:solidFill>
            <a:prstDash val="solid"/>
          </a:ln>
        </p:spPr>
      </p:sp>
      <p:sp>
        <p:nvSpPr>
          <p:cNvPr id="28" name="Shape 25"/>
          <p:cNvSpPr/>
          <p:nvPr/>
        </p:nvSpPr>
        <p:spPr>
          <a:xfrm>
            <a:off x="731520" y="3429000"/>
            <a:ext cx="475488" cy="475488"/>
          </a:xfrm>
          <a:prstGeom prst="ellipse">
            <a:avLst/>
          </a:prstGeom>
          <a:solidFill>
            <a:srgbClr val="0A032B"/>
          </a:solidFill>
          <a:ln w="12700">
            <a:solidFill>
              <a:srgbClr val="0A032B"/>
            </a:solidFill>
            <a:prstDash val="solid"/>
          </a:ln>
        </p:spPr>
      </p:sp>
      <p:sp>
        <p:nvSpPr>
          <p:cNvPr id="29" name="Text 26"/>
          <p:cNvSpPr txBox="1"/>
          <p:nvPr/>
        </p:nvSpPr>
        <p:spPr>
          <a:xfrm>
            <a:off x="731520" y="3429000"/>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13</a:t>
            </a:r>
            <a:endParaRPr lang="en-US" sz="1800" dirty="0"/>
          </a:p>
        </p:txBody>
      </p:sp>
      <p:sp>
        <p:nvSpPr>
          <p:cNvPr id="30" name="Text 27"/>
          <p:cNvSpPr txBox="1"/>
          <p:nvPr/>
        </p:nvSpPr>
        <p:spPr>
          <a:xfrm>
            <a:off x="1371600" y="3255264"/>
            <a:ext cx="4754880" cy="822960"/>
          </a:xfrm>
          <a:prstGeom prst="rect">
            <a:avLst/>
          </a:prstGeom>
          <a:noFill/>
          <a:ln/>
        </p:spPr>
        <p:txBody>
          <a:bodyPr wrap="square" lIns="0" tIns="0" rIns="0" bIns="0" rtlCol="0" anchor="ctr"/>
          <a:lstStyle/>
          <a:p>
            <a:pPr indent="0" marL="0">
              <a:buNone/>
            </a:pPr>
            <a:r>
              <a:rPr lang="en-US" sz="1350" b="1" dirty="0">
                <a:solidFill>
                  <a:srgbClr val="0A032B"/>
                </a:solidFill>
                <a:latin typeface="Arial" pitchFamily="34" charset="0"/>
                <a:ea typeface="Arial" pitchFamily="34" charset="-122"/>
                <a:cs typeface="Arial" pitchFamily="34" charset="-120"/>
              </a:rPr>
              <a:t>En position assise prolongée, il faut…</a:t>
            </a:r>
            <a:endParaRPr lang="en-US" sz="1350" dirty="0"/>
          </a:p>
        </p:txBody>
      </p:sp>
      <p:sp>
        <p:nvSpPr>
          <p:cNvPr id="31" name="Shape 28"/>
          <p:cNvSpPr/>
          <p:nvPr/>
        </p:nvSpPr>
        <p:spPr>
          <a:xfrm>
            <a:off x="6309360" y="3364992"/>
            <a:ext cx="1610258" cy="603504"/>
          </a:xfrm>
          <a:prstGeom prst="roundRect">
            <a:avLst>
              <a:gd name="adj" fmla="val 12121"/>
            </a:avLst>
          </a:prstGeom>
          <a:solidFill>
            <a:srgbClr val="FFFFFF"/>
          </a:solidFill>
          <a:ln w="12700">
            <a:solidFill>
              <a:srgbClr val="DCDAEA"/>
            </a:solidFill>
            <a:prstDash val="solid"/>
          </a:ln>
        </p:spPr>
      </p:sp>
      <p:sp>
        <p:nvSpPr>
          <p:cNvPr id="32" name="Text 29"/>
          <p:cNvSpPr txBox="1"/>
          <p:nvPr/>
        </p:nvSpPr>
        <p:spPr>
          <a:xfrm>
            <a:off x="6382512" y="3364992"/>
            <a:ext cx="1463954" cy="603504"/>
          </a:xfrm>
          <a:prstGeom prst="rect">
            <a:avLst/>
          </a:prstGeom>
          <a:noFill/>
          <a:ln/>
        </p:spPr>
        <p:txBody>
          <a:bodyPr wrap="square" lIns="0" tIns="0" rIns="0" bIns="0" rtlCol="0" anchor="ctr"/>
          <a:lstStyle/>
          <a:p>
            <a:pPr algn="ctr" indent="0" marL="0">
              <a:buNone/>
            </a:pPr>
            <a:r>
              <a:rPr lang="en-US" sz="1100" dirty="0">
                <a:solidFill>
                  <a:srgbClr val="5E5A78"/>
                </a:solidFill>
                <a:latin typeface="Arial" pitchFamily="34" charset="0"/>
                <a:ea typeface="Arial" pitchFamily="34" charset="-122"/>
                <a:cs typeface="Arial" pitchFamily="34" charset="-120"/>
              </a:rPr>
              <a:t>ne pas bouger pour rester concentré</a:t>
            </a:r>
            <a:endParaRPr lang="en-US" sz="1100" dirty="0"/>
          </a:p>
        </p:txBody>
      </p:sp>
      <p:sp>
        <p:nvSpPr>
          <p:cNvPr id="33" name="Shape 30"/>
          <p:cNvSpPr/>
          <p:nvPr/>
        </p:nvSpPr>
        <p:spPr>
          <a:xfrm>
            <a:off x="8102498" y="3364992"/>
            <a:ext cx="1610258" cy="603504"/>
          </a:xfrm>
          <a:prstGeom prst="roundRect">
            <a:avLst>
              <a:gd name="adj" fmla="val 12121"/>
            </a:avLst>
          </a:prstGeom>
          <a:solidFill>
            <a:srgbClr val="F0EF96"/>
          </a:solidFill>
          <a:ln w="12700">
            <a:solidFill>
              <a:srgbClr val="D9D65A"/>
            </a:solidFill>
            <a:prstDash val="solid"/>
          </a:ln>
        </p:spPr>
      </p:sp>
      <p:sp>
        <p:nvSpPr>
          <p:cNvPr id="34" name="Text 31"/>
          <p:cNvSpPr txBox="1"/>
          <p:nvPr/>
        </p:nvSpPr>
        <p:spPr>
          <a:xfrm>
            <a:off x="8175650" y="3364992"/>
            <a:ext cx="1463954" cy="603504"/>
          </a:xfrm>
          <a:prstGeom prst="rect">
            <a:avLst/>
          </a:prstGeom>
          <a:noFill/>
          <a:ln/>
        </p:spPr>
        <p:txBody>
          <a:bodyPr wrap="square" lIns="0" tIns="0" rIns="0" bIns="0" rtlCol="0" anchor="ctr"/>
          <a:lstStyle/>
          <a:p>
            <a:pPr algn="ctr" indent="0" marL="0">
              <a:buNone/>
            </a:pPr>
            <a:r>
              <a:rPr lang="en-US" sz="1100" b="1" dirty="0">
                <a:solidFill>
                  <a:srgbClr val="0A032B"/>
                </a:solidFill>
                <a:latin typeface="Arial" pitchFamily="34" charset="0"/>
                <a:ea typeface="Arial" pitchFamily="34" charset="-122"/>
                <a:cs typeface="Arial" pitchFamily="34" charset="-120"/>
              </a:rPr>
              <a:t>changer régulièrement de position</a:t>
            </a:r>
            <a:endParaRPr lang="en-US" sz="1100" dirty="0"/>
          </a:p>
        </p:txBody>
      </p:sp>
      <p:sp>
        <p:nvSpPr>
          <p:cNvPr id="35" name="Shape 32"/>
          <p:cNvSpPr/>
          <p:nvPr/>
        </p:nvSpPr>
        <p:spPr>
          <a:xfrm>
            <a:off x="9895637" y="3364992"/>
            <a:ext cx="1610258" cy="603504"/>
          </a:xfrm>
          <a:prstGeom prst="roundRect">
            <a:avLst>
              <a:gd name="adj" fmla="val 12121"/>
            </a:avLst>
          </a:prstGeom>
          <a:solidFill>
            <a:srgbClr val="FFFFFF"/>
          </a:solidFill>
          <a:ln w="12700">
            <a:solidFill>
              <a:srgbClr val="DCDAEA"/>
            </a:solidFill>
            <a:prstDash val="solid"/>
          </a:ln>
        </p:spPr>
      </p:sp>
      <p:sp>
        <p:nvSpPr>
          <p:cNvPr id="36" name="Text 33"/>
          <p:cNvSpPr txBox="1"/>
          <p:nvPr/>
        </p:nvSpPr>
        <p:spPr>
          <a:xfrm>
            <a:off x="9968789" y="3364992"/>
            <a:ext cx="1463954" cy="603504"/>
          </a:xfrm>
          <a:prstGeom prst="rect">
            <a:avLst/>
          </a:prstGeom>
          <a:noFill/>
          <a:ln/>
        </p:spPr>
        <p:txBody>
          <a:bodyPr wrap="square" lIns="0" tIns="0" rIns="0" bIns="0" rtlCol="0" anchor="ctr"/>
          <a:lstStyle/>
          <a:p>
            <a:pPr algn="ctr" indent="0" marL="0">
              <a:buNone/>
            </a:pPr>
            <a:r>
              <a:rPr lang="en-US" sz="1100" dirty="0">
                <a:solidFill>
                  <a:srgbClr val="5E5A78"/>
                </a:solidFill>
                <a:latin typeface="Arial" pitchFamily="34" charset="0"/>
                <a:ea typeface="Arial" pitchFamily="34" charset="-122"/>
                <a:cs typeface="Arial" pitchFamily="34" charset="-120"/>
              </a:rPr>
              <a:t>croiser les jambes</a:t>
            </a:r>
            <a:endParaRPr lang="en-US" sz="1100" dirty="0"/>
          </a:p>
        </p:txBody>
      </p:sp>
      <p:sp>
        <p:nvSpPr>
          <p:cNvPr id="37" name="Shape 34"/>
          <p:cNvSpPr/>
          <p:nvPr/>
        </p:nvSpPr>
        <p:spPr>
          <a:xfrm>
            <a:off x="548640" y="4197096"/>
            <a:ext cx="11094415" cy="822960"/>
          </a:xfrm>
          <a:prstGeom prst="roundRect">
            <a:avLst>
              <a:gd name="adj" fmla="val 8889"/>
            </a:avLst>
          </a:prstGeom>
          <a:solidFill>
            <a:srgbClr val="EEEDF5"/>
          </a:solidFill>
          <a:ln w="12700">
            <a:solidFill>
              <a:srgbClr val="EEEDF5"/>
            </a:solidFill>
            <a:prstDash val="solid"/>
          </a:ln>
        </p:spPr>
      </p:sp>
      <p:sp>
        <p:nvSpPr>
          <p:cNvPr id="38" name="Shape 35"/>
          <p:cNvSpPr/>
          <p:nvPr/>
        </p:nvSpPr>
        <p:spPr>
          <a:xfrm>
            <a:off x="731520" y="4370832"/>
            <a:ext cx="475488" cy="475488"/>
          </a:xfrm>
          <a:prstGeom prst="ellipse">
            <a:avLst/>
          </a:prstGeom>
          <a:solidFill>
            <a:srgbClr val="0A032B"/>
          </a:solidFill>
          <a:ln w="12700">
            <a:solidFill>
              <a:srgbClr val="0A032B"/>
            </a:solidFill>
            <a:prstDash val="solid"/>
          </a:ln>
        </p:spPr>
      </p:sp>
      <p:sp>
        <p:nvSpPr>
          <p:cNvPr id="39" name="Text 36"/>
          <p:cNvSpPr txBox="1"/>
          <p:nvPr/>
        </p:nvSpPr>
        <p:spPr>
          <a:xfrm>
            <a:off x="731520" y="4370832"/>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14</a:t>
            </a:r>
            <a:endParaRPr lang="en-US" sz="1800" dirty="0"/>
          </a:p>
        </p:txBody>
      </p:sp>
      <p:sp>
        <p:nvSpPr>
          <p:cNvPr id="40" name="Text 37"/>
          <p:cNvSpPr txBox="1"/>
          <p:nvPr/>
        </p:nvSpPr>
        <p:spPr>
          <a:xfrm>
            <a:off x="1371600" y="4197096"/>
            <a:ext cx="4754880" cy="822960"/>
          </a:xfrm>
          <a:prstGeom prst="rect">
            <a:avLst/>
          </a:prstGeom>
          <a:noFill/>
          <a:ln/>
        </p:spPr>
        <p:txBody>
          <a:bodyPr wrap="square" lIns="0" tIns="0" rIns="0" bIns="0" rtlCol="0" anchor="ctr"/>
          <a:lstStyle/>
          <a:p>
            <a:pPr indent="0" marL="0">
              <a:buNone/>
            </a:pPr>
            <a:r>
              <a:rPr lang="en-US" sz="1350" b="1" dirty="0">
                <a:solidFill>
                  <a:srgbClr val="0A032B"/>
                </a:solidFill>
                <a:latin typeface="Arial" pitchFamily="34" charset="0"/>
                <a:ea typeface="Arial" pitchFamily="34" charset="-122"/>
                <a:cs typeface="Arial" pitchFamily="34" charset="-120"/>
              </a:rPr>
              <a:t>Le document qui recense l'évaluation des risques s'appelle…</a:t>
            </a:r>
            <a:endParaRPr lang="en-US" sz="1350" dirty="0"/>
          </a:p>
        </p:txBody>
      </p:sp>
      <p:sp>
        <p:nvSpPr>
          <p:cNvPr id="41" name="Shape 38"/>
          <p:cNvSpPr/>
          <p:nvPr/>
        </p:nvSpPr>
        <p:spPr>
          <a:xfrm>
            <a:off x="6309360" y="4306824"/>
            <a:ext cx="1610258" cy="603504"/>
          </a:xfrm>
          <a:prstGeom prst="roundRect">
            <a:avLst>
              <a:gd name="adj" fmla="val 12121"/>
            </a:avLst>
          </a:prstGeom>
          <a:solidFill>
            <a:srgbClr val="FFFFFF"/>
          </a:solidFill>
          <a:ln w="12700">
            <a:solidFill>
              <a:srgbClr val="DCDAEA"/>
            </a:solidFill>
            <a:prstDash val="solid"/>
          </a:ln>
        </p:spPr>
      </p:sp>
      <p:sp>
        <p:nvSpPr>
          <p:cNvPr id="42" name="Text 39"/>
          <p:cNvSpPr txBox="1"/>
          <p:nvPr/>
        </p:nvSpPr>
        <p:spPr>
          <a:xfrm>
            <a:off x="6382512" y="4306824"/>
            <a:ext cx="1463954" cy="603504"/>
          </a:xfrm>
          <a:prstGeom prst="rect">
            <a:avLst/>
          </a:prstGeom>
          <a:noFill/>
          <a:ln/>
        </p:spPr>
        <p:txBody>
          <a:bodyPr wrap="square" lIns="0" tIns="0" rIns="0" bIns="0" rtlCol="0" anchor="ctr"/>
          <a:lstStyle/>
          <a:p>
            <a:pPr algn="ctr" indent="0" marL="0">
              <a:buNone/>
            </a:pPr>
            <a:r>
              <a:rPr lang="en-US" sz="1100" dirty="0">
                <a:solidFill>
                  <a:srgbClr val="5E5A78"/>
                </a:solidFill>
                <a:latin typeface="Arial" pitchFamily="34" charset="0"/>
                <a:ea typeface="Arial" pitchFamily="34" charset="-122"/>
                <a:cs typeface="Arial" pitchFamily="34" charset="-120"/>
              </a:rPr>
              <a:t>le règlement intérieur</a:t>
            </a:r>
            <a:endParaRPr lang="en-US" sz="1100" dirty="0"/>
          </a:p>
        </p:txBody>
      </p:sp>
      <p:sp>
        <p:nvSpPr>
          <p:cNvPr id="43" name="Shape 40"/>
          <p:cNvSpPr/>
          <p:nvPr/>
        </p:nvSpPr>
        <p:spPr>
          <a:xfrm>
            <a:off x="8102498" y="4306824"/>
            <a:ext cx="1610258" cy="603504"/>
          </a:xfrm>
          <a:prstGeom prst="roundRect">
            <a:avLst>
              <a:gd name="adj" fmla="val 12121"/>
            </a:avLst>
          </a:prstGeom>
          <a:solidFill>
            <a:srgbClr val="F0EF96"/>
          </a:solidFill>
          <a:ln w="12700">
            <a:solidFill>
              <a:srgbClr val="D9D65A"/>
            </a:solidFill>
            <a:prstDash val="solid"/>
          </a:ln>
        </p:spPr>
      </p:sp>
      <p:sp>
        <p:nvSpPr>
          <p:cNvPr id="44" name="Text 41"/>
          <p:cNvSpPr txBox="1"/>
          <p:nvPr/>
        </p:nvSpPr>
        <p:spPr>
          <a:xfrm>
            <a:off x="8175650" y="4306824"/>
            <a:ext cx="1463954" cy="603504"/>
          </a:xfrm>
          <a:prstGeom prst="rect">
            <a:avLst/>
          </a:prstGeom>
          <a:noFill/>
          <a:ln/>
        </p:spPr>
        <p:txBody>
          <a:bodyPr wrap="square" lIns="0" tIns="0" rIns="0" bIns="0" rtlCol="0" anchor="ctr"/>
          <a:lstStyle/>
          <a:p>
            <a:pPr algn="ctr" indent="0" marL="0">
              <a:buNone/>
            </a:pPr>
            <a:r>
              <a:rPr lang="en-US" sz="1100" b="1" dirty="0">
                <a:solidFill>
                  <a:srgbClr val="0A032B"/>
                </a:solidFill>
                <a:latin typeface="Arial" pitchFamily="34" charset="0"/>
                <a:ea typeface="Arial" pitchFamily="34" charset="-122"/>
                <a:cs typeface="Arial" pitchFamily="34" charset="-120"/>
              </a:rPr>
              <a:t>le document unique</a:t>
            </a:r>
            <a:endParaRPr lang="en-US" sz="1100" dirty="0"/>
          </a:p>
        </p:txBody>
      </p:sp>
      <p:sp>
        <p:nvSpPr>
          <p:cNvPr id="45" name="Shape 42"/>
          <p:cNvSpPr/>
          <p:nvPr/>
        </p:nvSpPr>
        <p:spPr>
          <a:xfrm>
            <a:off x="9895637" y="4306824"/>
            <a:ext cx="1610258" cy="603504"/>
          </a:xfrm>
          <a:prstGeom prst="roundRect">
            <a:avLst>
              <a:gd name="adj" fmla="val 12121"/>
            </a:avLst>
          </a:prstGeom>
          <a:solidFill>
            <a:srgbClr val="FFFFFF"/>
          </a:solidFill>
          <a:ln w="12700">
            <a:solidFill>
              <a:srgbClr val="DCDAEA"/>
            </a:solidFill>
            <a:prstDash val="solid"/>
          </a:ln>
        </p:spPr>
      </p:sp>
      <p:sp>
        <p:nvSpPr>
          <p:cNvPr id="46" name="Text 43"/>
          <p:cNvSpPr txBox="1"/>
          <p:nvPr/>
        </p:nvSpPr>
        <p:spPr>
          <a:xfrm>
            <a:off x="9968789" y="4306824"/>
            <a:ext cx="1463954" cy="603504"/>
          </a:xfrm>
          <a:prstGeom prst="rect">
            <a:avLst/>
          </a:prstGeom>
          <a:noFill/>
          <a:ln/>
        </p:spPr>
        <p:txBody>
          <a:bodyPr wrap="square" lIns="0" tIns="0" rIns="0" bIns="0" rtlCol="0" anchor="ctr"/>
          <a:lstStyle/>
          <a:p>
            <a:pPr algn="ctr" indent="0" marL="0">
              <a:buNone/>
            </a:pPr>
            <a:r>
              <a:rPr lang="en-US" sz="1100" dirty="0">
                <a:solidFill>
                  <a:srgbClr val="5E5A78"/>
                </a:solidFill>
                <a:latin typeface="Arial" pitchFamily="34" charset="0"/>
                <a:ea typeface="Arial" pitchFamily="34" charset="-122"/>
                <a:cs typeface="Arial" pitchFamily="34" charset="-120"/>
              </a:rPr>
              <a:t>le registre des délibérations</a:t>
            </a:r>
            <a:endParaRPr lang="en-US" sz="1100" dirty="0"/>
          </a:p>
        </p:txBody>
      </p:sp>
      <p:sp>
        <p:nvSpPr>
          <p:cNvPr id="47" name="Shape 44"/>
          <p:cNvSpPr/>
          <p:nvPr/>
        </p:nvSpPr>
        <p:spPr>
          <a:xfrm>
            <a:off x="548640" y="5138928"/>
            <a:ext cx="11094415" cy="822960"/>
          </a:xfrm>
          <a:prstGeom prst="roundRect">
            <a:avLst>
              <a:gd name="adj" fmla="val 8889"/>
            </a:avLst>
          </a:prstGeom>
          <a:solidFill>
            <a:srgbClr val="EEEDF5"/>
          </a:solidFill>
          <a:ln w="12700">
            <a:solidFill>
              <a:srgbClr val="EEEDF5"/>
            </a:solidFill>
            <a:prstDash val="solid"/>
          </a:ln>
        </p:spPr>
      </p:sp>
      <p:sp>
        <p:nvSpPr>
          <p:cNvPr id="48" name="Shape 45"/>
          <p:cNvSpPr/>
          <p:nvPr/>
        </p:nvSpPr>
        <p:spPr>
          <a:xfrm>
            <a:off x="731520" y="5312664"/>
            <a:ext cx="475488" cy="475488"/>
          </a:xfrm>
          <a:prstGeom prst="ellipse">
            <a:avLst/>
          </a:prstGeom>
          <a:solidFill>
            <a:srgbClr val="0A032B"/>
          </a:solidFill>
          <a:ln w="12700">
            <a:solidFill>
              <a:srgbClr val="0A032B"/>
            </a:solidFill>
            <a:prstDash val="solid"/>
          </a:ln>
        </p:spPr>
      </p:sp>
      <p:sp>
        <p:nvSpPr>
          <p:cNvPr id="49" name="Text 46"/>
          <p:cNvSpPr txBox="1"/>
          <p:nvPr/>
        </p:nvSpPr>
        <p:spPr>
          <a:xfrm>
            <a:off x="731520" y="5312664"/>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15</a:t>
            </a:r>
            <a:endParaRPr lang="en-US" sz="1800" dirty="0"/>
          </a:p>
        </p:txBody>
      </p:sp>
      <p:sp>
        <p:nvSpPr>
          <p:cNvPr id="50" name="Text 47"/>
          <p:cNvSpPr txBox="1"/>
          <p:nvPr/>
        </p:nvSpPr>
        <p:spPr>
          <a:xfrm>
            <a:off x="1371600" y="5138928"/>
            <a:ext cx="4754880" cy="822960"/>
          </a:xfrm>
          <a:prstGeom prst="rect">
            <a:avLst/>
          </a:prstGeom>
          <a:noFill/>
          <a:ln/>
        </p:spPr>
        <p:txBody>
          <a:bodyPr wrap="square" lIns="0" tIns="0" rIns="0" bIns="0" rtlCol="0" anchor="ctr"/>
          <a:lstStyle/>
          <a:p>
            <a:pPr indent="0" marL="0">
              <a:buNone/>
            </a:pPr>
            <a:r>
              <a:rPr lang="en-US" sz="1350" b="1" dirty="0">
                <a:solidFill>
                  <a:srgbClr val="0A032B"/>
                </a:solidFill>
                <a:latin typeface="Arial" pitchFamily="34" charset="0"/>
                <a:ea typeface="Arial" pitchFamily="34" charset="-122"/>
                <a:cs typeface="Arial" pitchFamily="34" charset="-120"/>
              </a:rPr>
              <a:t>Qui est responsable de la santé et de la sécurité des agents ?</a:t>
            </a:r>
            <a:endParaRPr lang="en-US" sz="1350" dirty="0"/>
          </a:p>
        </p:txBody>
      </p:sp>
      <p:sp>
        <p:nvSpPr>
          <p:cNvPr id="51" name="Shape 48"/>
          <p:cNvSpPr/>
          <p:nvPr/>
        </p:nvSpPr>
        <p:spPr>
          <a:xfrm>
            <a:off x="6309360" y="5248656"/>
            <a:ext cx="1610258" cy="603504"/>
          </a:xfrm>
          <a:prstGeom prst="roundRect">
            <a:avLst>
              <a:gd name="adj" fmla="val 12121"/>
            </a:avLst>
          </a:prstGeom>
          <a:solidFill>
            <a:srgbClr val="F0EF96"/>
          </a:solidFill>
          <a:ln w="12700">
            <a:solidFill>
              <a:srgbClr val="D9D65A"/>
            </a:solidFill>
            <a:prstDash val="solid"/>
          </a:ln>
        </p:spPr>
      </p:sp>
      <p:sp>
        <p:nvSpPr>
          <p:cNvPr id="52" name="Text 49"/>
          <p:cNvSpPr txBox="1"/>
          <p:nvPr/>
        </p:nvSpPr>
        <p:spPr>
          <a:xfrm>
            <a:off x="6382512" y="5248656"/>
            <a:ext cx="1463954" cy="603504"/>
          </a:xfrm>
          <a:prstGeom prst="rect">
            <a:avLst/>
          </a:prstGeom>
          <a:noFill/>
          <a:ln/>
        </p:spPr>
        <p:txBody>
          <a:bodyPr wrap="square" lIns="0" tIns="0" rIns="0" bIns="0" rtlCol="0" anchor="ctr"/>
          <a:lstStyle/>
          <a:p>
            <a:pPr algn="ctr" indent="0" marL="0">
              <a:buNone/>
            </a:pPr>
            <a:r>
              <a:rPr lang="en-US" sz="1100" b="1" dirty="0">
                <a:solidFill>
                  <a:srgbClr val="0A032B"/>
                </a:solidFill>
                <a:latin typeface="Arial" pitchFamily="34" charset="0"/>
                <a:ea typeface="Arial" pitchFamily="34" charset="-122"/>
                <a:cs typeface="Arial" pitchFamily="34" charset="-120"/>
              </a:rPr>
              <a:t>L'autorité territoriale</a:t>
            </a:r>
            <a:endParaRPr lang="en-US" sz="1100" dirty="0"/>
          </a:p>
        </p:txBody>
      </p:sp>
      <p:sp>
        <p:nvSpPr>
          <p:cNvPr id="53" name="Shape 50"/>
          <p:cNvSpPr/>
          <p:nvPr/>
        </p:nvSpPr>
        <p:spPr>
          <a:xfrm>
            <a:off x="8102498" y="5248656"/>
            <a:ext cx="1610258" cy="603504"/>
          </a:xfrm>
          <a:prstGeom prst="roundRect">
            <a:avLst>
              <a:gd name="adj" fmla="val 12121"/>
            </a:avLst>
          </a:prstGeom>
          <a:solidFill>
            <a:srgbClr val="FFFFFF"/>
          </a:solidFill>
          <a:ln w="12700">
            <a:solidFill>
              <a:srgbClr val="DCDAEA"/>
            </a:solidFill>
            <a:prstDash val="solid"/>
          </a:ln>
        </p:spPr>
      </p:sp>
      <p:sp>
        <p:nvSpPr>
          <p:cNvPr id="54" name="Text 51"/>
          <p:cNvSpPr txBox="1"/>
          <p:nvPr/>
        </p:nvSpPr>
        <p:spPr>
          <a:xfrm>
            <a:off x="8175650" y="5248656"/>
            <a:ext cx="1463954" cy="603504"/>
          </a:xfrm>
          <a:prstGeom prst="rect">
            <a:avLst/>
          </a:prstGeom>
          <a:noFill/>
          <a:ln/>
        </p:spPr>
        <p:txBody>
          <a:bodyPr wrap="square" lIns="0" tIns="0" rIns="0" bIns="0" rtlCol="0" anchor="ctr"/>
          <a:lstStyle/>
          <a:p>
            <a:pPr algn="ctr" indent="0" marL="0">
              <a:buNone/>
            </a:pPr>
            <a:r>
              <a:rPr lang="en-US" sz="1100" dirty="0">
                <a:solidFill>
                  <a:srgbClr val="5E5A78"/>
                </a:solidFill>
                <a:latin typeface="Arial" pitchFamily="34" charset="0"/>
                <a:ea typeface="Arial" pitchFamily="34" charset="-122"/>
                <a:cs typeface="Arial" pitchFamily="34" charset="-120"/>
              </a:rPr>
              <a:t>Le médecin</a:t>
            </a:r>
            <a:endParaRPr lang="en-US" sz="1100" dirty="0"/>
          </a:p>
        </p:txBody>
      </p:sp>
      <p:sp>
        <p:nvSpPr>
          <p:cNvPr id="55" name="Shape 52"/>
          <p:cNvSpPr/>
          <p:nvPr/>
        </p:nvSpPr>
        <p:spPr>
          <a:xfrm>
            <a:off x="9895637" y="5248656"/>
            <a:ext cx="1610258" cy="603504"/>
          </a:xfrm>
          <a:prstGeom prst="roundRect">
            <a:avLst>
              <a:gd name="adj" fmla="val 12121"/>
            </a:avLst>
          </a:prstGeom>
          <a:solidFill>
            <a:srgbClr val="FFFFFF"/>
          </a:solidFill>
          <a:ln w="12700">
            <a:solidFill>
              <a:srgbClr val="DCDAEA"/>
            </a:solidFill>
            <a:prstDash val="solid"/>
          </a:ln>
        </p:spPr>
      </p:sp>
      <p:sp>
        <p:nvSpPr>
          <p:cNvPr id="56" name="Text 53"/>
          <p:cNvSpPr txBox="1"/>
          <p:nvPr/>
        </p:nvSpPr>
        <p:spPr>
          <a:xfrm>
            <a:off x="9968789" y="5248656"/>
            <a:ext cx="1463954" cy="603504"/>
          </a:xfrm>
          <a:prstGeom prst="rect">
            <a:avLst/>
          </a:prstGeom>
          <a:noFill/>
          <a:ln/>
        </p:spPr>
        <p:txBody>
          <a:bodyPr wrap="square" lIns="0" tIns="0" rIns="0" bIns="0" rtlCol="0" anchor="ctr"/>
          <a:lstStyle/>
          <a:p>
            <a:pPr algn="ctr" indent="0" marL="0">
              <a:buNone/>
            </a:pPr>
            <a:r>
              <a:rPr lang="en-US" sz="1100" dirty="0">
                <a:solidFill>
                  <a:srgbClr val="5E5A78"/>
                </a:solidFill>
                <a:latin typeface="Arial" pitchFamily="34" charset="0"/>
                <a:ea typeface="Arial" pitchFamily="34" charset="-122"/>
                <a:cs typeface="Arial" pitchFamily="34" charset="-120"/>
              </a:rPr>
              <a:t>Chaque agent seul</a:t>
            </a:r>
            <a:endParaRPr lang="en-US" sz="1100" dirty="0"/>
          </a:p>
        </p:txBody>
      </p:sp>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0A032B"/>
        </a:solidFill>
      </p:bgPr>
    </p:bg>
    <p:spTree>
      <p:nvGrpSpPr>
        <p:cNvPr id="1" name=""/>
        <p:cNvGrpSpPr/>
        <p:nvPr/>
      </p:nvGrpSpPr>
      <p:grpSpPr>
        <a:xfrm>
          <a:off x="0" y="0"/>
          <a:ext cx="0" cy="0"/>
          <a:chOff x="0" y="0"/>
          <a:chExt cx="0" cy="0"/>
        </a:xfrm>
      </p:grpSpPr>
      <p:sp>
        <p:nvSpPr>
          <p:cNvPr id="2" name="Text 0"/>
          <p:cNvSpPr txBox="1"/>
          <p:nvPr/>
        </p:nvSpPr>
        <p:spPr>
          <a:xfrm>
            <a:off x="548640" y="1371600"/>
            <a:ext cx="3657600" cy="2926080"/>
          </a:xfrm>
          <a:prstGeom prst="rect">
            <a:avLst/>
          </a:prstGeom>
          <a:noFill/>
          <a:ln/>
        </p:spPr>
        <p:txBody>
          <a:bodyPr wrap="square" lIns="0" tIns="0" rIns="0" bIns="0" rtlCol="0" anchor="ctr"/>
          <a:lstStyle/>
          <a:p>
            <a:pPr indent="0" marL="0">
              <a:buNone/>
            </a:pPr>
            <a:r>
              <a:rPr lang="en-US" sz="18000" b="1" dirty="0">
                <a:solidFill>
                  <a:srgbClr val="F0EF96"/>
                </a:solidFill>
                <a:latin typeface="Montserrat" pitchFamily="34" charset="0"/>
                <a:ea typeface="Montserrat" pitchFamily="34" charset="-122"/>
                <a:cs typeface="Montserrat" pitchFamily="34" charset="-120"/>
              </a:rPr>
              <a:t>08</a:t>
            </a:r>
            <a:endParaRPr lang="en-US" sz="18000" dirty="0"/>
          </a:p>
        </p:txBody>
      </p:sp>
      <p:sp>
        <p:nvSpPr>
          <p:cNvPr id="3" name="Text 1"/>
          <p:cNvSpPr txBox="1"/>
          <p:nvPr/>
        </p:nvSpPr>
        <p:spPr>
          <a:xfrm>
            <a:off x="4572000" y="1463040"/>
            <a:ext cx="7040880" cy="411480"/>
          </a:xfrm>
          <a:prstGeom prst="rect">
            <a:avLst/>
          </a:prstGeom>
          <a:noFill/>
          <a:ln/>
        </p:spPr>
        <p:txBody>
          <a:bodyPr wrap="square" lIns="0" tIns="0" rIns="0" bIns="0" rtlCol="0" anchor="ctr"/>
          <a:lstStyle/>
          <a:p>
            <a:pPr indent="0" marL="0">
              <a:buNone/>
            </a:pPr>
            <a:r>
              <a:rPr lang="en-US" sz="1600" b="1" spc="300" kern="0" dirty="0">
                <a:solidFill>
                  <a:srgbClr val="F0EF96"/>
                </a:solidFill>
                <a:latin typeface="Montserrat" pitchFamily="34" charset="0"/>
                <a:ea typeface="Montserrat" pitchFamily="34" charset="-122"/>
                <a:cs typeface="Montserrat" pitchFamily="34" charset="-120"/>
              </a:rPr>
              <a:t>CLÔTURE</a:t>
            </a:r>
            <a:endParaRPr lang="en-US" sz="1600" dirty="0"/>
          </a:p>
        </p:txBody>
      </p:sp>
      <p:sp>
        <p:nvSpPr>
          <p:cNvPr id="4" name="Text 2"/>
          <p:cNvSpPr txBox="1"/>
          <p:nvPr/>
        </p:nvSpPr>
        <p:spPr>
          <a:xfrm>
            <a:off x="4572000" y="1920240"/>
            <a:ext cx="7040880" cy="1645920"/>
          </a:xfrm>
          <a:prstGeom prst="rect">
            <a:avLst/>
          </a:prstGeom>
          <a:noFill/>
          <a:ln/>
        </p:spPr>
        <p:txBody>
          <a:bodyPr wrap="square" lIns="0" tIns="0" rIns="0" bIns="0" rtlCol="0" anchor="t"/>
          <a:lstStyle/>
          <a:p>
            <a:pPr indent="0" marL="0">
              <a:buNone/>
            </a:pPr>
            <a:r>
              <a:rPr lang="en-US" sz="3400" b="1" dirty="0">
                <a:solidFill>
                  <a:srgbClr val="FFFFFF"/>
                </a:solidFill>
                <a:latin typeface="Montserrat" pitchFamily="34" charset="0"/>
                <a:ea typeface="Montserrat" pitchFamily="34" charset="-122"/>
                <a:cs typeface="Montserrat" pitchFamily="34" charset="-120"/>
              </a:rPr>
              <a:t>Bilan et débriefing final</a:t>
            </a:r>
            <a:endParaRPr lang="en-US" sz="3400" dirty="0"/>
          </a:p>
        </p:txBody>
      </p:sp>
      <p:sp>
        <p:nvSpPr>
          <p:cNvPr id="5" name="Text 3"/>
          <p:cNvSpPr txBox="1"/>
          <p:nvPr/>
        </p:nvSpPr>
        <p:spPr>
          <a:xfrm>
            <a:off x="4572000" y="3657600"/>
            <a:ext cx="7040880" cy="914400"/>
          </a:xfrm>
          <a:prstGeom prst="rect">
            <a:avLst/>
          </a:prstGeom>
          <a:noFill/>
          <a:ln/>
        </p:spPr>
        <p:txBody>
          <a:bodyPr wrap="square" lIns="0" tIns="0" rIns="0" bIns="0" rtlCol="0" anchor="t"/>
          <a:lstStyle/>
          <a:p>
            <a:pPr indent="0" marL="0">
              <a:buNone/>
            </a:pPr>
            <a:r>
              <a:rPr lang="en-US" sz="1500" b="1" dirty="0">
                <a:solidFill>
                  <a:srgbClr val="F0EF96"/>
                </a:solidFill>
                <a:latin typeface="Arial" pitchFamily="34" charset="0"/>
                <a:ea typeface="Arial" pitchFamily="34" charset="-122"/>
                <a:cs typeface="Arial" pitchFamily="34" charset="-120"/>
              </a:rPr>
              <a:t>Objectif  </a:t>
            </a:r>
            <a:pPr indent="0" marL="0">
              <a:buNone/>
            </a:pPr>
            <a:r>
              <a:rPr lang="en-US" sz="1500" dirty="0">
                <a:solidFill>
                  <a:srgbClr val="FFFFFF"/>
                </a:solidFill>
                <a:latin typeface="Arial" pitchFamily="34" charset="0"/>
                <a:ea typeface="Arial" pitchFamily="34" charset="-122"/>
                <a:cs typeface="Arial" pitchFamily="34" charset="-120"/>
              </a:rPr>
              <a:t>Évaluer les compétences acquises et les conditions de la formation, et préparer l'après-formation.</a:t>
            </a:r>
            <a:endParaRPr lang="en-US" sz="1500" dirty="0"/>
          </a:p>
        </p:txBody>
      </p:sp>
      <p:sp>
        <p:nvSpPr>
          <p:cNvPr id="6" name="Shape 4"/>
          <p:cNvSpPr/>
          <p:nvPr/>
        </p:nvSpPr>
        <p:spPr>
          <a:xfrm>
            <a:off x="4572000" y="4754880"/>
            <a:ext cx="1463040" cy="411480"/>
          </a:xfrm>
          <a:prstGeom prst="roundRect">
            <a:avLst>
              <a:gd name="adj" fmla="val 48889"/>
            </a:avLst>
          </a:prstGeom>
          <a:solidFill>
            <a:srgbClr val="F0EF96"/>
          </a:solidFill>
          <a:ln w="12700">
            <a:solidFill>
              <a:srgbClr val="F0EF96"/>
            </a:solidFill>
            <a:prstDash val="solid"/>
          </a:ln>
        </p:spPr>
      </p:sp>
      <p:sp>
        <p:nvSpPr>
          <p:cNvPr id="7" name="Text 5"/>
          <p:cNvSpPr txBox="1"/>
          <p:nvPr/>
        </p:nvSpPr>
        <p:spPr>
          <a:xfrm>
            <a:off x="4572000" y="4754880"/>
            <a:ext cx="1463040" cy="411480"/>
          </a:xfrm>
          <a:prstGeom prst="rect">
            <a:avLst/>
          </a:prstGeom>
          <a:noFill/>
          <a:ln/>
        </p:spPr>
        <p:txBody>
          <a:bodyPr wrap="square" lIns="0" tIns="0" rIns="0" bIns="0" rtlCol="0" anchor="ctr"/>
          <a:lstStyle/>
          <a:p>
            <a:pPr algn="ctr" indent="0" marL="0">
              <a:buNone/>
            </a:pPr>
            <a:r>
              <a:rPr lang="en-US" sz="1400" b="1" dirty="0">
                <a:solidFill>
                  <a:srgbClr val="0A032B"/>
                </a:solidFill>
                <a:latin typeface="Montserrat" pitchFamily="34" charset="0"/>
                <a:ea typeface="Montserrat" pitchFamily="34" charset="-122"/>
                <a:cs typeface="Montserrat" pitchFamily="34" charset="-120"/>
              </a:rPr>
              <a:t>15 min</a:t>
            </a:r>
            <a:endParaRPr lang="en-US" sz="1400" dirty="0"/>
          </a:p>
        </p:txBody>
      </p:sp>
      <p:sp>
        <p:nvSpPr>
          <p:cNvPr id="8" name="Text 6"/>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DCDAEA"/>
                </a:solidFill>
                <a:latin typeface="Arial" pitchFamily="34" charset="0"/>
                <a:ea typeface="Arial" pitchFamily="34" charset="-122"/>
                <a:cs typeface="Arial" pitchFamily="34" charset="-120"/>
              </a:rPr>
              <a:t>Gestes et postures de l'élu</a:t>
            </a:r>
            <a:endParaRPr lang="en-US" sz="900" dirty="0"/>
          </a:p>
        </p:txBody>
      </p:sp>
      <p:pic>
        <p:nvPicPr>
          <p:cNvPr id="9" name="Image 0" descr="logo_dark.png">    </p:cNvPr>
          <p:cNvPicPr>
            <a:picLocks noChangeAspect="1"/>
          </p:cNvPicPr>
          <p:nvPr/>
        </p:nvPicPr>
        <p:blipFill>
          <a:blip r:embed="rId1"/>
          <a:stretch>
            <a:fillRect/>
          </a:stretch>
        </p:blipFill>
        <p:spPr>
          <a:xfrm>
            <a:off x="10682935" y="6236208"/>
            <a:ext cx="960120" cy="398441"/>
          </a:xfrm>
          <a:prstGeom prst="rect">
            <a:avLst/>
          </a:prstGeom>
        </p:spPr>
      </p:pic>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DCDAEA"/>
                </a:solidFill>
                <a:latin typeface="Arial"/>
                <a:ea typeface="Arial"/>
                <a:cs typeface="Arial"/>
              </a:defRPr>
            </a:lvl1pPr>
          </a:lstStyle>
          <a:p>
            <a:pPr algn="l"/>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235440" cy="685800"/>
          </a:xfrm>
          <a:prstGeom prst="rect">
            <a:avLst/>
          </a:prstGeom>
          <a:noFill/>
          <a:ln/>
        </p:spPr>
        <p:txBody>
          <a:bodyPr wrap="square" lIns="0" tIns="0" rIns="0" bIns="0" rtlCol="0" anchor="ctr"/>
          <a:lstStyle/>
          <a:p>
            <a:pPr indent="0" marL="0">
              <a:buNone/>
            </a:pPr>
            <a:r>
              <a:rPr lang="en-US" sz="2800" b="1" dirty="0">
                <a:solidFill>
                  <a:srgbClr val="0A032B"/>
                </a:solidFill>
                <a:latin typeface="Montserrat" pitchFamily="34" charset="0"/>
                <a:ea typeface="Montserrat" pitchFamily="34" charset="-122"/>
                <a:cs typeface="Montserrat" pitchFamily="34" charset="-120"/>
              </a:rPr>
              <a:t>Bilan de la journée</a:t>
            </a:r>
            <a:endParaRPr lang="en-US" sz="2800" dirty="0"/>
          </a:p>
        </p:txBody>
      </p:sp>
      <p:sp>
        <p:nvSpPr>
          <p:cNvPr id="3" name="Shape 1"/>
          <p:cNvSpPr/>
          <p:nvPr/>
        </p:nvSpPr>
        <p:spPr>
          <a:xfrm>
            <a:off x="10042855" y="530352"/>
            <a:ext cx="1600200" cy="347472"/>
          </a:xfrm>
          <a:prstGeom prst="roundRect">
            <a:avLst>
              <a:gd name="adj" fmla="val 50000"/>
            </a:avLst>
          </a:prstGeom>
          <a:solidFill>
            <a:srgbClr val="DCDAEA"/>
          </a:solidFill>
          <a:ln w="12700">
            <a:solidFill>
              <a:srgbClr val="DCDAEA"/>
            </a:solidFill>
            <a:prstDash val="solid"/>
          </a:ln>
        </p:spPr>
      </p:sp>
      <p:sp>
        <p:nvSpPr>
          <p:cNvPr id="4" name="Text 2"/>
          <p:cNvSpPr txBox="1"/>
          <p:nvPr/>
        </p:nvSpPr>
        <p:spPr>
          <a:xfrm>
            <a:off x="10042855" y="530352"/>
            <a:ext cx="1600200" cy="347472"/>
          </a:xfrm>
          <a:prstGeom prst="rect">
            <a:avLst/>
          </a:prstGeom>
          <a:noFill/>
          <a:ln/>
        </p:spPr>
        <p:txBody>
          <a:bodyPr wrap="square" lIns="0" tIns="0" rIns="0" bIns="0" rtlCol="0" anchor="ctr"/>
          <a:lstStyle/>
          <a:p>
            <a:pPr algn="ctr" indent="0" marL="0">
              <a:buNone/>
            </a:pPr>
            <a:r>
              <a:rPr lang="en-US" sz="1100" b="1" spc="200" kern="0" dirty="0">
                <a:solidFill>
                  <a:srgbClr val="0A032B"/>
                </a:solidFill>
                <a:latin typeface="Montserrat" pitchFamily="34" charset="0"/>
                <a:ea typeface="Montserrat" pitchFamily="34" charset="-122"/>
                <a:cs typeface="Montserrat" pitchFamily="34" charset="-120"/>
              </a:rPr>
              <a:t>ÉCHANGES</a:t>
            </a:r>
            <a:endParaRPr lang="en-US" sz="1100" dirty="0"/>
          </a:p>
        </p:txBody>
      </p:sp>
      <p:sp>
        <p:nvSpPr>
          <p:cNvPr id="5" name="Text 3"/>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5E5A78"/>
                </a:solidFill>
                <a:latin typeface="Arial" pitchFamily="34" charset="0"/>
                <a:ea typeface="Arial" pitchFamily="34" charset="-122"/>
                <a:cs typeface="Arial" pitchFamily="34" charset="-120"/>
              </a:rPr>
              <a:t>Gestes et postures de l'élu  ·  Bilan</a:t>
            </a:r>
            <a:endParaRPr lang="en-US" sz="900" dirty="0"/>
          </a:p>
        </p:txBody>
      </p:sp>
      <p:pic>
        <p:nvPicPr>
          <p:cNvPr id="6" name="Image 0" descr="logo_light.png">    </p:cNvPr>
          <p:cNvPicPr>
            <a:picLocks noChangeAspect="1"/>
          </p:cNvPicPr>
          <p:nvPr/>
        </p:nvPicPr>
        <p:blipFill>
          <a:blip r:embed="rId1"/>
          <a:stretch>
            <a:fillRect/>
          </a:stretch>
        </p:blipFill>
        <p:spPr>
          <a:xfrm>
            <a:off x="10682935" y="6236208"/>
            <a:ext cx="960120" cy="398441"/>
          </a:xfrm>
          <a:prstGeom prst="rect">
            <a:avLst/>
          </a:prstGeom>
        </p:spPr>
      </p:pic>
      <p:sp>
        <p:nvSpPr>
          <p:cNvPr id="7" name="Shape 4"/>
          <p:cNvSpPr/>
          <p:nvPr/>
        </p:nvSpPr>
        <p:spPr>
          <a:xfrm>
            <a:off x="548640" y="1371600"/>
            <a:ext cx="5410048" cy="2194560"/>
          </a:xfrm>
          <a:prstGeom prst="roundRect">
            <a:avLst>
              <a:gd name="adj" fmla="val 3333"/>
            </a:avLst>
          </a:prstGeom>
          <a:solidFill>
            <a:srgbClr val="EEEDF5"/>
          </a:solidFill>
          <a:ln w="12700">
            <a:solidFill>
              <a:srgbClr val="EEEDF5"/>
            </a:solidFill>
            <a:prstDash val="solid"/>
          </a:ln>
        </p:spPr>
      </p:sp>
      <p:sp>
        <p:nvSpPr>
          <p:cNvPr id="8" name="Shape 5"/>
          <p:cNvSpPr/>
          <p:nvPr/>
        </p:nvSpPr>
        <p:spPr>
          <a:xfrm>
            <a:off x="777240" y="1600200"/>
            <a:ext cx="548640" cy="548640"/>
          </a:xfrm>
          <a:prstGeom prst="ellipse">
            <a:avLst/>
          </a:prstGeom>
          <a:solidFill>
            <a:srgbClr val="0A032B"/>
          </a:solidFill>
          <a:ln w="12700">
            <a:solidFill>
              <a:srgbClr val="0A032B"/>
            </a:solidFill>
            <a:prstDash val="solid"/>
          </a:ln>
        </p:spPr>
      </p:sp>
      <p:pic>
        <p:nvPicPr>
          <p:cNvPr id="9" name="Image 1" descr="preencoded.png">    </p:cNvPr>
          <p:cNvPicPr>
            <a:picLocks noChangeAspect="1"/>
          </p:cNvPicPr>
          <p:nvPr/>
        </p:nvPicPr>
        <p:blipFill>
          <a:blip r:embed="rId2"/>
          <a:stretch>
            <a:fillRect/>
          </a:stretch>
        </p:blipFill>
        <p:spPr>
          <a:xfrm>
            <a:off x="914400" y="1737360"/>
            <a:ext cx="274320" cy="274320"/>
          </a:xfrm>
          <a:prstGeom prst="rect">
            <a:avLst/>
          </a:prstGeom>
        </p:spPr>
      </p:pic>
      <p:sp>
        <p:nvSpPr>
          <p:cNvPr id="10" name="Text 6"/>
          <p:cNvSpPr txBox="1"/>
          <p:nvPr/>
        </p:nvSpPr>
        <p:spPr>
          <a:xfrm>
            <a:off x="1508760" y="1600200"/>
            <a:ext cx="4221328" cy="548640"/>
          </a:xfrm>
          <a:prstGeom prst="rect">
            <a:avLst/>
          </a:prstGeom>
          <a:noFill/>
          <a:ln/>
        </p:spPr>
        <p:txBody>
          <a:bodyPr wrap="square" lIns="0" tIns="0" rIns="0" bIns="0" rtlCol="0" anchor="ctr"/>
          <a:lstStyle/>
          <a:p>
            <a:pPr indent="0" marL="0">
              <a:buNone/>
            </a:pPr>
            <a:r>
              <a:rPr lang="en-US" sz="1600" b="1" dirty="0">
                <a:solidFill>
                  <a:srgbClr val="0A032B"/>
                </a:solidFill>
                <a:latin typeface="Montserrat" pitchFamily="34" charset="0"/>
                <a:ea typeface="Montserrat" pitchFamily="34" charset="-122"/>
                <a:cs typeface="Montserrat" pitchFamily="34" charset="-120"/>
              </a:rPr>
              <a:t>Retour aux attentes</a:t>
            </a:r>
            <a:endParaRPr lang="en-US" sz="1600" dirty="0"/>
          </a:p>
        </p:txBody>
      </p:sp>
      <p:sp>
        <p:nvSpPr>
          <p:cNvPr id="11" name="Text 7"/>
          <p:cNvSpPr txBox="1"/>
          <p:nvPr/>
        </p:nvSpPr>
        <p:spPr>
          <a:xfrm>
            <a:off x="777240" y="2286000"/>
            <a:ext cx="4952848" cy="1143000"/>
          </a:xfrm>
          <a:prstGeom prst="rect">
            <a:avLst/>
          </a:prstGeom>
          <a:noFill/>
          <a:ln/>
        </p:spPr>
        <p:txBody>
          <a:bodyPr wrap="square" lIns="0" tIns="0" rIns="0" bIns="0" rtlCol="0" anchor="t"/>
          <a:lstStyle/>
          <a:p>
            <a:pPr indent="0" marL="0">
              <a:buNone/>
            </a:pPr>
            <a:r>
              <a:rPr lang="en-US" sz="1400" dirty="0">
                <a:solidFill>
                  <a:srgbClr val="35305C"/>
                </a:solidFill>
                <a:latin typeface="Arial" pitchFamily="34" charset="0"/>
                <a:ea typeface="Arial" pitchFamily="34" charset="-122"/>
                <a:cs typeface="Arial" pitchFamily="34" charset="-120"/>
              </a:rPr>
              <a:t>Relecture des post-it du matin : vos attentes ont-elles trouvé une réponse ?</a:t>
            </a:r>
            <a:endParaRPr lang="en-US" sz="1400" dirty="0"/>
          </a:p>
        </p:txBody>
      </p:sp>
      <p:sp>
        <p:nvSpPr>
          <p:cNvPr id="12" name="Shape 8"/>
          <p:cNvSpPr/>
          <p:nvPr/>
        </p:nvSpPr>
        <p:spPr>
          <a:xfrm>
            <a:off x="6233008" y="1371600"/>
            <a:ext cx="5410048" cy="2194560"/>
          </a:xfrm>
          <a:prstGeom prst="roundRect">
            <a:avLst>
              <a:gd name="adj" fmla="val 3333"/>
            </a:avLst>
          </a:prstGeom>
          <a:solidFill>
            <a:srgbClr val="EEEDF5"/>
          </a:solidFill>
          <a:ln w="12700">
            <a:solidFill>
              <a:srgbClr val="EEEDF5"/>
            </a:solidFill>
            <a:prstDash val="solid"/>
          </a:ln>
        </p:spPr>
      </p:sp>
      <p:sp>
        <p:nvSpPr>
          <p:cNvPr id="13" name="Shape 9"/>
          <p:cNvSpPr/>
          <p:nvPr/>
        </p:nvSpPr>
        <p:spPr>
          <a:xfrm>
            <a:off x="6461608" y="1600200"/>
            <a:ext cx="548640" cy="548640"/>
          </a:xfrm>
          <a:prstGeom prst="ellipse">
            <a:avLst/>
          </a:prstGeom>
          <a:solidFill>
            <a:srgbClr val="0A032B"/>
          </a:solidFill>
          <a:ln w="12700">
            <a:solidFill>
              <a:srgbClr val="0A032B"/>
            </a:solidFill>
            <a:prstDash val="solid"/>
          </a:ln>
        </p:spPr>
      </p:sp>
      <p:pic>
        <p:nvPicPr>
          <p:cNvPr id="14" name="Image 2" descr="preencoded.png">    </p:cNvPr>
          <p:cNvPicPr>
            <a:picLocks noChangeAspect="1"/>
          </p:cNvPicPr>
          <p:nvPr/>
        </p:nvPicPr>
        <p:blipFill>
          <a:blip r:embed="rId3"/>
          <a:stretch>
            <a:fillRect/>
          </a:stretch>
        </p:blipFill>
        <p:spPr>
          <a:xfrm>
            <a:off x="6598768" y="1737360"/>
            <a:ext cx="274320" cy="274320"/>
          </a:xfrm>
          <a:prstGeom prst="rect">
            <a:avLst/>
          </a:prstGeom>
        </p:spPr>
      </p:pic>
      <p:sp>
        <p:nvSpPr>
          <p:cNvPr id="15" name="Text 10"/>
          <p:cNvSpPr txBox="1"/>
          <p:nvPr/>
        </p:nvSpPr>
        <p:spPr>
          <a:xfrm>
            <a:off x="7193128" y="1600200"/>
            <a:ext cx="4221328" cy="548640"/>
          </a:xfrm>
          <a:prstGeom prst="rect">
            <a:avLst/>
          </a:prstGeom>
          <a:noFill/>
          <a:ln/>
        </p:spPr>
        <p:txBody>
          <a:bodyPr wrap="square" lIns="0" tIns="0" rIns="0" bIns="0" rtlCol="0" anchor="ctr"/>
          <a:lstStyle/>
          <a:p>
            <a:pPr indent="0" marL="0">
              <a:buNone/>
            </a:pPr>
            <a:r>
              <a:rPr lang="en-US" sz="1600" b="1" dirty="0">
                <a:solidFill>
                  <a:srgbClr val="0A032B"/>
                </a:solidFill>
                <a:latin typeface="Montserrat" pitchFamily="34" charset="0"/>
                <a:ea typeface="Montserrat" pitchFamily="34" charset="-122"/>
                <a:cs typeface="Montserrat" pitchFamily="34" charset="-120"/>
              </a:rPr>
              <a:t>Tour de table</a:t>
            </a:r>
            <a:endParaRPr lang="en-US" sz="1600" dirty="0"/>
          </a:p>
        </p:txBody>
      </p:sp>
      <p:sp>
        <p:nvSpPr>
          <p:cNvPr id="16" name="Text 11"/>
          <p:cNvSpPr txBox="1"/>
          <p:nvPr/>
        </p:nvSpPr>
        <p:spPr>
          <a:xfrm>
            <a:off x="6461608" y="2286000"/>
            <a:ext cx="4952848" cy="1143000"/>
          </a:xfrm>
          <a:prstGeom prst="rect">
            <a:avLst/>
          </a:prstGeom>
          <a:noFill/>
          <a:ln/>
        </p:spPr>
        <p:txBody>
          <a:bodyPr wrap="square" lIns="0" tIns="0" rIns="0" bIns="0" rtlCol="0" anchor="t"/>
          <a:lstStyle/>
          <a:p>
            <a:pPr indent="0" marL="0">
              <a:buNone/>
            </a:pPr>
            <a:r>
              <a:rPr lang="en-US" sz="1400" dirty="0">
                <a:solidFill>
                  <a:srgbClr val="35305C"/>
                </a:solidFill>
                <a:latin typeface="Arial" pitchFamily="34" charset="0"/>
                <a:ea typeface="Arial" pitchFamily="34" charset="-122"/>
                <a:cs typeface="Arial" pitchFamily="34" charset="-120"/>
              </a:rPr>
              <a:t>Ce que je retiens, ce que je vais appliquer, ce que je vais porter dans ma collectivité.</a:t>
            </a:r>
            <a:endParaRPr lang="en-US" sz="1400" dirty="0"/>
          </a:p>
        </p:txBody>
      </p:sp>
      <p:sp>
        <p:nvSpPr>
          <p:cNvPr id="17" name="Shape 12"/>
          <p:cNvSpPr/>
          <p:nvPr/>
        </p:nvSpPr>
        <p:spPr>
          <a:xfrm>
            <a:off x="548640" y="3840480"/>
            <a:ext cx="5410048" cy="2194560"/>
          </a:xfrm>
          <a:prstGeom prst="roundRect">
            <a:avLst>
              <a:gd name="adj" fmla="val 3333"/>
            </a:avLst>
          </a:prstGeom>
          <a:solidFill>
            <a:srgbClr val="EEEDF5"/>
          </a:solidFill>
          <a:ln w="12700">
            <a:solidFill>
              <a:srgbClr val="EEEDF5"/>
            </a:solidFill>
            <a:prstDash val="solid"/>
          </a:ln>
        </p:spPr>
      </p:sp>
      <p:sp>
        <p:nvSpPr>
          <p:cNvPr id="18" name="Shape 13"/>
          <p:cNvSpPr/>
          <p:nvPr/>
        </p:nvSpPr>
        <p:spPr>
          <a:xfrm>
            <a:off x="777240" y="4069080"/>
            <a:ext cx="548640" cy="548640"/>
          </a:xfrm>
          <a:prstGeom prst="ellipse">
            <a:avLst/>
          </a:prstGeom>
          <a:solidFill>
            <a:srgbClr val="0A032B"/>
          </a:solidFill>
          <a:ln w="12700">
            <a:solidFill>
              <a:srgbClr val="0A032B"/>
            </a:solidFill>
            <a:prstDash val="solid"/>
          </a:ln>
        </p:spPr>
      </p:sp>
      <p:pic>
        <p:nvPicPr>
          <p:cNvPr id="19" name="Image 3" descr="preencoded.png">    </p:cNvPr>
          <p:cNvPicPr>
            <a:picLocks noChangeAspect="1"/>
          </p:cNvPicPr>
          <p:nvPr/>
        </p:nvPicPr>
        <p:blipFill>
          <a:blip r:embed="rId4"/>
          <a:stretch>
            <a:fillRect/>
          </a:stretch>
        </p:blipFill>
        <p:spPr>
          <a:xfrm>
            <a:off x="914400" y="4206240"/>
            <a:ext cx="274320" cy="274320"/>
          </a:xfrm>
          <a:prstGeom prst="rect">
            <a:avLst/>
          </a:prstGeom>
        </p:spPr>
      </p:pic>
      <p:sp>
        <p:nvSpPr>
          <p:cNvPr id="20" name="Text 14"/>
          <p:cNvSpPr txBox="1"/>
          <p:nvPr/>
        </p:nvSpPr>
        <p:spPr>
          <a:xfrm>
            <a:off x="1508760" y="4069080"/>
            <a:ext cx="4221328" cy="548640"/>
          </a:xfrm>
          <a:prstGeom prst="rect">
            <a:avLst/>
          </a:prstGeom>
          <a:noFill/>
          <a:ln/>
        </p:spPr>
        <p:txBody>
          <a:bodyPr wrap="square" lIns="0" tIns="0" rIns="0" bIns="0" rtlCol="0" anchor="ctr"/>
          <a:lstStyle/>
          <a:p>
            <a:pPr indent="0" marL="0">
              <a:buNone/>
            </a:pPr>
            <a:r>
              <a:rPr lang="en-US" sz="1600" b="1" dirty="0">
                <a:solidFill>
                  <a:srgbClr val="0A032B"/>
                </a:solidFill>
                <a:latin typeface="Montserrat" pitchFamily="34" charset="0"/>
                <a:ea typeface="Montserrat" pitchFamily="34" charset="-122"/>
                <a:cs typeface="Montserrat" pitchFamily="34" charset="-120"/>
              </a:rPr>
              <a:t>Évaluation de la formation</a:t>
            </a:r>
            <a:endParaRPr lang="en-US" sz="1600" dirty="0"/>
          </a:p>
        </p:txBody>
      </p:sp>
      <p:sp>
        <p:nvSpPr>
          <p:cNvPr id="21" name="Text 15"/>
          <p:cNvSpPr txBox="1"/>
          <p:nvPr/>
        </p:nvSpPr>
        <p:spPr>
          <a:xfrm>
            <a:off x="777240" y="4754880"/>
            <a:ext cx="4952848" cy="1143000"/>
          </a:xfrm>
          <a:prstGeom prst="rect">
            <a:avLst/>
          </a:prstGeom>
          <a:noFill/>
          <a:ln/>
        </p:spPr>
        <p:txBody>
          <a:bodyPr wrap="square" lIns="0" tIns="0" rIns="0" bIns="0" rtlCol="0" anchor="t"/>
          <a:lstStyle/>
          <a:p>
            <a:pPr indent="0" marL="0">
              <a:buNone/>
            </a:pPr>
            <a:r>
              <a:rPr lang="en-US" sz="1400" dirty="0">
                <a:solidFill>
                  <a:srgbClr val="35305C"/>
                </a:solidFill>
                <a:latin typeface="Arial" pitchFamily="34" charset="0"/>
                <a:ea typeface="Arial" pitchFamily="34" charset="-122"/>
                <a:cs typeface="Arial" pitchFamily="34" charset="-120"/>
              </a:rPr>
              <a:t>Questionnaire de satisfaction de l'organisme : contenus, méthodes, conditions.</a:t>
            </a:r>
            <a:endParaRPr lang="en-US" sz="1400" dirty="0"/>
          </a:p>
        </p:txBody>
      </p:sp>
      <p:sp>
        <p:nvSpPr>
          <p:cNvPr id="22" name="Shape 16"/>
          <p:cNvSpPr/>
          <p:nvPr/>
        </p:nvSpPr>
        <p:spPr>
          <a:xfrm>
            <a:off x="6233008" y="3840480"/>
            <a:ext cx="5410048" cy="2194560"/>
          </a:xfrm>
          <a:prstGeom prst="roundRect">
            <a:avLst>
              <a:gd name="adj" fmla="val 3333"/>
            </a:avLst>
          </a:prstGeom>
          <a:solidFill>
            <a:srgbClr val="EEEDF5"/>
          </a:solidFill>
          <a:ln w="12700">
            <a:solidFill>
              <a:srgbClr val="EEEDF5"/>
            </a:solidFill>
            <a:prstDash val="solid"/>
          </a:ln>
        </p:spPr>
      </p:sp>
      <p:sp>
        <p:nvSpPr>
          <p:cNvPr id="23" name="Shape 17"/>
          <p:cNvSpPr/>
          <p:nvPr/>
        </p:nvSpPr>
        <p:spPr>
          <a:xfrm>
            <a:off x="6461608" y="4069080"/>
            <a:ext cx="548640" cy="548640"/>
          </a:xfrm>
          <a:prstGeom prst="ellipse">
            <a:avLst/>
          </a:prstGeom>
          <a:solidFill>
            <a:srgbClr val="0A032B"/>
          </a:solidFill>
          <a:ln w="12700">
            <a:solidFill>
              <a:srgbClr val="0A032B"/>
            </a:solidFill>
            <a:prstDash val="solid"/>
          </a:ln>
        </p:spPr>
      </p:sp>
      <p:pic>
        <p:nvPicPr>
          <p:cNvPr id="24" name="Image 4" descr="preencoded.png">    </p:cNvPr>
          <p:cNvPicPr>
            <a:picLocks noChangeAspect="1"/>
          </p:cNvPicPr>
          <p:nvPr/>
        </p:nvPicPr>
        <p:blipFill>
          <a:blip r:embed="rId5"/>
          <a:stretch>
            <a:fillRect/>
          </a:stretch>
        </p:blipFill>
        <p:spPr>
          <a:xfrm>
            <a:off x="6598768" y="4206240"/>
            <a:ext cx="274320" cy="274320"/>
          </a:xfrm>
          <a:prstGeom prst="rect">
            <a:avLst/>
          </a:prstGeom>
        </p:spPr>
      </p:pic>
      <p:sp>
        <p:nvSpPr>
          <p:cNvPr id="25" name="Text 18"/>
          <p:cNvSpPr txBox="1"/>
          <p:nvPr/>
        </p:nvSpPr>
        <p:spPr>
          <a:xfrm>
            <a:off x="7193128" y="4069080"/>
            <a:ext cx="4221328" cy="548640"/>
          </a:xfrm>
          <a:prstGeom prst="rect">
            <a:avLst/>
          </a:prstGeom>
          <a:noFill/>
          <a:ln/>
        </p:spPr>
        <p:txBody>
          <a:bodyPr wrap="square" lIns="0" tIns="0" rIns="0" bIns="0" rtlCol="0" anchor="ctr"/>
          <a:lstStyle/>
          <a:p>
            <a:pPr indent="0" marL="0">
              <a:buNone/>
            </a:pPr>
            <a:r>
              <a:rPr lang="en-US" sz="1600" b="1" dirty="0">
                <a:solidFill>
                  <a:srgbClr val="0A032B"/>
                </a:solidFill>
                <a:latin typeface="Montserrat" pitchFamily="34" charset="0"/>
                <a:ea typeface="Montserrat" pitchFamily="34" charset="-122"/>
                <a:cs typeface="Montserrat" pitchFamily="34" charset="-120"/>
              </a:rPr>
              <a:t>Attestation</a:t>
            </a:r>
            <a:endParaRPr lang="en-US" sz="1600" dirty="0"/>
          </a:p>
        </p:txBody>
      </p:sp>
      <p:sp>
        <p:nvSpPr>
          <p:cNvPr id="26" name="Text 19"/>
          <p:cNvSpPr txBox="1"/>
          <p:nvPr/>
        </p:nvSpPr>
        <p:spPr>
          <a:xfrm>
            <a:off x="6461608" y="4754880"/>
            <a:ext cx="4952848" cy="1143000"/>
          </a:xfrm>
          <a:prstGeom prst="rect">
            <a:avLst/>
          </a:prstGeom>
          <a:noFill/>
          <a:ln/>
        </p:spPr>
        <p:txBody>
          <a:bodyPr wrap="square" lIns="0" tIns="0" rIns="0" bIns="0" rtlCol="0" anchor="t"/>
          <a:lstStyle/>
          <a:p>
            <a:pPr indent="0" marL="0">
              <a:buNone/>
            </a:pPr>
            <a:r>
              <a:rPr lang="en-US" sz="1400" dirty="0">
                <a:solidFill>
                  <a:srgbClr val="35305C"/>
                </a:solidFill>
                <a:latin typeface="Arial" pitchFamily="34" charset="0"/>
                <a:ea typeface="Arial" pitchFamily="34" charset="-122"/>
                <a:cs typeface="Arial" pitchFamily="34" charset="-120"/>
              </a:rPr>
              <a:t>Remise de la grille de compétences individuelle et de l'attestation de fin de formation.</a:t>
            </a:r>
            <a:endParaRPr lang="en-US" sz="1400" dirty="0"/>
          </a:p>
        </p:txBody>
      </p:sp>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235440" cy="685800"/>
          </a:xfrm>
          <a:prstGeom prst="rect">
            <a:avLst/>
          </a:prstGeom>
          <a:noFill/>
          <a:ln/>
        </p:spPr>
        <p:txBody>
          <a:bodyPr wrap="square" lIns="0" tIns="0" rIns="0" bIns="0" rtlCol="0" anchor="ctr"/>
          <a:lstStyle/>
          <a:p>
            <a:pPr indent="0" marL="0">
              <a:buNone/>
            </a:pPr>
            <a:r>
              <a:rPr lang="en-US" sz="2800" b="1" dirty="0">
                <a:solidFill>
                  <a:srgbClr val="0A032B"/>
                </a:solidFill>
                <a:latin typeface="Montserrat" pitchFamily="34" charset="0"/>
                <a:ea typeface="Montserrat" pitchFamily="34" charset="-122"/>
                <a:cs typeface="Montserrat" pitchFamily="34" charset="-120"/>
              </a:rPr>
              <a:t>Grille de compétences individuelle</a:t>
            </a:r>
            <a:endParaRPr lang="en-US" sz="2800" dirty="0"/>
          </a:p>
        </p:txBody>
      </p:sp>
      <p:sp>
        <p:nvSpPr>
          <p:cNvPr id="3" name="Text 1"/>
          <p:cNvSpPr txBox="1"/>
          <p:nvPr/>
        </p:nvSpPr>
        <p:spPr>
          <a:xfrm>
            <a:off x="548640" y="1024128"/>
            <a:ext cx="9235440" cy="365760"/>
          </a:xfrm>
          <a:prstGeom prst="rect">
            <a:avLst/>
          </a:prstGeom>
          <a:noFill/>
          <a:ln/>
        </p:spPr>
        <p:txBody>
          <a:bodyPr wrap="square" lIns="0" tIns="0" rIns="0" bIns="0" rtlCol="0" anchor="ctr"/>
          <a:lstStyle/>
          <a:p>
            <a:pPr indent="0" marL="0">
              <a:buNone/>
            </a:pPr>
            <a:r>
              <a:rPr lang="en-US" sz="1400" i="1" dirty="0">
                <a:solidFill>
                  <a:srgbClr val="5E5A78"/>
                </a:solidFill>
                <a:latin typeface="Arial" pitchFamily="34" charset="0"/>
                <a:ea typeface="Arial" pitchFamily="34" charset="-122"/>
                <a:cs typeface="Arial" pitchFamily="34" charset="-120"/>
              </a:rPr>
              <a:t>Remise à chaque participant avec l'attestation de fin de formation</a:t>
            </a:r>
            <a:endParaRPr lang="en-US" sz="1400" dirty="0"/>
          </a:p>
        </p:txBody>
      </p:sp>
      <p:sp>
        <p:nvSpPr>
          <p:cNvPr id="4" name="Shape 2"/>
          <p:cNvSpPr/>
          <p:nvPr/>
        </p:nvSpPr>
        <p:spPr>
          <a:xfrm>
            <a:off x="10042855" y="530352"/>
            <a:ext cx="1600200" cy="347472"/>
          </a:xfrm>
          <a:prstGeom prst="roundRect">
            <a:avLst>
              <a:gd name="adj" fmla="val 50000"/>
            </a:avLst>
          </a:prstGeom>
          <a:solidFill>
            <a:srgbClr val="35305C"/>
          </a:solidFill>
          <a:ln w="12700">
            <a:solidFill>
              <a:srgbClr val="35305C"/>
            </a:solidFill>
            <a:prstDash val="solid"/>
          </a:ln>
        </p:spPr>
      </p:sp>
      <p:sp>
        <p:nvSpPr>
          <p:cNvPr id="5" name="Text 3"/>
          <p:cNvSpPr txBox="1"/>
          <p:nvPr/>
        </p:nvSpPr>
        <p:spPr>
          <a:xfrm>
            <a:off x="10042855" y="530352"/>
            <a:ext cx="1600200" cy="347472"/>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Montserrat" pitchFamily="34" charset="0"/>
                <a:ea typeface="Montserrat" pitchFamily="34" charset="-122"/>
                <a:cs typeface="Montserrat" pitchFamily="34" charset="-120"/>
              </a:rPr>
              <a:t>ÉVALUATION</a:t>
            </a:r>
            <a:endParaRPr lang="en-US" sz="1100" dirty="0"/>
          </a:p>
        </p:txBody>
      </p:sp>
      <p:sp>
        <p:nvSpPr>
          <p:cNvPr id="6" name="Text 4"/>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00" dirty="0">
                <a:solidFill>
                  <a:srgbClr val="5E5A78"/>
                </a:solidFill>
                <a:latin typeface="Arial" pitchFamily="34" charset="0"/>
                <a:ea typeface="Arial" pitchFamily="34" charset="-122"/>
                <a:cs typeface="Arial" pitchFamily="34" charset="-120"/>
              </a:rPr>
              <a:t>Gestes et postures de l'élu  ·  Bilan</a:t>
            </a:r>
            <a:endParaRPr lang="en-US" sz="900" dirty="0"/>
          </a:p>
        </p:txBody>
      </p:sp>
      <p:pic>
        <p:nvPicPr>
          <p:cNvPr id="7" name="Image 0" descr="logo_light.png">    </p:cNvPr>
          <p:cNvPicPr>
            <a:picLocks noChangeAspect="1"/>
          </p:cNvPicPr>
          <p:nvPr/>
        </p:nvPicPr>
        <p:blipFill>
          <a:blip r:embed="rId1"/>
          <a:stretch>
            <a:fillRect/>
          </a:stretch>
        </p:blipFill>
        <p:spPr>
          <a:xfrm>
            <a:off x="10682935" y="6236208"/>
            <a:ext cx="960120" cy="398441"/>
          </a:xfrm>
          <a:prstGeom prst="rect">
            <a:avLst/>
          </a:prstGeom>
        </p:spPr>
      </p:pic>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7253935"/>
                <a:gridCol w="1280160"/>
                <a:gridCol w="1280160"/>
                <a:gridCol w="1280160"/>
              </a:tblGrid>
              <a:tr h="566928">
                <a:tc>
                  <a:txBody>
                    <a:bodyP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Compétence visée</a:t>
                      </a:r>
                      <a:endParaRPr lang="en-US" sz="1200" dirty="0">
                        <a:latin typeface="Montserrat" charset="0"/>
                        <a:ea typeface="Montserrat" charset="0"/>
                        <a:cs typeface="Montserrat"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0A032B"/>
                    </a:solidFill>
                  </a:tcPr>
                </a:tc>
                <a:tc>
                  <a:txBody>
                    <a:bodyP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Acquise</a:t>
                      </a:r>
                      <a:endParaRPr lang="en-US" sz="1200" dirty="0">
                        <a:latin typeface="Montserrat" charset="0"/>
                        <a:ea typeface="Montserrat" charset="0"/>
                        <a:cs typeface="Montserrat"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0A032B"/>
                    </a:solidFill>
                  </a:tcPr>
                </a:tc>
                <a:tc>
                  <a:txBody>
                    <a:bodyP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En cours</a:t>
                      </a:r>
                      <a:endParaRPr lang="en-US" sz="1200" dirty="0">
                        <a:latin typeface="Montserrat" charset="0"/>
                        <a:ea typeface="Montserrat" charset="0"/>
                        <a:cs typeface="Montserrat"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0A032B"/>
                    </a:solidFill>
                  </a:tcPr>
                </a:tc>
                <a:tc>
                  <a:txBody>
                    <a:bodyP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Non acquise</a:t>
                      </a:r>
                      <a:endParaRPr lang="en-US" sz="1200" dirty="0">
                        <a:latin typeface="Montserrat" charset="0"/>
                        <a:ea typeface="Montserrat" charset="0"/>
                        <a:cs typeface="Montserrat"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0A032B"/>
                    </a:solidFill>
                  </a:tcPr>
                </a:tc>
              </a:tr>
              <a:tr h="566928">
                <a:tc>
                  <a:txBody>
                    <a:bodyPr/>
                    <a:lstStyle/>
                    <a:p>
                      <a:pPr indent="0" marL="0">
                        <a:buNone/>
                      </a:pPr>
                      <a:r>
                        <a:rPr lang="en-US" sz="1350" dirty="0">
                          <a:solidFill>
                            <a:srgbClr val="0A032B"/>
                          </a:solidFill>
                          <a:latin typeface="Arial" pitchFamily="34" charset="0"/>
                          <a:ea typeface="Arial" pitchFamily="34" charset="-122"/>
                          <a:cs typeface="Arial" pitchFamily="34" charset="-120"/>
                        </a:rPr>
                        <a:t>C1 · Identifier les atteintes de l'appareil locomoteur et leurs facteurs de risque</a:t>
                      </a:r>
                      <a:endParaRPr lang="en-US" sz="135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EEEDF5"/>
                    </a:solidFill>
                  </a:tcPr>
                </a:tc>
                <a:tc>
                  <a:txBody>
                    <a:bodyPr/>
                    <a:lstStyle/>
                    <a:p>
                      <a:pPr algn="ctr" indent="0" marL="0">
                        <a:buNone/>
                      </a:pPr>
                      <a:r>
                        <a:rPr lang="en-US" sz="1600" dirty="0">
                          <a:solidFill>
                            <a:srgbClr val="0A032B"/>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EEEDF5"/>
                    </a:solidFill>
                  </a:tcPr>
                </a:tc>
                <a:tc>
                  <a:txBody>
                    <a:bodyPr/>
                    <a:lstStyle/>
                    <a:p>
                      <a:pPr algn="ctr" indent="0" marL="0">
                        <a:buNone/>
                      </a:pPr>
                      <a:r>
                        <a:rPr lang="en-US" sz="1600" dirty="0">
                          <a:solidFill>
                            <a:srgbClr val="0A032B"/>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EEEDF5"/>
                    </a:solidFill>
                  </a:tcPr>
                </a:tc>
                <a:tc>
                  <a:txBody>
                    <a:bodyPr/>
                    <a:lstStyle/>
                    <a:p>
                      <a:pPr algn="ctr" indent="0" marL="0">
                        <a:buNone/>
                      </a:pPr>
                      <a:r>
                        <a:rPr lang="en-US" sz="1600" dirty="0">
                          <a:solidFill>
                            <a:srgbClr val="0A032B"/>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EEEDF5"/>
                    </a:solidFill>
                  </a:tcPr>
                </a:tc>
              </a:tr>
              <a:tr h="566928">
                <a:tc>
                  <a:txBody>
                    <a:bodyPr/>
                    <a:lstStyle/>
                    <a:p>
                      <a:pPr indent="0" marL="0">
                        <a:buNone/>
                      </a:pPr>
                      <a:r>
                        <a:rPr lang="en-US" sz="1350" dirty="0">
                          <a:solidFill>
                            <a:srgbClr val="0A032B"/>
                          </a:solidFill>
                          <a:latin typeface="Arial" pitchFamily="34" charset="0"/>
                          <a:ea typeface="Arial" pitchFamily="34" charset="-122"/>
                          <a:cs typeface="Arial" pitchFamily="34" charset="-120"/>
                        </a:rPr>
                        <a:t>C2 · Repérer les situations de manutention à risque dans l'exercice du mandat</a:t>
                      </a:r>
                      <a:endParaRPr lang="en-US" sz="135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A032B"/>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A032B"/>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A032B"/>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FFFFFF"/>
                    </a:solidFill>
                  </a:tcPr>
                </a:tc>
              </a:tr>
              <a:tr h="566928">
                <a:tc>
                  <a:txBody>
                    <a:bodyPr/>
                    <a:lstStyle/>
                    <a:p>
                      <a:pPr indent="0" marL="0">
                        <a:buNone/>
                      </a:pPr>
                      <a:r>
                        <a:rPr lang="en-US" sz="1350" dirty="0">
                          <a:solidFill>
                            <a:srgbClr val="0A032B"/>
                          </a:solidFill>
                          <a:latin typeface="Arial" pitchFamily="34" charset="0"/>
                          <a:ea typeface="Arial" pitchFamily="34" charset="-122"/>
                          <a:cs typeface="Arial" pitchFamily="34" charset="-120"/>
                        </a:rPr>
                        <a:t>C3 · Appliquer les principes de sécurité physique et d'économie d'effort</a:t>
                      </a:r>
                      <a:endParaRPr lang="en-US" sz="135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EEEDF5"/>
                    </a:solidFill>
                  </a:tcPr>
                </a:tc>
                <a:tc>
                  <a:txBody>
                    <a:bodyPr/>
                    <a:lstStyle/>
                    <a:p>
                      <a:pPr algn="ctr" indent="0" marL="0">
                        <a:buNone/>
                      </a:pPr>
                      <a:r>
                        <a:rPr lang="en-US" sz="1600" dirty="0">
                          <a:solidFill>
                            <a:srgbClr val="0A032B"/>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EEEDF5"/>
                    </a:solidFill>
                  </a:tcPr>
                </a:tc>
                <a:tc>
                  <a:txBody>
                    <a:bodyPr/>
                    <a:lstStyle/>
                    <a:p>
                      <a:pPr algn="ctr" indent="0" marL="0">
                        <a:buNone/>
                      </a:pPr>
                      <a:r>
                        <a:rPr lang="en-US" sz="1600" dirty="0">
                          <a:solidFill>
                            <a:srgbClr val="0A032B"/>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EEEDF5"/>
                    </a:solidFill>
                  </a:tcPr>
                </a:tc>
                <a:tc>
                  <a:txBody>
                    <a:bodyPr/>
                    <a:lstStyle/>
                    <a:p>
                      <a:pPr algn="ctr" indent="0" marL="0">
                        <a:buNone/>
                      </a:pPr>
                      <a:r>
                        <a:rPr lang="en-US" sz="1600" dirty="0">
                          <a:solidFill>
                            <a:srgbClr val="0A032B"/>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EEEDF5"/>
                    </a:solidFill>
                  </a:tcPr>
                </a:tc>
              </a:tr>
              <a:tr h="566928">
                <a:tc>
                  <a:txBody>
                    <a:bodyPr/>
                    <a:lstStyle/>
                    <a:p>
                      <a:pPr indent="0" marL="0">
                        <a:buNone/>
                      </a:pPr>
                      <a:r>
                        <a:rPr lang="en-US" sz="1350" dirty="0">
                          <a:solidFill>
                            <a:srgbClr val="0A032B"/>
                          </a:solidFill>
                          <a:latin typeface="Arial" pitchFamily="34" charset="0"/>
                          <a:ea typeface="Arial" pitchFamily="34" charset="-122"/>
                          <a:cs typeface="Arial" pitchFamily="34" charset="-120"/>
                        </a:rPr>
                        <a:t>C4 · Utiliser les aides à la manutention disponibles</a:t>
                      </a:r>
                      <a:endParaRPr lang="en-US" sz="135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A032B"/>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A032B"/>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A032B"/>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FFFFFF"/>
                    </a:solidFill>
                  </a:tcPr>
                </a:tc>
              </a:tr>
              <a:tr h="566928">
                <a:tc>
                  <a:txBody>
                    <a:bodyPr/>
                    <a:lstStyle/>
                    <a:p>
                      <a:pPr indent="0" marL="0">
                        <a:buNone/>
                      </a:pPr>
                      <a:r>
                        <a:rPr lang="en-US" sz="1350" dirty="0">
                          <a:solidFill>
                            <a:srgbClr val="0A032B"/>
                          </a:solidFill>
                          <a:latin typeface="Arial" pitchFamily="34" charset="0"/>
                          <a:ea typeface="Arial" pitchFamily="34" charset="-122"/>
                          <a:cs typeface="Arial" pitchFamily="34" charset="-120"/>
                        </a:rPr>
                        <a:t>C5 · Adapter son poste de travail, ses déplacements et sa posture assise prolongée</a:t>
                      </a:r>
                      <a:endParaRPr lang="en-US" sz="135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EEEDF5"/>
                    </a:solidFill>
                  </a:tcPr>
                </a:tc>
                <a:tc>
                  <a:txBody>
                    <a:bodyPr/>
                    <a:lstStyle/>
                    <a:p>
                      <a:pPr algn="ctr" indent="0" marL="0">
                        <a:buNone/>
                      </a:pPr>
                      <a:r>
                        <a:rPr lang="en-US" sz="1600" dirty="0">
                          <a:solidFill>
                            <a:srgbClr val="0A032B"/>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EEEDF5"/>
                    </a:solidFill>
                  </a:tcPr>
                </a:tc>
                <a:tc>
                  <a:txBody>
                    <a:bodyPr/>
                    <a:lstStyle/>
                    <a:p>
                      <a:pPr algn="ctr" indent="0" marL="0">
                        <a:buNone/>
                      </a:pPr>
                      <a:r>
                        <a:rPr lang="en-US" sz="1600" dirty="0">
                          <a:solidFill>
                            <a:srgbClr val="0A032B"/>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EEEDF5"/>
                    </a:solidFill>
                  </a:tcPr>
                </a:tc>
                <a:tc>
                  <a:txBody>
                    <a:bodyPr/>
                    <a:lstStyle/>
                    <a:p>
                      <a:pPr algn="ctr" indent="0" marL="0">
                        <a:buNone/>
                      </a:pPr>
                      <a:r>
                        <a:rPr lang="en-US" sz="1600" dirty="0">
                          <a:solidFill>
                            <a:srgbClr val="0A032B"/>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EEEDF5"/>
                    </a:solidFill>
                  </a:tcPr>
                </a:tc>
              </a:tr>
              <a:tr h="566928">
                <a:tc>
                  <a:txBody>
                    <a:bodyPr/>
                    <a:lstStyle/>
                    <a:p>
                      <a:pPr indent="0" marL="0">
                        <a:buNone/>
                      </a:pPr>
                      <a:r>
                        <a:rPr lang="en-US" sz="1350" dirty="0">
                          <a:solidFill>
                            <a:srgbClr val="0A032B"/>
                          </a:solidFill>
                          <a:latin typeface="Arial" pitchFamily="34" charset="0"/>
                          <a:ea typeface="Arial" pitchFamily="34" charset="-122"/>
                          <a:cs typeface="Arial" pitchFamily="34" charset="-120"/>
                        </a:rPr>
                        <a:t>C6 · Situer le rôle de l'autorité territoriale dans la prévention des risques des agents</a:t>
                      </a:r>
                      <a:endParaRPr lang="en-US" sz="135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A032B"/>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A032B"/>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0A032B"/>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91440" marR="91440" marT="45720" marB="45720" anchor="ctr">
                    <a:lnL w="9525" cap="flat" cmpd="sng" algn="ctr">
                      <a:solidFill>
                        <a:srgbClr val="DCDAEA"/>
                      </a:solidFill>
                      <a:prstDash val="solid"/>
                      <a:round/>
                      <a:headEnd type="none" w="med" len="med"/>
                      <a:tailEnd type="none" w="med" len="med"/>
                    </a:lnL>
                    <a:lnR w="9525" cap="flat" cmpd="sng" algn="ctr">
                      <a:solidFill>
                        <a:srgbClr val="DCDAEA"/>
                      </a:solidFill>
                      <a:prstDash val="solid"/>
                      <a:round/>
                      <a:headEnd type="none" w="med" len="med"/>
                      <a:tailEnd type="none" w="med" len="med"/>
                    </a:lnR>
                    <a:lnT w="9525" cap="flat" cmpd="sng" algn="ctr">
                      <a:solidFill>
                        <a:srgbClr val="DCDAEA"/>
                      </a:solidFill>
                      <a:prstDash val="solid"/>
                      <a:round/>
                      <a:headEnd type="none" w="med" len="med"/>
                      <a:tailEnd type="none" w="med" len="med"/>
                    </a:lnT>
                    <a:lnB w="9525" cap="flat" cmpd="sng" algn="ctr">
                      <a:solidFill>
                        <a:srgbClr val="DCDAEA"/>
                      </a:solidFill>
                      <a:prstDash val="solid"/>
                      <a:round/>
                      <a:headEnd type="none" w="med" len="med"/>
                      <a:tailEnd type="none" w="med" len="med"/>
                    </a:lnB>
                    <a:solidFill>
                      <a:srgbClr val="FFFFFF"/>
                    </a:solidFill>
                  </a:tcPr>
                </a:tc>
              </a:tr>
            </a:tbl>
          </a:graphicData>
        </a:graphic>
      </p:graphicFrame>
      <p:sp>
        <p:nvSpPr>
          <p:cNvPr id="9" name="Text 5"/>
          <p:cNvSpPr txBox="1"/>
          <p:nvPr/>
        </p:nvSpPr>
        <p:spPr>
          <a:xfrm>
            <a:off x="548640" y="5715000"/>
            <a:ext cx="11094415" cy="365760"/>
          </a:xfrm>
          <a:prstGeom prst="rect">
            <a:avLst/>
          </a:prstGeom>
          <a:noFill/>
          <a:ln/>
        </p:spPr>
        <p:txBody>
          <a:bodyPr wrap="square" lIns="0" tIns="0" rIns="0" bIns="0" rtlCol="0" anchor="ctr"/>
          <a:lstStyle/>
          <a:p>
            <a:pPr indent="0" marL="0">
              <a:buNone/>
            </a:pPr>
            <a:r>
              <a:rPr lang="en-US" sz="1250" b="1" dirty="0">
                <a:solidFill>
                  <a:srgbClr val="35305C"/>
                </a:solidFill>
                <a:latin typeface="Montserrat" pitchFamily="34" charset="0"/>
                <a:ea typeface="Montserrat" pitchFamily="34" charset="-122"/>
                <a:cs typeface="Montserrat" pitchFamily="34" charset="-120"/>
              </a:rPr>
              <a:t>Sources de l'évaluation : </a:t>
            </a:r>
            <a:pPr indent="0" marL="0">
              <a:buNone/>
            </a:pPr>
            <a:r>
              <a:rPr lang="en-US" sz="1250" dirty="0">
                <a:solidFill>
                  <a:srgbClr val="35305C"/>
                </a:solidFill>
                <a:latin typeface="Arial" pitchFamily="34" charset="0"/>
                <a:ea typeface="Arial" pitchFamily="34" charset="-122"/>
                <a:cs typeface="Arial" pitchFamily="34" charset="-120"/>
              </a:rPr>
              <a:t>QCM (C1 à C6), observation pendant les ateliers (C2 à C5), études de cas et grille d'orientation (C6).</a:t>
            </a:r>
            <a:endParaRPr lang="en-US" sz="1250" dirty="0"/>
          </a:p>
        </p:txBody>
      </p:sp>
      <p:sp>
        <p:nvSpPr>
          <p:cNvPr id="25" name="Slide Number Placeholder 0"/>
          <p:cNvSpPr>
            <a:spLocks noGrp="1"/>
          </p:cNvSpPr>
          <p:nvPr>
            <p:ph type="sldNum" sz="quarter" idx="4294967295"/>
          </p:nvPr>
        </p:nvSpPr>
        <p:spPr>
          <a:xfrm>
            <a:off x="10042855" y="633679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E5A78"/>
                </a:solidFill>
                <a:latin typeface="Arial"/>
                <a:ea typeface="Arial"/>
                <a:cs typeface="Arial"/>
              </a:defRPr>
            </a:lvl1pPr>
          </a:lstStyle>
          <a:p>
            <a:pPr algn="l"/>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0A032B"/>
        </a:solidFill>
      </p:bgPr>
    </p:bg>
    <p:spTree>
      <p:nvGrpSpPr>
        <p:cNvPr id="1" name=""/>
        <p:cNvGrpSpPr/>
        <p:nvPr/>
      </p:nvGrpSpPr>
      <p:grpSpPr>
        <a:xfrm>
          <a:off x="0" y="0"/>
          <a:ext cx="0" cy="0"/>
          <a:chOff x="0" y="0"/>
          <a:chExt cx="0" cy="0"/>
        </a:xfrm>
      </p:grpSpPr>
      <p:pic>
        <p:nvPicPr>
          <p:cNvPr id="2" name="Image 0" descr="logo_dark.png">    </p:cNvPr>
          <p:cNvPicPr>
            <a:picLocks noChangeAspect="1"/>
          </p:cNvPicPr>
          <p:nvPr/>
        </p:nvPicPr>
        <p:blipFill>
          <a:blip r:embed="rId1"/>
          <a:stretch>
            <a:fillRect/>
          </a:stretch>
        </p:blipFill>
        <p:spPr>
          <a:xfrm>
            <a:off x="4175608" y="914400"/>
            <a:ext cx="3840480" cy="1593764"/>
          </a:xfrm>
          <a:prstGeom prst="rect">
            <a:avLst/>
          </a:prstGeom>
        </p:spPr>
      </p:pic>
      <p:sp>
        <p:nvSpPr>
          <p:cNvPr id="3" name="Text 0"/>
          <p:cNvSpPr txBox="1"/>
          <p:nvPr/>
        </p:nvSpPr>
        <p:spPr>
          <a:xfrm>
            <a:off x="548640" y="2926080"/>
            <a:ext cx="11094415" cy="822960"/>
          </a:xfrm>
          <a:prstGeom prst="rect">
            <a:avLst/>
          </a:prstGeom>
          <a:noFill/>
          <a:ln/>
        </p:spPr>
        <p:txBody>
          <a:bodyPr wrap="square" lIns="0" tIns="0" rIns="0" bIns="0" rtlCol="0" anchor="ctr"/>
          <a:lstStyle/>
          <a:p>
            <a:pPr algn="ctr" indent="0" marL="0">
              <a:buNone/>
            </a:pPr>
            <a:r>
              <a:rPr lang="en-US" sz="3800" b="1" dirty="0">
                <a:solidFill>
                  <a:srgbClr val="FFFFFF"/>
                </a:solidFill>
                <a:latin typeface="Montserrat" pitchFamily="34" charset="0"/>
                <a:ea typeface="Montserrat" pitchFamily="34" charset="-122"/>
                <a:cs typeface="Montserrat" pitchFamily="34" charset="-120"/>
              </a:rPr>
              <a:t>Merci de votre participation</a:t>
            </a:r>
            <a:endParaRPr lang="en-US" sz="3800" dirty="0"/>
          </a:p>
        </p:txBody>
      </p:sp>
      <p:sp>
        <p:nvSpPr>
          <p:cNvPr id="4" name="Text 1"/>
          <p:cNvSpPr txBox="1"/>
          <p:nvPr/>
        </p:nvSpPr>
        <p:spPr>
          <a:xfrm>
            <a:off x="548640" y="3749040"/>
            <a:ext cx="11094415" cy="548640"/>
          </a:xfrm>
          <a:prstGeom prst="rect">
            <a:avLst/>
          </a:prstGeom>
          <a:noFill/>
          <a:ln/>
        </p:spPr>
        <p:txBody>
          <a:bodyPr wrap="square" lIns="0" tIns="0" rIns="0" bIns="0" rtlCol="0" anchor="ctr"/>
          <a:lstStyle/>
          <a:p>
            <a:pPr algn="ctr" indent="0" marL="0">
              <a:buNone/>
            </a:pPr>
            <a:r>
              <a:rPr lang="en-US" sz="1800" i="1" dirty="0">
                <a:solidFill>
                  <a:srgbClr val="F0EF96"/>
                </a:solidFill>
                <a:latin typeface="Arial" pitchFamily="34" charset="0"/>
                <a:ea typeface="Arial" pitchFamily="34" charset="-122"/>
                <a:cs typeface="Arial" pitchFamily="34" charset="-120"/>
              </a:rPr>
              <a:t>Prendre soin de son dos, c'est aussi montrer l'exemple.</a:t>
            </a:r>
            <a:endParaRPr lang="en-US" sz="1800" dirty="0"/>
          </a:p>
        </p:txBody>
      </p:sp>
      <p:sp>
        <p:nvSpPr>
          <p:cNvPr id="5" name="Text 2"/>
          <p:cNvSpPr txBox="1"/>
          <p:nvPr/>
        </p:nvSpPr>
        <p:spPr>
          <a:xfrm>
            <a:off x="1097280" y="4937760"/>
            <a:ext cx="9997135" cy="548640"/>
          </a:xfrm>
          <a:prstGeom prst="rect">
            <a:avLst/>
          </a:prstGeom>
          <a:noFill/>
          <a:ln/>
        </p:spPr>
        <p:txBody>
          <a:bodyPr wrap="square" lIns="0" tIns="0" rIns="0" bIns="0" rtlCol="0" anchor="ctr"/>
          <a:lstStyle/>
          <a:p>
            <a:pPr algn="ctr" indent="0" marL="0">
              <a:buNone/>
            </a:pPr>
            <a:r>
              <a:rPr lang="en-US" sz="1300" dirty="0">
                <a:solidFill>
                  <a:srgbClr val="DCDAEA"/>
                </a:solidFill>
                <a:latin typeface="Arial" pitchFamily="34" charset="0"/>
                <a:ea typeface="Arial" pitchFamily="34" charset="-122"/>
                <a:cs typeface="Arial" pitchFamily="34" charset="-120"/>
              </a:rPr>
              <a:t>Pour aller plus loin : inrs.fr (dossier TMS, travail sur écran) · votre centre de gestion · votre assistant de prévention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71</Slides>
  <Notes>71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71</vt:i4>
      </vt:variant>
    </vt:vector>
  </HeadingPairs>
  <TitlesOfParts>
    <vt:vector size="7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vector>
  </TitlesOfParts>
  <Company>ENMA Formation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Gestes et postures de l'élu</dc:title>
  <dc:subject>PptxGenJS Presentation</dc:subject>
  <dc:creator>ENMA Formation</dc:creator>
  <cp:lastModifiedBy>ENMA Formation</cp:lastModifiedBy>
  <cp:revision>1</cp:revision>
  <dcterms:created xsi:type="dcterms:W3CDTF">2026-09-23T10:56:42Z</dcterms:created>
  <dcterms:modified xsi:type="dcterms:W3CDTF">2026-09-23T10:56:42Z</dcterms:modified>
</cp:coreProperties>
</file>
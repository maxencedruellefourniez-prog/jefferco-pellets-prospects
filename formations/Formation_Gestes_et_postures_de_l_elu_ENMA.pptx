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032B"/>
                </a:solidFill>
                <a:latin typeface="Montserrat"/>
              </a:defRPr>
            </a:pPr>
            <a:r>
              <a:rPr sz="1300" b="0" i="0" u="none" strike="noStrike">
                <a:solidFill>
                  <a:srgbClr val="0A032B"/>
                </a:solidFill>
                <a:latin typeface="Montserrat"/>
              </a:rPr>
              <a:t>Pression sur le disque selon la posture (debout = 100)</a:t>
            </a:r>
          </a:p>
        </c:rich>
      </c:tx>
      <c:layout/>
      <c:overlay val="0"/>
    </c:title>
    <c:autoTitleDeleted val="0"/>
    <c:plotArea>
      <c:layout/>
      <c:barChart>
        <c:barDir val="bar"/>
        <c:grouping val="clustered"/>
        <c:varyColors val="0"/>
        <c:ser>
          <c:idx val="0"/>
          <c:order val="0"/>
          <c:tx>
            <c:strRef>
              <c:f>Sheet1!$B$1</c:f>
              <c:strCache>
                <c:ptCount val="1"/>
                <c:pt idx="0">
                  <c:v>Pression sur le disque L3 (base 100 = debout)</c:v>
                </c:pt>
              </c:strCache>
            </c:strRef>
          </c:tx>
          <c:spPr>
            <a:solidFill>
              <a:srgbClr val="0A032B"/>
            </a:solidFill>
            <a:effectLst/>
          </c:spPr>
          <c:invertIfNegative val="0"/>
          <c:dLbls>
            <c:numFmt formatCode="#,##0" sourceLinked="0"/>
            <c:txPr>
              <a:bodyPr/>
              <a:lstStyle/>
              <a:p>
                <a:pPr>
                  <a:defRPr b="0" i="0" strike="noStrike" sz="1100" u="none">
                    <a:solidFill>
                      <a:srgbClr val="0A032B"/>
                    </a:solidFill>
                    <a:latin typeface="Arial"/>
                  </a:defRPr>
                </a:pPr>
              </a:p>
            </c:txPr>
            <c:showLegendKey val="0"/>
            <c:showVal val="1"/>
            <c:showCatName val="0"/>
            <c:showSerName val="0"/>
            <c:showPercent val="0"/>
            <c:showBubbleSize val="0"/>
            <c:showLeaderLines val="0"/>
          </c:dLbls>
          <c:cat>
            <c:multiLvlStrRef>
              <c:f>Sheet1!$A$2:$A$8</c:f>
              <c:multiLvlStrCache>
                <c:ptCount val="7"/>
                <c:lvl>
                  <c:pt idx="0">
                    <c:v>Allongé sur le dos</c:v>
                  </c:pt>
                  <c:pt idx="1">
                    <c:v>Debout</c:v>
                  </c:pt>
                  <c:pt idx="2">
                    <c:v>Assis droit</c:v>
                  </c:pt>
                  <c:pt idx="3">
                    <c:v>Debout penché en avant</c:v>
                  </c:pt>
                  <c:pt idx="4">
                    <c:v>Assis penché en avant</c:v>
                  </c:pt>
                  <c:pt idx="5">
                    <c:v>Debout penché + charge</c:v>
                  </c:pt>
                  <c:pt idx="6">
                    <c:v>Assis penché + charge</c:v>
                  </c:pt>
                </c:lvl>
              </c:multiLvlStrCache>
            </c:multiLvlStrRef>
          </c:cat>
          <c:val>
            <c:numRef>
              <c:f>Sheet1!$B$2:$B$8</c:f>
              <c:numCache>
                <c:formatCode>General</c:formatCode>
                <c:ptCount val="7"/>
                <c:pt idx="0">
                  <c:v>25</c:v>
                </c:pt>
                <c:pt idx="1">
                  <c:v>100</c:v>
                </c:pt>
                <c:pt idx="2">
                  <c:v>140</c:v>
                </c:pt>
                <c:pt idx="3">
                  <c:v>150</c:v>
                </c:pt>
                <c:pt idx="4">
                  <c:v>185</c:v>
                </c:pt>
                <c:pt idx="5">
                  <c:v>220</c:v>
                </c:pt>
                <c:pt idx="6">
                  <c:v>275</c:v>
                </c:pt>
              </c:numCache>
            </c:numRef>
          </c:val>
        </c:ser>
        <c:dLbls>
          <c:numFmt formatCode="#,##0" sourceLinked="0"/>
          <c:txPr>
            <a:bodyPr/>
            <a:lstStyle/>
            <a:p>
              <a:pPr>
                <a:defRPr b="0" i="0" strike="noStrike" sz="1100" u="none">
                  <a:solidFill>
                    <a:srgbClr val="0A032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5305C"/>
                </a:solidFill>
                <a:latin typeface="Arial"/>
              </a:defRPr>
            </a:pPr>
            <a:endParaRPr lang="en-US"/>
          </a:p>
        </c:txPr>
        <c:crossAx val="2094734552"/>
        <c:crosses val="autoZero"/>
        <c:auto val="1"/>
        <c:lblAlgn val="ctr"/>
        <c:noMultiLvlLbl val="1"/>
      </c:catAx>
      <c:valAx>
        <c:axId val="2094734552"/>
        <c:scaling>
          <c:orientation val="minMax"/>
          <c:max val="3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d'accueil à afficher pendant l'arrivée des stagiaires. Vérifier au préalable : émargement, livrets stagiaires, charges d'exercice, aides à la manutention (diable, chariot, sangles), mobilier pour les ateliers de l'après-midi.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de présentation : 15 minutes. Méthodes interrogatives et participatives.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l'organisation pratique (horaires, pauses, sanitaires, issues de secours) et le plateau technique.
Insister sur la sécurité : demander discrètement si un stagiaire a une contre-indication médicale (problème de dos, grossesse, opération récente…). Les exercices pratiques sont adaptés, jamais imposés.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créer le climat de confiance et recenser les attentes. Classer les post-it au paperboard en 3 colonnes : « Mon dos / ma santé », « Les bons gestes », « La prévention dans la collectivité ». Garder le paperboard affiché toute la journée ; il sert au bilan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4 compétences visées. Faire le lien avec les attentes exprimées sur les post-it : montrer ce qui sera traité et à quel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fil de la journée en insistant sur l'alternance entre apports théoriques, échanges et mises en situation. Les durées sont indicatives et seront adaptées au groupe et aux situations de leur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cadre réglementaire sans entrer dans le détail juridique (il sera repris en séquence 4).
- L.4121-1 : obligation générale de sécurité de l'employeur.
- R.4541-1 et suivants : dispositions spécifiques à la manutention manuelle de charges (évitement, évaluation, aides mécaniques, information et formation).
- Décret 85-603 : applique ces règles à la fonction publique territoriale et désigne l'autorité territoriale comme responsable.
Question au groupe : « Selon vous, qui est responsable de la santé des agents dans votre collectivité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1 : 60 minutes. Méthodes expositives et participatives, questionnement. Supports : diaporama, documentation INRS sur les TMS, livret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Lancer la séquence par un questionnement : main levée sur la question du bas. Rebondir sur les réponses pour montrer que le mandat (réunions longues, déplacements, installations de salles, cérémonies) expose aussi le corps.
Vérifier les derniers chiffres sur inrs.fr et ameli.fr avant la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toucher sa propre colonne (nuque, bas du dos) pour repérer les courbures.
Message clé : la colonne est solide quand elle garde ses 3 courbures naturelles (position « rectitude »). Les lombaires supportent le plus de poids : c'est là que se concentrent la majorité des lombalgies.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disque fonctionne comme un amortisseur. Les mesures de pression intradiscale (travaux de Nachemson, valeurs relatives, debout = 100) montrent que :
- la position assise penchée sollicite plus le disque que la position debout ;
- porter une charge dos penché multiplie la pression.
Conséquence pratique : garder le dos droit, fléchir les jambes, rapprocher la charge. Ces principes seront travaillés en séquence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Élargir la vision : le mal de dos n'est qu'une partie des TMS. Faire citer au groupe des situations du mandat pour chaque zone (ex. : signer des parapheurs, cérémonies debout, visites de chantier).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 stade 1 : c'est le moment où l'on peut agir le plus facilement (pauses, changement de posture, aide technique). Beaucoup de personnes ignorent ce signal.
Faire le lien avec les agents : un agent qui se plaint d'une douleur au stade 1 doit être orienté (encadrement, assistant de prévention, médecine préventive), ce qui sera vu en séquence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4 facteurs biomécaniques du déroulé (port de charges, gestes répétitifs, postures contraignantes, station assise prolongée) puis les facteurs aggravants.
Message clé : le stress augmente la tension musculaire et diminue la récupération. C'est un facteur de risque de TMS, particulièrement présent dans le mandat.
Documentation : dossier INRS « Troubles musculosquelettiques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Exemples attendus : bureau de vote (urnes, isoloirs, tables), fête communale (tables, chaises, barnums), vœux et cérémonies (station debout prolongée), conseils municipaux (assis 3 h), permanences, trajets en voiture entre communes, portage de dossiers, visites de terrain.
Noter au paperboard les situations entourées par chaque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inspiré des questionnaires de type « nordique » utilisés en prévention des TMS. Il rend concrets les stades d'alerte vus précédemment.
La mise en commun reste anonyme : chaque stagiaire reporte ses gommettes sur la grande silhouette pendant la pause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de la séquence 1 : faire reformuler chaque point par un stagiaire différent avant de l'afficher.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de 15 minutes. Proposer aux stagiaires de reporter leurs gommettes sur la grande silhouette.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et évaluation collective : 15 minutes.
Réponses :
1. VRAI (assis penché ≈ 185, debout = 100).
2. FAUX : c'est le stade 1, le moment d'agir.
3. FAUX : le travail de bureau et la station assise prolongée en provoquent aussi.
4. VRAI : tension musculaire, moindre récupération.
5. VRAI.
6. FAUX : ce sont les plus sollicitées.
Pour chaque question, faire justifier la réponse par un stagiaire. Clarifier les points mal compris avant de passer à la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2 : 75 minutes. Méthode démonstrative et ateliers pratiques de manutention. Supports : charges d'exercice, grille d'observation, livret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étapes d'une manutention. L'étape 1 (observer) est la plus souvent oubliée : on soulève sans avoir évalué le poids ni dégagé le trajet.
Démonstration rapide : soulever un carton qui paraît léger mais qui est lourd (effet de surprise) pour montrer l'intérêt de tester la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chaque principe en le montrant physiquement devant le groupe.
Moyen mnémotechnique : « Pieds – Dos – Prise – Appui – Contrepoids », du bas vers le haut du corps puis vers la charge.
Faire répéter la position de base (pieds écartés, un pied en avant, dos droit, jambes fléchies) à tout le groupe, sans charge, 3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du bras de levier est illustratif (proportions indicatives) : l'effort demandé au dos augmente fortement quand la charge s'éloigne.
Démonstration : tenir une bouteille d'eau bras tendu pendant 30 secondes, puis contre soi. Les stagiaires ressentent immédiatement la différence.
Choix de la trajectoire : faire repérer dans la salle le meilleur trajet entre deux points pour porter un carton (portes, marches, obstacles).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démonstrative classique en 4 temps (faire, faire en expliquant, faire expliquer, faire faire). Elle prépare les ateliers en binôme.
Valoriser les réussites avant de corriger.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Circuler entre les binômes et corriger individuellement. Erreurs fréquentes : pieds joints, dos arrondi, torsion au moment de poser, charge tenue loin du corps.
Faire tourner les charges : chacun commence par la plus légère.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Grille à imprimer dans le livret stagiaire. Elle est réutilisée pour les ateliers de la séquence 5 et pour l'évaluation pratique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Situation très fréquente dans le mandat : tables, bancs, podiums, urnes. L'accident arrive souvent quand l'un pose alors que l'autre soulève encore. Le meneur donne le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les situations entourées lors de l'exercice « Le mandat à la loupe » : installation de salle, bureau de vote, fête communale.
Débriefing collectif en 5 minutes : qu'est-ce qui a changé quand la communication était claire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citer les 5 principes de mémoire par le groupe avant d'afficher la synthèse.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déjeuner. Travail intersession suggéré : relecture individuelle du livret et des principes de sécurité physique.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3 : 85 minutes. Méthodes expositives, échanges et discussions, manipulations. Supports : aides à la manutention, fiches d'aménagement de poste, exercices d'étirement.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Échauffement court après le déjeuner : il remobilise le groupe et illustre l'intérêt de préparer le corps avant un effort (installation de salle, manutention).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hiérarchie des mesures découle des principes généraux de prévention : on supprime ou réduit d'abord le risque à la source, la formation vient en complément.
Question aux élus : quelles aides existent dans votre collectivité ? Sont-elles utilisées ? Accessibles ? Rangées près des lieux d'usage ?
C'est un levier budgétaire direct de l'élu : l'achat d'aides à la manutention.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formateur démontre chaque aide en 1 minute avant la rotation. Observer que le dos reste droit aussi avec les aides (erreur fréquente : se pencher pour pousser un chariot trop 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réglages en s'appuyant sur les fiches d'aménagement de poste (livret). Ces réglages seront appliqués dans l'atelier suivant.
Pour aller plus loin : brochure INRS « Le travail sur écran en 50 questions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Échanges : demander aux élus quel lieu du mandat leur pose le plus de difficulté et construire les réponses avec eux.
Message clé : l'élu est souvent tenté de « donner un coup de main » lors des événements. Le faire en sécurité, c'est aussi montrer l'exemple aux agents et aux bénévoles.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20-20-20 est une recommandation courante de prévention de la fatigue visuelle. Les repères de durée sont des ordres de grandeur, pas des normes réglementaires.
Piste pour la collectivité : proposer une suspension de séance lors des conseils municipaux 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le matériel est limité, utiliser des ramettes de papier comme réhausseur d'écran et un classeur comme repose-pieds : cela montre que des solutions simples et peu coûteuses existent.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formateur réalise chaque étirement face au groupe, les stagiaires reproduisent. Laisser chacun adapter l'amplitude.
Remettre la fiche d'étirements du livret : proposer de la reproduire lors des suspensions de séance ou avant une installation de salle.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Travail intersession (prévu au déroulé) : relecture individuelle des supports de cours et des principes de sécurité physique.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4 : 75 minutes. Méthodes interrogatives et participatives. Apprentissage par l'étude de cas et le repérage des acteurs. Supports : études de cas, fiches acteurs, grille d'orientation.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par une question : « Selon vous, quelles sont les obligations de votre collectivité envers ses agents ? » Noter au paperboard, puis compléter avec la diapositive.
Références : décret n° 85-603 du 10 juin 1985 ; articles L.4121-1 et suivants du Code du travail (principes généraux de prévention). Pour la responsabilité pénale : article 121-3 du Code pénal (délits non intentionnels).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 « Qui a déjà vu le document unique de sa collectivité ? » C'est souvent l'occasion de découvrir qu'il n'est pas à jour.
Rôle de l'élu : demander sa présentation, s'assurer de sa mise à jour, arbitrer le budget des actions de prévention.
Vérifier la périodicité de mise à jour applicable selon l'effectif de la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chaque acteur à partir des fiches acteurs du livret :
- Assistant / conseiller de prévention : obligatoire, il assiste et conseille l'autorité territoriale.
- Service de médecine préventive : suivi médical des agents, propositions d'aménagement de postes.
- ACFI (agent chargé de la fonction d'inspection) : contrôle l'application des règles, souvent mis à disposition par le centre de gestion.
- F3SCT (formation spécialisée en santé, sécurité et conditions de travail) du Comité social territorial : consultée sur les questions de santé-sécurité (selon l'effectif, sinon le CST).
- Centre de gestion : appui technique, conventions, expertise.
- Encadrement et agents : acteurs au quotidien, signalements via le registre santé-sécurité.
Demander aux élus s'ils connaissent le nom de leur assistant de prévention.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Échanges : « Dans votre collectivité, qu'est-ce qui vous empêche aujourd'hui de jouer ce rôle ? » Noter les freins (budget, temps, méconnaissance, habitudes) : ils seront repris dans le plan d'action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Éléments attendus :
- Facteurs : charges nombreuses et répétées, délai serré, absence d'aides, pas de préparation, élus qui « aident » sans méthode.
- Mesures : chariots à chaises, diables, tables légères, livraison au plus près, renforts, étalement dans le temps, échauffement, manutention à deux.
- Suite : déclaration d'accident de service, analyse de l'accident avec l'assistant de prévention, mise à jour du document unique, information de la F3SCT.
- Rôle de l'élu : exemplarité, arbitrage budgétaire, planification.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Éléments attendus :
- Stade 2 à 3 (douleurs persistantes, arrêt).
- Facteurs : gestes répétitifs, charges, postures bras levés, cadence liée aux horaires de service.
- Actions : visite du service de médecine préventive, étude de poste, chariots à bacs, tables et chaises plus légères, organisation des rotations, formation gestes et postures des agents.
- Rôle de l'élu : prendre au sérieux le signalement, demander l'inscription au document unique et au programme de prévention, suivre la mise en œuvre.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1. Encadrement, puis service de médecine préventive (et assistant de prévention).
2. Assistant / conseiller de prévention, avec les agents et l'encadrement.
3. Consultation de la F3SCT ou du Comité social territorial.
4. ACFI (souvent via le centre de gestion).
5. Centre de gestion (service prévention).
6. Autorité territoriale immédiatement ; inscription au registre spécial de danger grave et imminent ; information de la F3SCT. L'agent peut exercer son droit de retrait.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les freins notés au paperboard : quelles premières réponses le groupe peut-il y apporter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courte. Pendant ce temps, installer les 3 ateliers de la séquence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Séquence 5 : 70 minutes. Méthodes interrogatives et participatives, ateliers pratiques encadrés. Supports : charges et mobilier, aides à la manutention, grille d'évaluation pratique.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Adapter les ateliers aux situations entourées lors de l'exercice « Le mandat à la loupe » en séquence 1.
Organisation : 3 groupes, rotation toutes les 15 minutes. Dans chaque groupe, un observateur tournant remplit la grille d'évaluation pratique pour un camarade.
Le formateur circule entre les ateliers et évalue chaque stagiaire au moins 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grille d'évaluation pratique reprend les critères de la grille d'observation (séquence 2) complétés par : choix de l'aide technique, organisation du travail, communication en binôme.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Animer le débriefing à partir des 3 questions, puis laisser 5 minutes pour que chacun rédige ses 3 engagements dans le livret. Inviter quelques volontaires à les partager.
Noter au paperboard les pistes d'amélioration pour la collectivité.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Distribuer le QCM papier (15 questions, 20 minutes). Ramasser les copies avant la correction collective des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collective : la bonne réponse est surlignée en jaune. Pour chaque question, faire expliquer la bonne réponse par un stagiaire avant de l'afficher, en renvoyant à la séquence concernée.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collective : la bonne réponse est surlignée en jaune. Pour chaque question, faire expliquer la bonne réponse par un stagiaire avant de l'afficher, en renvoyant à la séquence concernée.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collective : la bonne réponse est surlignée en jaune. Pour chaque question, faire expliquer la bonne réponse par un stagiaire avant de l'afficher, en renvoyant à la séquence concernée.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20 minutes. Évaluation théorique (QCM) et pratique des gestes et postures, échanges. Supports : QCM, diaporama, feuilles d'évaluation de l'organisme.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Débriefing final sur le vécu et l'après-formation. Reprendre le paperboard des attentes et cocher celles qui ont été traitées. Pour les attentes non couvertes, indiquer des ressources (INRS, centre de gestion, assistant de prévention).
Faire remplir la feuille d'évaluation de l'organisme avant la remise des attestations.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de la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1.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1.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image" Target="../media/image-39-7.png"/><Relationship Id="rId8" Type="http://schemas.openxmlformats.org/officeDocument/2006/relationships/slideLayout" Target="../slideLayouts/slideLayout1.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slideLayout" Target="../slideLayouts/slideLayout1.xml"/><Relationship Id="rId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slideLayout" Target="../slideLayouts/slideLayout1.xml"/><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slideLayout" Target="../slideLayouts/slideLayout1.xml"/><Relationship Id="rId9"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image" Target="../media/image-45-6.png"/><Relationship Id="rId7" Type="http://schemas.openxmlformats.org/officeDocument/2006/relationships/image" Target="../media/image-45-7.png"/><Relationship Id="rId8" Type="http://schemas.openxmlformats.org/officeDocument/2006/relationships/slideLayout" Target="../slideLayouts/slideLayout1.xml"/><Relationship Id="rId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image" Target="../media/image-49-7.png"/><Relationship Id="rId8" Type="http://schemas.openxmlformats.org/officeDocument/2006/relationships/slideLayout" Target="../slideLayouts/slideLayout1.xml"/><Relationship Id="rId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slideLayout" Target="../slideLayouts/slideLayout1.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32B"/>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3992728" y="731520"/>
            <a:ext cx="4206240" cy="1745551"/>
          </a:xfrm>
          <a:prstGeom prst="rect">
            <a:avLst/>
          </a:prstGeom>
        </p:spPr>
      </p:pic>
      <p:sp>
        <p:nvSpPr>
          <p:cNvPr id="3" name="Text 0"/>
          <p:cNvSpPr txBox="1"/>
          <p:nvPr/>
        </p:nvSpPr>
        <p:spPr>
          <a:xfrm>
            <a:off x="548640" y="2788920"/>
            <a:ext cx="11094415"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Montserrat" pitchFamily="34" charset="0"/>
                <a:ea typeface="Montserrat" pitchFamily="34" charset="-122"/>
                <a:cs typeface="Montserrat" pitchFamily="34" charset="-120"/>
              </a:rPr>
              <a:t>GESTES ET POSTURES DE L'ÉLU</a:t>
            </a:r>
            <a:endParaRPr lang="en-US" sz="4000" dirty="0"/>
          </a:p>
        </p:txBody>
      </p:sp>
      <p:sp>
        <p:nvSpPr>
          <p:cNvPr id="4" name="Text 1"/>
          <p:cNvSpPr txBox="1"/>
          <p:nvPr/>
        </p:nvSpPr>
        <p:spPr>
          <a:xfrm>
            <a:off x="1371600" y="3611880"/>
            <a:ext cx="9448495" cy="731520"/>
          </a:xfrm>
          <a:prstGeom prst="rect">
            <a:avLst/>
          </a:prstGeom>
          <a:noFill/>
          <a:ln/>
        </p:spPr>
        <p:txBody>
          <a:bodyPr wrap="square" lIns="0" tIns="0" rIns="0" bIns="0" rtlCol="0" anchor="ctr"/>
          <a:lstStyle/>
          <a:p>
            <a:pPr algn="ctr" indent="0" marL="0">
              <a:buNone/>
            </a:pPr>
            <a:r>
              <a:rPr lang="en-US" sz="1800" dirty="0">
                <a:solidFill>
                  <a:srgbClr val="DCDAEA"/>
                </a:solidFill>
                <a:latin typeface="Arial" pitchFamily="34" charset="0"/>
                <a:ea typeface="Arial" pitchFamily="34" charset="-122"/>
                <a:cs typeface="Arial" pitchFamily="34" charset="-120"/>
              </a:rPr>
              <a:t>Préserver sa santé dans l'exercice du mandat et porter la prévention dans sa collectivité</a:t>
            </a:r>
            <a:endParaRPr lang="en-US" sz="1800" dirty="0"/>
          </a:p>
        </p:txBody>
      </p:sp>
      <p:sp>
        <p:nvSpPr>
          <p:cNvPr id="5" name="Shape 2"/>
          <p:cNvSpPr/>
          <p:nvPr/>
        </p:nvSpPr>
        <p:spPr>
          <a:xfrm>
            <a:off x="1432408" y="4754880"/>
            <a:ext cx="2926080" cy="457200"/>
          </a:xfrm>
          <a:prstGeom prst="roundRect">
            <a:avLst>
              <a:gd name="adj" fmla="val 50000"/>
            </a:avLst>
          </a:prstGeom>
          <a:solidFill>
            <a:srgbClr val="F0EF96"/>
          </a:solidFill>
          <a:ln w="12700">
            <a:solidFill>
              <a:srgbClr val="F0EF96"/>
            </a:solidFill>
            <a:prstDash val="solid"/>
          </a:ln>
        </p:spPr>
      </p:sp>
      <p:sp>
        <p:nvSpPr>
          <p:cNvPr id="6" name="Text 3"/>
          <p:cNvSpPr txBox="1"/>
          <p:nvPr/>
        </p:nvSpPr>
        <p:spPr>
          <a:xfrm>
            <a:off x="1432408" y="4754880"/>
            <a:ext cx="292608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1 journée · 7 heures</a:t>
            </a:r>
            <a:endParaRPr lang="en-US" sz="1300" dirty="0"/>
          </a:p>
        </p:txBody>
      </p:sp>
      <p:sp>
        <p:nvSpPr>
          <p:cNvPr id="7" name="Shape 4"/>
          <p:cNvSpPr/>
          <p:nvPr/>
        </p:nvSpPr>
        <p:spPr>
          <a:xfrm>
            <a:off x="4632808" y="4754880"/>
            <a:ext cx="2926080" cy="457200"/>
          </a:xfrm>
          <a:prstGeom prst="roundRect">
            <a:avLst>
              <a:gd name="adj" fmla="val 50000"/>
            </a:avLst>
          </a:prstGeom>
          <a:solidFill>
            <a:srgbClr val="F0EF96"/>
          </a:solidFill>
          <a:ln w="12700">
            <a:solidFill>
              <a:srgbClr val="F0EF96"/>
            </a:solidFill>
            <a:prstDash val="solid"/>
          </a:ln>
        </p:spPr>
      </p:sp>
      <p:sp>
        <p:nvSpPr>
          <p:cNvPr id="8" name="Text 5"/>
          <p:cNvSpPr txBox="1"/>
          <p:nvPr/>
        </p:nvSpPr>
        <p:spPr>
          <a:xfrm>
            <a:off x="4632808" y="4754880"/>
            <a:ext cx="292608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Théorie &amp; mises en situation</a:t>
            </a:r>
            <a:endParaRPr lang="en-US" sz="1300" dirty="0"/>
          </a:p>
        </p:txBody>
      </p:sp>
      <p:sp>
        <p:nvSpPr>
          <p:cNvPr id="9" name="Shape 6"/>
          <p:cNvSpPr/>
          <p:nvPr/>
        </p:nvSpPr>
        <p:spPr>
          <a:xfrm>
            <a:off x="7833208" y="4754880"/>
            <a:ext cx="2926080" cy="457200"/>
          </a:xfrm>
          <a:prstGeom prst="roundRect">
            <a:avLst>
              <a:gd name="adj" fmla="val 50000"/>
            </a:avLst>
          </a:prstGeom>
          <a:solidFill>
            <a:srgbClr val="F0EF96"/>
          </a:solidFill>
          <a:ln w="12700">
            <a:solidFill>
              <a:srgbClr val="F0EF96"/>
            </a:solidFill>
            <a:prstDash val="solid"/>
          </a:ln>
        </p:spPr>
      </p:sp>
      <p:sp>
        <p:nvSpPr>
          <p:cNvPr id="10" name="Text 7"/>
          <p:cNvSpPr txBox="1"/>
          <p:nvPr/>
        </p:nvSpPr>
        <p:spPr>
          <a:xfrm>
            <a:off x="7833208" y="4754880"/>
            <a:ext cx="292608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4 compétences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00</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OUVERTURE</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Présentation du formateur, des stagiaires et de la formation</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Créer un climat de confiance, recenser les attentes et présenter le cadre de la journée.</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15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Organisation de la journée</a:t>
            </a:r>
            <a:endParaRPr lang="en-US" sz="2800" dirty="0"/>
          </a:p>
        </p:txBody>
      </p:sp>
      <p:sp>
        <p:nvSpPr>
          <p:cNvPr id="3" name="Shape 1"/>
          <p:cNvSpPr/>
          <p:nvPr/>
        </p:nvSpPr>
        <p:spPr>
          <a:xfrm>
            <a:off x="10042855" y="530352"/>
            <a:ext cx="1600200" cy="347472"/>
          </a:xfrm>
          <a:prstGeom prst="roundRect">
            <a:avLst>
              <a:gd name="adj" fmla="val 50000"/>
            </a:avLst>
          </a:prstGeom>
          <a:solidFill>
            <a:srgbClr val="DCDAEA"/>
          </a:solidFill>
          <a:ln w="12700">
            <a:solidFill>
              <a:srgbClr val="DCDAEA"/>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Ouverture</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17320"/>
            <a:ext cx="3515258" cy="2171700"/>
          </a:xfrm>
          <a:prstGeom prst="roundRect">
            <a:avLst>
              <a:gd name="adj" fmla="val 3368"/>
            </a:avLst>
          </a:prstGeom>
          <a:solidFill>
            <a:srgbClr val="EEEDF5"/>
          </a:solidFill>
          <a:ln w="12700">
            <a:solidFill>
              <a:srgbClr val="EEEDF5"/>
            </a:solidFill>
            <a:prstDash val="solid"/>
          </a:ln>
        </p:spPr>
      </p:sp>
      <p:sp>
        <p:nvSpPr>
          <p:cNvPr id="8" name="Shape 5"/>
          <p:cNvSpPr/>
          <p:nvPr/>
        </p:nvSpPr>
        <p:spPr>
          <a:xfrm>
            <a:off x="777240" y="1645920"/>
            <a:ext cx="548640" cy="54864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914400" y="1783080"/>
            <a:ext cx="274320" cy="274320"/>
          </a:xfrm>
          <a:prstGeom prst="rect">
            <a:avLst/>
          </a:prstGeom>
        </p:spPr>
      </p:pic>
      <p:sp>
        <p:nvSpPr>
          <p:cNvPr id="10" name="Text 6"/>
          <p:cNvSpPr txBox="1"/>
          <p:nvPr/>
        </p:nvSpPr>
        <p:spPr>
          <a:xfrm>
            <a:off x="1508760"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Horaires</a:t>
            </a:r>
            <a:endParaRPr lang="en-US" sz="1500" dirty="0"/>
          </a:p>
        </p:txBody>
      </p:sp>
      <p:sp>
        <p:nvSpPr>
          <p:cNvPr id="11" name="Text 7"/>
          <p:cNvSpPr txBox="1"/>
          <p:nvPr/>
        </p:nvSpPr>
        <p:spPr>
          <a:xfrm>
            <a:off x="777240"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7 heures de face-à-face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Une pause le matin, une l'après-midi</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Pause déjeuner d'une heure</a:t>
            </a:r>
            <a:endParaRPr lang="en-US" sz="1250" dirty="0"/>
          </a:p>
        </p:txBody>
      </p:sp>
      <p:sp>
        <p:nvSpPr>
          <p:cNvPr id="12" name="Shape 8"/>
          <p:cNvSpPr/>
          <p:nvPr/>
        </p:nvSpPr>
        <p:spPr>
          <a:xfrm>
            <a:off x="4338218" y="1417320"/>
            <a:ext cx="3515258" cy="2171700"/>
          </a:xfrm>
          <a:prstGeom prst="roundRect">
            <a:avLst>
              <a:gd name="adj" fmla="val 3368"/>
            </a:avLst>
          </a:prstGeom>
          <a:solidFill>
            <a:srgbClr val="EEEDF5"/>
          </a:solidFill>
          <a:ln w="12700">
            <a:solidFill>
              <a:srgbClr val="EEEDF5"/>
            </a:solidFill>
            <a:prstDash val="solid"/>
          </a:ln>
        </p:spPr>
      </p:sp>
      <p:sp>
        <p:nvSpPr>
          <p:cNvPr id="13" name="Shape 9"/>
          <p:cNvSpPr/>
          <p:nvPr/>
        </p:nvSpPr>
        <p:spPr>
          <a:xfrm>
            <a:off x="4566818" y="1645920"/>
            <a:ext cx="548640" cy="54864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4703978" y="1783080"/>
            <a:ext cx="274320" cy="274320"/>
          </a:xfrm>
          <a:prstGeom prst="rect">
            <a:avLst/>
          </a:prstGeom>
        </p:spPr>
      </p:pic>
      <p:sp>
        <p:nvSpPr>
          <p:cNvPr id="15" name="Text 10"/>
          <p:cNvSpPr txBox="1"/>
          <p:nvPr/>
        </p:nvSpPr>
        <p:spPr>
          <a:xfrm>
            <a:off x="5298338"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Plateau technique</a:t>
            </a:r>
            <a:endParaRPr lang="en-US" sz="1500" dirty="0"/>
          </a:p>
        </p:txBody>
      </p:sp>
      <p:sp>
        <p:nvSpPr>
          <p:cNvPr id="16" name="Text 11"/>
          <p:cNvSpPr txBox="1"/>
          <p:nvPr/>
        </p:nvSpPr>
        <p:spPr>
          <a:xfrm>
            <a:off x="4566818"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Charges d'exercice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Aides à la manutention</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Mobilier pour les ateliers</a:t>
            </a:r>
            <a:endParaRPr lang="en-US" sz="1250" dirty="0"/>
          </a:p>
        </p:txBody>
      </p:sp>
      <p:sp>
        <p:nvSpPr>
          <p:cNvPr id="17" name="Shape 12"/>
          <p:cNvSpPr/>
          <p:nvPr/>
        </p:nvSpPr>
        <p:spPr>
          <a:xfrm>
            <a:off x="8127797" y="1417320"/>
            <a:ext cx="3515258" cy="2171700"/>
          </a:xfrm>
          <a:prstGeom prst="roundRect">
            <a:avLst>
              <a:gd name="adj" fmla="val 3368"/>
            </a:avLst>
          </a:prstGeom>
          <a:solidFill>
            <a:srgbClr val="EEEDF5"/>
          </a:solidFill>
          <a:ln w="12700">
            <a:solidFill>
              <a:srgbClr val="EEEDF5"/>
            </a:solidFill>
            <a:prstDash val="solid"/>
          </a:ln>
        </p:spPr>
      </p:sp>
      <p:sp>
        <p:nvSpPr>
          <p:cNvPr id="18" name="Shape 13"/>
          <p:cNvSpPr/>
          <p:nvPr/>
        </p:nvSpPr>
        <p:spPr>
          <a:xfrm>
            <a:off x="8356397" y="1645920"/>
            <a:ext cx="548640" cy="548640"/>
          </a:xfrm>
          <a:prstGeom prst="ellipse">
            <a:avLst/>
          </a:prstGeom>
          <a:solidFill>
            <a:srgbClr val="0A032B"/>
          </a:solidFill>
          <a:ln w="12700">
            <a:solidFill>
              <a:srgbClr val="0A032B"/>
            </a:solidFill>
            <a:prstDash val="solid"/>
          </a:ln>
        </p:spPr>
      </p:sp>
      <p:pic>
        <p:nvPicPr>
          <p:cNvPr id="19" name="Image 3" descr="preencoded.png">    </p:cNvPr>
          <p:cNvPicPr>
            <a:picLocks noChangeAspect="1"/>
          </p:cNvPicPr>
          <p:nvPr/>
        </p:nvPicPr>
        <p:blipFill>
          <a:blip r:embed="rId4"/>
          <a:stretch>
            <a:fillRect/>
          </a:stretch>
        </p:blipFill>
        <p:spPr>
          <a:xfrm>
            <a:off x="8493557" y="1783080"/>
            <a:ext cx="274320" cy="274320"/>
          </a:xfrm>
          <a:prstGeom prst="rect">
            <a:avLst/>
          </a:prstGeom>
        </p:spPr>
      </p:pic>
      <p:sp>
        <p:nvSpPr>
          <p:cNvPr id="20" name="Text 14"/>
          <p:cNvSpPr txBox="1"/>
          <p:nvPr/>
        </p:nvSpPr>
        <p:spPr>
          <a:xfrm>
            <a:off x="9087917"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Supports</a:t>
            </a:r>
            <a:endParaRPr lang="en-US" sz="1500" dirty="0"/>
          </a:p>
        </p:txBody>
      </p:sp>
      <p:sp>
        <p:nvSpPr>
          <p:cNvPr id="21" name="Text 15"/>
          <p:cNvSpPr txBox="1"/>
          <p:nvPr/>
        </p:nvSpPr>
        <p:spPr>
          <a:xfrm>
            <a:off x="8356397"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Diaporama</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Livret stagiaire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Grilles d'observation et d'évaluation</a:t>
            </a:r>
            <a:endParaRPr lang="en-US" sz="1250" dirty="0"/>
          </a:p>
        </p:txBody>
      </p:sp>
      <p:sp>
        <p:nvSpPr>
          <p:cNvPr id="22" name="Shape 16"/>
          <p:cNvSpPr/>
          <p:nvPr/>
        </p:nvSpPr>
        <p:spPr>
          <a:xfrm>
            <a:off x="548640" y="3863340"/>
            <a:ext cx="3515258" cy="2171700"/>
          </a:xfrm>
          <a:prstGeom prst="roundRect">
            <a:avLst>
              <a:gd name="adj" fmla="val 3368"/>
            </a:avLst>
          </a:prstGeom>
          <a:solidFill>
            <a:srgbClr val="EEEDF5"/>
          </a:solidFill>
          <a:ln w="12700">
            <a:solidFill>
              <a:srgbClr val="EEEDF5"/>
            </a:solidFill>
            <a:prstDash val="solid"/>
          </a:ln>
        </p:spPr>
      </p:sp>
      <p:sp>
        <p:nvSpPr>
          <p:cNvPr id="23" name="Shape 17"/>
          <p:cNvSpPr/>
          <p:nvPr/>
        </p:nvSpPr>
        <p:spPr>
          <a:xfrm>
            <a:off x="777240" y="4091940"/>
            <a:ext cx="548640" cy="548640"/>
          </a:xfrm>
          <a:prstGeom prst="ellipse">
            <a:avLst/>
          </a:prstGeom>
          <a:solidFill>
            <a:srgbClr val="0A032B"/>
          </a:solidFill>
          <a:ln w="12700">
            <a:solidFill>
              <a:srgbClr val="0A032B"/>
            </a:solidFill>
            <a:prstDash val="solid"/>
          </a:ln>
        </p:spPr>
      </p:sp>
      <p:pic>
        <p:nvPicPr>
          <p:cNvPr id="24" name="Image 4" descr="preencoded.png">    </p:cNvPr>
          <p:cNvPicPr>
            <a:picLocks noChangeAspect="1"/>
          </p:cNvPicPr>
          <p:nvPr/>
        </p:nvPicPr>
        <p:blipFill>
          <a:blip r:embed="rId5"/>
          <a:stretch>
            <a:fillRect/>
          </a:stretch>
        </p:blipFill>
        <p:spPr>
          <a:xfrm>
            <a:off x="914400" y="4229100"/>
            <a:ext cx="274320" cy="274320"/>
          </a:xfrm>
          <a:prstGeom prst="rect">
            <a:avLst/>
          </a:prstGeom>
        </p:spPr>
      </p:pic>
      <p:sp>
        <p:nvSpPr>
          <p:cNvPr id="25" name="Text 18"/>
          <p:cNvSpPr txBox="1"/>
          <p:nvPr/>
        </p:nvSpPr>
        <p:spPr>
          <a:xfrm>
            <a:off x="1508760"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Règles du groupe</a:t>
            </a:r>
            <a:endParaRPr lang="en-US" sz="1500" dirty="0"/>
          </a:p>
        </p:txBody>
      </p:sp>
      <p:sp>
        <p:nvSpPr>
          <p:cNvPr id="26" name="Text 19"/>
          <p:cNvSpPr txBox="1"/>
          <p:nvPr/>
        </p:nvSpPr>
        <p:spPr>
          <a:xfrm>
            <a:off x="777240"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Bienveillance et écoute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Téléphones en silencieux</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Chacun participe à son rythme</a:t>
            </a:r>
            <a:endParaRPr lang="en-US" sz="1250" dirty="0"/>
          </a:p>
        </p:txBody>
      </p:sp>
      <p:sp>
        <p:nvSpPr>
          <p:cNvPr id="27" name="Shape 20"/>
          <p:cNvSpPr/>
          <p:nvPr/>
        </p:nvSpPr>
        <p:spPr>
          <a:xfrm>
            <a:off x="4338218" y="3863340"/>
            <a:ext cx="3515258" cy="2171700"/>
          </a:xfrm>
          <a:prstGeom prst="roundRect">
            <a:avLst>
              <a:gd name="adj" fmla="val 3368"/>
            </a:avLst>
          </a:prstGeom>
          <a:solidFill>
            <a:srgbClr val="EEEDF5"/>
          </a:solidFill>
          <a:ln w="12700">
            <a:solidFill>
              <a:srgbClr val="EEEDF5"/>
            </a:solidFill>
            <a:prstDash val="solid"/>
          </a:ln>
        </p:spPr>
      </p:sp>
      <p:sp>
        <p:nvSpPr>
          <p:cNvPr id="28" name="Shape 21"/>
          <p:cNvSpPr/>
          <p:nvPr/>
        </p:nvSpPr>
        <p:spPr>
          <a:xfrm>
            <a:off x="4566818" y="4091940"/>
            <a:ext cx="548640" cy="548640"/>
          </a:xfrm>
          <a:prstGeom prst="ellipse">
            <a:avLst/>
          </a:prstGeom>
          <a:solidFill>
            <a:srgbClr val="0A032B"/>
          </a:solidFill>
          <a:ln w="12700">
            <a:solidFill>
              <a:srgbClr val="0A032B"/>
            </a:solidFill>
            <a:prstDash val="solid"/>
          </a:ln>
        </p:spPr>
      </p:sp>
      <p:pic>
        <p:nvPicPr>
          <p:cNvPr id="29" name="Image 5" descr="preencoded.png">    </p:cNvPr>
          <p:cNvPicPr>
            <a:picLocks noChangeAspect="1"/>
          </p:cNvPicPr>
          <p:nvPr/>
        </p:nvPicPr>
        <p:blipFill>
          <a:blip r:embed="rId6"/>
          <a:stretch>
            <a:fillRect/>
          </a:stretch>
        </p:blipFill>
        <p:spPr>
          <a:xfrm>
            <a:off x="4703978" y="4229100"/>
            <a:ext cx="274320" cy="274320"/>
          </a:xfrm>
          <a:prstGeom prst="rect">
            <a:avLst/>
          </a:prstGeom>
        </p:spPr>
      </p:pic>
      <p:sp>
        <p:nvSpPr>
          <p:cNvPr id="30" name="Text 22"/>
          <p:cNvSpPr txBox="1"/>
          <p:nvPr/>
        </p:nvSpPr>
        <p:spPr>
          <a:xfrm>
            <a:off x="5298338"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Tenue &amp; sécurité</a:t>
            </a:r>
            <a:endParaRPr lang="en-US" sz="1500" dirty="0"/>
          </a:p>
        </p:txBody>
      </p:sp>
      <p:sp>
        <p:nvSpPr>
          <p:cNvPr id="31" name="Text 23"/>
          <p:cNvSpPr txBox="1"/>
          <p:nvPr/>
        </p:nvSpPr>
        <p:spPr>
          <a:xfrm>
            <a:off x="4566818"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Chaussures stables et fermées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Signaler toute douleur ou contre-indication</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Aucun exercice n'est forcé</a:t>
            </a:r>
            <a:endParaRPr lang="en-US" sz="1250" dirty="0"/>
          </a:p>
        </p:txBody>
      </p:sp>
      <p:sp>
        <p:nvSpPr>
          <p:cNvPr id="32" name="Shape 24"/>
          <p:cNvSpPr/>
          <p:nvPr/>
        </p:nvSpPr>
        <p:spPr>
          <a:xfrm>
            <a:off x="8127797" y="3863340"/>
            <a:ext cx="3515258" cy="2171700"/>
          </a:xfrm>
          <a:prstGeom prst="roundRect">
            <a:avLst>
              <a:gd name="adj" fmla="val 3368"/>
            </a:avLst>
          </a:prstGeom>
          <a:solidFill>
            <a:srgbClr val="EEEDF5"/>
          </a:solidFill>
          <a:ln w="12700">
            <a:solidFill>
              <a:srgbClr val="EEEDF5"/>
            </a:solidFill>
            <a:prstDash val="solid"/>
          </a:ln>
        </p:spPr>
      </p:sp>
      <p:sp>
        <p:nvSpPr>
          <p:cNvPr id="33" name="Shape 25"/>
          <p:cNvSpPr/>
          <p:nvPr/>
        </p:nvSpPr>
        <p:spPr>
          <a:xfrm>
            <a:off x="8356397" y="4091940"/>
            <a:ext cx="548640" cy="548640"/>
          </a:xfrm>
          <a:prstGeom prst="ellipse">
            <a:avLst/>
          </a:prstGeom>
          <a:solidFill>
            <a:srgbClr val="0A032B"/>
          </a:solidFill>
          <a:ln w="12700">
            <a:solidFill>
              <a:srgbClr val="0A032B"/>
            </a:solidFill>
            <a:prstDash val="solid"/>
          </a:ln>
        </p:spPr>
      </p:sp>
      <p:pic>
        <p:nvPicPr>
          <p:cNvPr id="34" name="Image 6" descr="preencoded.png">    </p:cNvPr>
          <p:cNvPicPr>
            <a:picLocks noChangeAspect="1"/>
          </p:cNvPicPr>
          <p:nvPr/>
        </p:nvPicPr>
        <p:blipFill>
          <a:blip r:embed="rId7"/>
          <a:stretch>
            <a:fillRect/>
          </a:stretch>
        </p:blipFill>
        <p:spPr>
          <a:xfrm>
            <a:off x="8493557" y="4229100"/>
            <a:ext cx="274320" cy="274320"/>
          </a:xfrm>
          <a:prstGeom prst="rect">
            <a:avLst/>
          </a:prstGeom>
        </p:spPr>
      </p:pic>
      <p:sp>
        <p:nvSpPr>
          <p:cNvPr id="35" name="Text 26"/>
          <p:cNvSpPr txBox="1"/>
          <p:nvPr/>
        </p:nvSpPr>
        <p:spPr>
          <a:xfrm>
            <a:off x="9087917"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Pédagogie</a:t>
            </a:r>
            <a:endParaRPr lang="en-US" sz="1500" dirty="0"/>
          </a:p>
        </p:txBody>
      </p:sp>
      <p:sp>
        <p:nvSpPr>
          <p:cNvPr id="36" name="Text 27"/>
          <p:cNvSpPr txBox="1"/>
          <p:nvPr/>
        </p:nvSpPr>
        <p:spPr>
          <a:xfrm>
            <a:off x="8356397"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Alternance théorie / pratique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Mises en situation issues du mandat</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Évaluation théorique et pratique</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BRISE-GLACE</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Tour de table : « Mon mandat en mouvement »</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10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Individuel, en grand groupe</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Post-it, paperboard</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Je me présente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Prénom, collectivité, fonction ou délégation dans le mandat.</a:t>
            </a:r>
            <a:endParaRPr lang="en-US" sz="1500" dirty="0"/>
          </a:p>
        </p:txBody>
      </p:sp>
      <p:sp>
        <p:nvSpPr>
          <p:cNvPr id="20" name="Shape 15"/>
          <p:cNvSpPr/>
          <p:nvPr/>
        </p:nvSpPr>
        <p:spPr>
          <a:xfrm>
            <a:off x="4663440" y="240715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40715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388870"/>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Mon geste du mandat</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Une situation où mon corps est sollicité : installer une salle, porter des dossiers, conduire, rester assis en conseil…</a:t>
            </a:r>
            <a:endParaRPr lang="en-US" sz="1500" dirty="0"/>
          </a:p>
        </p:txBody>
      </p:sp>
      <p:sp>
        <p:nvSpPr>
          <p:cNvPr id="23" name="Shape 18"/>
          <p:cNvSpPr/>
          <p:nvPr/>
        </p:nvSpPr>
        <p:spPr>
          <a:xfrm>
            <a:off x="4663440" y="357987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5798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561588"/>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Mon attente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J'écris sur un post-it ce que je veux repartir avec ce soir.</a:t>
            </a:r>
            <a:endParaRPr lang="en-US" sz="1500" dirty="0"/>
          </a:p>
        </p:txBody>
      </p:sp>
      <p:sp>
        <p:nvSpPr>
          <p:cNvPr id="26" name="Shape 21"/>
          <p:cNvSpPr/>
          <p:nvPr/>
        </p:nvSpPr>
        <p:spPr>
          <a:xfrm>
            <a:off x="4663440" y="475259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475259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4734306"/>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Affichage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 formateur regroupe les post-it au paperboard : ils seront relus au bilan final.</a:t>
            </a:r>
            <a:endParaRPr lang="en-US" sz="1500" dirty="0"/>
          </a:p>
        </p:txBody>
      </p:sp>
      <p:sp>
        <p:nvSpPr>
          <p:cNvPr id="29" name="Text 24"/>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Ouverture</a:t>
            </a:r>
            <a:endParaRPr lang="en-US" sz="900" dirty="0"/>
          </a:p>
        </p:txBody>
      </p:sp>
      <p:pic>
        <p:nvPicPr>
          <p:cNvPr id="30" name="Image 3" descr="logo_light.png">    </p:cNvPr>
          <p:cNvPicPr>
            <a:picLocks noChangeAspect="1"/>
          </p:cNvPicPr>
          <p:nvPr/>
        </p:nvPicPr>
        <p:blipFill>
          <a:blip r:embed="rId4"/>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objectifs de la formation</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À l'issue de la journée, vous serez capable de…</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Ouverture</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91640"/>
            <a:ext cx="2567864" cy="4206240"/>
          </a:xfrm>
          <a:prstGeom prst="roundRect">
            <a:avLst>
              <a:gd name="adj" fmla="val 2849"/>
            </a:avLst>
          </a:prstGeom>
          <a:solidFill>
            <a:srgbClr val="0A032B"/>
          </a:solidFill>
          <a:ln w="12700">
            <a:solidFill>
              <a:srgbClr val="0A032B"/>
            </a:solidFill>
            <a:prstDash val="solid"/>
          </a:ln>
        </p:spPr>
      </p:sp>
      <p:sp>
        <p:nvSpPr>
          <p:cNvPr id="9" name="Shape 6"/>
          <p:cNvSpPr/>
          <p:nvPr/>
        </p:nvSpPr>
        <p:spPr>
          <a:xfrm>
            <a:off x="822960" y="1965960"/>
            <a:ext cx="548640" cy="548640"/>
          </a:xfrm>
          <a:prstGeom prst="ellipse">
            <a:avLst/>
          </a:prstGeom>
          <a:solidFill>
            <a:srgbClr val="F0EF96"/>
          </a:solidFill>
          <a:ln w="12700">
            <a:solidFill>
              <a:srgbClr val="F0EF96"/>
            </a:solidFill>
            <a:prstDash val="solid"/>
          </a:ln>
        </p:spPr>
      </p:sp>
      <p:sp>
        <p:nvSpPr>
          <p:cNvPr id="10" name="Text 7"/>
          <p:cNvSpPr txBox="1"/>
          <p:nvPr/>
        </p:nvSpPr>
        <p:spPr>
          <a:xfrm>
            <a:off x="822960" y="1965960"/>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1</a:t>
            </a:r>
            <a:endParaRPr lang="en-US" sz="1800" dirty="0"/>
          </a:p>
        </p:txBody>
      </p:sp>
      <p:sp>
        <p:nvSpPr>
          <p:cNvPr id="11" name="Shape 8"/>
          <p:cNvSpPr/>
          <p:nvPr/>
        </p:nvSpPr>
        <p:spPr>
          <a:xfrm>
            <a:off x="2293544" y="1965960"/>
            <a:ext cx="548640" cy="548640"/>
          </a:xfrm>
          <a:prstGeom prst="ellipse">
            <a:avLst/>
          </a:prstGeom>
          <a:solidFill>
            <a:srgbClr val="35305C"/>
          </a:solidFill>
          <a:ln w="12700">
            <a:solidFill>
              <a:srgbClr val="35305C"/>
            </a:solidFill>
            <a:prstDash val="solid"/>
          </a:ln>
        </p:spPr>
      </p:sp>
      <p:pic>
        <p:nvPicPr>
          <p:cNvPr id="12" name="Image 1" descr="preencoded.png">    </p:cNvPr>
          <p:cNvPicPr>
            <a:picLocks noChangeAspect="1"/>
          </p:cNvPicPr>
          <p:nvPr/>
        </p:nvPicPr>
        <p:blipFill>
          <a:blip r:embed="rId2"/>
          <a:stretch>
            <a:fillRect/>
          </a:stretch>
        </p:blipFill>
        <p:spPr>
          <a:xfrm>
            <a:off x="2430704" y="2103120"/>
            <a:ext cx="274320" cy="274320"/>
          </a:xfrm>
          <a:prstGeom prst="rect">
            <a:avLst/>
          </a:prstGeom>
        </p:spPr>
      </p:pic>
      <p:sp>
        <p:nvSpPr>
          <p:cNvPr id="13" name="Text 9"/>
          <p:cNvSpPr txBox="1"/>
          <p:nvPr/>
        </p:nvSpPr>
        <p:spPr>
          <a:xfrm>
            <a:off x="822960" y="2880360"/>
            <a:ext cx="2019224" cy="457200"/>
          </a:xfrm>
          <a:prstGeom prst="rect">
            <a:avLst/>
          </a:prstGeom>
          <a:noFill/>
          <a:ln/>
        </p:spPr>
        <p:txBody>
          <a:bodyPr wrap="square" lIns="0" tIns="0" rIns="0" bIns="0" rtlCol="0" anchor="ctr"/>
          <a:lstStyle/>
          <a:p>
            <a:pPr indent="0" marL="0">
              <a:buNone/>
            </a:pPr>
            <a:r>
              <a:rPr lang="en-US" sz="2000" b="1" dirty="0">
                <a:solidFill>
                  <a:srgbClr val="F0EF96"/>
                </a:solidFill>
                <a:latin typeface="Montserrat" pitchFamily="34" charset="0"/>
                <a:ea typeface="Montserrat" pitchFamily="34" charset="-122"/>
                <a:cs typeface="Montserrat" pitchFamily="34" charset="-120"/>
              </a:rPr>
              <a:t>Identifier</a:t>
            </a:r>
            <a:endParaRPr lang="en-US" sz="2000" dirty="0"/>
          </a:p>
        </p:txBody>
      </p:sp>
      <p:sp>
        <p:nvSpPr>
          <p:cNvPr id="14" name="Text 10"/>
          <p:cNvSpPr txBox="1"/>
          <p:nvPr/>
        </p:nvSpPr>
        <p:spPr>
          <a:xfrm>
            <a:off x="822960" y="3429000"/>
            <a:ext cx="2019224" cy="21945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les atteintes de l'appareil locomoteur et leurs facteurs de risque</a:t>
            </a:r>
            <a:endParaRPr lang="en-US" sz="1500" dirty="0"/>
          </a:p>
        </p:txBody>
      </p:sp>
      <p:sp>
        <p:nvSpPr>
          <p:cNvPr id="15" name="Shape 11"/>
          <p:cNvSpPr/>
          <p:nvPr/>
        </p:nvSpPr>
        <p:spPr>
          <a:xfrm>
            <a:off x="3390824" y="1691640"/>
            <a:ext cx="2567864" cy="4206240"/>
          </a:xfrm>
          <a:prstGeom prst="roundRect">
            <a:avLst>
              <a:gd name="adj" fmla="val 2849"/>
            </a:avLst>
          </a:prstGeom>
          <a:solidFill>
            <a:srgbClr val="EEEDF5"/>
          </a:solidFill>
          <a:ln w="12700">
            <a:solidFill>
              <a:srgbClr val="EEEDF5"/>
            </a:solidFill>
            <a:prstDash val="solid"/>
          </a:ln>
        </p:spPr>
      </p:sp>
      <p:sp>
        <p:nvSpPr>
          <p:cNvPr id="16" name="Shape 12"/>
          <p:cNvSpPr/>
          <p:nvPr/>
        </p:nvSpPr>
        <p:spPr>
          <a:xfrm>
            <a:off x="3665144" y="1965960"/>
            <a:ext cx="548640" cy="548640"/>
          </a:xfrm>
          <a:prstGeom prst="ellipse">
            <a:avLst/>
          </a:prstGeom>
          <a:solidFill>
            <a:srgbClr val="F0EF96"/>
          </a:solidFill>
          <a:ln w="12700">
            <a:solidFill>
              <a:srgbClr val="F0EF96"/>
            </a:solidFill>
            <a:prstDash val="solid"/>
          </a:ln>
        </p:spPr>
      </p:sp>
      <p:sp>
        <p:nvSpPr>
          <p:cNvPr id="17" name="Text 13"/>
          <p:cNvSpPr txBox="1"/>
          <p:nvPr/>
        </p:nvSpPr>
        <p:spPr>
          <a:xfrm>
            <a:off x="3665144" y="1965960"/>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2</a:t>
            </a:r>
            <a:endParaRPr lang="en-US" sz="1800" dirty="0"/>
          </a:p>
        </p:txBody>
      </p:sp>
      <p:sp>
        <p:nvSpPr>
          <p:cNvPr id="18" name="Shape 14"/>
          <p:cNvSpPr/>
          <p:nvPr/>
        </p:nvSpPr>
        <p:spPr>
          <a:xfrm>
            <a:off x="5135728" y="1965960"/>
            <a:ext cx="548640" cy="548640"/>
          </a:xfrm>
          <a:prstGeom prst="ellipse">
            <a:avLst/>
          </a:prstGeom>
          <a:solidFill>
            <a:srgbClr val="0A032B"/>
          </a:solidFill>
          <a:ln w="12700">
            <a:solidFill>
              <a:srgbClr val="0A032B"/>
            </a:solidFill>
            <a:prstDash val="solid"/>
          </a:ln>
        </p:spPr>
      </p:sp>
      <p:pic>
        <p:nvPicPr>
          <p:cNvPr id="19" name="Image 2" descr="preencoded.png">    </p:cNvPr>
          <p:cNvPicPr>
            <a:picLocks noChangeAspect="1"/>
          </p:cNvPicPr>
          <p:nvPr/>
        </p:nvPicPr>
        <p:blipFill>
          <a:blip r:embed="rId3"/>
          <a:stretch>
            <a:fillRect/>
          </a:stretch>
        </p:blipFill>
        <p:spPr>
          <a:xfrm>
            <a:off x="5272888" y="2103120"/>
            <a:ext cx="274320" cy="274320"/>
          </a:xfrm>
          <a:prstGeom prst="rect">
            <a:avLst/>
          </a:prstGeom>
        </p:spPr>
      </p:pic>
      <p:sp>
        <p:nvSpPr>
          <p:cNvPr id="20" name="Text 15"/>
          <p:cNvSpPr txBox="1"/>
          <p:nvPr/>
        </p:nvSpPr>
        <p:spPr>
          <a:xfrm>
            <a:off x="3665144" y="2880360"/>
            <a:ext cx="2019224" cy="457200"/>
          </a:xfrm>
          <a:prstGeom prst="rect">
            <a:avLst/>
          </a:prstGeom>
          <a:noFill/>
          <a:ln/>
        </p:spPr>
        <p:txBody>
          <a:bodyPr wrap="square" lIns="0" tIns="0" rIns="0" bIns="0" rtlCol="0" anchor="ctr"/>
          <a:lstStyle/>
          <a:p>
            <a:pPr indent="0" marL="0">
              <a:buNone/>
            </a:pPr>
            <a:r>
              <a:rPr lang="en-US" sz="2000" b="1" dirty="0">
                <a:solidFill>
                  <a:srgbClr val="0A032B"/>
                </a:solidFill>
                <a:latin typeface="Montserrat" pitchFamily="34" charset="0"/>
                <a:ea typeface="Montserrat" pitchFamily="34" charset="-122"/>
                <a:cs typeface="Montserrat" pitchFamily="34" charset="-120"/>
              </a:rPr>
              <a:t>Appliquer</a:t>
            </a:r>
            <a:endParaRPr lang="en-US" sz="2000" dirty="0"/>
          </a:p>
        </p:txBody>
      </p:sp>
      <p:sp>
        <p:nvSpPr>
          <p:cNvPr id="21" name="Text 16"/>
          <p:cNvSpPr txBox="1"/>
          <p:nvPr/>
        </p:nvSpPr>
        <p:spPr>
          <a:xfrm>
            <a:off x="3665144" y="3429000"/>
            <a:ext cx="2019224" cy="2194560"/>
          </a:xfrm>
          <a:prstGeom prst="rect">
            <a:avLst/>
          </a:prstGeom>
          <a:noFill/>
          <a:ln/>
        </p:spPr>
        <p:txBody>
          <a:bodyPr wrap="square" lIns="0" tIns="0" rIns="0" bIns="0" rtlCol="0" anchor="t"/>
          <a:lstStyle/>
          <a:p>
            <a:pPr indent="0" marL="0">
              <a:buNone/>
            </a:pPr>
            <a:r>
              <a:rPr lang="en-US" sz="1500" dirty="0">
                <a:solidFill>
                  <a:srgbClr val="35305C"/>
                </a:solidFill>
                <a:latin typeface="Arial" pitchFamily="34" charset="0"/>
                <a:ea typeface="Arial" pitchFamily="34" charset="-122"/>
                <a:cs typeface="Arial" pitchFamily="34" charset="-120"/>
              </a:rPr>
              <a:t>les principes de sécurité physique et d'économie d'effort lors des manutentions</a:t>
            </a:r>
            <a:endParaRPr lang="en-US" sz="1500" dirty="0"/>
          </a:p>
        </p:txBody>
      </p:sp>
      <p:sp>
        <p:nvSpPr>
          <p:cNvPr id="22" name="Shape 17"/>
          <p:cNvSpPr/>
          <p:nvPr/>
        </p:nvSpPr>
        <p:spPr>
          <a:xfrm>
            <a:off x="6233008" y="1691640"/>
            <a:ext cx="2567864" cy="4206240"/>
          </a:xfrm>
          <a:prstGeom prst="roundRect">
            <a:avLst>
              <a:gd name="adj" fmla="val 2849"/>
            </a:avLst>
          </a:prstGeom>
          <a:solidFill>
            <a:srgbClr val="0A032B"/>
          </a:solidFill>
          <a:ln w="12700">
            <a:solidFill>
              <a:srgbClr val="0A032B"/>
            </a:solidFill>
            <a:prstDash val="solid"/>
          </a:ln>
        </p:spPr>
      </p:sp>
      <p:sp>
        <p:nvSpPr>
          <p:cNvPr id="23" name="Shape 18"/>
          <p:cNvSpPr/>
          <p:nvPr/>
        </p:nvSpPr>
        <p:spPr>
          <a:xfrm>
            <a:off x="6507328" y="1965960"/>
            <a:ext cx="548640" cy="548640"/>
          </a:xfrm>
          <a:prstGeom prst="ellipse">
            <a:avLst/>
          </a:prstGeom>
          <a:solidFill>
            <a:srgbClr val="F0EF96"/>
          </a:solidFill>
          <a:ln w="12700">
            <a:solidFill>
              <a:srgbClr val="F0EF96"/>
            </a:solidFill>
            <a:prstDash val="solid"/>
          </a:ln>
        </p:spPr>
      </p:sp>
      <p:sp>
        <p:nvSpPr>
          <p:cNvPr id="24" name="Text 19"/>
          <p:cNvSpPr txBox="1"/>
          <p:nvPr/>
        </p:nvSpPr>
        <p:spPr>
          <a:xfrm>
            <a:off x="6507328" y="1965960"/>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3</a:t>
            </a:r>
            <a:endParaRPr lang="en-US" sz="1800" dirty="0"/>
          </a:p>
        </p:txBody>
      </p:sp>
      <p:sp>
        <p:nvSpPr>
          <p:cNvPr id="25" name="Shape 20"/>
          <p:cNvSpPr/>
          <p:nvPr/>
        </p:nvSpPr>
        <p:spPr>
          <a:xfrm>
            <a:off x="7977911" y="1965960"/>
            <a:ext cx="548640" cy="548640"/>
          </a:xfrm>
          <a:prstGeom prst="ellipse">
            <a:avLst/>
          </a:prstGeom>
          <a:solidFill>
            <a:srgbClr val="35305C"/>
          </a:solidFill>
          <a:ln w="12700">
            <a:solidFill>
              <a:srgbClr val="35305C"/>
            </a:solidFill>
            <a:prstDash val="solid"/>
          </a:ln>
        </p:spPr>
      </p:sp>
      <p:pic>
        <p:nvPicPr>
          <p:cNvPr id="26" name="Image 3" descr="preencoded.png">    </p:cNvPr>
          <p:cNvPicPr>
            <a:picLocks noChangeAspect="1"/>
          </p:cNvPicPr>
          <p:nvPr/>
        </p:nvPicPr>
        <p:blipFill>
          <a:blip r:embed="rId4"/>
          <a:stretch>
            <a:fillRect/>
          </a:stretch>
        </p:blipFill>
        <p:spPr>
          <a:xfrm>
            <a:off x="8115071" y="2103120"/>
            <a:ext cx="274320" cy="274320"/>
          </a:xfrm>
          <a:prstGeom prst="rect">
            <a:avLst/>
          </a:prstGeom>
        </p:spPr>
      </p:pic>
      <p:sp>
        <p:nvSpPr>
          <p:cNvPr id="27" name="Text 21"/>
          <p:cNvSpPr txBox="1"/>
          <p:nvPr/>
        </p:nvSpPr>
        <p:spPr>
          <a:xfrm>
            <a:off x="6507328" y="2880360"/>
            <a:ext cx="2019224" cy="457200"/>
          </a:xfrm>
          <a:prstGeom prst="rect">
            <a:avLst/>
          </a:prstGeom>
          <a:noFill/>
          <a:ln/>
        </p:spPr>
        <p:txBody>
          <a:bodyPr wrap="square" lIns="0" tIns="0" rIns="0" bIns="0" rtlCol="0" anchor="ctr"/>
          <a:lstStyle/>
          <a:p>
            <a:pPr indent="0" marL="0">
              <a:buNone/>
            </a:pPr>
            <a:r>
              <a:rPr lang="en-US" sz="2000" b="1" dirty="0">
                <a:solidFill>
                  <a:srgbClr val="F0EF96"/>
                </a:solidFill>
                <a:latin typeface="Montserrat" pitchFamily="34" charset="0"/>
                <a:ea typeface="Montserrat" pitchFamily="34" charset="-122"/>
                <a:cs typeface="Montserrat" pitchFamily="34" charset="-120"/>
              </a:rPr>
              <a:t>Adapter</a:t>
            </a:r>
            <a:endParaRPr lang="en-US" sz="2000" dirty="0"/>
          </a:p>
        </p:txBody>
      </p:sp>
      <p:sp>
        <p:nvSpPr>
          <p:cNvPr id="28" name="Text 22"/>
          <p:cNvSpPr txBox="1"/>
          <p:nvPr/>
        </p:nvSpPr>
        <p:spPr>
          <a:xfrm>
            <a:off x="6507328" y="3429000"/>
            <a:ext cx="2019224" cy="21945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son poste de travail et ses déplacements à la diversité des lieux du mandat</a:t>
            </a:r>
            <a:endParaRPr lang="en-US" sz="1500" dirty="0"/>
          </a:p>
        </p:txBody>
      </p:sp>
      <p:sp>
        <p:nvSpPr>
          <p:cNvPr id="29" name="Shape 23"/>
          <p:cNvSpPr/>
          <p:nvPr/>
        </p:nvSpPr>
        <p:spPr>
          <a:xfrm>
            <a:off x="9075191" y="1691640"/>
            <a:ext cx="2567864" cy="4206240"/>
          </a:xfrm>
          <a:prstGeom prst="roundRect">
            <a:avLst>
              <a:gd name="adj" fmla="val 2849"/>
            </a:avLst>
          </a:prstGeom>
          <a:solidFill>
            <a:srgbClr val="EEEDF5"/>
          </a:solidFill>
          <a:ln w="12700">
            <a:solidFill>
              <a:srgbClr val="EEEDF5"/>
            </a:solidFill>
            <a:prstDash val="solid"/>
          </a:ln>
        </p:spPr>
      </p:sp>
      <p:sp>
        <p:nvSpPr>
          <p:cNvPr id="30" name="Shape 24"/>
          <p:cNvSpPr/>
          <p:nvPr/>
        </p:nvSpPr>
        <p:spPr>
          <a:xfrm>
            <a:off x="9349511" y="1965960"/>
            <a:ext cx="548640" cy="548640"/>
          </a:xfrm>
          <a:prstGeom prst="ellipse">
            <a:avLst/>
          </a:prstGeom>
          <a:solidFill>
            <a:srgbClr val="F0EF96"/>
          </a:solidFill>
          <a:ln w="12700">
            <a:solidFill>
              <a:srgbClr val="F0EF96"/>
            </a:solidFill>
            <a:prstDash val="solid"/>
          </a:ln>
        </p:spPr>
      </p:sp>
      <p:sp>
        <p:nvSpPr>
          <p:cNvPr id="31" name="Text 25"/>
          <p:cNvSpPr txBox="1"/>
          <p:nvPr/>
        </p:nvSpPr>
        <p:spPr>
          <a:xfrm>
            <a:off x="9349511" y="1965960"/>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4</a:t>
            </a:r>
            <a:endParaRPr lang="en-US" sz="1800" dirty="0"/>
          </a:p>
        </p:txBody>
      </p:sp>
      <p:sp>
        <p:nvSpPr>
          <p:cNvPr id="32" name="Shape 26"/>
          <p:cNvSpPr/>
          <p:nvPr/>
        </p:nvSpPr>
        <p:spPr>
          <a:xfrm>
            <a:off x="10820095" y="1965960"/>
            <a:ext cx="548640" cy="548640"/>
          </a:xfrm>
          <a:prstGeom prst="ellipse">
            <a:avLst/>
          </a:prstGeom>
          <a:solidFill>
            <a:srgbClr val="0A032B"/>
          </a:solidFill>
          <a:ln w="12700">
            <a:solidFill>
              <a:srgbClr val="0A032B"/>
            </a:solidFill>
            <a:prstDash val="solid"/>
          </a:ln>
        </p:spPr>
      </p:sp>
      <p:pic>
        <p:nvPicPr>
          <p:cNvPr id="33" name="Image 4" descr="preencoded.png">    </p:cNvPr>
          <p:cNvPicPr>
            <a:picLocks noChangeAspect="1"/>
          </p:cNvPicPr>
          <p:nvPr/>
        </p:nvPicPr>
        <p:blipFill>
          <a:blip r:embed="rId5"/>
          <a:stretch>
            <a:fillRect/>
          </a:stretch>
        </p:blipFill>
        <p:spPr>
          <a:xfrm>
            <a:off x="10957255" y="2103120"/>
            <a:ext cx="274320" cy="274320"/>
          </a:xfrm>
          <a:prstGeom prst="rect">
            <a:avLst/>
          </a:prstGeom>
        </p:spPr>
      </p:pic>
      <p:sp>
        <p:nvSpPr>
          <p:cNvPr id="34" name="Text 27"/>
          <p:cNvSpPr txBox="1"/>
          <p:nvPr/>
        </p:nvSpPr>
        <p:spPr>
          <a:xfrm>
            <a:off x="9349511" y="2880360"/>
            <a:ext cx="2019224" cy="457200"/>
          </a:xfrm>
          <a:prstGeom prst="rect">
            <a:avLst/>
          </a:prstGeom>
          <a:noFill/>
          <a:ln/>
        </p:spPr>
        <p:txBody>
          <a:bodyPr wrap="square" lIns="0" tIns="0" rIns="0" bIns="0" rtlCol="0" anchor="ctr"/>
          <a:lstStyle/>
          <a:p>
            <a:pPr indent="0" marL="0">
              <a:buNone/>
            </a:pPr>
            <a:r>
              <a:rPr lang="en-US" sz="2000" b="1" dirty="0">
                <a:solidFill>
                  <a:srgbClr val="0A032B"/>
                </a:solidFill>
                <a:latin typeface="Montserrat" pitchFamily="34" charset="0"/>
                <a:ea typeface="Montserrat" pitchFamily="34" charset="-122"/>
                <a:cs typeface="Montserrat" pitchFamily="34" charset="-120"/>
              </a:rPr>
              <a:t>Situer</a:t>
            </a:r>
            <a:endParaRPr lang="en-US" sz="2000" dirty="0"/>
          </a:p>
        </p:txBody>
      </p:sp>
      <p:sp>
        <p:nvSpPr>
          <p:cNvPr id="35" name="Text 28"/>
          <p:cNvSpPr txBox="1"/>
          <p:nvPr/>
        </p:nvSpPr>
        <p:spPr>
          <a:xfrm>
            <a:off x="9349511" y="3429000"/>
            <a:ext cx="2019224" cy="2194560"/>
          </a:xfrm>
          <a:prstGeom prst="rect">
            <a:avLst/>
          </a:prstGeom>
          <a:noFill/>
          <a:ln/>
        </p:spPr>
        <p:txBody>
          <a:bodyPr wrap="square" lIns="0" tIns="0" rIns="0" bIns="0" rtlCol="0" anchor="t"/>
          <a:lstStyle/>
          <a:p>
            <a:pPr indent="0" marL="0">
              <a:buNone/>
            </a:pPr>
            <a:r>
              <a:rPr lang="en-US" sz="1500" dirty="0">
                <a:solidFill>
                  <a:srgbClr val="35305C"/>
                </a:solidFill>
                <a:latin typeface="Arial" pitchFamily="34" charset="0"/>
                <a:ea typeface="Arial" pitchFamily="34" charset="-122"/>
                <a:cs typeface="Arial" pitchFamily="34" charset="-120"/>
              </a:rPr>
              <a:t>le rôle de l'élu dans la prévention des risques professionnels des agents</a:t>
            </a:r>
            <a:endParaRPr lang="en-US" sz="15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 programme de la journée</a:t>
            </a:r>
            <a:endParaRPr lang="en-US" sz="2800" dirty="0"/>
          </a:p>
        </p:txBody>
      </p:sp>
      <p:sp>
        <p:nvSpPr>
          <p:cNvPr id="3" name="Text 1"/>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Ouverture</a:t>
            </a:r>
            <a:endParaRPr lang="en-US" sz="900" dirty="0"/>
          </a:p>
        </p:txBody>
      </p:sp>
      <p:pic>
        <p:nvPicPr>
          <p:cNvPr id="4"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5" name="Text 2"/>
          <p:cNvSpPr txBox="1"/>
          <p:nvPr/>
        </p:nvSpPr>
        <p:spPr>
          <a:xfrm>
            <a:off x="548640" y="1325880"/>
            <a:ext cx="5318608" cy="411480"/>
          </a:xfrm>
          <a:prstGeom prst="rect">
            <a:avLst/>
          </a:prstGeom>
          <a:noFill/>
          <a:ln/>
        </p:spPr>
        <p:txBody>
          <a:bodyPr wrap="square" lIns="0" tIns="0" rIns="0" bIns="0" rtlCol="0" anchor="ctr"/>
          <a:lstStyle/>
          <a:p>
            <a:pPr indent="0" marL="0">
              <a:buNone/>
            </a:pPr>
            <a:r>
              <a:rPr lang="en-US" sz="1600" b="1" spc="300" kern="0" dirty="0">
                <a:solidFill>
                  <a:srgbClr val="0A032B"/>
                </a:solidFill>
                <a:latin typeface="Montserrat" pitchFamily="34" charset="0"/>
                <a:ea typeface="Montserrat" pitchFamily="34" charset="-122"/>
                <a:cs typeface="Montserrat" pitchFamily="34" charset="-120"/>
              </a:rPr>
              <a:t>MATIN</a:t>
            </a:r>
            <a:endParaRPr lang="en-US" sz="1600" dirty="0"/>
          </a:p>
        </p:txBody>
      </p:sp>
      <p:sp>
        <p:nvSpPr>
          <p:cNvPr id="6" name="Shape 3"/>
          <p:cNvSpPr/>
          <p:nvPr/>
        </p:nvSpPr>
        <p:spPr>
          <a:xfrm>
            <a:off x="548640" y="1874520"/>
            <a:ext cx="5318608" cy="658368"/>
          </a:xfrm>
          <a:prstGeom prst="roundRect">
            <a:avLst>
              <a:gd name="adj" fmla="val 11111"/>
            </a:avLst>
          </a:prstGeom>
          <a:solidFill>
            <a:srgbClr val="EEEDF5"/>
          </a:solidFill>
          <a:ln w="12700">
            <a:solidFill>
              <a:srgbClr val="EEEDF5"/>
            </a:solidFill>
            <a:prstDash val="solid"/>
          </a:ln>
        </p:spPr>
      </p:sp>
      <p:sp>
        <p:nvSpPr>
          <p:cNvPr id="7" name="Text 4"/>
          <p:cNvSpPr txBox="1"/>
          <p:nvPr/>
        </p:nvSpPr>
        <p:spPr>
          <a:xfrm>
            <a:off x="685800" y="187452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15 min</a:t>
            </a:r>
            <a:endParaRPr lang="en-US" sz="1300" dirty="0"/>
          </a:p>
        </p:txBody>
      </p:sp>
      <p:sp>
        <p:nvSpPr>
          <p:cNvPr id="8" name="Text 5"/>
          <p:cNvSpPr txBox="1"/>
          <p:nvPr/>
        </p:nvSpPr>
        <p:spPr>
          <a:xfrm>
            <a:off x="1600200" y="187452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Ouverture : présentations et cadre</a:t>
            </a:r>
            <a:endParaRPr lang="en-US" sz="1350" dirty="0"/>
          </a:p>
        </p:txBody>
      </p:sp>
      <p:sp>
        <p:nvSpPr>
          <p:cNvPr id="9" name="Shape 6"/>
          <p:cNvSpPr/>
          <p:nvPr/>
        </p:nvSpPr>
        <p:spPr>
          <a:xfrm>
            <a:off x="4175608" y="2029968"/>
            <a:ext cx="1554480" cy="347472"/>
          </a:xfrm>
          <a:prstGeom prst="roundRect">
            <a:avLst>
              <a:gd name="adj" fmla="val 50000"/>
            </a:avLst>
          </a:prstGeom>
          <a:solidFill>
            <a:srgbClr val="DCDAEA"/>
          </a:solidFill>
          <a:ln w="12700">
            <a:solidFill>
              <a:srgbClr val="DCDAEA"/>
            </a:solidFill>
            <a:prstDash val="solid"/>
          </a:ln>
        </p:spPr>
      </p:sp>
      <p:sp>
        <p:nvSpPr>
          <p:cNvPr id="10" name="Text 7"/>
          <p:cNvSpPr txBox="1"/>
          <p:nvPr/>
        </p:nvSpPr>
        <p:spPr>
          <a:xfrm>
            <a:off x="4175608" y="2029968"/>
            <a:ext cx="155448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11" name="Shape 8"/>
          <p:cNvSpPr/>
          <p:nvPr/>
        </p:nvSpPr>
        <p:spPr>
          <a:xfrm>
            <a:off x="548640" y="2697480"/>
            <a:ext cx="5318608" cy="658368"/>
          </a:xfrm>
          <a:prstGeom prst="roundRect">
            <a:avLst>
              <a:gd name="adj" fmla="val 11111"/>
            </a:avLst>
          </a:prstGeom>
          <a:solidFill>
            <a:srgbClr val="EEEDF5"/>
          </a:solidFill>
          <a:ln w="12700">
            <a:solidFill>
              <a:srgbClr val="EEEDF5"/>
            </a:solidFill>
            <a:prstDash val="solid"/>
          </a:ln>
        </p:spPr>
      </p:sp>
      <p:sp>
        <p:nvSpPr>
          <p:cNvPr id="12" name="Text 9"/>
          <p:cNvSpPr txBox="1"/>
          <p:nvPr/>
        </p:nvSpPr>
        <p:spPr>
          <a:xfrm>
            <a:off x="685800" y="269748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60 min</a:t>
            </a:r>
            <a:endParaRPr lang="en-US" sz="1300" dirty="0"/>
          </a:p>
        </p:txBody>
      </p:sp>
      <p:sp>
        <p:nvSpPr>
          <p:cNvPr id="13" name="Text 10"/>
          <p:cNvSpPr txBox="1"/>
          <p:nvPr/>
        </p:nvSpPr>
        <p:spPr>
          <a:xfrm>
            <a:off x="1600200" y="269748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S1 · L'appareil locomoteur et les TMS</a:t>
            </a:r>
            <a:endParaRPr lang="en-US" sz="1350" dirty="0"/>
          </a:p>
        </p:txBody>
      </p:sp>
      <p:sp>
        <p:nvSpPr>
          <p:cNvPr id="14" name="Shape 11"/>
          <p:cNvSpPr/>
          <p:nvPr/>
        </p:nvSpPr>
        <p:spPr>
          <a:xfrm>
            <a:off x="4175608" y="2852928"/>
            <a:ext cx="1554480" cy="347472"/>
          </a:xfrm>
          <a:prstGeom prst="roundRect">
            <a:avLst>
              <a:gd name="adj" fmla="val 50000"/>
            </a:avLst>
          </a:prstGeom>
          <a:solidFill>
            <a:srgbClr val="0A032B"/>
          </a:solidFill>
          <a:ln w="12700">
            <a:solidFill>
              <a:srgbClr val="0A032B"/>
            </a:solidFill>
            <a:prstDash val="solid"/>
          </a:ln>
        </p:spPr>
      </p:sp>
      <p:sp>
        <p:nvSpPr>
          <p:cNvPr id="15" name="Text 12"/>
          <p:cNvSpPr txBox="1"/>
          <p:nvPr/>
        </p:nvSpPr>
        <p:spPr>
          <a:xfrm>
            <a:off x="4175608" y="2852928"/>
            <a:ext cx="155448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16" name="Text 13"/>
          <p:cNvSpPr txBox="1"/>
          <p:nvPr/>
        </p:nvSpPr>
        <p:spPr>
          <a:xfrm>
            <a:off x="548640" y="3520440"/>
            <a:ext cx="5318608" cy="640080"/>
          </a:xfrm>
          <a:prstGeom prst="rect">
            <a:avLst/>
          </a:prstGeom>
          <a:noFill/>
          <a:ln/>
        </p:spPr>
        <p:txBody>
          <a:bodyPr wrap="square" lIns="0" tIns="0" rIns="0" bIns="0" rtlCol="0" anchor="ctr"/>
          <a:lstStyle/>
          <a:p>
            <a:pPr algn="ctr" indent="0" marL="0">
              <a:buNone/>
            </a:pPr>
            <a:r>
              <a:rPr lang="en-US" sz="1300" i="1" dirty="0">
                <a:solidFill>
                  <a:srgbClr val="5E5A78"/>
                </a:solidFill>
                <a:latin typeface="Arial" pitchFamily="34" charset="0"/>
                <a:ea typeface="Arial" pitchFamily="34" charset="-122"/>
                <a:cs typeface="Arial" pitchFamily="34" charset="-120"/>
              </a:rPr>
              <a:t>— Pause —</a:t>
            </a:r>
            <a:endParaRPr lang="en-US" sz="1300" dirty="0"/>
          </a:p>
        </p:txBody>
      </p:sp>
      <p:sp>
        <p:nvSpPr>
          <p:cNvPr id="17" name="Shape 14"/>
          <p:cNvSpPr/>
          <p:nvPr/>
        </p:nvSpPr>
        <p:spPr>
          <a:xfrm>
            <a:off x="548640" y="4343400"/>
            <a:ext cx="5318608" cy="658368"/>
          </a:xfrm>
          <a:prstGeom prst="roundRect">
            <a:avLst>
              <a:gd name="adj" fmla="val 11111"/>
            </a:avLst>
          </a:prstGeom>
          <a:solidFill>
            <a:srgbClr val="EEEDF5"/>
          </a:solidFill>
          <a:ln w="12700">
            <a:solidFill>
              <a:srgbClr val="EEEDF5"/>
            </a:solidFill>
            <a:prstDash val="solid"/>
          </a:ln>
        </p:spPr>
      </p:sp>
      <p:sp>
        <p:nvSpPr>
          <p:cNvPr id="18" name="Text 15"/>
          <p:cNvSpPr txBox="1"/>
          <p:nvPr/>
        </p:nvSpPr>
        <p:spPr>
          <a:xfrm>
            <a:off x="685800" y="434340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15 min</a:t>
            </a:r>
            <a:endParaRPr lang="en-US" sz="1300" dirty="0"/>
          </a:p>
        </p:txBody>
      </p:sp>
      <p:sp>
        <p:nvSpPr>
          <p:cNvPr id="19" name="Text 16"/>
          <p:cNvSpPr txBox="1"/>
          <p:nvPr/>
        </p:nvSpPr>
        <p:spPr>
          <a:xfrm>
            <a:off x="1600200" y="434340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Retour et évaluation collective</a:t>
            </a:r>
            <a:endParaRPr lang="en-US" sz="1350" dirty="0"/>
          </a:p>
        </p:txBody>
      </p:sp>
      <p:sp>
        <p:nvSpPr>
          <p:cNvPr id="20" name="Shape 17"/>
          <p:cNvSpPr/>
          <p:nvPr/>
        </p:nvSpPr>
        <p:spPr>
          <a:xfrm>
            <a:off x="4175608" y="4498848"/>
            <a:ext cx="1554480" cy="347472"/>
          </a:xfrm>
          <a:prstGeom prst="roundRect">
            <a:avLst>
              <a:gd name="adj" fmla="val 50000"/>
            </a:avLst>
          </a:prstGeom>
          <a:solidFill>
            <a:srgbClr val="35305C"/>
          </a:solidFill>
          <a:ln w="12700">
            <a:solidFill>
              <a:srgbClr val="35305C"/>
            </a:solidFill>
            <a:prstDash val="solid"/>
          </a:ln>
        </p:spPr>
      </p:sp>
      <p:sp>
        <p:nvSpPr>
          <p:cNvPr id="21" name="Text 18"/>
          <p:cNvSpPr txBox="1"/>
          <p:nvPr/>
        </p:nvSpPr>
        <p:spPr>
          <a:xfrm>
            <a:off x="4175608" y="4498848"/>
            <a:ext cx="155448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22" name="Shape 19"/>
          <p:cNvSpPr/>
          <p:nvPr/>
        </p:nvSpPr>
        <p:spPr>
          <a:xfrm>
            <a:off x="548640" y="5166360"/>
            <a:ext cx="5318608" cy="658368"/>
          </a:xfrm>
          <a:prstGeom prst="roundRect">
            <a:avLst>
              <a:gd name="adj" fmla="val 11111"/>
            </a:avLst>
          </a:prstGeom>
          <a:solidFill>
            <a:srgbClr val="EEEDF5"/>
          </a:solidFill>
          <a:ln w="12700">
            <a:solidFill>
              <a:srgbClr val="EEEDF5"/>
            </a:solidFill>
            <a:prstDash val="solid"/>
          </a:ln>
        </p:spPr>
      </p:sp>
      <p:sp>
        <p:nvSpPr>
          <p:cNvPr id="23" name="Text 20"/>
          <p:cNvSpPr txBox="1"/>
          <p:nvPr/>
        </p:nvSpPr>
        <p:spPr>
          <a:xfrm>
            <a:off x="685800" y="516636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75 min</a:t>
            </a:r>
            <a:endParaRPr lang="en-US" sz="1300" dirty="0"/>
          </a:p>
        </p:txBody>
      </p:sp>
      <p:sp>
        <p:nvSpPr>
          <p:cNvPr id="24" name="Text 21"/>
          <p:cNvSpPr txBox="1"/>
          <p:nvPr/>
        </p:nvSpPr>
        <p:spPr>
          <a:xfrm>
            <a:off x="1600200" y="516636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S2 · Sécurité physique et économie d'effort</a:t>
            </a:r>
            <a:endParaRPr lang="en-US" sz="1350" dirty="0"/>
          </a:p>
        </p:txBody>
      </p:sp>
      <p:sp>
        <p:nvSpPr>
          <p:cNvPr id="25" name="Shape 22"/>
          <p:cNvSpPr/>
          <p:nvPr/>
        </p:nvSpPr>
        <p:spPr>
          <a:xfrm>
            <a:off x="4175608" y="5321808"/>
            <a:ext cx="1554480" cy="347472"/>
          </a:xfrm>
          <a:prstGeom prst="roundRect">
            <a:avLst>
              <a:gd name="adj" fmla="val 50000"/>
            </a:avLst>
          </a:prstGeom>
          <a:solidFill>
            <a:srgbClr val="F0EF96"/>
          </a:solidFill>
          <a:ln w="12700">
            <a:solidFill>
              <a:srgbClr val="F0EF96"/>
            </a:solidFill>
            <a:prstDash val="solid"/>
          </a:ln>
        </p:spPr>
      </p:sp>
      <p:sp>
        <p:nvSpPr>
          <p:cNvPr id="26" name="Text 23"/>
          <p:cNvSpPr txBox="1"/>
          <p:nvPr/>
        </p:nvSpPr>
        <p:spPr>
          <a:xfrm>
            <a:off x="4175608" y="5321808"/>
            <a:ext cx="155448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27" name="Text 24"/>
          <p:cNvSpPr txBox="1"/>
          <p:nvPr/>
        </p:nvSpPr>
        <p:spPr>
          <a:xfrm>
            <a:off x="6324448" y="1325880"/>
            <a:ext cx="5318608" cy="411480"/>
          </a:xfrm>
          <a:prstGeom prst="rect">
            <a:avLst/>
          </a:prstGeom>
          <a:noFill/>
          <a:ln/>
        </p:spPr>
        <p:txBody>
          <a:bodyPr wrap="square" lIns="0" tIns="0" rIns="0" bIns="0" rtlCol="0" anchor="ctr"/>
          <a:lstStyle/>
          <a:p>
            <a:pPr indent="0" marL="0">
              <a:buNone/>
            </a:pPr>
            <a:r>
              <a:rPr lang="en-US" sz="1600" b="1" spc="300" kern="0" dirty="0">
                <a:solidFill>
                  <a:srgbClr val="0A032B"/>
                </a:solidFill>
                <a:latin typeface="Montserrat" pitchFamily="34" charset="0"/>
                <a:ea typeface="Montserrat" pitchFamily="34" charset="-122"/>
                <a:cs typeface="Montserrat" pitchFamily="34" charset="-120"/>
              </a:rPr>
              <a:t>APRÈS-MIDI</a:t>
            </a:r>
            <a:endParaRPr lang="en-US" sz="1600" dirty="0"/>
          </a:p>
        </p:txBody>
      </p:sp>
      <p:sp>
        <p:nvSpPr>
          <p:cNvPr id="28" name="Shape 25"/>
          <p:cNvSpPr/>
          <p:nvPr/>
        </p:nvSpPr>
        <p:spPr>
          <a:xfrm>
            <a:off x="6324448" y="1874520"/>
            <a:ext cx="5318608" cy="658368"/>
          </a:xfrm>
          <a:prstGeom prst="roundRect">
            <a:avLst>
              <a:gd name="adj" fmla="val 11111"/>
            </a:avLst>
          </a:prstGeom>
          <a:solidFill>
            <a:srgbClr val="EEEDF5"/>
          </a:solidFill>
          <a:ln w="12700">
            <a:solidFill>
              <a:srgbClr val="EEEDF5"/>
            </a:solidFill>
            <a:prstDash val="solid"/>
          </a:ln>
        </p:spPr>
      </p:sp>
      <p:sp>
        <p:nvSpPr>
          <p:cNvPr id="29" name="Text 26"/>
          <p:cNvSpPr txBox="1"/>
          <p:nvPr/>
        </p:nvSpPr>
        <p:spPr>
          <a:xfrm>
            <a:off x="6461608" y="187452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85 min</a:t>
            </a:r>
            <a:endParaRPr lang="en-US" sz="1300" dirty="0"/>
          </a:p>
        </p:txBody>
      </p:sp>
      <p:sp>
        <p:nvSpPr>
          <p:cNvPr id="30" name="Text 27"/>
          <p:cNvSpPr txBox="1"/>
          <p:nvPr/>
        </p:nvSpPr>
        <p:spPr>
          <a:xfrm>
            <a:off x="7376008" y="187452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S3 · Aides à la manutention et poste de travail</a:t>
            </a:r>
            <a:endParaRPr lang="en-US" sz="1350" dirty="0"/>
          </a:p>
        </p:txBody>
      </p:sp>
      <p:sp>
        <p:nvSpPr>
          <p:cNvPr id="31" name="Shape 28"/>
          <p:cNvSpPr/>
          <p:nvPr/>
        </p:nvSpPr>
        <p:spPr>
          <a:xfrm>
            <a:off x="9951415" y="2029968"/>
            <a:ext cx="1554480" cy="347472"/>
          </a:xfrm>
          <a:prstGeom prst="roundRect">
            <a:avLst>
              <a:gd name="adj" fmla="val 50000"/>
            </a:avLst>
          </a:prstGeom>
          <a:solidFill>
            <a:srgbClr val="F0EF96"/>
          </a:solidFill>
          <a:ln w="12700">
            <a:solidFill>
              <a:srgbClr val="F0EF96"/>
            </a:solidFill>
            <a:prstDash val="solid"/>
          </a:ln>
        </p:spPr>
      </p:sp>
      <p:sp>
        <p:nvSpPr>
          <p:cNvPr id="32" name="Text 29"/>
          <p:cNvSpPr txBox="1"/>
          <p:nvPr/>
        </p:nvSpPr>
        <p:spPr>
          <a:xfrm>
            <a:off x="9951415" y="2029968"/>
            <a:ext cx="155448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33" name="Shape 30"/>
          <p:cNvSpPr/>
          <p:nvPr/>
        </p:nvSpPr>
        <p:spPr>
          <a:xfrm>
            <a:off x="6324448" y="2697480"/>
            <a:ext cx="5318608" cy="658368"/>
          </a:xfrm>
          <a:prstGeom prst="roundRect">
            <a:avLst>
              <a:gd name="adj" fmla="val 11111"/>
            </a:avLst>
          </a:prstGeom>
          <a:solidFill>
            <a:srgbClr val="EEEDF5"/>
          </a:solidFill>
          <a:ln w="12700">
            <a:solidFill>
              <a:srgbClr val="EEEDF5"/>
            </a:solidFill>
            <a:prstDash val="solid"/>
          </a:ln>
        </p:spPr>
      </p:sp>
      <p:sp>
        <p:nvSpPr>
          <p:cNvPr id="34" name="Text 31"/>
          <p:cNvSpPr txBox="1"/>
          <p:nvPr/>
        </p:nvSpPr>
        <p:spPr>
          <a:xfrm>
            <a:off x="6461608" y="269748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75 min</a:t>
            </a:r>
            <a:endParaRPr lang="en-US" sz="1300" dirty="0"/>
          </a:p>
        </p:txBody>
      </p:sp>
      <p:sp>
        <p:nvSpPr>
          <p:cNvPr id="35" name="Text 32"/>
          <p:cNvSpPr txBox="1"/>
          <p:nvPr/>
        </p:nvSpPr>
        <p:spPr>
          <a:xfrm>
            <a:off x="7376008" y="269748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S4 · Le rôle de l'élu dans la prévention</a:t>
            </a:r>
            <a:endParaRPr lang="en-US" sz="1350" dirty="0"/>
          </a:p>
        </p:txBody>
      </p:sp>
      <p:sp>
        <p:nvSpPr>
          <p:cNvPr id="36" name="Shape 33"/>
          <p:cNvSpPr/>
          <p:nvPr/>
        </p:nvSpPr>
        <p:spPr>
          <a:xfrm>
            <a:off x="9951415" y="2852928"/>
            <a:ext cx="1554480" cy="347472"/>
          </a:xfrm>
          <a:prstGeom prst="roundRect">
            <a:avLst>
              <a:gd name="adj" fmla="val 50000"/>
            </a:avLst>
          </a:prstGeom>
          <a:solidFill>
            <a:srgbClr val="DCDAEA"/>
          </a:solidFill>
          <a:ln w="12700">
            <a:solidFill>
              <a:srgbClr val="DCDAEA"/>
            </a:solidFill>
            <a:prstDash val="solid"/>
          </a:ln>
        </p:spPr>
      </p:sp>
      <p:sp>
        <p:nvSpPr>
          <p:cNvPr id="37" name="Text 34"/>
          <p:cNvSpPr txBox="1"/>
          <p:nvPr/>
        </p:nvSpPr>
        <p:spPr>
          <a:xfrm>
            <a:off x="9951415" y="2852928"/>
            <a:ext cx="155448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38" name="Text 35"/>
          <p:cNvSpPr txBox="1"/>
          <p:nvPr/>
        </p:nvSpPr>
        <p:spPr>
          <a:xfrm>
            <a:off x="6324448" y="3520440"/>
            <a:ext cx="5318608" cy="640080"/>
          </a:xfrm>
          <a:prstGeom prst="rect">
            <a:avLst/>
          </a:prstGeom>
          <a:noFill/>
          <a:ln/>
        </p:spPr>
        <p:txBody>
          <a:bodyPr wrap="square" lIns="0" tIns="0" rIns="0" bIns="0" rtlCol="0" anchor="ctr"/>
          <a:lstStyle/>
          <a:p>
            <a:pPr algn="ctr" indent="0" marL="0">
              <a:buNone/>
            </a:pPr>
            <a:r>
              <a:rPr lang="en-US" sz="1300" i="1" dirty="0">
                <a:solidFill>
                  <a:srgbClr val="5E5A78"/>
                </a:solidFill>
                <a:latin typeface="Arial" pitchFamily="34" charset="0"/>
                <a:ea typeface="Arial" pitchFamily="34" charset="-122"/>
                <a:cs typeface="Arial" pitchFamily="34" charset="-120"/>
              </a:rPr>
              <a:t>— Pause —</a:t>
            </a:r>
            <a:endParaRPr lang="en-US" sz="1300" dirty="0"/>
          </a:p>
        </p:txBody>
      </p:sp>
      <p:sp>
        <p:nvSpPr>
          <p:cNvPr id="39" name="Shape 36"/>
          <p:cNvSpPr/>
          <p:nvPr/>
        </p:nvSpPr>
        <p:spPr>
          <a:xfrm>
            <a:off x="6324448" y="4343400"/>
            <a:ext cx="5318608" cy="658368"/>
          </a:xfrm>
          <a:prstGeom prst="roundRect">
            <a:avLst>
              <a:gd name="adj" fmla="val 11111"/>
            </a:avLst>
          </a:prstGeom>
          <a:solidFill>
            <a:srgbClr val="EEEDF5"/>
          </a:solidFill>
          <a:ln w="12700">
            <a:solidFill>
              <a:srgbClr val="EEEDF5"/>
            </a:solidFill>
            <a:prstDash val="solid"/>
          </a:ln>
        </p:spPr>
      </p:sp>
      <p:sp>
        <p:nvSpPr>
          <p:cNvPr id="40" name="Text 37"/>
          <p:cNvSpPr txBox="1"/>
          <p:nvPr/>
        </p:nvSpPr>
        <p:spPr>
          <a:xfrm>
            <a:off x="6461608" y="434340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70 min</a:t>
            </a:r>
            <a:endParaRPr lang="en-US" sz="1300" dirty="0"/>
          </a:p>
        </p:txBody>
      </p:sp>
      <p:sp>
        <p:nvSpPr>
          <p:cNvPr id="41" name="Text 38"/>
          <p:cNvSpPr txBox="1"/>
          <p:nvPr/>
        </p:nvSpPr>
        <p:spPr>
          <a:xfrm>
            <a:off x="7376008" y="434340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S5 · Ateliers en situation réelle</a:t>
            </a:r>
            <a:endParaRPr lang="en-US" sz="1350" dirty="0"/>
          </a:p>
        </p:txBody>
      </p:sp>
      <p:sp>
        <p:nvSpPr>
          <p:cNvPr id="42" name="Shape 39"/>
          <p:cNvSpPr/>
          <p:nvPr/>
        </p:nvSpPr>
        <p:spPr>
          <a:xfrm>
            <a:off x="9951415" y="4498848"/>
            <a:ext cx="1554480" cy="347472"/>
          </a:xfrm>
          <a:prstGeom prst="roundRect">
            <a:avLst>
              <a:gd name="adj" fmla="val 50000"/>
            </a:avLst>
          </a:prstGeom>
          <a:solidFill>
            <a:srgbClr val="F0EF96"/>
          </a:solidFill>
          <a:ln w="12700">
            <a:solidFill>
              <a:srgbClr val="F0EF96"/>
            </a:solidFill>
            <a:prstDash val="solid"/>
          </a:ln>
        </p:spPr>
      </p:sp>
      <p:sp>
        <p:nvSpPr>
          <p:cNvPr id="43" name="Text 40"/>
          <p:cNvSpPr txBox="1"/>
          <p:nvPr/>
        </p:nvSpPr>
        <p:spPr>
          <a:xfrm>
            <a:off x="9951415" y="4498848"/>
            <a:ext cx="155448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44" name="Shape 41"/>
          <p:cNvSpPr/>
          <p:nvPr/>
        </p:nvSpPr>
        <p:spPr>
          <a:xfrm>
            <a:off x="6324448" y="5166360"/>
            <a:ext cx="5318608" cy="658368"/>
          </a:xfrm>
          <a:prstGeom prst="roundRect">
            <a:avLst>
              <a:gd name="adj" fmla="val 11111"/>
            </a:avLst>
          </a:prstGeom>
          <a:solidFill>
            <a:srgbClr val="EEEDF5"/>
          </a:solidFill>
          <a:ln w="12700">
            <a:solidFill>
              <a:srgbClr val="EEEDF5"/>
            </a:solidFill>
            <a:prstDash val="solid"/>
          </a:ln>
        </p:spPr>
      </p:sp>
      <p:sp>
        <p:nvSpPr>
          <p:cNvPr id="45" name="Text 42"/>
          <p:cNvSpPr txBox="1"/>
          <p:nvPr/>
        </p:nvSpPr>
        <p:spPr>
          <a:xfrm>
            <a:off x="6461608" y="5166360"/>
            <a:ext cx="914400" cy="658368"/>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40 min</a:t>
            </a:r>
            <a:endParaRPr lang="en-US" sz="1300" dirty="0"/>
          </a:p>
        </p:txBody>
      </p:sp>
      <p:sp>
        <p:nvSpPr>
          <p:cNvPr id="46" name="Text 43"/>
          <p:cNvSpPr txBox="1"/>
          <p:nvPr/>
        </p:nvSpPr>
        <p:spPr>
          <a:xfrm>
            <a:off x="7376008" y="5166360"/>
            <a:ext cx="2483968" cy="658368"/>
          </a:xfrm>
          <a:prstGeom prst="rect">
            <a:avLst/>
          </a:prstGeom>
          <a:noFill/>
          <a:ln/>
        </p:spPr>
        <p:txBody>
          <a:bodyPr wrap="square" lIns="0" tIns="0" rIns="0" bIns="0" rtlCol="0" anchor="ctr"/>
          <a:lstStyle/>
          <a:p>
            <a:pPr indent="0" marL="0">
              <a:buNone/>
            </a:pPr>
            <a:r>
              <a:rPr lang="en-US" sz="1350" dirty="0">
                <a:solidFill>
                  <a:srgbClr val="0A032B"/>
                </a:solidFill>
                <a:latin typeface="Arial" pitchFamily="34" charset="0"/>
                <a:ea typeface="Arial" pitchFamily="34" charset="-122"/>
                <a:cs typeface="Arial" pitchFamily="34" charset="-120"/>
              </a:rPr>
              <a:t>QCM, bilan et débriefing final</a:t>
            </a:r>
            <a:endParaRPr lang="en-US" sz="1350" dirty="0"/>
          </a:p>
        </p:txBody>
      </p:sp>
      <p:sp>
        <p:nvSpPr>
          <p:cNvPr id="47" name="Shape 44"/>
          <p:cNvSpPr/>
          <p:nvPr/>
        </p:nvSpPr>
        <p:spPr>
          <a:xfrm>
            <a:off x="9951415" y="5321808"/>
            <a:ext cx="1554480" cy="347472"/>
          </a:xfrm>
          <a:prstGeom prst="roundRect">
            <a:avLst>
              <a:gd name="adj" fmla="val 50000"/>
            </a:avLst>
          </a:prstGeom>
          <a:solidFill>
            <a:srgbClr val="35305C"/>
          </a:solidFill>
          <a:ln w="12700">
            <a:solidFill>
              <a:srgbClr val="35305C"/>
            </a:solidFill>
            <a:prstDash val="solid"/>
          </a:ln>
        </p:spPr>
      </p:sp>
      <p:sp>
        <p:nvSpPr>
          <p:cNvPr id="48" name="Text 45"/>
          <p:cNvSpPr txBox="1"/>
          <p:nvPr/>
        </p:nvSpPr>
        <p:spPr>
          <a:xfrm>
            <a:off x="9951415" y="5321808"/>
            <a:ext cx="155448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 cadre réglementaire</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Ouverture</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63040"/>
            <a:ext cx="3515258" cy="3566160"/>
          </a:xfrm>
          <a:prstGeom prst="roundRect">
            <a:avLst>
              <a:gd name="adj" fmla="val 2081"/>
            </a:avLst>
          </a:prstGeom>
          <a:solidFill>
            <a:srgbClr val="EEEDF5"/>
          </a:solidFill>
          <a:ln w="12700">
            <a:solidFill>
              <a:srgbClr val="EEEDF5"/>
            </a:solidFill>
            <a:prstDash val="solid"/>
          </a:ln>
        </p:spPr>
      </p:sp>
      <p:sp>
        <p:nvSpPr>
          <p:cNvPr id="8" name="Shape 5"/>
          <p:cNvSpPr/>
          <p:nvPr/>
        </p:nvSpPr>
        <p:spPr>
          <a:xfrm>
            <a:off x="822960" y="1737360"/>
            <a:ext cx="548640" cy="54864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960120" y="1874520"/>
            <a:ext cx="274320" cy="274320"/>
          </a:xfrm>
          <a:prstGeom prst="rect">
            <a:avLst/>
          </a:prstGeom>
        </p:spPr>
      </p:pic>
      <p:sp>
        <p:nvSpPr>
          <p:cNvPr id="10" name="Text 6"/>
          <p:cNvSpPr txBox="1"/>
          <p:nvPr/>
        </p:nvSpPr>
        <p:spPr>
          <a:xfrm>
            <a:off x="1554480" y="1691640"/>
            <a:ext cx="2326538" cy="685800"/>
          </a:xfrm>
          <a:prstGeom prst="rect">
            <a:avLst/>
          </a:prstGeom>
          <a:noFill/>
          <a:ln/>
        </p:spPr>
        <p:txBody>
          <a:bodyPr wrap="square" lIns="0" tIns="0" rIns="0" bIns="0" rtlCol="0" anchor="ctr"/>
          <a:lstStyle/>
          <a:p>
            <a:pPr indent="0" marL="0">
              <a:buNone/>
            </a:pPr>
            <a:r>
              <a:rPr lang="en-US" sz="1700" b="1" dirty="0">
                <a:solidFill>
                  <a:srgbClr val="0A032B"/>
                </a:solidFill>
                <a:latin typeface="Montserrat" pitchFamily="34" charset="0"/>
                <a:ea typeface="Montserrat" pitchFamily="34" charset="-122"/>
                <a:cs typeface="Montserrat" pitchFamily="34" charset="-120"/>
              </a:rPr>
              <a:t>Art. L.4121-1</a:t>
            </a:r>
            <a:endParaRPr lang="en-US" sz="1700" dirty="0"/>
          </a:p>
          <a:p>
            <a:pPr indent="0" marL="0">
              <a:buNone/>
            </a:pPr>
            <a:r>
              <a:rPr lang="en-US" sz="1200" dirty="0">
                <a:solidFill>
                  <a:srgbClr val="5E5A78"/>
                </a:solidFill>
                <a:latin typeface="Arial" pitchFamily="34" charset="0"/>
                <a:ea typeface="Arial" pitchFamily="34" charset="-122"/>
                <a:cs typeface="Arial" pitchFamily="34" charset="-120"/>
              </a:rPr>
              <a:t>Code du travail</a:t>
            </a:r>
            <a:endParaRPr lang="en-US" sz="1700" dirty="0"/>
          </a:p>
        </p:txBody>
      </p:sp>
      <p:sp>
        <p:nvSpPr>
          <p:cNvPr id="11" name="Text 7"/>
          <p:cNvSpPr txBox="1"/>
          <p:nvPr/>
        </p:nvSpPr>
        <p:spPr>
          <a:xfrm>
            <a:off x="822960" y="2560320"/>
            <a:ext cx="2966618" cy="2286000"/>
          </a:xfrm>
          <a:prstGeom prst="rect">
            <a:avLst/>
          </a:prstGeom>
          <a:noFill/>
          <a:ln/>
        </p:spPr>
        <p:txBody>
          <a:bodyPr wrap="square" lIns="0" tIns="0" rIns="0" bIns="0" rtlCol="0" anchor="t"/>
          <a:lstStyle/>
          <a:p>
            <a:pPr indent="0" marL="0">
              <a:buNone/>
            </a:pPr>
            <a:r>
              <a:rPr lang="en-US" sz="1550" dirty="0">
                <a:solidFill>
                  <a:srgbClr val="35305C"/>
                </a:solidFill>
                <a:latin typeface="Arial" pitchFamily="34" charset="0"/>
                <a:ea typeface="Arial" pitchFamily="34" charset="-122"/>
                <a:cs typeface="Arial" pitchFamily="34" charset="-120"/>
              </a:rPr>
              <a:t>L'employeur prend les mesures nécessaires pour assurer la sécurité et protéger la santé physique et mentale des travailleurs : prévention, information, formation, organisation et moyens adaptés.</a:t>
            </a:r>
            <a:endParaRPr lang="en-US" sz="1550" dirty="0"/>
          </a:p>
        </p:txBody>
      </p:sp>
      <p:sp>
        <p:nvSpPr>
          <p:cNvPr id="12" name="Shape 8"/>
          <p:cNvSpPr/>
          <p:nvPr/>
        </p:nvSpPr>
        <p:spPr>
          <a:xfrm>
            <a:off x="4338218" y="1463040"/>
            <a:ext cx="3515258" cy="3566160"/>
          </a:xfrm>
          <a:prstGeom prst="roundRect">
            <a:avLst>
              <a:gd name="adj" fmla="val 2081"/>
            </a:avLst>
          </a:prstGeom>
          <a:solidFill>
            <a:srgbClr val="EEEDF5"/>
          </a:solidFill>
          <a:ln w="12700">
            <a:solidFill>
              <a:srgbClr val="EEEDF5"/>
            </a:solidFill>
            <a:prstDash val="solid"/>
          </a:ln>
        </p:spPr>
      </p:sp>
      <p:sp>
        <p:nvSpPr>
          <p:cNvPr id="13" name="Shape 9"/>
          <p:cNvSpPr/>
          <p:nvPr/>
        </p:nvSpPr>
        <p:spPr>
          <a:xfrm>
            <a:off x="4612538" y="1737360"/>
            <a:ext cx="548640" cy="54864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4749698" y="1874520"/>
            <a:ext cx="274320" cy="274320"/>
          </a:xfrm>
          <a:prstGeom prst="rect">
            <a:avLst/>
          </a:prstGeom>
        </p:spPr>
      </p:pic>
      <p:sp>
        <p:nvSpPr>
          <p:cNvPr id="15" name="Text 10"/>
          <p:cNvSpPr txBox="1"/>
          <p:nvPr/>
        </p:nvSpPr>
        <p:spPr>
          <a:xfrm>
            <a:off x="5344058" y="1691640"/>
            <a:ext cx="2326538" cy="685800"/>
          </a:xfrm>
          <a:prstGeom prst="rect">
            <a:avLst/>
          </a:prstGeom>
          <a:noFill/>
          <a:ln/>
        </p:spPr>
        <p:txBody>
          <a:bodyPr wrap="square" lIns="0" tIns="0" rIns="0" bIns="0" rtlCol="0" anchor="ctr"/>
          <a:lstStyle/>
          <a:p>
            <a:pPr indent="0" marL="0">
              <a:buNone/>
            </a:pPr>
            <a:r>
              <a:rPr lang="en-US" sz="1700" b="1" dirty="0">
                <a:solidFill>
                  <a:srgbClr val="0A032B"/>
                </a:solidFill>
                <a:latin typeface="Montserrat" pitchFamily="34" charset="0"/>
                <a:ea typeface="Montserrat" pitchFamily="34" charset="-122"/>
                <a:cs typeface="Montserrat" pitchFamily="34" charset="-120"/>
              </a:rPr>
              <a:t>Art. R.4541-1 et s.</a:t>
            </a:r>
            <a:endParaRPr lang="en-US" sz="1700" dirty="0"/>
          </a:p>
          <a:p>
            <a:pPr indent="0" marL="0">
              <a:buNone/>
            </a:pPr>
            <a:r>
              <a:rPr lang="en-US" sz="1200" dirty="0">
                <a:solidFill>
                  <a:srgbClr val="5E5A78"/>
                </a:solidFill>
                <a:latin typeface="Arial" pitchFamily="34" charset="0"/>
                <a:ea typeface="Arial" pitchFamily="34" charset="-122"/>
                <a:cs typeface="Arial" pitchFamily="34" charset="-120"/>
              </a:rPr>
              <a:t>Code du travail</a:t>
            </a:r>
            <a:endParaRPr lang="en-US" sz="1700" dirty="0"/>
          </a:p>
        </p:txBody>
      </p:sp>
      <p:sp>
        <p:nvSpPr>
          <p:cNvPr id="16" name="Text 11"/>
          <p:cNvSpPr txBox="1"/>
          <p:nvPr/>
        </p:nvSpPr>
        <p:spPr>
          <a:xfrm>
            <a:off x="4612538" y="2560320"/>
            <a:ext cx="2966618" cy="2286000"/>
          </a:xfrm>
          <a:prstGeom prst="rect">
            <a:avLst/>
          </a:prstGeom>
          <a:noFill/>
          <a:ln/>
        </p:spPr>
        <p:txBody>
          <a:bodyPr wrap="square" lIns="0" tIns="0" rIns="0" bIns="0" rtlCol="0" anchor="t"/>
          <a:lstStyle/>
          <a:p>
            <a:pPr indent="0" marL="0">
              <a:buNone/>
            </a:pPr>
            <a:r>
              <a:rPr lang="en-US" sz="1550" dirty="0">
                <a:solidFill>
                  <a:srgbClr val="35305C"/>
                </a:solidFill>
                <a:latin typeface="Arial" pitchFamily="34" charset="0"/>
                <a:ea typeface="Arial" pitchFamily="34" charset="-122"/>
                <a:cs typeface="Arial" pitchFamily="34" charset="-120"/>
              </a:rPr>
              <a:t>Manutention manuelle des charges : éviter le recours à la manutention manuelle, sinon évaluer les risques, fournir les aides mécaniques, informer et former les travailleurs aux gestes et postures.</a:t>
            </a:r>
            <a:endParaRPr lang="en-US" sz="1550" dirty="0"/>
          </a:p>
        </p:txBody>
      </p:sp>
      <p:sp>
        <p:nvSpPr>
          <p:cNvPr id="17" name="Shape 12"/>
          <p:cNvSpPr/>
          <p:nvPr/>
        </p:nvSpPr>
        <p:spPr>
          <a:xfrm>
            <a:off x="8127797" y="1463040"/>
            <a:ext cx="3515258" cy="3566160"/>
          </a:xfrm>
          <a:prstGeom prst="roundRect">
            <a:avLst>
              <a:gd name="adj" fmla="val 2081"/>
            </a:avLst>
          </a:prstGeom>
          <a:solidFill>
            <a:srgbClr val="EEEDF5"/>
          </a:solidFill>
          <a:ln w="12700">
            <a:solidFill>
              <a:srgbClr val="EEEDF5"/>
            </a:solidFill>
            <a:prstDash val="solid"/>
          </a:ln>
        </p:spPr>
      </p:sp>
      <p:sp>
        <p:nvSpPr>
          <p:cNvPr id="18" name="Shape 13"/>
          <p:cNvSpPr/>
          <p:nvPr/>
        </p:nvSpPr>
        <p:spPr>
          <a:xfrm>
            <a:off x="8402117" y="1737360"/>
            <a:ext cx="548640" cy="548640"/>
          </a:xfrm>
          <a:prstGeom prst="ellipse">
            <a:avLst/>
          </a:prstGeom>
          <a:solidFill>
            <a:srgbClr val="0A032B"/>
          </a:solidFill>
          <a:ln w="12700">
            <a:solidFill>
              <a:srgbClr val="0A032B"/>
            </a:solidFill>
            <a:prstDash val="solid"/>
          </a:ln>
        </p:spPr>
      </p:sp>
      <p:pic>
        <p:nvPicPr>
          <p:cNvPr id="19" name="Image 3" descr="preencoded.png">    </p:cNvPr>
          <p:cNvPicPr>
            <a:picLocks noChangeAspect="1"/>
          </p:cNvPicPr>
          <p:nvPr/>
        </p:nvPicPr>
        <p:blipFill>
          <a:blip r:embed="rId4"/>
          <a:stretch>
            <a:fillRect/>
          </a:stretch>
        </p:blipFill>
        <p:spPr>
          <a:xfrm>
            <a:off x="8539277" y="1874520"/>
            <a:ext cx="274320" cy="274320"/>
          </a:xfrm>
          <a:prstGeom prst="rect">
            <a:avLst/>
          </a:prstGeom>
        </p:spPr>
      </p:pic>
      <p:sp>
        <p:nvSpPr>
          <p:cNvPr id="20" name="Text 14"/>
          <p:cNvSpPr txBox="1"/>
          <p:nvPr/>
        </p:nvSpPr>
        <p:spPr>
          <a:xfrm>
            <a:off x="9133637" y="1691640"/>
            <a:ext cx="2326538" cy="685800"/>
          </a:xfrm>
          <a:prstGeom prst="rect">
            <a:avLst/>
          </a:prstGeom>
          <a:noFill/>
          <a:ln/>
        </p:spPr>
        <p:txBody>
          <a:bodyPr wrap="square" lIns="0" tIns="0" rIns="0" bIns="0" rtlCol="0" anchor="ctr"/>
          <a:lstStyle/>
          <a:p>
            <a:pPr indent="0" marL="0">
              <a:buNone/>
            </a:pPr>
            <a:r>
              <a:rPr lang="en-US" sz="1700" b="1" dirty="0">
                <a:solidFill>
                  <a:srgbClr val="0A032B"/>
                </a:solidFill>
                <a:latin typeface="Montserrat" pitchFamily="34" charset="0"/>
                <a:ea typeface="Montserrat" pitchFamily="34" charset="-122"/>
                <a:cs typeface="Montserrat" pitchFamily="34" charset="-120"/>
              </a:rPr>
              <a:t>Décret n° 85-603</a:t>
            </a:r>
            <a:endParaRPr lang="en-US" sz="1700" dirty="0"/>
          </a:p>
          <a:p>
            <a:pPr indent="0" marL="0">
              <a:buNone/>
            </a:pPr>
            <a:r>
              <a:rPr lang="en-US" sz="1200" dirty="0">
                <a:solidFill>
                  <a:srgbClr val="5E5A78"/>
                </a:solidFill>
                <a:latin typeface="Arial" pitchFamily="34" charset="0"/>
                <a:ea typeface="Arial" pitchFamily="34" charset="-122"/>
                <a:cs typeface="Arial" pitchFamily="34" charset="-120"/>
              </a:rPr>
              <a:t>du 10 juin 1985</a:t>
            </a:r>
            <a:endParaRPr lang="en-US" sz="1700" dirty="0"/>
          </a:p>
        </p:txBody>
      </p:sp>
      <p:sp>
        <p:nvSpPr>
          <p:cNvPr id="21" name="Text 15"/>
          <p:cNvSpPr txBox="1"/>
          <p:nvPr/>
        </p:nvSpPr>
        <p:spPr>
          <a:xfrm>
            <a:off x="8402117" y="2560320"/>
            <a:ext cx="2966618" cy="2286000"/>
          </a:xfrm>
          <a:prstGeom prst="rect">
            <a:avLst/>
          </a:prstGeom>
          <a:noFill/>
          <a:ln/>
        </p:spPr>
        <p:txBody>
          <a:bodyPr wrap="square" lIns="0" tIns="0" rIns="0" bIns="0" rtlCol="0" anchor="t"/>
          <a:lstStyle/>
          <a:p>
            <a:pPr indent="0" marL="0">
              <a:buNone/>
            </a:pPr>
            <a:r>
              <a:rPr lang="en-US" sz="1550" dirty="0">
                <a:solidFill>
                  <a:srgbClr val="35305C"/>
                </a:solidFill>
                <a:latin typeface="Arial" pitchFamily="34" charset="0"/>
                <a:ea typeface="Arial" pitchFamily="34" charset="-122"/>
                <a:cs typeface="Arial" pitchFamily="34" charset="-120"/>
              </a:rPr>
              <a:t>Dans la fonction publique territoriale, les autorités territoriales sont chargées de veiller à la sécurité et à la protection de la santé des agents placés sous leur autorité.</a:t>
            </a:r>
            <a:endParaRPr lang="en-US" sz="1550" dirty="0"/>
          </a:p>
        </p:txBody>
      </p:sp>
      <p:sp>
        <p:nvSpPr>
          <p:cNvPr id="22" name="Shape 16"/>
          <p:cNvSpPr/>
          <p:nvPr/>
        </p:nvSpPr>
        <p:spPr>
          <a:xfrm>
            <a:off x="548640" y="5257800"/>
            <a:ext cx="11094415" cy="777240"/>
          </a:xfrm>
          <a:prstGeom prst="roundRect">
            <a:avLst>
              <a:gd name="adj" fmla="val 9412"/>
            </a:avLst>
          </a:prstGeom>
          <a:solidFill>
            <a:srgbClr val="F0EF96"/>
          </a:solidFill>
          <a:ln w="12700">
            <a:solidFill>
              <a:srgbClr val="F0EF96"/>
            </a:solidFill>
            <a:prstDash val="solid"/>
          </a:ln>
        </p:spPr>
      </p:sp>
      <p:sp>
        <p:nvSpPr>
          <p:cNvPr id="23" name="Text 17"/>
          <p:cNvSpPr txBox="1"/>
          <p:nvPr/>
        </p:nvSpPr>
        <p:spPr>
          <a:xfrm>
            <a:off x="777240" y="5257800"/>
            <a:ext cx="10637215" cy="7772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Pourquoi l'élu est concerné ?  </a:t>
            </a:r>
            <a:pPr indent="0" marL="0">
              <a:buNone/>
            </a:pPr>
            <a:r>
              <a:rPr lang="en-US" sz="1400" dirty="0">
                <a:solidFill>
                  <a:srgbClr val="0A032B"/>
                </a:solidFill>
                <a:latin typeface="Arial" pitchFamily="34" charset="0"/>
                <a:ea typeface="Arial" pitchFamily="34" charset="-122"/>
                <a:cs typeface="Arial" pitchFamily="34" charset="-120"/>
              </a:rPr>
              <a:t>comme personne exposée dans son mandat, et comme représentant de l'autorité territoriale, responsable de la santé et de la sécurité des agents.</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01</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SÉQUENCE 1</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Comprendre son dos et les troubles musculo-squelettiques</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Identifier les atteintes de l'appareil locomoteur et leurs facteurs de risque, notamment dans l'exercice du mandat.</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60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 dos et les TMS en quelques chiffres</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554480"/>
            <a:ext cx="3515258" cy="2926080"/>
          </a:xfrm>
          <a:prstGeom prst="roundRect">
            <a:avLst>
              <a:gd name="adj" fmla="val 2500"/>
            </a:avLst>
          </a:prstGeom>
          <a:solidFill>
            <a:srgbClr val="EEEDF5"/>
          </a:solidFill>
          <a:ln w="12700">
            <a:solidFill>
              <a:srgbClr val="EEEDF5"/>
            </a:solidFill>
            <a:prstDash val="solid"/>
          </a:ln>
        </p:spPr>
      </p:sp>
      <p:sp>
        <p:nvSpPr>
          <p:cNvPr id="8" name="Text 5"/>
          <p:cNvSpPr txBox="1"/>
          <p:nvPr/>
        </p:nvSpPr>
        <p:spPr>
          <a:xfrm>
            <a:off x="822960" y="1828800"/>
            <a:ext cx="2966618" cy="1188720"/>
          </a:xfrm>
          <a:prstGeom prst="rect">
            <a:avLst/>
          </a:prstGeom>
          <a:noFill/>
          <a:ln/>
        </p:spPr>
        <p:txBody>
          <a:bodyPr wrap="square" lIns="0" tIns="0" rIns="0" bIns="0" rtlCol="0" anchor="ctr"/>
          <a:lstStyle/>
          <a:p>
            <a:pPr indent="0" marL="0">
              <a:buNone/>
            </a:pPr>
            <a:r>
              <a:rPr lang="en-US" sz="6000" b="1" dirty="0">
                <a:solidFill>
                  <a:srgbClr val="0A032B"/>
                </a:solidFill>
                <a:latin typeface="Montserrat" pitchFamily="34" charset="0"/>
                <a:ea typeface="Montserrat" pitchFamily="34" charset="-122"/>
                <a:cs typeface="Montserrat" pitchFamily="34" charset="-120"/>
              </a:rPr>
              <a:t>4 / 5</a:t>
            </a:r>
            <a:endParaRPr lang="en-US" sz="6000" dirty="0"/>
          </a:p>
        </p:txBody>
      </p:sp>
      <p:sp>
        <p:nvSpPr>
          <p:cNvPr id="9" name="Text 6"/>
          <p:cNvSpPr txBox="1"/>
          <p:nvPr/>
        </p:nvSpPr>
        <p:spPr>
          <a:xfrm>
            <a:off x="822960" y="3108960"/>
            <a:ext cx="2966618" cy="1097280"/>
          </a:xfrm>
          <a:prstGeom prst="rect">
            <a:avLst/>
          </a:prstGeom>
          <a:noFill/>
          <a:ln/>
        </p:spPr>
        <p:txBody>
          <a:bodyPr wrap="square" lIns="0" tIns="0" rIns="0" bIns="0" rtlCol="0" anchor="t"/>
          <a:lstStyle/>
          <a:p>
            <a:pPr indent="0" marL="0">
              <a:buNone/>
            </a:pPr>
            <a:r>
              <a:rPr lang="en-US" sz="1600" dirty="0">
                <a:solidFill>
                  <a:srgbClr val="35305C"/>
                </a:solidFill>
                <a:latin typeface="Arial" pitchFamily="34" charset="0"/>
                <a:ea typeface="Arial" pitchFamily="34" charset="-122"/>
                <a:cs typeface="Arial" pitchFamily="34" charset="-120"/>
              </a:rPr>
              <a:t>personnes souffriront du dos au cours de leur vie</a:t>
            </a:r>
            <a:endParaRPr lang="en-US" sz="1600" dirty="0"/>
          </a:p>
        </p:txBody>
      </p:sp>
      <p:sp>
        <p:nvSpPr>
          <p:cNvPr id="10" name="Shape 7"/>
          <p:cNvSpPr/>
          <p:nvPr/>
        </p:nvSpPr>
        <p:spPr>
          <a:xfrm>
            <a:off x="4338218" y="1554480"/>
            <a:ext cx="3515258" cy="2926080"/>
          </a:xfrm>
          <a:prstGeom prst="roundRect">
            <a:avLst>
              <a:gd name="adj" fmla="val 2500"/>
            </a:avLst>
          </a:prstGeom>
          <a:solidFill>
            <a:srgbClr val="0A032B"/>
          </a:solidFill>
          <a:ln w="12700">
            <a:solidFill>
              <a:srgbClr val="0A032B"/>
            </a:solidFill>
            <a:prstDash val="solid"/>
          </a:ln>
        </p:spPr>
      </p:sp>
      <p:sp>
        <p:nvSpPr>
          <p:cNvPr id="11" name="Text 8"/>
          <p:cNvSpPr txBox="1"/>
          <p:nvPr/>
        </p:nvSpPr>
        <p:spPr>
          <a:xfrm>
            <a:off x="4612538" y="1828800"/>
            <a:ext cx="2966618" cy="1188720"/>
          </a:xfrm>
          <a:prstGeom prst="rect">
            <a:avLst/>
          </a:prstGeom>
          <a:noFill/>
          <a:ln/>
        </p:spPr>
        <p:txBody>
          <a:bodyPr wrap="square" lIns="0" tIns="0" rIns="0" bIns="0" rtlCol="0" anchor="ctr"/>
          <a:lstStyle/>
          <a:p>
            <a:pPr indent="0" marL="0">
              <a:buNone/>
            </a:pPr>
            <a:r>
              <a:rPr lang="en-US" sz="6000" b="1" dirty="0">
                <a:solidFill>
                  <a:srgbClr val="F0EF96"/>
                </a:solidFill>
                <a:latin typeface="Montserrat" pitchFamily="34" charset="0"/>
                <a:ea typeface="Montserrat" pitchFamily="34" charset="-122"/>
                <a:cs typeface="Montserrat" pitchFamily="34" charset="-120"/>
              </a:rPr>
              <a:t>≈ 87 %</a:t>
            </a:r>
            <a:endParaRPr lang="en-US" sz="6000" dirty="0"/>
          </a:p>
        </p:txBody>
      </p:sp>
      <p:sp>
        <p:nvSpPr>
          <p:cNvPr id="12" name="Text 9"/>
          <p:cNvSpPr txBox="1"/>
          <p:nvPr/>
        </p:nvSpPr>
        <p:spPr>
          <a:xfrm>
            <a:off x="4612538" y="3108960"/>
            <a:ext cx="2966618" cy="109728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des maladies professionnelles reconnues sont des TMS</a:t>
            </a:r>
            <a:endParaRPr lang="en-US" sz="1600" dirty="0"/>
          </a:p>
        </p:txBody>
      </p:sp>
      <p:sp>
        <p:nvSpPr>
          <p:cNvPr id="13" name="Shape 10"/>
          <p:cNvSpPr/>
          <p:nvPr/>
        </p:nvSpPr>
        <p:spPr>
          <a:xfrm>
            <a:off x="8127797" y="1554480"/>
            <a:ext cx="3515258" cy="2926080"/>
          </a:xfrm>
          <a:prstGeom prst="roundRect">
            <a:avLst>
              <a:gd name="adj" fmla="val 2500"/>
            </a:avLst>
          </a:prstGeom>
          <a:solidFill>
            <a:srgbClr val="EEEDF5"/>
          </a:solidFill>
          <a:ln w="12700">
            <a:solidFill>
              <a:srgbClr val="EEEDF5"/>
            </a:solidFill>
            <a:prstDash val="solid"/>
          </a:ln>
        </p:spPr>
      </p:sp>
      <p:sp>
        <p:nvSpPr>
          <p:cNvPr id="14" name="Text 11"/>
          <p:cNvSpPr txBox="1"/>
          <p:nvPr/>
        </p:nvSpPr>
        <p:spPr>
          <a:xfrm>
            <a:off x="8402117" y="1828800"/>
            <a:ext cx="2966618" cy="1188720"/>
          </a:xfrm>
          <a:prstGeom prst="rect">
            <a:avLst/>
          </a:prstGeom>
          <a:noFill/>
          <a:ln/>
        </p:spPr>
        <p:txBody>
          <a:bodyPr wrap="square" lIns="0" tIns="0" rIns="0" bIns="0" rtlCol="0" anchor="ctr"/>
          <a:lstStyle/>
          <a:p>
            <a:pPr indent="0" marL="0">
              <a:buNone/>
            </a:pPr>
            <a:r>
              <a:rPr lang="en-US" sz="6000" b="1" dirty="0">
                <a:solidFill>
                  <a:srgbClr val="0A032B"/>
                </a:solidFill>
                <a:latin typeface="Montserrat" pitchFamily="34" charset="0"/>
                <a:ea typeface="Montserrat" pitchFamily="34" charset="-122"/>
                <a:cs typeface="Montserrat" pitchFamily="34" charset="-120"/>
              </a:rPr>
              <a:t>≈ 20 %</a:t>
            </a:r>
            <a:endParaRPr lang="en-US" sz="6000" dirty="0"/>
          </a:p>
        </p:txBody>
      </p:sp>
      <p:sp>
        <p:nvSpPr>
          <p:cNvPr id="15" name="Text 12"/>
          <p:cNvSpPr txBox="1"/>
          <p:nvPr/>
        </p:nvSpPr>
        <p:spPr>
          <a:xfrm>
            <a:off x="8402117" y="3108960"/>
            <a:ext cx="2966618" cy="1097280"/>
          </a:xfrm>
          <a:prstGeom prst="rect">
            <a:avLst/>
          </a:prstGeom>
          <a:noFill/>
          <a:ln/>
        </p:spPr>
        <p:txBody>
          <a:bodyPr wrap="square" lIns="0" tIns="0" rIns="0" bIns="0" rtlCol="0" anchor="t"/>
          <a:lstStyle/>
          <a:p>
            <a:pPr indent="0" marL="0">
              <a:buNone/>
            </a:pPr>
            <a:r>
              <a:rPr lang="en-US" sz="1600" dirty="0">
                <a:solidFill>
                  <a:srgbClr val="35305C"/>
                </a:solidFill>
                <a:latin typeface="Arial" pitchFamily="34" charset="0"/>
                <a:ea typeface="Arial" pitchFamily="34" charset="-122"/>
                <a:cs typeface="Arial" pitchFamily="34" charset="-120"/>
              </a:rPr>
              <a:t>des accidents du travail sont liés au mal de dos</a:t>
            </a:r>
            <a:endParaRPr lang="en-US" sz="1600" dirty="0"/>
          </a:p>
        </p:txBody>
      </p:sp>
      <p:sp>
        <p:nvSpPr>
          <p:cNvPr id="16" name="Shape 13"/>
          <p:cNvSpPr/>
          <p:nvPr/>
        </p:nvSpPr>
        <p:spPr>
          <a:xfrm>
            <a:off x="548640" y="4892040"/>
            <a:ext cx="548640" cy="548640"/>
          </a:xfrm>
          <a:prstGeom prst="ellipse">
            <a:avLst/>
          </a:prstGeom>
          <a:solidFill>
            <a:srgbClr val="F0EF96"/>
          </a:solidFill>
          <a:ln w="12700">
            <a:solidFill>
              <a:srgbClr val="F0EF96"/>
            </a:solidFill>
            <a:prstDash val="solid"/>
          </a:ln>
        </p:spPr>
      </p:sp>
      <p:pic>
        <p:nvPicPr>
          <p:cNvPr id="17" name="Image 1" descr="preencoded.png">    </p:cNvPr>
          <p:cNvPicPr>
            <a:picLocks noChangeAspect="1"/>
          </p:cNvPicPr>
          <p:nvPr/>
        </p:nvPicPr>
        <p:blipFill>
          <a:blip r:embed="rId2"/>
          <a:stretch>
            <a:fillRect/>
          </a:stretch>
        </p:blipFill>
        <p:spPr>
          <a:xfrm>
            <a:off x="685800" y="5029200"/>
            <a:ext cx="274320" cy="274320"/>
          </a:xfrm>
          <a:prstGeom prst="rect">
            <a:avLst/>
          </a:prstGeom>
        </p:spPr>
      </p:pic>
      <p:sp>
        <p:nvSpPr>
          <p:cNvPr id="18" name="Text 14"/>
          <p:cNvSpPr txBox="1"/>
          <p:nvPr/>
        </p:nvSpPr>
        <p:spPr>
          <a:xfrm>
            <a:off x="1280160" y="4846320"/>
            <a:ext cx="10362895" cy="64008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Question au groupe : </a:t>
            </a:r>
            <a:pPr indent="0" marL="0">
              <a:buNone/>
            </a:pPr>
            <a:r>
              <a:rPr lang="en-US" sz="1500" dirty="0">
                <a:solidFill>
                  <a:srgbClr val="0A032B"/>
                </a:solidFill>
                <a:latin typeface="Arial" pitchFamily="34" charset="0"/>
                <a:ea typeface="Arial" pitchFamily="34" charset="-122"/>
                <a:cs typeface="Arial" pitchFamily="34" charset="-120"/>
              </a:rPr>
              <a:t>qui, ici, a déjà ressenti une douleur au dos, à la nuque ou aux épaules après une journée de mandat ?</a:t>
            </a:r>
            <a:endParaRPr lang="en-US" sz="1500" dirty="0"/>
          </a:p>
        </p:txBody>
      </p:sp>
      <p:sp>
        <p:nvSpPr>
          <p:cNvPr id="19" name="Text 15"/>
          <p:cNvSpPr txBox="1"/>
          <p:nvPr/>
        </p:nvSpPr>
        <p:spPr>
          <a:xfrm>
            <a:off x="548640" y="5715000"/>
            <a:ext cx="11094415" cy="320040"/>
          </a:xfrm>
          <a:prstGeom prst="rect">
            <a:avLst/>
          </a:prstGeom>
          <a:noFill/>
          <a:ln/>
        </p:spPr>
        <p:txBody>
          <a:bodyPr wrap="square" lIns="0" tIns="0" rIns="0" bIns="0" rtlCol="0" anchor="ctr"/>
          <a:lstStyle/>
          <a:p>
            <a:pPr indent="0" marL="0">
              <a:buNone/>
            </a:pPr>
            <a:r>
              <a:rPr lang="en-US" sz="1000" i="1" dirty="0">
                <a:solidFill>
                  <a:srgbClr val="5E5A78"/>
                </a:solidFill>
                <a:latin typeface="Arial" pitchFamily="34" charset="0"/>
                <a:ea typeface="Arial" pitchFamily="34" charset="-122"/>
                <a:cs typeface="Arial" pitchFamily="34" charset="-120"/>
              </a:rPr>
              <a:t>Sources : INRS, Assurance Maladie – Risques professionnels. Chiffres arrondis, à actualiser avec les dernières données publiées.</a:t>
            </a:r>
            <a:endParaRPr lang="en-US" sz="10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La colonne vertébrale</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Un pilier solide et mobile, qui protège la moelle épinière</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2035496" y="1600200"/>
            <a:ext cx="594360" cy="118872"/>
          </a:xfrm>
          <a:prstGeom prst="roundRect">
            <a:avLst>
              <a:gd name="adj" fmla="val 38462"/>
            </a:avLst>
          </a:prstGeom>
          <a:solidFill>
            <a:srgbClr val="35305C"/>
          </a:solidFill>
          <a:ln w="12700">
            <a:solidFill>
              <a:srgbClr val="35305C"/>
            </a:solidFill>
            <a:prstDash val="solid"/>
          </a:ln>
        </p:spPr>
      </p:sp>
      <p:sp>
        <p:nvSpPr>
          <p:cNvPr id="9" name="Shape 6"/>
          <p:cNvSpPr/>
          <p:nvPr/>
        </p:nvSpPr>
        <p:spPr>
          <a:xfrm>
            <a:off x="1954834" y="1755648"/>
            <a:ext cx="594360" cy="118872"/>
          </a:xfrm>
          <a:prstGeom prst="roundRect">
            <a:avLst>
              <a:gd name="adj" fmla="val 38462"/>
            </a:avLst>
          </a:prstGeom>
          <a:solidFill>
            <a:srgbClr val="35305C"/>
          </a:solidFill>
          <a:ln w="12700">
            <a:solidFill>
              <a:srgbClr val="35305C"/>
            </a:solidFill>
            <a:prstDash val="solid"/>
          </a:ln>
        </p:spPr>
      </p:sp>
      <p:sp>
        <p:nvSpPr>
          <p:cNvPr id="10" name="Shape 7"/>
          <p:cNvSpPr/>
          <p:nvPr/>
        </p:nvSpPr>
        <p:spPr>
          <a:xfrm>
            <a:off x="1899014" y="1911096"/>
            <a:ext cx="594360" cy="118872"/>
          </a:xfrm>
          <a:prstGeom prst="roundRect">
            <a:avLst>
              <a:gd name="adj" fmla="val 38462"/>
            </a:avLst>
          </a:prstGeom>
          <a:solidFill>
            <a:srgbClr val="35305C"/>
          </a:solidFill>
          <a:ln w="12700">
            <a:solidFill>
              <a:srgbClr val="35305C"/>
            </a:solidFill>
            <a:prstDash val="solid"/>
          </a:ln>
        </p:spPr>
      </p:sp>
      <p:sp>
        <p:nvSpPr>
          <p:cNvPr id="11" name="Shape 8"/>
          <p:cNvSpPr/>
          <p:nvPr/>
        </p:nvSpPr>
        <p:spPr>
          <a:xfrm>
            <a:off x="1879092" y="2066544"/>
            <a:ext cx="594360" cy="118872"/>
          </a:xfrm>
          <a:prstGeom prst="roundRect">
            <a:avLst>
              <a:gd name="adj" fmla="val 38462"/>
            </a:avLst>
          </a:prstGeom>
          <a:solidFill>
            <a:srgbClr val="35305C"/>
          </a:solidFill>
          <a:ln w="12700">
            <a:solidFill>
              <a:srgbClr val="35305C"/>
            </a:solidFill>
            <a:prstDash val="solid"/>
          </a:ln>
        </p:spPr>
      </p:sp>
      <p:sp>
        <p:nvSpPr>
          <p:cNvPr id="12" name="Shape 9"/>
          <p:cNvSpPr/>
          <p:nvPr/>
        </p:nvSpPr>
        <p:spPr>
          <a:xfrm>
            <a:off x="1899014" y="2221992"/>
            <a:ext cx="594360" cy="118872"/>
          </a:xfrm>
          <a:prstGeom prst="roundRect">
            <a:avLst>
              <a:gd name="adj" fmla="val 38462"/>
            </a:avLst>
          </a:prstGeom>
          <a:solidFill>
            <a:srgbClr val="35305C"/>
          </a:solidFill>
          <a:ln w="12700">
            <a:solidFill>
              <a:srgbClr val="35305C"/>
            </a:solidFill>
            <a:prstDash val="solid"/>
          </a:ln>
        </p:spPr>
      </p:sp>
      <p:sp>
        <p:nvSpPr>
          <p:cNvPr id="13" name="Shape 10"/>
          <p:cNvSpPr/>
          <p:nvPr/>
        </p:nvSpPr>
        <p:spPr>
          <a:xfrm>
            <a:off x="1954834" y="2377440"/>
            <a:ext cx="594360" cy="118872"/>
          </a:xfrm>
          <a:prstGeom prst="roundRect">
            <a:avLst>
              <a:gd name="adj" fmla="val 38462"/>
            </a:avLst>
          </a:prstGeom>
          <a:solidFill>
            <a:srgbClr val="35305C"/>
          </a:solidFill>
          <a:ln w="12700">
            <a:solidFill>
              <a:srgbClr val="35305C"/>
            </a:solidFill>
            <a:prstDash val="solid"/>
          </a:ln>
        </p:spPr>
      </p:sp>
      <p:sp>
        <p:nvSpPr>
          <p:cNvPr id="14" name="Shape 11"/>
          <p:cNvSpPr/>
          <p:nvPr/>
        </p:nvSpPr>
        <p:spPr>
          <a:xfrm>
            <a:off x="2035496" y="2532888"/>
            <a:ext cx="594360" cy="118872"/>
          </a:xfrm>
          <a:prstGeom prst="roundRect">
            <a:avLst>
              <a:gd name="adj" fmla="val 38462"/>
            </a:avLst>
          </a:prstGeom>
          <a:solidFill>
            <a:srgbClr val="35305C"/>
          </a:solidFill>
          <a:ln w="12700">
            <a:solidFill>
              <a:srgbClr val="35305C"/>
            </a:solidFill>
            <a:prstDash val="solid"/>
          </a:ln>
        </p:spPr>
      </p:sp>
      <p:sp>
        <p:nvSpPr>
          <p:cNvPr id="15" name="Shape 12"/>
          <p:cNvSpPr/>
          <p:nvPr/>
        </p:nvSpPr>
        <p:spPr>
          <a:xfrm>
            <a:off x="2057034" y="2688336"/>
            <a:ext cx="731520" cy="118872"/>
          </a:xfrm>
          <a:prstGeom prst="roundRect">
            <a:avLst>
              <a:gd name="adj" fmla="val 38462"/>
            </a:avLst>
          </a:prstGeom>
          <a:solidFill>
            <a:srgbClr val="0A032B"/>
          </a:solidFill>
          <a:ln w="12700">
            <a:solidFill>
              <a:srgbClr val="0A032B"/>
            </a:solidFill>
            <a:prstDash val="solid"/>
          </a:ln>
        </p:spPr>
      </p:sp>
      <p:sp>
        <p:nvSpPr>
          <p:cNvPr id="16" name="Shape 13"/>
          <p:cNvSpPr/>
          <p:nvPr/>
        </p:nvSpPr>
        <p:spPr>
          <a:xfrm>
            <a:off x="2144652" y="2843784"/>
            <a:ext cx="731520" cy="118872"/>
          </a:xfrm>
          <a:prstGeom prst="roundRect">
            <a:avLst>
              <a:gd name="adj" fmla="val 38462"/>
            </a:avLst>
          </a:prstGeom>
          <a:solidFill>
            <a:srgbClr val="0A032B"/>
          </a:solidFill>
          <a:ln w="12700">
            <a:solidFill>
              <a:srgbClr val="0A032B"/>
            </a:solidFill>
            <a:prstDash val="solid"/>
          </a:ln>
        </p:spPr>
      </p:sp>
      <p:sp>
        <p:nvSpPr>
          <p:cNvPr id="17" name="Shape 14"/>
          <p:cNvSpPr/>
          <p:nvPr/>
        </p:nvSpPr>
        <p:spPr>
          <a:xfrm>
            <a:off x="2223208" y="2999232"/>
            <a:ext cx="731520" cy="118872"/>
          </a:xfrm>
          <a:prstGeom prst="roundRect">
            <a:avLst>
              <a:gd name="adj" fmla="val 38462"/>
            </a:avLst>
          </a:prstGeom>
          <a:solidFill>
            <a:srgbClr val="0A032B"/>
          </a:solidFill>
          <a:ln w="12700">
            <a:solidFill>
              <a:srgbClr val="0A032B"/>
            </a:solidFill>
            <a:prstDash val="solid"/>
          </a:ln>
        </p:spPr>
      </p:sp>
      <p:sp>
        <p:nvSpPr>
          <p:cNvPr id="18" name="Shape 15"/>
          <p:cNvSpPr/>
          <p:nvPr/>
        </p:nvSpPr>
        <p:spPr>
          <a:xfrm>
            <a:off x="2287348" y="3154680"/>
            <a:ext cx="731520" cy="118872"/>
          </a:xfrm>
          <a:prstGeom prst="roundRect">
            <a:avLst>
              <a:gd name="adj" fmla="val 38462"/>
            </a:avLst>
          </a:prstGeom>
          <a:solidFill>
            <a:srgbClr val="0A032B"/>
          </a:solidFill>
          <a:ln w="12700">
            <a:solidFill>
              <a:srgbClr val="0A032B"/>
            </a:solidFill>
            <a:prstDash val="solid"/>
          </a:ln>
        </p:spPr>
      </p:sp>
      <p:sp>
        <p:nvSpPr>
          <p:cNvPr id="19" name="Shape 16"/>
          <p:cNvSpPr/>
          <p:nvPr/>
        </p:nvSpPr>
        <p:spPr>
          <a:xfrm>
            <a:off x="2332702" y="3310128"/>
            <a:ext cx="731520" cy="118872"/>
          </a:xfrm>
          <a:prstGeom prst="roundRect">
            <a:avLst>
              <a:gd name="adj" fmla="val 38462"/>
            </a:avLst>
          </a:prstGeom>
          <a:solidFill>
            <a:srgbClr val="0A032B"/>
          </a:solidFill>
          <a:ln w="12700">
            <a:solidFill>
              <a:srgbClr val="0A032B"/>
            </a:solidFill>
            <a:prstDash val="solid"/>
          </a:ln>
        </p:spPr>
      </p:sp>
      <p:sp>
        <p:nvSpPr>
          <p:cNvPr id="20" name="Shape 17"/>
          <p:cNvSpPr/>
          <p:nvPr/>
        </p:nvSpPr>
        <p:spPr>
          <a:xfrm>
            <a:off x="2356179" y="3465576"/>
            <a:ext cx="731520" cy="118872"/>
          </a:xfrm>
          <a:prstGeom prst="roundRect">
            <a:avLst>
              <a:gd name="adj" fmla="val 38462"/>
            </a:avLst>
          </a:prstGeom>
          <a:solidFill>
            <a:srgbClr val="0A032B"/>
          </a:solidFill>
          <a:ln w="12700">
            <a:solidFill>
              <a:srgbClr val="0A032B"/>
            </a:solidFill>
            <a:prstDash val="solid"/>
          </a:ln>
        </p:spPr>
      </p:sp>
      <p:sp>
        <p:nvSpPr>
          <p:cNvPr id="21" name="Shape 18"/>
          <p:cNvSpPr/>
          <p:nvPr/>
        </p:nvSpPr>
        <p:spPr>
          <a:xfrm>
            <a:off x="2356179" y="3621024"/>
            <a:ext cx="731520" cy="118872"/>
          </a:xfrm>
          <a:prstGeom prst="roundRect">
            <a:avLst>
              <a:gd name="adj" fmla="val 38462"/>
            </a:avLst>
          </a:prstGeom>
          <a:solidFill>
            <a:srgbClr val="0A032B"/>
          </a:solidFill>
          <a:ln w="12700">
            <a:solidFill>
              <a:srgbClr val="0A032B"/>
            </a:solidFill>
            <a:prstDash val="solid"/>
          </a:ln>
        </p:spPr>
      </p:sp>
      <p:sp>
        <p:nvSpPr>
          <p:cNvPr id="22" name="Shape 19"/>
          <p:cNvSpPr/>
          <p:nvPr/>
        </p:nvSpPr>
        <p:spPr>
          <a:xfrm>
            <a:off x="2332702" y="3776472"/>
            <a:ext cx="731520" cy="118872"/>
          </a:xfrm>
          <a:prstGeom prst="roundRect">
            <a:avLst>
              <a:gd name="adj" fmla="val 38462"/>
            </a:avLst>
          </a:prstGeom>
          <a:solidFill>
            <a:srgbClr val="0A032B"/>
          </a:solidFill>
          <a:ln w="12700">
            <a:solidFill>
              <a:srgbClr val="0A032B"/>
            </a:solidFill>
            <a:prstDash val="solid"/>
          </a:ln>
        </p:spPr>
      </p:sp>
      <p:sp>
        <p:nvSpPr>
          <p:cNvPr id="23" name="Shape 20"/>
          <p:cNvSpPr/>
          <p:nvPr/>
        </p:nvSpPr>
        <p:spPr>
          <a:xfrm>
            <a:off x="2287348" y="3931920"/>
            <a:ext cx="731520" cy="118872"/>
          </a:xfrm>
          <a:prstGeom prst="roundRect">
            <a:avLst>
              <a:gd name="adj" fmla="val 38462"/>
            </a:avLst>
          </a:prstGeom>
          <a:solidFill>
            <a:srgbClr val="0A032B"/>
          </a:solidFill>
          <a:ln w="12700">
            <a:solidFill>
              <a:srgbClr val="0A032B"/>
            </a:solidFill>
            <a:prstDash val="solid"/>
          </a:ln>
        </p:spPr>
      </p:sp>
      <p:sp>
        <p:nvSpPr>
          <p:cNvPr id="24" name="Shape 21"/>
          <p:cNvSpPr/>
          <p:nvPr/>
        </p:nvSpPr>
        <p:spPr>
          <a:xfrm>
            <a:off x="2223208" y="4087368"/>
            <a:ext cx="731520" cy="118872"/>
          </a:xfrm>
          <a:prstGeom prst="roundRect">
            <a:avLst>
              <a:gd name="adj" fmla="val 38462"/>
            </a:avLst>
          </a:prstGeom>
          <a:solidFill>
            <a:srgbClr val="0A032B"/>
          </a:solidFill>
          <a:ln w="12700">
            <a:solidFill>
              <a:srgbClr val="0A032B"/>
            </a:solidFill>
            <a:prstDash val="solid"/>
          </a:ln>
        </p:spPr>
      </p:sp>
      <p:sp>
        <p:nvSpPr>
          <p:cNvPr id="25" name="Shape 22"/>
          <p:cNvSpPr/>
          <p:nvPr/>
        </p:nvSpPr>
        <p:spPr>
          <a:xfrm>
            <a:off x="2144652" y="4242816"/>
            <a:ext cx="731520" cy="118872"/>
          </a:xfrm>
          <a:prstGeom prst="roundRect">
            <a:avLst>
              <a:gd name="adj" fmla="val 38462"/>
            </a:avLst>
          </a:prstGeom>
          <a:solidFill>
            <a:srgbClr val="0A032B"/>
          </a:solidFill>
          <a:ln w="12700">
            <a:solidFill>
              <a:srgbClr val="0A032B"/>
            </a:solidFill>
            <a:prstDash val="solid"/>
          </a:ln>
        </p:spPr>
      </p:sp>
      <p:sp>
        <p:nvSpPr>
          <p:cNvPr id="26" name="Shape 23"/>
          <p:cNvSpPr/>
          <p:nvPr/>
        </p:nvSpPr>
        <p:spPr>
          <a:xfrm>
            <a:off x="2057034" y="4398264"/>
            <a:ext cx="731520" cy="118872"/>
          </a:xfrm>
          <a:prstGeom prst="roundRect">
            <a:avLst>
              <a:gd name="adj" fmla="val 38462"/>
            </a:avLst>
          </a:prstGeom>
          <a:solidFill>
            <a:srgbClr val="0A032B"/>
          </a:solidFill>
          <a:ln w="12700">
            <a:solidFill>
              <a:srgbClr val="0A032B"/>
            </a:solidFill>
            <a:prstDash val="solid"/>
          </a:ln>
        </p:spPr>
      </p:sp>
      <p:sp>
        <p:nvSpPr>
          <p:cNvPr id="27" name="Shape 24"/>
          <p:cNvSpPr/>
          <p:nvPr/>
        </p:nvSpPr>
        <p:spPr>
          <a:xfrm>
            <a:off x="1852679" y="4553712"/>
            <a:ext cx="868680" cy="118872"/>
          </a:xfrm>
          <a:prstGeom prst="roundRect">
            <a:avLst>
              <a:gd name="adj" fmla="val 38462"/>
            </a:avLst>
          </a:prstGeom>
          <a:solidFill>
            <a:srgbClr val="D9D65A"/>
          </a:solidFill>
          <a:ln w="12700">
            <a:solidFill>
              <a:srgbClr val="D9D65A"/>
            </a:solidFill>
            <a:prstDash val="solid"/>
          </a:ln>
        </p:spPr>
      </p:sp>
      <p:sp>
        <p:nvSpPr>
          <p:cNvPr id="28" name="Shape 25"/>
          <p:cNvSpPr/>
          <p:nvPr/>
        </p:nvSpPr>
        <p:spPr>
          <a:xfrm>
            <a:off x="1706375" y="4709160"/>
            <a:ext cx="868680" cy="118872"/>
          </a:xfrm>
          <a:prstGeom prst="roundRect">
            <a:avLst>
              <a:gd name="adj" fmla="val 38462"/>
            </a:avLst>
          </a:prstGeom>
          <a:solidFill>
            <a:srgbClr val="D9D65A"/>
          </a:solidFill>
          <a:ln w="12700">
            <a:solidFill>
              <a:srgbClr val="D9D65A"/>
            </a:solidFill>
            <a:prstDash val="solid"/>
          </a:ln>
        </p:spPr>
      </p:sp>
      <p:sp>
        <p:nvSpPr>
          <p:cNvPr id="29" name="Shape 26"/>
          <p:cNvSpPr/>
          <p:nvPr/>
        </p:nvSpPr>
        <p:spPr>
          <a:xfrm>
            <a:off x="1650492" y="4864608"/>
            <a:ext cx="868680" cy="118872"/>
          </a:xfrm>
          <a:prstGeom prst="roundRect">
            <a:avLst>
              <a:gd name="adj" fmla="val 38462"/>
            </a:avLst>
          </a:prstGeom>
          <a:solidFill>
            <a:srgbClr val="D9D65A"/>
          </a:solidFill>
          <a:ln w="12700">
            <a:solidFill>
              <a:srgbClr val="D9D65A"/>
            </a:solidFill>
            <a:prstDash val="solid"/>
          </a:ln>
        </p:spPr>
      </p:sp>
      <p:sp>
        <p:nvSpPr>
          <p:cNvPr id="30" name="Shape 27"/>
          <p:cNvSpPr/>
          <p:nvPr/>
        </p:nvSpPr>
        <p:spPr>
          <a:xfrm>
            <a:off x="1706375" y="5020056"/>
            <a:ext cx="868680" cy="118872"/>
          </a:xfrm>
          <a:prstGeom prst="roundRect">
            <a:avLst>
              <a:gd name="adj" fmla="val 38462"/>
            </a:avLst>
          </a:prstGeom>
          <a:solidFill>
            <a:srgbClr val="D9D65A"/>
          </a:solidFill>
          <a:ln w="12700">
            <a:solidFill>
              <a:srgbClr val="D9D65A"/>
            </a:solidFill>
            <a:prstDash val="solid"/>
          </a:ln>
        </p:spPr>
      </p:sp>
      <p:sp>
        <p:nvSpPr>
          <p:cNvPr id="31" name="Shape 28"/>
          <p:cNvSpPr/>
          <p:nvPr/>
        </p:nvSpPr>
        <p:spPr>
          <a:xfrm>
            <a:off x="1852679" y="5175504"/>
            <a:ext cx="868680" cy="118872"/>
          </a:xfrm>
          <a:prstGeom prst="roundRect">
            <a:avLst>
              <a:gd name="adj" fmla="val 38462"/>
            </a:avLst>
          </a:prstGeom>
          <a:solidFill>
            <a:srgbClr val="D9D65A"/>
          </a:solidFill>
          <a:ln w="12700">
            <a:solidFill>
              <a:srgbClr val="D9D65A"/>
            </a:solidFill>
            <a:prstDash val="solid"/>
          </a:ln>
        </p:spPr>
      </p:sp>
      <p:sp>
        <p:nvSpPr>
          <p:cNvPr id="32" name="Shape 29"/>
          <p:cNvSpPr/>
          <p:nvPr/>
        </p:nvSpPr>
        <p:spPr>
          <a:xfrm rot="10800000">
            <a:off x="1920240" y="5349240"/>
            <a:ext cx="914400" cy="457200"/>
          </a:xfrm>
          <a:prstGeom prst="trapezoid">
            <a:avLst/>
          </a:prstGeom>
          <a:solidFill>
            <a:srgbClr val="5E5A78"/>
          </a:solidFill>
          <a:ln w="12700">
            <a:solidFill>
              <a:srgbClr val="5E5A78"/>
            </a:solidFill>
            <a:prstDash val="solid"/>
          </a:ln>
        </p:spPr>
      </p:sp>
      <p:sp>
        <p:nvSpPr>
          <p:cNvPr id="33" name="Shape 30"/>
          <p:cNvSpPr/>
          <p:nvPr/>
        </p:nvSpPr>
        <p:spPr>
          <a:xfrm rot="10800000">
            <a:off x="2221992" y="5843016"/>
            <a:ext cx="310896" cy="182880"/>
          </a:xfrm>
          <a:prstGeom prst="trapezoid">
            <a:avLst/>
          </a:prstGeom>
          <a:solidFill>
            <a:srgbClr val="5E5A78"/>
          </a:solidFill>
          <a:ln w="12700">
            <a:solidFill>
              <a:srgbClr val="5E5A78"/>
            </a:solidFill>
            <a:prstDash val="solid"/>
          </a:ln>
        </p:spPr>
      </p:sp>
      <p:sp>
        <p:nvSpPr>
          <p:cNvPr id="34" name="Shape 31"/>
          <p:cNvSpPr/>
          <p:nvPr/>
        </p:nvSpPr>
        <p:spPr>
          <a:xfrm>
            <a:off x="3063240" y="1627632"/>
            <a:ext cx="0" cy="996696"/>
          </a:xfrm>
          <a:prstGeom prst="line">
            <a:avLst/>
          </a:prstGeom>
          <a:noFill/>
          <a:ln w="25400">
            <a:solidFill>
              <a:srgbClr val="35305C"/>
            </a:solidFill>
            <a:prstDash val="solid"/>
          </a:ln>
        </p:spPr>
      </p:sp>
      <p:sp>
        <p:nvSpPr>
          <p:cNvPr id="35" name="Text 32"/>
          <p:cNvSpPr txBox="1"/>
          <p:nvPr/>
        </p:nvSpPr>
        <p:spPr>
          <a:xfrm>
            <a:off x="3200400" y="1805940"/>
            <a:ext cx="2377440" cy="640080"/>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7 cervicales</a:t>
            </a:r>
            <a:endParaRPr lang="en-US" sz="1300" dirty="0"/>
          </a:p>
          <a:p>
            <a:pPr indent="0" marL="0">
              <a:buNone/>
            </a:pPr>
            <a:r>
              <a:rPr lang="en-US" sz="1100" dirty="0">
                <a:solidFill>
                  <a:srgbClr val="5E5A78"/>
                </a:solidFill>
                <a:latin typeface="Arial" pitchFamily="34" charset="0"/>
                <a:ea typeface="Arial" pitchFamily="34" charset="-122"/>
                <a:cs typeface="Arial" pitchFamily="34" charset="-120"/>
              </a:rPr>
              <a:t>Courbure : lordose</a:t>
            </a:r>
            <a:endParaRPr lang="en-US" sz="1300" dirty="0"/>
          </a:p>
        </p:txBody>
      </p:sp>
      <p:sp>
        <p:nvSpPr>
          <p:cNvPr id="36" name="Shape 33"/>
          <p:cNvSpPr/>
          <p:nvPr/>
        </p:nvSpPr>
        <p:spPr>
          <a:xfrm>
            <a:off x="3063240" y="2715768"/>
            <a:ext cx="0" cy="1773936"/>
          </a:xfrm>
          <a:prstGeom prst="line">
            <a:avLst/>
          </a:prstGeom>
          <a:noFill/>
          <a:ln w="25400">
            <a:solidFill>
              <a:srgbClr val="0A032B"/>
            </a:solidFill>
            <a:prstDash val="solid"/>
          </a:ln>
        </p:spPr>
      </p:sp>
      <p:sp>
        <p:nvSpPr>
          <p:cNvPr id="37" name="Text 34"/>
          <p:cNvSpPr txBox="1"/>
          <p:nvPr/>
        </p:nvSpPr>
        <p:spPr>
          <a:xfrm>
            <a:off x="3200400" y="3282696"/>
            <a:ext cx="2377440" cy="640080"/>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12 dorsales</a:t>
            </a:r>
            <a:endParaRPr lang="en-US" sz="1300" dirty="0"/>
          </a:p>
          <a:p>
            <a:pPr indent="0" marL="0">
              <a:buNone/>
            </a:pPr>
            <a:r>
              <a:rPr lang="en-US" sz="1100" dirty="0">
                <a:solidFill>
                  <a:srgbClr val="5E5A78"/>
                </a:solidFill>
                <a:latin typeface="Arial" pitchFamily="34" charset="0"/>
                <a:ea typeface="Arial" pitchFamily="34" charset="-122"/>
                <a:cs typeface="Arial" pitchFamily="34" charset="-120"/>
              </a:rPr>
              <a:t>Courbure : cyphose</a:t>
            </a:r>
            <a:endParaRPr lang="en-US" sz="1300" dirty="0"/>
          </a:p>
        </p:txBody>
      </p:sp>
      <p:sp>
        <p:nvSpPr>
          <p:cNvPr id="38" name="Shape 35"/>
          <p:cNvSpPr/>
          <p:nvPr/>
        </p:nvSpPr>
        <p:spPr>
          <a:xfrm>
            <a:off x="3063240" y="4581144"/>
            <a:ext cx="0" cy="685800"/>
          </a:xfrm>
          <a:prstGeom prst="line">
            <a:avLst/>
          </a:prstGeom>
          <a:noFill/>
          <a:ln w="25400">
            <a:solidFill>
              <a:srgbClr val="D9D65A"/>
            </a:solidFill>
            <a:prstDash val="solid"/>
          </a:ln>
        </p:spPr>
      </p:sp>
      <p:sp>
        <p:nvSpPr>
          <p:cNvPr id="39" name="Text 36"/>
          <p:cNvSpPr txBox="1"/>
          <p:nvPr/>
        </p:nvSpPr>
        <p:spPr>
          <a:xfrm>
            <a:off x="3200400" y="4604004"/>
            <a:ext cx="2377440" cy="640080"/>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5 lombaires</a:t>
            </a:r>
            <a:endParaRPr lang="en-US" sz="1300" dirty="0"/>
          </a:p>
          <a:p>
            <a:pPr indent="0" marL="0">
              <a:buNone/>
            </a:pPr>
            <a:r>
              <a:rPr lang="en-US" sz="1100" dirty="0">
                <a:solidFill>
                  <a:srgbClr val="5E5A78"/>
                </a:solidFill>
                <a:latin typeface="Arial" pitchFamily="34" charset="0"/>
                <a:ea typeface="Arial" pitchFamily="34" charset="-122"/>
                <a:cs typeface="Arial" pitchFamily="34" charset="-120"/>
              </a:rPr>
              <a:t>Courbure : lordose · zone la plus sollicitée</a:t>
            </a:r>
            <a:endParaRPr lang="en-US" sz="1300" dirty="0"/>
          </a:p>
        </p:txBody>
      </p:sp>
      <p:sp>
        <p:nvSpPr>
          <p:cNvPr id="40" name="Shape 37"/>
          <p:cNvSpPr/>
          <p:nvPr/>
        </p:nvSpPr>
        <p:spPr>
          <a:xfrm>
            <a:off x="3063240" y="5358384"/>
            <a:ext cx="0" cy="640080"/>
          </a:xfrm>
          <a:prstGeom prst="line">
            <a:avLst/>
          </a:prstGeom>
          <a:noFill/>
          <a:ln w="25400">
            <a:solidFill>
              <a:srgbClr val="5E5A78"/>
            </a:solidFill>
            <a:prstDash val="solid"/>
          </a:ln>
        </p:spPr>
      </p:sp>
      <p:sp>
        <p:nvSpPr>
          <p:cNvPr id="41" name="Text 38"/>
          <p:cNvSpPr txBox="1"/>
          <p:nvPr/>
        </p:nvSpPr>
        <p:spPr>
          <a:xfrm>
            <a:off x="3200400" y="5358384"/>
            <a:ext cx="2377440" cy="640080"/>
          </a:xfrm>
          <a:prstGeom prst="rect">
            <a:avLst/>
          </a:prstGeom>
          <a:noFill/>
          <a:ln/>
        </p:spPr>
        <p:txBody>
          <a:bodyPr wrap="square" lIns="0" tIns="0" rIns="0" bIns="0" rtlCol="0" anchor="ctr"/>
          <a:lstStyle/>
          <a:p>
            <a:pPr indent="0" marL="0">
              <a:buNone/>
            </a:pPr>
            <a:r>
              <a:rPr lang="en-US" sz="1300" b="1" dirty="0">
                <a:solidFill>
                  <a:srgbClr val="0A032B"/>
                </a:solidFill>
                <a:latin typeface="Montserrat" pitchFamily="34" charset="0"/>
                <a:ea typeface="Montserrat" pitchFamily="34" charset="-122"/>
                <a:cs typeface="Montserrat" pitchFamily="34" charset="-120"/>
              </a:rPr>
              <a:t>Sacrum et coccyx</a:t>
            </a:r>
            <a:endParaRPr lang="en-US" sz="1300" dirty="0"/>
          </a:p>
          <a:p>
            <a:pPr indent="0" marL="0">
              <a:buNone/>
            </a:pPr>
            <a:r>
              <a:rPr lang="en-US" sz="1100" dirty="0">
                <a:solidFill>
                  <a:srgbClr val="5E5A78"/>
                </a:solidFill>
                <a:latin typeface="Arial" pitchFamily="34" charset="0"/>
                <a:ea typeface="Arial" pitchFamily="34" charset="-122"/>
                <a:cs typeface="Arial" pitchFamily="34" charset="-120"/>
              </a:rPr>
              <a:t>Vertèbres soudées</a:t>
            </a:r>
            <a:endParaRPr lang="en-US" sz="1300" dirty="0"/>
          </a:p>
        </p:txBody>
      </p:sp>
      <p:sp>
        <p:nvSpPr>
          <p:cNvPr id="42" name="Shape 39"/>
          <p:cNvSpPr/>
          <p:nvPr/>
        </p:nvSpPr>
        <p:spPr>
          <a:xfrm>
            <a:off x="5943600" y="1600200"/>
            <a:ext cx="2712568" cy="2080260"/>
          </a:xfrm>
          <a:prstGeom prst="roundRect">
            <a:avLst>
              <a:gd name="adj" fmla="val 3516"/>
            </a:avLst>
          </a:prstGeom>
          <a:solidFill>
            <a:srgbClr val="EEEDF5"/>
          </a:solidFill>
          <a:ln w="12700">
            <a:solidFill>
              <a:srgbClr val="EEEDF5"/>
            </a:solidFill>
            <a:prstDash val="solid"/>
          </a:ln>
        </p:spPr>
      </p:sp>
      <p:sp>
        <p:nvSpPr>
          <p:cNvPr id="43" name="Shape 40"/>
          <p:cNvSpPr/>
          <p:nvPr/>
        </p:nvSpPr>
        <p:spPr>
          <a:xfrm>
            <a:off x="6172200" y="1828800"/>
            <a:ext cx="548640" cy="548640"/>
          </a:xfrm>
          <a:prstGeom prst="ellipse">
            <a:avLst/>
          </a:prstGeom>
          <a:solidFill>
            <a:srgbClr val="0A032B"/>
          </a:solidFill>
          <a:ln w="12700">
            <a:solidFill>
              <a:srgbClr val="0A032B"/>
            </a:solidFill>
            <a:prstDash val="solid"/>
          </a:ln>
        </p:spPr>
      </p:sp>
      <p:pic>
        <p:nvPicPr>
          <p:cNvPr id="44" name="Image 1" descr="preencoded.png">    </p:cNvPr>
          <p:cNvPicPr>
            <a:picLocks noChangeAspect="1"/>
          </p:cNvPicPr>
          <p:nvPr/>
        </p:nvPicPr>
        <p:blipFill>
          <a:blip r:embed="rId2"/>
          <a:stretch>
            <a:fillRect/>
          </a:stretch>
        </p:blipFill>
        <p:spPr>
          <a:xfrm>
            <a:off x="6309360" y="1965960"/>
            <a:ext cx="274320" cy="274320"/>
          </a:xfrm>
          <a:prstGeom prst="rect">
            <a:avLst/>
          </a:prstGeom>
        </p:spPr>
      </p:pic>
      <p:sp>
        <p:nvSpPr>
          <p:cNvPr id="45" name="Text 41"/>
          <p:cNvSpPr txBox="1"/>
          <p:nvPr/>
        </p:nvSpPr>
        <p:spPr>
          <a:xfrm>
            <a:off x="6903720" y="1828800"/>
            <a:ext cx="15238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Protéger</a:t>
            </a:r>
            <a:endParaRPr lang="en-US" sz="1400" dirty="0"/>
          </a:p>
        </p:txBody>
      </p:sp>
      <p:sp>
        <p:nvSpPr>
          <p:cNvPr id="46" name="Text 42"/>
          <p:cNvSpPr txBox="1"/>
          <p:nvPr/>
        </p:nvSpPr>
        <p:spPr>
          <a:xfrm>
            <a:off x="6172200" y="2514600"/>
            <a:ext cx="225536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Les vertèbres forment un canal qui protège la moelle épinière et les nerfs.</a:t>
            </a:r>
            <a:endParaRPr lang="en-US" sz="1250" dirty="0"/>
          </a:p>
        </p:txBody>
      </p:sp>
      <p:sp>
        <p:nvSpPr>
          <p:cNvPr id="47" name="Shape 43"/>
          <p:cNvSpPr/>
          <p:nvPr/>
        </p:nvSpPr>
        <p:spPr>
          <a:xfrm>
            <a:off x="8930488" y="1600200"/>
            <a:ext cx="2712568" cy="2080260"/>
          </a:xfrm>
          <a:prstGeom prst="roundRect">
            <a:avLst>
              <a:gd name="adj" fmla="val 3516"/>
            </a:avLst>
          </a:prstGeom>
          <a:solidFill>
            <a:srgbClr val="EEEDF5"/>
          </a:solidFill>
          <a:ln w="12700">
            <a:solidFill>
              <a:srgbClr val="EEEDF5"/>
            </a:solidFill>
            <a:prstDash val="solid"/>
          </a:ln>
        </p:spPr>
      </p:sp>
      <p:sp>
        <p:nvSpPr>
          <p:cNvPr id="48" name="Shape 44"/>
          <p:cNvSpPr/>
          <p:nvPr/>
        </p:nvSpPr>
        <p:spPr>
          <a:xfrm>
            <a:off x="9159088" y="1828800"/>
            <a:ext cx="548640" cy="548640"/>
          </a:xfrm>
          <a:prstGeom prst="ellipse">
            <a:avLst/>
          </a:prstGeom>
          <a:solidFill>
            <a:srgbClr val="0A032B"/>
          </a:solidFill>
          <a:ln w="12700">
            <a:solidFill>
              <a:srgbClr val="0A032B"/>
            </a:solidFill>
            <a:prstDash val="solid"/>
          </a:ln>
        </p:spPr>
      </p:sp>
      <p:pic>
        <p:nvPicPr>
          <p:cNvPr id="49" name="Image 2" descr="preencoded.png">    </p:cNvPr>
          <p:cNvPicPr>
            <a:picLocks noChangeAspect="1"/>
          </p:cNvPicPr>
          <p:nvPr/>
        </p:nvPicPr>
        <p:blipFill>
          <a:blip r:embed="rId3"/>
          <a:stretch>
            <a:fillRect/>
          </a:stretch>
        </p:blipFill>
        <p:spPr>
          <a:xfrm>
            <a:off x="9296248" y="1965960"/>
            <a:ext cx="274320" cy="274320"/>
          </a:xfrm>
          <a:prstGeom prst="rect">
            <a:avLst/>
          </a:prstGeom>
        </p:spPr>
      </p:pic>
      <p:sp>
        <p:nvSpPr>
          <p:cNvPr id="50" name="Text 45"/>
          <p:cNvSpPr txBox="1"/>
          <p:nvPr/>
        </p:nvSpPr>
        <p:spPr>
          <a:xfrm>
            <a:off x="9890608" y="1828800"/>
            <a:ext cx="15238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Soutenir</a:t>
            </a:r>
            <a:endParaRPr lang="en-US" sz="1400" dirty="0"/>
          </a:p>
        </p:txBody>
      </p:sp>
      <p:sp>
        <p:nvSpPr>
          <p:cNvPr id="51" name="Text 46"/>
          <p:cNvSpPr txBox="1"/>
          <p:nvPr/>
        </p:nvSpPr>
        <p:spPr>
          <a:xfrm>
            <a:off x="9159088" y="2514600"/>
            <a:ext cx="225536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La colonne porte le poids du tronc, de la tête et des charges manipulées.</a:t>
            </a:r>
            <a:endParaRPr lang="en-US" sz="1250" dirty="0"/>
          </a:p>
        </p:txBody>
      </p:sp>
      <p:sp>
        <p:nvSpPr>
          <p:cNvPr id="52" name="Shape 47"/>
          <p:cNvSpPr/>
          <p:nvPr/>
        </p:nvSpPr>
        <p:spPr>
          <a:xfrm>
            <a:off x="5943600" y="3954780"/>
            <a:ext cx="2712568" cy="2080260"/>
          </a:xfrm>
          <a:prstGeom prst="roundRect">
            <a:avLst>
              <a:gd name="adj" fmla="val 3516"/>
            </a:avLst>
          </a:prstGeom>
          <a:solidFill>
            <a:srgbClr val="EEEDF5"/>
          </a:solidFill>
          <a:ln w="12700">
            <a:solidFill>
              <a:srgbClr val="EEEDF5"/>
            </a:solidFill>
            <a:prstDash val="solid"/>
          </a:ln>
        </p:spPr>
      </p:sp>
      <p:sp>
        <p:nvSpPr>
          <p:cNvPr id="53" name="Shape 48"/>
          <p:cNvSpPr/>
          <p:nvPr/>
        </p:nvSpPr>
        <p:spPr>
          <a:xfrm>
            <a:off x="6172200" y="4183380"/>
            <a:ext cx="548640" cy="548640"/>
          </a:xfrm>
          <a:prstGeom prst="ellipse">
            <a:avLst/>
          </a:prstGeom>
          <a:solidFill>
            <a:srgbClr val="0A032B"/>
          </a:solidFill>
          <a:ln w="12700">
            <a:solidFill>
              <a:srgbClr val="0A032B"/>
            </a:solidFill>
            <a:prstDash val="solid"/>
          </a:ln>
        </p:spPr>
      </p:sp>
      <p:pic>
        <p:nvPicPr>
          <p:cNvPr id="54" name="Image 3" descr="preencoded.png">    </p:cNvPr>
          <p:cNvPicPr>
            <a:picLocks noChangeAspect="1"/>
          </p:cNvPicPr>
          <p:nvPr/>
        </p:nvPicPr>
        <p:blipFill>
          <a:blip r:embed="rId4"/>
          <a:stretch>
            <a:fillRect/>
          </a:stretch>
        </p:blipFill>
        <p:spPr>
          <a:xfrm>
            <a:off x="6309360" y="4320540"/>
            <a:ext cx="274320" cy="274320"/>
          </a:xfrm>
          <a:prstGeom prst="rect">
            <a:avLst/>
          </a:prstGeom>
        </p:spPr>
      </p:pic>
      <p:sp>
        <p:nvSpPr>
          <p:cNvPr id="55" name="Text 49"/>
          <p:cNvSpPr txBox="1"/>
          <p:nvPr/>
        </p:nvSpPr>
        <p:spPr>
          <a:xfrm>
            <a:off x="6903720" y="4183380"/>
            <a:ext cx="15238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Bouger</a:t>
            </a:r>
            <a:endParaRPr lang="en-US" sz="1400" dirty="0"/>
          </a:p>
        </p:txBody>
      </p:sp>
      <p:sp>
        <p:nvSpPr>
          <p:cNvPr id="56" name="Text 50"/>
          <p:cNvSpPr txBox="1"/>
          <p:nvPr/>
        </p:nvSpPr>
        <p:spPr>
          <a:xfrm>
            <a:off x="6172200" y="4869180"/>
            <a:ext cx="225536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Flexion, extension, inclinaison, rotation : grâce aux disques et aux articulations.</a:t>
            </a:r>
            <a:endParaRPr lang="en-US" sz="1250" dirty="0"/>
          </a:p>
        </p:txBody>
      </p:sp>
      <p:sp>
        <p:nvSpPr>
          <p:cNvPr id="57" name="Shape 51"/>
          <p:cNvSpPr/>
          <p:nvPr/>
        </p:nvSpPr>
        <p:spPr>
          <a:xfrm>
            <a:off x="8930488" y="3954780"/>
            <a:ext cx="2712568" cy="2080260"/>
          </a:xfrm>
          <a:prstGeom prst="roundRect">
            <a:avLst>
              <a:gd name="adj" fmla="val 3516"/>
            </a:avLst>
          </a:prstGeom>
          <a:solidFill>
            <a:srgbClr val="EEEDF5"/>
          </a:solidFill>
          <a:ln w="12700">
            <a:solidFill>
              <a:srgbClr val="EEEDF5"/>
            </a:solidFill>
            <a:prstDash val="solid"/>
          </a:ln>
        </p:spPr>
      </p:sp>
      <p:sp>
        <p:nvSpPr>
          <p:cNvPr id="58" name="Shape 52"/>
          <p:cNvSpPr/>
          <p:nvPr/>
        </p:nvSpPr>
        <p:spPr>
          <a:xfrm>
            <a:off x="9159088" y="4183380"/>
            <a:ext cx="548640" cy="548640"/>
          </a:xfrm>
          <a:prstGeom prst="ellipse">
            <a:avLst/>
          </a:prstGeom>
          <a:solidFill>
            <a:srgbClr val="0A032B"/>
          </a:solidFill>
          <a:ln w="12700">
            <a:solidFill>
              <a:srgbClr val="0A032B"/>
            </a:solidFill>
            <a:prstDash val="solid"/>
          </a:ln>
        </p:spPr>
      </p:sp>
      <p:pic>
        <p:nvPicPr>
          <p:cNvPr id="59" name="Image 4" descr="preencoded.png">    </p:cNvPr>
          <p:cNvPicPr>
            <a:picLocks noChangeAspect="1"/>
          </p:cNvPicPr>
          <p:nvPr/>
        </p:nvPicPr>
        <p:blipFill>
          <a:blip r:embed="rId5"/>
          <a:stretch>
            <a:fillRect/>
          </a:stretch>
        </p:blipFill>
        <p:spPr>
          <a:xfrm>
            <a:off x="9296248" y="4320540"/>
            <a:ext cx="274320" cy="274320"/>
          </a:xfrm>
          <a:prstGeom prst="rect">
            <a:avLst/>
          </a:prstGeom>
        </p:spPr>
      </p:pic>
      <p:sp>
        <p:nvSpPr>
          <p:cNvPr id="60" name="Text 53"/>
          <p:cNvSpPr txBox="1"/>
          <p:nvPr/>
        </p:nvSpPr>
        <p:spPr>
          <a:xfrm>
            <a:off x="9890608" y="4183380"/>
            <a:ext cx="15238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Respecter les courbures</a:t>
            </a:r>
            <a:endParaRPr lang="en-US" sz="1400" dirty="0"/>
          </a:p>
        </p:txBody>
      </p:sp>
      <p:sp>
        <p:nvSpPr>
          <p:cNvPr id="61" name="Text 54"/>
          <p:cNvSpPr txBox="1"/>
          <p:nvPr/>
        </p:nvSpPr>
        <p:spPr>
          <a:xfrm>
            <a:off x="9159088" y="4869180"/>
            <a:ext cx="225536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Le dos est le plus résistant quand ses 3 courbures naturelles sont conservées.</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 disque intervertébral : l'amortisseur</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63040"/>
            <a:ext cx="4846320" cy="4526280"/>
          </a:xfrm>
          <a:prstGeom prst="roundRect">
            <a:avLst>
              <a:gd name="adj" fmla="val 1616"/>
            </a:avLst>
          </a:prstGeom>
          <a:solidFill>
            <a:srgbClr val="EEEDF5"/>
          </a:solidFill>
          <a:ln w="12700">
            <a:solidFill>
              <a:srgbClr val="EEEDF5"/>
            </a:solidFill>
            <a:prstDash val="solid"/>
          </a:ln>
        </p:spPr>
      </p:sp>
      <p:sp>
        <p:nvSpPr>
          <p:cNvPr id="8" name="Shape 5"/>
          <p:cNvSpPr/>
          <p:nvPr/>
        </p:nvSpPr>
        <p:spPr>
          <a:xfrm>
            <a:off x="1371600" y="1874520"/>
            <a:ext cx="3200400" cy="685800"/>
          </a:xfrm>
          <a:prstGeom prst="roundRect">
            <a:avLst>
              <a:gd name="adj" fmla="val 16000"/>
            </a:avLst>
          </a:prstGeom>
          <a:solidFill>
            <a:srgbClr val="0A032B"/>
          </a:solidFill>
          <a:ln w="12700">
            <a:solidFill>
              <a:srgbClr val="0A032B"/>
            </a:solidFill>
            <a:prstDash val="solid"/>
          </a:ln>
        </p:spPr>
      </p:sp>
      <p:sp>
        <p:nvSpPr>
          <p:cNvPr id="9" name="Text 6"/>
          <p:cNvSpPr txBox="1"/>
          <p:nvPr/>
        </p:nvSpPr>
        <p:spPr>
          <a:xfrm>
            <a:off x="1371600" y="1874520"/>
            <a:ext cx="320040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Vertèbre</a:t>
            </a:r>
            <a:endParaRPr lang="en-US" sz="1300" dirty="0"/>
          </a:p>
        </p:txBody>
      </p:sp>
      <p:sp>
        <p:nvSpPr>
          <p:cNvPr id="10" name="Shape 7"/>
          <p:cNvSpPr/>
          <p:nvPr/>
        </p:nvSpPr>
        <p:spPr>
          <a:xfrm>
            <a:off x="1371600" y="2651760"/>
            <a:ext cx="3200400" cy="685800"/>
          </a:xfrm>
          <a:prstGeom prst="ellipse">
            <a:avLst/>
          </a:prstGeom>
          <a:solidFill>
            <a:srgbClr val="DCDAEA"/>
          </a:solidFill>
          <a:ln w="19050">
            <a:solidFill>
              <a:srgbClr val="35305C"/>
            </a:solidFill>
            <a:prstDash val="solid"/>
          </a:ln>
        </p:spPr>
      </p:sp>
      <p:sp>
        <p:nvSpPr>
          <p:cNvPr id="11" name="Shape 8"/>
          <p:cNvSpPr/>
          <p:nvPr/>
        </p:nvSpPr>
        <p:spPr>
          <a:xfrm>
            <a:off x="2514600" y="2788920"/>
            <a:ext cx="914400" cy="411480"/>
          </a:xfrm>
          <a:prstGeom prst="ellipse">
            <a:avLst/>
          </a:prstGeom>
          <a:solidFill>
            <a:srgbClr val="D9D65A"/>
          </a:solidFill>
          <a:ln w="12700">
            <a:solidFill>
              <a:srgbClr val="D9D65A"/>
            </a:solidFill>
            <a:prstDash val="solid"/>
          </a:ln>
        </p:spPr>
      </p:sp>
      <p:sp>
        <p:nvSpPr>
          <p:cNvPr id="12" name="Shape 9"/>
          <p:cNvSpPr/>
          <p:nvPr/>
        </p:nvSpPr>
        <p:spPr>
          <a:xfrm>
            <a:off x="1371600" y="3429000"/>
            <a:ext cx="3200400" cy="685800"/>
          </a:xfrm>
          <a:prstGeom prst="roundRect">
            <a:avLst>
              <a:gd name="adj" fmla="val 16000"/>
            </a:avLst>
          </a:prstGeom>
          <a:solidFill>
            <a:srgbClr val="0A032B"/>
          </a:solidFill>
          <a:ln w="12700">
            <a:solidFill>
              <a:srgbClr val="0A032B"/>
            </a:solidFill>
            <a:prstDash val="solid"/>
          </a:ln>
        </p:spPr>
      </p:sp>
      <p:sp>
        <p:nvSpPr>
          <p:cNvPr id="13" name="Text 10"/>
          <p:cNvSpPr txBox="1"/>
          <p:nvPr/>
        </p:nvSpPr>
        <p:spPr>
          <a:xfrm>
            <a:off x="1371600" y="3429000"/>
            <a:ext cx="320040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Vertèbre</a:t>
            </a:r>
            <a:endParaRPr lang="en-US" sz="1300" dirty="0"/>
          </a:p>
        </p:txBody>
      </p:sp>
      <p:sp>
        <p:nvSpPr>
          <p:cNvPr id="14" name="Text 11"/>
          <p:cNvSpPr txBox="1"/>
          <p:nvPr/>
        </p:nvSpPr>
        <p:spPr>
          <a:xfrm>
            <a:off x="822960" y="4297680"/>
            <a:ext cx="4297680" cy="1554480"/>
          </a:xfrm>
          <a:prstGeom prst="rect">
            <a:avLst/>
          </a:prstGeom>
          <a:noFill/>
          <a:ln/>
        </p:spPr>
        <p:txBody>
          <a:bodyPr wrap="square" lIns="0" tIns="0" rIns="0" bIns="0" rtlCol="0" anchor="t"/>
          <a:lstStyle/>
          <a:p>
            <a:pPr indent="0" marL="0">
              <a:spcAft>
                <a:spcPts val="400"/>
              </a:spcAft>
              <a:buNone/>
            </a:pPr>
            <a:r>
              <a:rPr lang="en-US" sz="1250" b="1" dirty="0">
                <a:solidFill>
                  <a:srgbClr val="0A032B"/>
                </a:solidFill>
                <a:latin typeface="Arial" pitchFamily="34" charset="0"/>
                <a:ea typeface="Arial" pitchFamily="34" charset="-122"/>
                <a:cs typeface="Arial" pitchFamily="34" charset="-120"/>
              </a:rPr>
              <a:t>Noyau gélatineux </a:t>
            </a:r>
            <a:pPr indent="0" marL="0">
              <a:spcAft>
                <a:spcPts val="400"/>
              </a:spcAft>
              <a:buNone/>
            </a:pPr>
            <a:r>
              <a:rPr lang="en-US" sz="1250" dirty="0">
                <a:solidFill>
                  <a:srgbClr val="35305C"/>
                </a:solidFill>
                <a:latin typeface="Arial" pitchFamily="34" charset="0"/>
                <a:ea typeface="Arial" pitchFamily="34" charset="-122"/>
                <a:cs typeface="Arial" pitchFamily="34" charset="-120"/>
              </a:rPr>
              <a:t>(jaune) : répartit les pressions.</a:t>
            </a:r>
            <a:endParaRPr lang="en-US" sz="1250" dirty="0"/>
          </a:p>
          <a:p>
            <a:pPr indent="0" marL="0">
              <a:spcAft>
                <a:spcPts val="400"/>
              </a:spcAft>
              <a:buNone/>
            </a:pPr>
            <a:r>
              <a:rPr lang="en-US" sz="1250" b="1" dirty="0">
                <a:solidFill>
                  <a:srgbClr val="0A032B"/>
                </a:solidFill>
                <a:latin typeface="Arial" pitchFamily="34" charset="0"/>
                <a:ea typeface="Arial" pitchFamily="34" charset="-122"/>
                <a:cs typeface="Arial" pitchFamily="34" charset="-120"/>
              </a:rPr>
              <a:t>Anneau fibreux </a:t>
            </a:r>
            <a:pPr indent="0" marL="0">
              <a:spcAft>
                <a:spcPts val="400"/>
              </a:spcAft>
              <a:buNone/>
            </a:pPr>
            <a:r>
              <a:rPr lang="en-US" sz="1250" dirty="0">
                <a:solidFill>
                  <a:srgbClr val="35305C"/>
                </a:solidFill>
                <a:latin typeface="Arial" pitchFamily="34" charset="0"/>
                <a:ea typeface="Arial" pitchFamily="34" charset="-122"/>
                <a:cs typeface="Arial" pitchFamily="34" charset="-120"/>
              </a:rPr>
              <a:t>(contour) : maintient le noyau.</a:t>
            </a:r>
            <a:endParaRPr lang="en-US" sz="1250" dirty="0"/>
          </a:p>
          <a:p>
            <a:pPr indent="0" marL="0">
              <a:spcAft>
                <a:spcPts val="400"/>
              </a:spcAft>
              <a:buNone/>
            </a:pPr>
            <a:r>
              <a:rPr lang="en-US" sz="1250" b="1" dirty="0">
                <a:solidFill>
                  <a:srgbClr val="0A032B"/>
                </a:solidFill>
                <a:latin typeface="Arial" pitchFamily="34" charset="0"/>
                <a:ea typeface="Arial" pitchFamily="34" charset="-122"/>
                <a:cs typeface="Arial" pitchFamily="34" charset="-120"/>
              </a:rPr>
              <a:t>Dos penché en avant : </a:t>
            </a:r>
            <a:pPr indent="0" marL="0">
              <a:spcAft>
                <a:spcPts val="400"/>
              </a:spcAft>
              <a:buNone/>
            </a:pPr>
            <a:r>
              <a:rPr lang="en-US" sz="1250" dirty="0">
                <a:solidFill>
                  <a:srgbClr val="35305C"/>
                </a:solidFill>
                <a:latin typeface="Arial" pitchFamily="34" charset="0"/>
                <a:ea typeface="Arial" pitchFamily="34" charset="-122"/>
                <a:cs typeface="Arial" pitchFamily="34" charset="-120"/>
              </a:rPr>
              <a:t>le noyau est chassé vers l'arrière, l'anneau se fissure : c'est le chemin vers la hernie discale.</a:t>
            </a:r>
            <a:endParaRPr lang="en-US" sz="1250" dirty="0"/>
          </a:p>
        </p:txBody>
      </p:sp>
      <p:graphicFrame>
        <p:nvGraphicFramePr>
          <p:cNvPr id="15" name="Chart 0" descr=""/>
          <p:cNvGraphicFramePr/>
          <p:nvPr/>
        </p:nvGraphicFramePr>
        <p:xfrm>
          <a:off x="5669280" y="1417320"/>
          <a:ext cx="5973775" cy="461772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Articulations, muscles et tendons</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Tout l'appareil locomoteur est concerné, pas seulement le dos</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554480"/>
            <a:ext cx="3515258" cy="2103120"/>
          </a:xfrm>
          <a:prstGeom prst="roundRect">
            <a:avLst>
              <a:gd name="adj" fmla="val 3478"/>
            </a:avLst>
          </a:prstGeom>
          <a:solidFill>
            <a:srgbClr val="EEEDF5"/>
          </a:solidFill>
          <a:ln w="12700">
            <a:solidFill>
              <a:srgbClr val="EEEDF5"/>
            </a:solidFill>
            <a:prstDash val="solid"/>
          </a:ln>
        </p:spPr>
      </p:sp>
      <p:sp>
        <p:nvSpPr>
          <p:cNvPr id="9" name="Shape 6"/>
          <p:cNvSpPr/>
          <p:nvPr/>
        </p:nvSpPr>
        <p:spPr>
          <a:xfrm>
            <a:off x="777240" y="1783080"/>
            <a:ext cx="548640" cy="54864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914400" y="1920240"/>
            <a:ext cx="274320" cy="274320"/>
          </a:xfrm>
          <a:prstGeom prst="rect">
            <a:avLst/>
          </a:prstGeom>
        </p:spPr>
      </p:pic>
      <p:sp>
        <p:nvSpPr>
          <p:cNvPr id="11" name="Text 7"/>
          <p:cNvSpPr txBox="1"/>
          <p:nvPr/>
        </p:nvSpPr>
        <p:spPr>
          <a:xfrm>
            <a:off x="1508760" y="17830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Nuque et épaules</a:t>
            </a:r>
            <a:endParaRPr lang="en-US" sz="1500" dirty="0"/>
          </a:p>
        </p:txBody>
      </p:sp>
      <p:sp>
        <p:nvSpPr>
          <p:cNvPr id="12" name="Text 8"/>
          <p:cNvSpPr txBox="1"/>
          <p:nvPr/>
        </p:nvSpPr>
        <p:spPr>
          <a:xfrm>
            <a:off x="777240" y="2468880"/>
            <a:ext cx="3058058" cy="105156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Téléphone coincé contre l'épaule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Écran trop bas ou trop haut</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Bras levés au-dessus des épaules</a:t>
            </a:r>
            <a:endParaRPr lang="en-US" sz="1250" dirty="0"/>
          </a:p>
        </p:txBody>
      </p:sp>
      <p:sp>
        <p:nvSpPr>
          <p:cNvPr id="13" name="Shape 9"/>
          <p:cNvSpPr/>
          <p:nvPr/>
        </p:nvSpPr>
        <p:spPr>
          <a:xfrm>
            <a:off x="4338218" y="1554480"/>
            <a:ext cx="3515258" cy="2103120"/>
          </a:xfrm>
          <a:prstGeom prst="roundRect">
            <a:avLst>
              <a:gd name="adj" fmla="val 3478"/>
            </a:avLst>
          </a:prstGeom>
          <a:solidFill>
            <a:srgbClr val="EEEDF5"/>
          </a:solidFill>
          <a:ln w="12700">
            <a:solidFill>
              <a:srgbClr val="EEEDF5"/>
            </a:solidFill>
            <a:prstDash val="solid"/>
          </a:ln>
        </p:spPr>
      </p:sp>
      <p:sp>
        <p:nvSpPr>
          <p:cNvPr id="14" name="Shape 10"/>
          <p:cNvSpPr/>
          <p:nvPr/>
        </p:nvSpPr>
        <p:spPr>
          <a:xfrm>
            <a:off x="4566818" y="1783080"/>
            <a:ext cx="548640" cy="548640"/>
          </a:xfrm>
          <a:prstGeom prst="ellipse">
            <a:avLst/>
          </a:prstGeom>
          <a:solidFill>
            <a:srgbClr val="0A032B"/>
          </a:solidFill>
          <a:ln w="12700">
            <a:solidFill>
              <a:srgbClr val="0A032B"/>
            </a:solidFill>
            <a:prstDash val="solid"/>
          </a:ln>
        </p:spPr>
      </p:sp>
      <p:pic>
        <p:nvPicPr>
          <p:cNvPr id="15" name="Image 2" descr="preencoded.png">    </p:cNvPr>
          <p:cNvPicPr>
            <a:picLocks noChangeAspect="1"/>
          </p:cNvPicPr>
          <p:nvPr/>
        </p:nvPicPr>
        <p:blipFill>
          <a:blip r:embed="rId3"/>
          <a:stretch>
            <a:fillRect/>
          </a:stretch>
        </p:blipFill>
        <p:spPr>
          <a:xfrm>
            <a:off x="4703978" y="1920240"/>
            <a:ext cx="274320" cy="274320"/>
          </a:xfrm>
          <a:prstGeom prst="rect">
            <a:avLst/>
          </a:prstGeom>
        </p:spPr>
      </p:pic>
      <p:sp>
        <p:nvSpPr>
          <p:cNvPr id="16" name="Text 11"/>
          <p:cNvSpPr txBox="1"/>
          <p:nvPr/>
        </p:nvSpPr>
        <p:spPr>
          <a:xfrm>
            <a:off x="5298338" y="17830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Coudes et poignets</a:t>
            </a:r>
            <a:endParaRPr lang="en-US" sz="1500" dirty="0"/>
          </a:p>
        </p:txBody>
      </p:sp>
      <p:sp>
        <p:nvSpPr>
          <p:cNvPr id="17" name="Text 12"/>
          <p:cNvSpPr txBox="1"/>
          <p:nvPr/>
        </p:nvSpPr>
        <p:spPr>
          <a:xfrm>
            <a:off x="4566818" y="2468880"/>
            <a:ext cx="3058058" cy="105156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Souris et clavier mal placés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Prise en pince de charges lourdes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Gestes répétitifs (signatures, tri…)</a:t>
            </a:r>
            <a:endParaRPr lang="en-US" sz="1250" dirty="0"/>
          </a:p>
        </p:txBody>
      </p:sp>
      <p:sp>
        <p:nvSpPr>
          <p:cNvPr id="18" name="Shape 13"/>
          <p:cNvSpPr/>
          <p:nvPr/>
        </p:nvSpPr>
        <p:spPr>
          <a:xfrm>
            <a:off x="8127797" y="1554480"/>
            <a:ext cx="3515258" cy="2103120"/>
          </a:xfrm>
          <a:prstGeom prst="roundRect">
            <a:avLst>
              <a:gd name="adj" fmla="val 3478"/>
            </a:avLst>
          </a:prstGeom>
          <a:solidFill>
            <a:srgbClr val="EEEDF5"/>
          </a:solidFill>
          <a:ln w="12700">
            <a:solidFill>
              <a:srgbClr val="EEEDF5"/>
            </a:solidFill>
            <a:prstDash val="solid"/>
          </a:ln>
        </p:spPr>
      </p:sp>
      <p:sp>
        <p:nvSpPr>
          <p:cNvPr id="19" name="Shape 14"/>
          <p:cNvSpPr/>
          <p:nvPr/>
        </p:nvSpPr>
        <p:spPr>
          <a:xfrm>
            <a:off x="8356397" y="1783080"/>
            <a:ext cx="548640" cy="548640"/>
          </a:xfrm>
          <a:prstGeom prst="ellipse">
            <a:avLst/>
          </a:prstGeom>
          <a:solidFill>
            <a:srgbClr val="0A032B"/>
          </a:solidFill>
          <a:ln w="12700">
            <a:solidFill>
              <a:srgbClr val="0A032B"/>
            </a:solidFill>
            <a:prstDash val="solid"/>
          </a:ln>
        </p:spPr>
      </p:sp>
      <p:pic>
        <p:nvPicPr>
          <p:cNvPr id="20" name="Image 3" descr="preencoded.png">    </p:cNvPr>
          <p:cNvPicPr>
            <a:picLocks noChangeAspect="1"/>
          </p:cNvPicPr>
          <p:nvPr/>
        </p:nvPicPr>
        <p:blipFill>
          <a:blip r:embed="rId4"/>
          <a:stretch>
            <a:fillRect/>
          </a:stretch>
        </p:blipFill>
        <p:spPr>
          <a:xfrm>
            <a:off x="8493557" y="1920240"/>
            <a:ext cx="274320" cy="274320"/>
          </a:xfrm>
          <a:prstGeom prst="rect">
            <a:avLst/>
          </a:prstGeom>
        </p:spPr>
      </p:pic>
      <p:sp>
        <p:nvSpPr>
          <p:cNvPr id="21" name="Text 15"/>
          <p:cNvSpPr txBox="1"/>
          <p:nvPr/>
        </p:nvSpPr>
        <p:spPr>
          <a:xfrm>
            <a:off x="9087917" y="17830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Genoux et hanches</a:t>
            </a:r>
            <a:endParaRPr lang="en-US" sz="1500" dirty="0"/>
          </a:p>
        </p:txBody>
      </p:sp>
      <p:sp>
        <p:nvSpPr>
          <p:cNvPr id="22" name="Text 16"/>
          <p:cNvSpPr txBox="1"/>
          <p:nvPr/>
        </p:nvSpPr>
        <p:spPr>
          <a:xfrm>
            <a:off x="8356397" y="2468880"/>
            <a:ext cx="3058058" cy="105156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Accroupissements répétés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Terrains irréguliers, escaliers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Station debout prolongée</a:t>
            </a:r>
            <a:endParaRPr lang="en-US" sz="1250" dirty="0"/>
          </a:p>
        </p:txBody>
      </p:sp>
      <p:sp>
        <p:nvSpPr>
          <p:cNvPr id="23" name="Shape 17"/>
          <p:cNvSpPr/>
          <p:nvPr/>
        </p:nvSpPr>
        <p:spPr>
          <a:xfrm>
            <a:off x="548640" y="3931920"/>
            <a:ext cx="3515258" cy="2103120"/>
          </a:xfrm>
          <a:prstGeom prst="roundRect">
            <a:avLst>
              <a:gd name="adj" fmla="val 3478"/>
            </a:avLst>
          </a:prstGeom>
          <a:solidFill>
            <a:srgbClr val="EEEDF5"/>
          </a:solidFill>
          <a:ln w="12700">
            <a:solidFill>
              <a:srgbClr val="EEEDF5"/>
            </a:solidFill>
            <a:prstDash val="solid"/>
          </a:ln>
        </p:spPr>
      </p:sp>
      <p:sp>
        <p:nvSpPr>
          <p:cNvPr id="24" name="Shape 18"/>
          <p:cNvSpPr/>
          <p:nvPr/>
        </p:nvSpPr>
        <p:spPr>
          <a:xfrm>
            <a:off x="777240" y="4160520"/>
            <a:ext cx="548640" cy="548640"/>
          </a:xfrm>
          <a:prstGeom prst="ellipse">
            <a:avLst/>
          </a:prstGeom>
          <a:solidFill>
            <a:srgbClr val="0A032B"/>
          </a:solidFill>
          <a:ln w="12700">
            <a:solidFill>
              <a:srgbClr val="0A032B"/>
            </a:solidFill>
            <a:prstDash val="solid"/>
          </a:ln>
        </p:spPr>
      </p:sp>
      <p:pic>
        <p:nvPicPr>
          <p:cNvPr id="25" name="Image 4" descr="preencoded.png">    </p:cNvPr>
          <p:cNvPicPr>
            <a:picLocks noChangeAspect="1"/>
          </p:cNvPicPr>
          <p:nvPr/>
        </p:nvPicPr>
        <p:blipFill>
          <a:blip r:embed="rId5"/>
          <a:stretch>
            <a:fillRect/>
          </a:stretch>
        </p:blipFill>
        <p:spPr>
          <a:xfrm>
            <a:off x="914400" y="4297680"/>
            <a:ext cx="274320" cy="274320"/>
          </a:xfrm>
          <a:prstGeom prst="rect">
            <a:avLst/>
          </a:prstGeom>
        </p:spPr>
      </p:pic>
      <p:sp>
        <p:nvSpPr>
          <p:cNvPr id="26" name="Text 19"/>
          <p:cNvSpPr txBox="1"/>
          <p:nvPr/>
        </p:nvSpPr>
        <p:spPr>
          <a:xfrm>
            <a:off x="1508760" y="41605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Muscles</a:t>
            </a:r>
            <a:endParaRPr lang="en-US" sz="1500" dirty="0"/>
          </a:p>
        </p:txBody>
      </p:sp>
      <p:sp>
        <p:nvSpPr>
          <p:cNvPr id="27" name="Text 20"/>
          <p:cNvSpPr txBox="1"/>
          <p:nvPr/>
        </p:nvSpPr>
        <p:spPr>
          <a:xfrm>
            <a:off x="777240" y="4846320"/>
            <a:ext cx="305805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Ils produisent le mouvement et stabilisent la colonne. Fatigués ou froids, ils protègent moins bien.</a:t>
            </a:r>
            <a:endParaRPr lang="en-US" sz="1250" dirty="0"/>
          </a:p>
        </p:txBody>
      </p:sp>
      <p:sp>
        <p:nvSpPr>
          <p:cNvPr id="28" name="Shape 21"/>
          <p:cNvSpPr/>
          <p:nvPr/>
        </p:nvSpPr>
        <p:spPr>
          <a:xfrm>
            <a:off x="4338218" y="3931920"/>
            <a:ext cx="3515258" cy="2103120"/>
          </a:xfrm>
          <a:prstGeom prst="roundRect">
            <a:avLst>
              <a:gd name="adj" fmla="val 3478"/>
            </a:avLst>
          </a:prstGeom>
          <a:solidFill>
            <a:srgbClr val="EEEDF5"/>
          </a:solidFill>
          <a:ln w="12700">
            <a:solidFill>
              <a:srgbClr val="EEEDF5"/>
            </a:solidFill>
            <a:prstDash val="solid"/>
          </a:ln>
        </p:spPr>
      </p:sp>
      <p:sp>
        <p:nvSpPr>
          <p:cNvPr id="29" name="Shape 22"/>
          <p:cNvSpPr/>
          <p:nvPr/>
        </p:nvSpPr>
        <p:spPr>
          <a:xfrm>
            <a:off x="4566818" y="4160520"/>
            <a:ext cx="548640" cy="548640"/>
          </a:xfrm>
          <a:prstGeom prst="ellipse">
            <a:avLst/>
          </a:prstGeom>
          <a:solidFill>
            <a:srgbClr val="0A032B"/>
          </a:solidFill>
          <a:ln w="12700">
            <a:solidFill>
              <a:srgbClr val="0A032B"/>
            </a:solidFill>
            <a:prstDash val="solid"/>
          </a:ln>
        </p:spPr>
      </p:sp>
      <p:pic>
        <p:nvPicPr>
          <p:cNvPr id="30" name="Image 5" descr="preencoded.png">    </p:cNvPr>
          <p:cNvPicPr>
            <a:picLocks noChangeAspect="1"/>
          </p:cNvPicPr>
          <p:nvPr/>
        </p:nvPicPr>
        <p:blipFill>
          <a:blip r:embed="rId6"/>
          <a:stretch>
            <a:fillRect/>
          </a:stretch>
        </p:blipFill>
        <p:spPr>
          <a:xfrm>
            <a:off x="4703978" y="4297680"/>
            <a:ext cx="274320" cy="274320"/>
          </a:xfrm>
          <a:prstGeom prst="rect">
            <a:avLst/>
          </a:prstGeom>
        </p:spPr>
      </p:pic>
      <p:sp>
        <p:nvSpPr>
          <p:cNvPr id="31" name="Text 23"/>
          <p:cNvSpPr txBox="1"/>
          <p:nvPr/>
        </p:nvSpPr>
        <p:spPr>
          <a:xfrm>
            <a:off x="5298338" y="41605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Tendons et ligaments</a:t>
            </a:r>
            <a:endParaRPr lang="en-US" sz="1500" dirty="0"/>
          </a:p>
        </p:txBody>
      </p:sp>
      <p:sp>
        <p:nvSpPr>
          <p:cNvPr id="32" name="Text 24"/>
          <p:cNvSpPr txBox="1"/>
          <p:nvPr/>
        </p:nvSpPr>
        <p:spPr>
          <a:xfrm>
            <a:off x="4566818" y="4846320"/>
            <a:ext cx="305805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Ils relient et maintiennent. Sollicités trop souvent, ils s'enflamment : c'est la tendinite.</a:t>
            </a:r>
            <a:endParaRPr lang="en-US" sz="1250" dirty="0"/>
          </a:p>
        </p:txBody>
      </p:sp>
      <p:sp>
        <p:nvSpPr>
          <p:cNvPr id="33" name="Shape 25"/>
          <p:cNvSpPr/>
          <p:nvPr/>
        </p:nvSpPr>
        <p:spPr>
          <a:xfrm>
            <a:off x="8127797" y="3931920"/>
            <a:ext cx="3515258" cy="2103120"/>
          </a:xfrm>
          <a:prstGeom prst="roundRect">
            <a:avLst>
              <a:gd name="adj" fmla="val 3478"/>
            </a:avLst>
          </a:prstGeom>
          <a:solidFill>
            <a:srgbClr val="EEEDF5"/>
          </a:solidFill>
          <a:ln w="12700">
            <a:solidFill>
              <a:srgbClr val="EEEDF5"/>
            </a:solidFill>
            <a:prstDash val="solid"/>
          </a:ln>
        </p:spPr>
      </p:sp>
      <p:sp>
        <p:nvSpPr>
          <p:cNvPr id="34" name="Shape 26"/>
          <p:cNvSpPr/>
          <p:nvPr/>
        </p:nvSpPr>
        <p:spPr>
          <a:xfrm>
            <a:off x="8356397" y="4160520"/>
            <a:ext cx="548640" cy="548640"/>
          </a:xfrm>
          <a:prstGeom prst="ellipse">
            <a:avLst/>
          </a:prstGeom>
          <a:solidFill>
            <a:srgbClr val="0A032B"/>
          </a:solidFill>
          <a:ln w="12700">
            <a:solidFill>
              <a:srgbClr val="0A032B"/>
            </a:solidFill>
            <a:prstDash val="solid"/>
          </a:ln>
        </p:spPr>
      </p:sp>
      <p:pic>
        <p:nvPicPr>
          <p:cNvPr id="35" name="Image 6" descr="preencoded.png">    </p:cNvPr>
          <p:cNvPicPr>
            <a:picLocks noChangeAspect="1"/>
          </p:cNvPicPr>
          <p:nvPr/>
        </p:nvPicPr>
        <p:blipFill>
          <a:blip r:embed="rId7"/>
          <a:stretch>
            <a:fillRect/>
          </a:stretch>
        </p:blipFill>
        <p:spPr>
          <a:xfrm>
            <a:off x="8493557" y="4297680"/>
            <a:ext cx="274320" cy="274320"/>
          </a:xfrm>
          <a:prstGeom prst="rect">
            <a:avLst/>
          </a:prstGeom>
        </p:spPr>
      </p:pic>
      <p:sp>
        <p:nvSpPr>
          <p:cNvPr id="36" name="Text 27"/>
          <p:cNvSpPr txBox="1"/>
          <p:nvPr/>
        </p:nvSpPr>
        <p:spPr>
          <a:xfrm>
            <a:off x="9087917" y="41605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Nerfs</a:t>
            </a:r>
            <a:endParaRPr lang="en-US" sz="1500" dirty="0"/>
          </a:p>
        </p:txBody>
      </p:sp>
      <p:sp>
        <p:nvSpPr>
          <p:cNvPr id="37" name="Text 28"/>
          <p:cNvSpPr txBox="1"/>
          <p:nvPr/>
        </p:nvSpPr>
        <p:spPr>
          <a:xfrm>
            <a:off x="8356397" y="4846320"/>
            <a:ext cx="305805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Comprimés (canal carpien, sciatique), ils provoquent fourmillements, engourdissements, douleurs.</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TMS : mécanismes, signes d'alerte, évolution</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Text 4"/>
          <p:cNvSpPr txBox="1"/>
          <p:nvPr/>
        </p:nvSpPr>
        <p:spPr>
          <a:xfrm>
            <a:off x="548640" y="1234440"/>
            <a:ext cx="11094415" cy="457200"/>
          </a:xfrm>
          <a:prstGeom prst="rect">
            <a:avLst/>
          </a:prstGeom>
          <a:noFill/>
          <a:ln/>
        </p:spPr>
        <p:txBody>
          <a:bodyPr wrap="square" lIns="0" tIns="0" rIns="0" bIns="0" rtlCol="0" anchor="ctr"/>
          <a:lstStyle/>
          <a:p>
            <a:pPr indent="0" marL="0">
              <a:buNone/>
            </a:pPr>
            <a:r>
              <a:rPr lang="en-US" sz="1500" dirty="0">
                <a:solidFill>
                  <a:srgbClr val="35305C"/>
                </a:solidFill>
                <a:latin typeface="Arial" pitchFamily="34" charset="0"/>
                <a:ea typeface="Arial" pitchFamily="34" charset="-122"/>
                <a:cs typeface="Arial" pitchFamily="34" charset="-120"/>
              </a:rPr>
              <a:t>Les troubles musculo-squelettiques apparaissent quand les sollicitations dépassent les capacités de récupération du corps.</a:t>
            </a:r>
            <a:endParaRPr lang="en-US" sz="1500" dirty="0"/>
          </a:p>
        </p:txBody>
      </p:sp>
      <p:sp>
        <p:nvSpPr>
          <p:cNvPr id="8" name="Shape 5"/>
          <p:cNvSpPr/>
          <p:nvPr/>
        </p:nvSpPr>
        <p:spPr>
          <a:xfrm>
            <a:off x="548640" y="1920240"/>
            <a:ext cx="3423818" cy="2286000"/>
          </a:xfrm>
          <a:prstGeom prst="roundRect">
            <a:avLst>
              <a:gd name="adj" fmla="val 3200"/>
            </a:avLst>
          </a:prstGeom>
          <a:solidFill>
            <a:srgbClr val="F0EF96"/>
          </a:solidFill>
          <a:ln w="12700">
            <a:solidFill>
              <a:srgbClr val="F0EF96"/>
            </a:solidFill>
            <a:prstDash val="solid"/>
          </a:ln>
        </p:spPr>
      </p:sp>
      <p:sp>
        <p:nvSpPr>
          <p:cNvPr id="9" name="Text 6"/>
          <p:cNvSpPr txBox="1"/>
          <p:nvPr/>
        </p:nvSpPr>
        <p:spPr>
          <a:xfrm>
            <a:off x="822960" y="2103120"/>
            <a:ext cx="2875178" cy="457200"/>
          </a:xfrm>
          <a:prstGeom prst="rect">
            <a:avLst/>
          </a:prstGeom>
          <a:noFill/>
          <a:ln/>
        </p:spPr>
        <p:txBody>
          <a:bodyPr wrap="square" lIns="0" tIns="0" rIns="0" bIns="0" rtlCol="0" anchor="ctr"/>
          <a:lstStyle/>
          <a:p>
            <a:pPr indent="0" marL="0">
              <a:buNone/>
            </a:pPr>
            <a:r>
              <a:rPr lang="en-US" sz="2000" b="1" dirty="0">
                <a:solidFill>
                  <a:srgbClr val="0A032B"/>
                </a:solidFill>
                <a:latin typeface="Montserrat" pitchFamily="34" charset="0"/>
                <a:ea typeface="Montserrat" pitchFamily="34" charset="-122"/>
                <a:cs typeface="Montserrat" pitchFamily="34" charset="-120"/>
              </a:rPr>
              <a:t>Stade 1</a:t>
            </a:r>
            <a:endParaRPr lang="en-US" sz="2000" dirty="0"/>
          </a:p>
        </p:txBody>
      </p:sp>
      <p:sp>
        <p:nvSpPr>
          <p:cNvPr id="10" name="Text 7"/>
          <p:cNvSpPr txBox="1"/>
          <p:nvPr/>
        </p:nvSpPr>
        <p:spPr>
          <a:xfrm>
            <a:off x="822960" y="2606040"/>
            <a:ext cx="2875178" cy="914400"/>
          </a:xfrm>
          <a:prstGeom prst="rect">
            <a:avLst/>
          </a:prstGeom>
          <a:noFill/>
          <a:ln/>
        </p:spPr>
        <p:txBody>
          <a:bodyPr wrap="square" lIns="0" tIns="0" rIns="0" bIns="0" rtlCol="0" anchor="t"/>
          <a:lstStyle/>
          <a:p>
            <a:pPr indent="0" marL="0">
              <a:buNone/>
            </a:pPr>
            <a:r>
              <a:rPr lang="en-US" sz="1400" dirty="0">
                <a:solidFill>
                  <a:srgbClr val="0A032B"/>
                </a:solidFill>
                <a:latin typeface="Arial" pitchFamily="34" charset="0"/>
                <a:ea typeface="Arial" pitchFamily="34" charset="-122"/>
                <a:cs typeface="Arial" pitchFamily="34" charset="-120"/>
              </a:rPr>
              <a:t>Douleur ou fatigue pendant l'activité, qui disparaît au repos.</a:t>
            </a:r>
            <a:endParaRPr lang="en-US" sz="1400" dirty="0"/>
          </a:p>
        </p:txBody>
      </p:sp>
      <p:sp>
        <p:nvSpPr>
          <p:cNvPr id="11" name="Text 8"/>
          <p:cNvSpPr txBox="1"/>
          <p:nvPr/>
        </p:nvSpPr>
        <p:spPr>
          <a:xfrm>
            <a:off x="822960" y="3566160"/>
            <a:ext cx="2875178" cy="457200"/>
          </a:xfrm>
          <a:prstGeom prst="rect">
            <a:avLst/>
          </a:prstGeom>
          <a:noFill/>
          <a:ln/>
        </p:spPr>
        <p:txBody>
          <a:bodyPr wrap="square" lIns="0" tIns="0" rIns="0" bIns="0" rtlCol="0" anchor="ctr"/>
          <a:lstStyle/>
          <a:p>
            <a:pPr indent="0" marL="0">
              <a:buNone/>
            </a:pPr>
            <a:r>
              <a:rPr lang="en-US" sz="1250" b="1" i="1" dirty="0">
                <a:solidFill>
                  <a:srgbClr val="0A032B"/>
                </a:solidFill>
                <a:latin typeface="Arial" pitchFamily="34" charset="0"/>
                <a:ea typeface="Arial" pitchFamily="34" charset="-122"/>
                <a:cs typeface="Arial" pitchFamily="34" charset="-120"/>
              </a:rPr>
              <a:t>Signal d'alerte : réagir tout de suite</a:t>
            </a:r>
            <a:endParaRPr lang="en-US" sz="1250" dirty="0"/>
          </a:p>
        </p:txBody>
      </p:sp>
      <p:sp>
        <p:nvSpPr>
          <p:cNvPr id="12" name="Shape 9"/>
          <p:cNvSpPr/>
          <p:nvPr/>
        </p:nvSpPr>
        <p:spPr>
          <a:xfrm>
            <a:off x="4045610" y="2880360"/>
            <a:ext cx="274320" cy="365760"/>
          </a:xfrm>
          <a:prstGeom prst="rightArrow">
            <a:avLst/>
          </a:prstGeom>
          <a:solidFill>
            <a:srgbClr val="5E5A78"/>
          </a:solidFill>
          <a:ln w="12700">
            <a:solidFill>
              <a:srgbClr val="5E5A78"/>
            </a:solidFill>
            <a:prstDash val="solid"/>
          </a:ln>
        </p:spPr>
      </p:sp>
      <p:sp>
        <p:nvSpPr>
          <p:cNvPr id="13" name="Shape 10"/>
          <p:cNvSpPr/>
          <p:nvPr/>
        </p:nvSpPr>
        <p:spPr>
          <a:xfrm>
            <a:off x="4383938" y="1920240"/>
            <a:ext cx="3423818" cy="2286000"/>
          </a:xfrm>
          <a:prstGeom prst="roundRect">
            <a:avLst>
              <a:gd name="adj" fmla="val 3200"/>
            </a:avLst>
          </a:prstGeom>
          <a:solidFill>
            <a:srgbClr val="DCDAEA"/>
          </a:solidFill>
          <a:ln w="12700">
            <a:solidFill>
              <a:srgbClr val="DCDAEA"/>
            </a:solidFill>
            <a:prstDash val="solid"/>
          </a:ln>
        </p:spPr>
      </p:sp>
      <p:sp>
        <p:nvSpPr>
          <p:cNvPr id="14" name="Text 11"/>
          <p:cNvSpPr txBox="1"/>
          <p:nvPr/>
        </p:nvSpPr>
        <p:spPr>
          <a:xfrm>
            <a:off x="4658258" y="2103120"/>
            <a:ext cx="2875178" cy="457200"/>
          </a:xfrm>
          <a:prstGeom prst="rect">
            <a:avLst/>
          </a:prstGeom>
          <a:noFill/>
          <a:ln/>
        </p:spPr>
        <p:txBody>
          <a:bodyPr wrap="square" lIns="0" tIns="0" rIns="0" bIns="0" rtlCol="0" anchor="ctr"/>
          <a:lstStyle/>
          <a:p>
            <a:pPr indent="0" marL="0">
              <a:buNone/>
            </a:pPr>
            <a:r>
              <a:rPr lang="en-US" sz="2000" b="1" dirty="0">
                <a:solidFill>
                  <a:srgbClr val="0A032B"/>
                </a:solidFill>
                <a:latin typeface="Montserrat" pitchFamily="34" charset="0"/>
                <a:ea typeface="Montserrat" pitchFamily="34" charset="-122"/>
                <a:cs typeface="Montserrat" pitchFamily="34" charset="-120"/>
              </a:rPr>
              <a:t>Stade 2</a:t>
            </a:r>
            <a:endParaRPr lang="en-US" sz="2000" dirty="0"/>
          </a:p>
        </p:txBody>
      </p:sp>
      <p:sp>
        <p:nvSpPr>
          <p:cNvPr id="15" name="Text 12"/>
          <p:cNvSpPr txBox="1"/>
          <p:nvPr/>
        </p:nvSpPr>
        <p:spPr>
          <a:xfrm>
            <a:off x="4658258" y="2606040"/>
            <a:ext cx="2875178" cy="914400"/>
          </a:xfrm>
          <a:prstGeom prst="rect">
            <a:avLst/>
          </a:prstGeom>
          <a:noFill/>
          <a:ln/>
        </p:spPr>
        <p:txBody>
          <a:bodyPr wrap="square" lIns="0" tIns="0" rIns="0" bIns="0" rtlCol="0" anchor="t"/>
          <a:lstStyle/>
          <a:p>
            <a:pPr indent="0" marL="0">
              <a:buNone/>
            </a:pPr>
            <a:r>
              <a:rPr lang="en-US" sz="1400" dirty="0">
                <a:solidFill>
                  <a:srgbClr val="0A032B"/>
                </a:solidFill>
                <a:latin typeface="Arial" pitchFamily="34" charset="0"/>
                <a:ea typeface="Arial" pitchFamily="34" charset="-122"/>
                <a:cs typeface="Arial" pitchFamily="34" charset="-120"/>
              </a:rPr>
              <a:t>La douleur persiste après l'activité et la nuit, la force diminue.</a:t>
            </a:r>
            <a:endParaRPr lang="en-US" sz="1400" dirty="0"/>
          </a:p>
        </p:txBody>
      </p:sp>
      <p:sp>
        <p:nvSpPr>
          <p:cNvPr id="16" name="Text 13"/>
          <p:cNvSpPr txBox="1"/>
          <p:nvPr/>
        </p:nvSpPr>
        <p:spPr>
          <a:xfrm>
            <a:off x="4658258" y="3566160"/>
            <a:ext cx="2875178" cy="457200"/>
          </a:xfrm>
          <a:prstGeom prst="rect">
            <a:avLst/>
          </a:prstGeom>
          <a:noFill/>
          <a:ln/>
        </p:spPr>
        <p:txBody>
          <a:bodyPr wrap="square" lIns="0" tIns="0" rIns="0" bIns="0" rtlCol="0" anchor="ctr"/>
          <a:lstStyle/>
          <a:p>
            <a:pPr indent="0" marL="0">
              <a:buNone/>
            </a:pPr>
            <a:r>
              <a:rPr lang="en-US" sz="1250" b="1" i="1" dirty="0">
                <a:solidFill>
                  <a:srgbClr val="0A032B"/>
                </a:solidFill>
                <a:latin typeface="Arial" pitchFamily="34" charset="0"/>
                <a:ea typeface="Arial" pitchFamily="34" charset="-122"/>
                <a:cs typeface="Arial" pitchFamily="34" charset="-120"/>
              </a:rPr>
              <a:t>Consulter, adapter l'activité</a:t>
            </a:r>
            <a:endParaRPr lang="en-US" sz="1250" dirty="0"/>
          </a:p>
        </p:txBody>
      </p:sp>
      <p:sp>
        <p:nvSpPr>
          <p:cNvPr id="17" name="Shape 14"/>
          <p:cNvSpPr/>
          <p:nvPr/>
        </p:nvSpPr>
        <p:spPr>
          <a:xfrm>
            <a:off x="7880909" y="2880360"/>
            <a:ext cx="274320" cy="365760"/>
          </a:xfrm>
          <a:prstGeom prst="rightArrow">
            <a:avLst/>
          </a:prstGeom>
          <a:solidFill>
            <a:srgbClr val="5E5A78"/>
          </a:solidFill>
          <a:ln w="12700">
            <a:solidFill>
              <a:srgbClr val="5E5A78"/>
            </a:solidFill>
            <a:prstDash val="solid"/>
          </a:ln>
        </p:spPr>
      </p:sp>
      <p:sp>
        <p:nvSpPr>
          <p:cNvPr id="18" name="Shape 15"/>
          <p:cNvSpPr/>
          <p:nvPr/>
        </p:nvSpPr>
        <p:spPr>
          <a:xfrm>
            <a:off x="8219237" y="1920240"/>
            <a:ext cx="3423818" cy="2286000"/>
          </a:xfrm>
          <a:prstGeom prst="roundRect">
            <a:avLst>
              <a:gd name="adj" fmla="val 3200"/>
            </a:avLst>
          </a:prstGeom>
          <a:solidFill>
            <a:srgbClr val="0A032B"/>
          </a:solidFill>
          <a:ln w="12700">
            <a:solidFill>
              <a:srgbClr val="0A032B"/>
            </a:solidFill>
            <a:prstDash val="solid"/>
          </a:ln>
        </p:spPr>
      </p:sp>
      <p:sp>
        <p:nvSpPr>
          <p:cNvPr id="19" name="Text 16"/>
          <p:cNvSpPr txBox="1"/>
          <p:nvPr/>
        </p:nvSpPr>
        <p:spPr>
          <a:xfrm>
            <a:off x="8493557" y="2103120"/>
            <a:ext cx="2875178" cy="457200"/>
          </a:xfrm>
          <a:prstGeom prst="rect">
            <a:avLst/>
          </a:prstGeom>
          <a:noFill/>
          <a:ln/>
        </p:spPr>
        <p:txBody>
          <a:bodyPr wrap="square" lIns="0" tIns="0" rIns="0" bIns="0" rtlCol="0" anchor="ctr"/>
          <a:lstStyle/>
          <a:p>
            <a:pPr indent="0" marL="0">
              <a:buNone/>
            </a:pPr>
            <a:r>
              <a:rPr lang="en-US" sz="2000" b="1" dirty="0">
                <a:solidFill>
                  <a:srgbClr val="FFFFFF"/>
                </a:solidFill>
                <a:latin typeface="Montserrat" pitchFamily="34" charset="0"/>
                <a:ea typeface="Montserrat" pitchFamily="34" charset="-122"/>
                <a:cs typeface="Montserrat" pitchFamily="34" charset="-120"/>
              </a:rPr>
              <a:t>Stade 3</a:t>
            </a:r>
            <a:endParaRPr lang="en-US" sz="2000" dirty="0"/>
          </a:p>
        </p:txBody>
      </p:sp>
      <p:sp>
        <p:nvSpPr>
          <p:cNvPr id="20" name="Text 17"/>
          <p:cNvSpPr txBox="1"/>
          <p:nvPr/>
        </p:nvSpPr>
        <p:spPr>
          <a:xfrm>
            <a:off x="8493557" y="2606040"/>
            <a:ext cx="2875178"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Douleur permanente, même au repos, gestes simples impossibles.</a:t>
            </a:r>
            <a:endParaRPr lang="en-US" sz="1400" dirty="0"/>
          </a:p>
        </p:txBody>
      </p:sp>
      <p:sp>
        <p:nvSpPr>
          <p:cNvPr id="21" name="Text 18"/>
          <p:cNvSpPr txBox="1"/>
          <p:nvPr/>
        </p:nvSpPr>
        <p:spPr>
          <a:xfrm>
            <a:off x="8493557" y="3566160"/>
            <a:ext cx="2875178" cy="457200"/>
          </a:xfrm>
          <a:prstGeom prst="rect">
            <a:avLst/>
          </a:prstGeom>
          <a:noFill/>
          <a:ln/>
        </p:spPr>
        <p:txBody>
          <a:bodyPr wrap="square" lIns="0" tIns="0" rIns="0" bIns="0" rtlCol="0" anchor="ctr"/>
          <a:lstStyle/>
          <a:p>
            <a:pPr indent="0" marL="0">
              <a:buNone/>
            </a:pPr>
            <a:r>
              <a:rPr lang="en-US" sz="1250" b="1" i="1" dirty="0">
                <a:solidFill>
                  <a:srgbClr val="FFFFFF"/>
                </a:solidFill>
                <a:latin typeface="Arial" pitchFamily="34" charset="0"/>
                <a:ea typeface="Arial" pitchFamily="34" charset="-122"/>
                <a:cs typeface="Arial" pitchFamily="34" charset="-120"/>
              </a:rPr>
              <a:t>Risque d'arrêt long et de séquelles</a:t>
            </a:r>
            <a:endParaRPr lang="en-US" sz="1250" dirty="0"/>
          </a:p>
        </p:txBody>
      </p:sp>
      <p:sp>
        <p:nvSpPr>
          <p:cNvPr id="22" name="Text 19"/>
          <p:cNvSpPr txBox="1"/>
          <p:nvPr/>
        </p:nvSpPr>
        <p:spPr>
          <a:xfrm>
            <a:off x="548640" y="4480560"/>
            <a:ext cx="11094415" cy="36576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Les TMS les plus fréquents</a:t>
            </a:r>
            <a:endParaRPr lang="en-US" sz="1500" dirty="0"/>
          </a:p>
        </p:txBody>
      </p:sp>
      <p:sp>
        <p:nvSpPr>
          <p:cNvPr id="23" name="Shape 20"/>
          <p:cNvSpPr/>
          <p:nvPr/>
        </p:nvSpPr>
        <p:spPr>
          <a:xfrm>
            <a:off x="548640" y="4983480"/>
            <a:ext cx="1696669" cy="777240"/>
          </a:xfrm>
          <a:prstGeom prst="roundRect">
            <a:avLst>
              <a:gd name="adj" fmla="val 9412"/>
            </a:avLst>
          </a:prstGeom>
          <a:solidFill>
            <a:srgbClr val="EEEDF5"/>
          </a:solidFill>
          <a:ln w="12700">
            <a:solidFill>
              <a:srgbClr val="EEEDF5"/>
            </a:solidFill>
            <a:prstDash val="solid"/>
          </a:ln>
        </p:spPr>
      </p:sp>
      <p:sp>
        <p:nvSpPr>
          <p:cNvPr id="24" name="Text 21"/>
          <p:cNvSpPr txBox="1"/>
          <p:nvPr/>
        </p:nvSpPr>
        <p:spPr>
          <a:xfrm>
            <a:off x="640080"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Lombalgie</a:t>
            </a:r>
            <a:endParaRPr lang="en-US" sz="1250" dirty="0"/>
          </a:p>
        </p:txBody>
      </p:sp>
      <p:sp>
        <p:nvSpPr>
          <p:cNvPr id="25" name="Shape 22"/>
          <p:cNvSpPr/>
          <p:nvPr/>
        </p:nvSpPr>
        <p:spPr>
          <a:xfrm>
            <a:off x="2428189" y="4983480"/>
            <a:ext cx="1696669" cy="777240"/>
          </a:xfrm>
          <a:prstGeom prst="roundRect">
            <a:avLst>
              <a:gd name="adj" fmla="val 9412"/>
            </a:avLst>
          </a:prstGeom>
          <a:solidFill>
            <a:srgbClr val="EEEDF5"/>
          </a:solidFill>
          <a:ln w="12700">
            <a:solidFill>
              <a:srgbClr val="EEEDF5"/>
            </a:solidFill>
            <a:prstDash val="solid"/>
          </a:ln>
        </p:spPr>
      </p:sp>
      <p:sp>
        <p:nvSpPr>
          <p:cNvPr id="26" name="Text 23"/>
          <p:cNvSpPr txBox="1"/>
          <p:nvPr/>
        </p:nvSpPr>
        <p:spPr>
          <a:xfrm>
            <a:off x="2519629"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Cervicalgie</a:t>
            </a:r>
            <a:endParaRPr lang="en-US" sz="1250" dirty="0"/>
          </a:p>
        </p:txBody>
      </p:sp>
      <p:sp>
        <p:nvSpPr>
          <p:cNvPr id="27" name="Shape 24"/>
          <p:cNvSpPr/>
          <p:nvPr/>
        </p:nvSpPr>
        <p:spPr>
          <a:xfrm>
            <a:off x="4307738" y="4983480"/>
            <a:ext cx="1696669" cy="777240"/>
          </a:xfrm>
          <a:prstGeom prst="roundRect">
            <a:avLst>
              <a:gd name="adj" fmla="val 9412"/>
            </a:avLst>
          </a:prstGeom>
          <a:solidFill>
            <a:srgbClr val="EEEDF5"/>
          </a:solidFill>
          <a:ln w="12700">
            <a:solidFill>
              <a:srgbClr val="EEEDF5"/>
            </a:solidFill>
            <a:prstDash val="solid"/>
          </a:ln>
        </p:spPr>
      </p:sp>
      <p:sp>
        <p:nvSpPr>
          <p:cNvPr id="28" name="Text 25"/>
          <p:cNvSpPr txBox="1"/>
          <p:nvPr/>
        </p:nvSpPr>
        <p:spPr>
          <a:xfrm>
            <a:off x="4399178"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Tendinite de l'épaule</a:t>
            </a:r>
            <a:endParaRPr lang="en-US" sz="1250" dirty="0"/>
          </a:p>
        </p:txBody>
      </p:sp>
      <p:sp>
        <p:nvSpPr>
          <p:cNvPr id="29" name="Shape 26"/>
          <p:cNvSpPr/>
          <p:nvPr/>
        </p:nvSpPr>
        <p:spPr>
          <a:xfrm>
            <a:off x="6187288" y="4983480"/>
            <a:ext cx="1696669" cy="777240"/>
          </a:xfrm>
          <a:prstGeom prst="roundRect">
            <a:avLst>
              <a:gd name="adj" fmla="val 9412"/>
            </a:avLst>
          </a:prstGeom>
          <a:solidFill>
            <a:srgbClr val="EEEDF5"/>
          </a:solidFill>
          <a:ln w="12700">
            <a:solidFill>
              <a:srgbClr val="EEEDF5"/>
            </a:solidFill>
            <a:prstDash val="solid"/>
          </a:ln>
        </p:spPr>
      </p:sp>
      <p:sp>
        <p:nvSpPr>
          <p:cNvPr id="30" name="Text 27"/>
          <p:cNvSpPr txBox="1"/>
          <p:nvPr/>
        </p:nvSpPr>
        <p:spPr>
          <a:xfrm>
            <a:off x="6278728"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Épicondylite (coude)</a:t>
            </a:r>
            <a:endParaRPr lang="en-US" sz="1250" dirty="0"/>
          </a:p>
        </p:txBody>
      </p:sp>
      <p:sp>
        <p:nvSpPr>
          <p:cNvPr id="31" name="Shape 28"/>
          <p:cNvSpPr/>
          <p:nvPr/>
        </p:nvSpPr>
        <p:spPr>
          <a:xfrm>
            <a:off x="8066837" y="4983480"/>
            <a:ext cx="1696669" cy="777240"/>
          </a:xfrm>
          <a:prstGeom prst="roundRect">
            <a:avLst>
              <a:gd name="adj" fmla="val 9412"/>
            </a:avLst>
          </a:prstGeom>
          <a:solidFill>
            <a:srgbClr val="EEEDF5"/>
          </a:solidFill>
          <a:ln w="12700">
            <a:solidFill>
              <a:srgbClr val="EEEDF5"/>
            </a:solidFill>
            <a:prstDash val="solid"/>
          </a:ln>
        </p:spPr>
      </p:sp>
      <p:sp>
        <p:nvSpPr>
          <p:cNvPr id="32" name="Text 29"/>
          <p:cNvSpPr txBox="1"/>
          <p:nvPr/>
        </p:nvSpPr>
        <p:spPr>
          <a:xfrm>
            <a:off x="8158277"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Syndrome du canal carpien</a:t>
            </a:r>
            <a:endParaRPr lang="en-US" sz="1250" dirty="0"/>
          </a:p>
        </p:txBody>
      </p:sp>
      <p:sp>
        <p:nvSpPr>
          <p:cNvPr id="33" name="Shape 30"/>
          <p:cNvSpPr/>
          <p:nvPr/>
        </p:nvSpPr>
        <p:spPr>
          <a:xfrm>
            <a:off x="9946386" y="4983480"/>
            <a:ext cx="1696669" cy="777240"/>
          </a:xfrm>
          <a:prstGeom prst="roundRect">
            <a:avLst>
              <a:gd name="adj" fmla="val 9412"/>
            </a:avLst>
          </a:prstGeom>
          <a:solidFill>
            <a:srgbClr val="EEEDF5"/>
          </a:solidFill>
          <a:ln w="12700">
            <a:solidFill>
              <a:srgbClr val="EEEDF5"/>
            </a:solidFill>
            <a:prstDash val="solid"/>
          </a:ln>
        </p:spPr>
      </p:sp>
      <p:sp>
        <p:nvSpPr>
          <p:cNvPr id="34" name="Text 31"/>
          <p:cNvSpPr txBox="1"/>
          <p:nvPr/>
        </p:nvSpPr>
        <p:spPr>
          <a:xfrm>
            <a:off x="10037826" y="4983480"/>
            <a:ext cx="1513789" cy="777240"/>
          </a:xfrm>
          <a:prstGeom prst="rect">
            <a:avLst/>
          </a:prstGeom>
          <a:noFill/>
          <a:ln/>
        </p:spPr>
        <p:txBody>
          <a:bodyPr wrap="square" lIns="0" tIns="0" rIns="0" bIns="0" rtlCol="0" anchor="ctr"/>
          <a:lstStyle/>
          <a:p>
            <a:pPr algn="ctr" indent="0" marL="0">
              <a:buNone/>
            </a:pPr>
            <a:r>
              <a:rPr lang="en-US" sz="1250" b="1" dirty="0">
                <a:solidFill>
                  <a:srgbClr val="0A032B"/>
                </a:solidFill>
                <a:latin typeface="Arial" pitchFamily="34" charset="0"/>
                <a:ea typeface="Arial" pitchFamily="34" charset="-122"/>
                <a:cs typeface="Arial" pitchFamily="34" charset="-120"/>
              </a:rPr>
              <a:t>Sciatique / hernie discale</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facteurs de risque</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Les TMS sont multifactoriels : c'est la combinaison des facteurs qui crée le risque</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3515258" cy="2080260"/>
          </a:xfrm>
          <a:prstGeom prst="roundRect">
            <a:avLst>
              <a:gd name="adj" fmla="val 3516"/>
            </a:avLst>
          </a:prstGeom>
          <a:solidFill>
            <a:srgbClr val="EEEDF5"/>
          </a:solidFill>
          <a:ln w="12700">
            <a:solidFill>
              <a:srgbClr val="EEEDF5"/>
            </a:solidFill>
            <a:prstDash val="solid"/>
          </a:ln>
        </p:spPr>
      </p:sp>
      <p:sp>
        <p:nvSpPr>
          <p:cNvPr id="9" name="Shape 6"/>
          <p:cNvSpPr/>
          <p:nvPr/>
        </p:nvSpPr>
        <p:spPr>
          <a:xfrm>
            <a:off x="777240" y="1828800"/>
            <a:ext cx="548640" cy="54864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914400" y="1965960"/>
            <a:ext cx="274320" cy="274320"/>
          </a:xfrm>
          <a:prstGeom prst="rect">
            <a:avLst/>
          </a:prstGeom>
        </p:spPr>
      </p:pic>
      <p:sp>
        <p:nvSpPr>
          <p:cNvPr id="11" name="Text 7"/>
          <p:cNvSpPr txBox="1"/>
          <p:nvPr/>
        </p:nvSpPr>
        <p:spPr>
          <a:xfrm>
            <a:off x="1508760"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Port de charges</a:t>
            </a:r>
            <a:endParaRPr lang="en-US" sz="1500" dirty="0"/>
          </a:p>
        </p:txBody>
      </p:sp>
      <p:sp>
        <p:nvSpPr>
          <p:cNvPr id="12" name="Text 8"/>
          <p:cNvSpPr txBox="1"/>
          <p:nvPr/>
        </p:nvSpPr>
        <p:spPr>
          <a:xfrm>
            <a:off x="777240" y="251460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Poids, volume, prise difficile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Charge éloignée du corps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Distances, escaliers, fréquence</a:t>
            </a:r>
            <a:endParaRPr lang="en-US" sz="1250" dirty="0"/>
          </a:p>
        </p:txBody>
      </p:sp>
      <p:sp>
        <p:nvSpPr>
          <p:cNvPr id="13" name="Shape 9"/>
          <p:cNvSpPr/>
          <p:nvPr/>
        </p:nvSpPr>
        <p:spPr>
          <a:xfrm>
            <a:off x="4338218" y="1600200"/>
            <a:ext cx="3515258" cy="2080260"/>
          </a:xfrm>
          <a:prstGeom prst="roundRect">
            <a:avLst>
              <a:gd name="adj" fmla="val 3516"/>
            </a:avLst>
          </a:prstGeom>
          <a:solidFill>
            <a:srgbClr val="EEEDF5"/>
          </a:solidFill>
          <a:ln w="12700">
            <a:solidFill>
              <a:srgbClr val="EEEDF5"/>
            </a:solidFill>
            <a:prstDash val="solid"/>
          </a:ln>
        </p:spPr>
      </p:sp>
      <p:sp>
        <p:nvSpPr>
          <p:cNvPr id="14" name="Shape 10"/>
          <p:cNvSpPr/>
          <p:nvPr/>
        </p:nvSpPr>
        <p:spPr>
          <a:xfrm>
            <a:off x="4566818" y="1828800"/>
            <a:ext cx="548640" cy="548640"/>
          </a:xfrm>
          <a:prstGeom prst="ellipse">
            <a:avLst/>
          </a:prstGeom>
          <a:solidFill>
            <a:srgbClr val="0A032B"/>
          </a:solidFill>
          <a:ln w="12700">
            <a:solidFill>
              <a:srgbClr val="0A032B"/>
            </a:solidFill>
            <a:prstDash val="solid"/>
          </a:ln>
        </p:spPr>
      </p:sp>
      <p:pic>
        <p:nvPicPr>
          <p:cNvPr id="15" name="Image 2" descr="preencoded.png">    </p:cNvPr>
          <p:cNvPicPr>
            <a:picLocks noChangeAspect="1"/>
          </p:cNvPicPr>
          <p:nvPr/>
        </p:nvPicPr>
        <p:blipFill>
          <a:blip r:embed="rId3"/>
          <a:stretch>
            <a:fillRect/>
          </a:stretch>
        </p:blipFill>
        <p:spPr>
          <a:xfrm>
            <a:off x="4703978" y="1965960"/>
            <a:ext cx="274320" cy="274320"/>
          </a:xfrm>
          <a:prstGeom prst="rect">
            <a:avLst/>
          </a:prstGeom>
        </p:spPr>
      </p:pic>
      <p:sp>
        <p:nvSpPr>
          <p:cNvPr id="16" name="Text 11"/>
          <p:cNvSpPr txBox="1"/>
          <p:nvPr/>
        </p:nvSpPr>
        <p:spPr>
          <a:xfrm>
            <a:off x="5298338"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Gestes répétitifs</a:t>
            </a:r>
            <a:endParaRPr lang="en-US" sz="1500" dirty="0"/>
          </a:p>
        </p:txBody>
      </p:sp>
      <p:sp>
        <p:nvSpPr>
          <p:cNvPr id="17" name="Text 12"/>
          <p:cNvSpPr txBox="1"/>
          <p:nvPr/>
        </p:nvSpPr>
        <p:spPr>
          <a:xfrm>
            <a:off x="4566818" y="251460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Mêmes gestes, peu de variation</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Cadence imposée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Temps de récupération insuffisant</a:t>
            </a:r>
            <a:endParaRPr lang="en-US" sz="1250" dirty="0"/>
          </a:p>
        </p:txBody>
      </p:sp>
      <p:sp>
        <p:nvSpPr>
          <p:cNvPr id="18" name="Shape 13"/>
          <p:cNvSpPr/>
          <p:nvPr/>
        </p:nvSpPr>
        <p:spPr>
          <a:xfrm>
            <a:off x="8127797" y="1600200"/>
            <a:ext cx="3515258" cy="2080260"/>
          </a:xfrm>
          <a:prstGeom prst="roundRect">
            <a:avLst>
              <a:gd name="adj" fmla="val 3516"/>
            </a:avLst>
          </a:prstGeom>
          <a:solidFill>
            <a:srgbClr val="EEEDF5"/>
          </a:solidFill>
          <a:ln w="12700">
            <a:solidFill>
              <a:srgbClr val="EEEDF5"/>
            </a:solidFill>
            <a:prstDash val="solid"/>
          </a:ln>
        </p:spPr>
      </p:sp>
      <p:sp>
        <p:nvSpPr>
          <p:cNvPr id="19" name="Shape 14"/>
          <p:cNvSpPr/>
          <p:nvPr/>
        </p:nvSpPr>
        <p:spPr>
          <a:xfrm>
            <a:off x="8356397" y="1828800"/>
            <a:ext cx="548640" cy="548640"/>
          </a:xfrm>
          <a:prstGeom prst="ellipse">
            <a:avLst/>
          </a:prstGeom>
          <a:solidFill>
            <a:srgbClr val="0A032B"/>
          </a:solidFill>
          <a:ln w="12700">
            <a:solidFill>
              <a:srgbClr val="0A032B"/>
            </a:solidFill>
            <a:prstDash val="solid"/>
          </a:ln>
        </p:spPr>
      </p:sp>
      <p:pic>
        <p:nvPicPr>
          <p:cNvPr id="20" name="Image 3" descr="preencoded.png">    </p:cNvPr>
          <p:cNvPicPr>
            <a:picLocks noChangeAspect="1"/>
          </p:cNvPicPr>
          <p:nvPr/>
        </p:nvPicPr>
        <p:blipFill>
          <a:blip r:embed="rId4"/>
          <a:stretch>
            <a:fillRect/>
          </a:stretch>
        </p:blipFill>
        <p:spPr>
          <a:xfrm>
            <a:off x="8493557" y="1965960"/>
            <a:ext cx="274320" cy="274320"/>
          </a:xfrm>
          <a:prstGeom prst="rect">
            <a:avLst/>
          </a:prstGeom>
        </p:spPr>
      </p:pic>
      <p:sp>
        <p:nvSpPr>
          <p:cNvPr id="21" name="Text 15"/>
          <p:cNvSpPr txBox="1"/>
          <p:nvPr/>
        </p:nvSpPr>
        <p:spPr>
          <a:xfrm>
            <a:off x="9087917"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Postures contraignantes</a:t>
            </a:r>
            <a:endParaRPr lang="en-US" sz="1500" dirty="0"/>
          </a:p>
        </p:txBody>
      </p:sp>
      <p:sp>
        <p:nvSpPr>
          <p:cNvPr id="22" name="Text 16"/>
          <p:cNvSpPr txBox="1"/>
          <p:nvPr/>
        </p:nvSpPr>
        <p:spPr>
          <a:xfrm>
            <a:off x="8356397" y="251460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Dos penché ou en torsion</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Bras au-dessus des épaules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Accroupi, à genoux</a:t>
            </a:r>
            <a:endParaRPr lang="en-US" sz="1250" dirty="0"/>
          </a:p>
        </p:txBody>
      </p:sp>
      <p:sp>
        <p:nvSpPr>
          <p:cNvPr id="23" name="Shape 17"/>
          <p:cNvSpPr/>
          <p:nvPr/>
        </p:nvSpPr>
        <p:spPr>
          <a:xfrm>
            <a:off x="548640" y="3954780"/>
            <a:ext cx="3515258" cy="2080260"/>
          </a:xfrm>
          <a:prstGeom prst="roundRect">
            <a:avLst>
              <a:gd name="adj" fmla="val 3516"/>
            </a:avLst>
          </a:prstGeom>
          <a:solidFill>
            <a:srgbClr val="EEEDF5"/>
          </a:solidFill>
          <a:ln w="12700">
            <a:solidFill>
              <a:srgbClr val="EEEDF5"/>
            </a:solidFill>
            <a:prstDash val="solid"/>
          </a:ln>
        </p:spPr>
      </p:sp>
      <p:sp>
        <p:nvSpPr>
          <p:cNvPr id="24" name="Shape 18"/>
          <p:cNvSpPr/>
          <p:nvPr/>
        </p:nvSpPr>
        <p:spPr>
          <a:xfrm>
            <a:off x="777240" y="4183380"/>
            <a:ext cx="548640" cy="548640"/>
          </a:xfrm>
          <a:prstGeom prst="ellipse">
            <a:avLst/>
          </a:prstGeom>
          <a:solidFill>
            <a:srgbClr val="0A032B"/>
          </a:solidFill>
          <a:ln w="12700">
            <a:solidFill>
              <a:srgbClr val="0A032B"/>
            </a:solidFill>
            <a:prstDash val="solid"/>
          </a:ln>
        </p:spPr>
      </p:sp>
      <p:pic>
        <p:nvPicPr>
          <p:cNvPr id="25" name="Image 4" descr="preencoded.png">    </p:cNvPr>
          <p:cNvPicPr>
            <a:picLocks noChangeAspect="1"/>
          </p:cNvPicPr>
          <p:nvPr/>
        </p:nvPicPr>
        <p:blipFill>
          <a:blip r:embed="rId5"/>
          <a:stretch>
            <a:fillRect/>
          </a:stretch>
        </p:blipFill>
        <p:spPr>
          <a:xfrm>
            <a:off x="914400" y="4320540"/>
            <a:ext cx="274320" cy="274320"/>
          </a:xfrm>
          <a:prstGeom prst="rect">
            <a:avLst/>
          </a:prstGeom>
        </p:spPr>
      </p:pic>
      <p:sp>
        <p:nvSpPr>
          <p:cNvPr id="26" name="Text 19"/>
          <p:cNvSpPr txBox="1"/>
          <p:nvPr/>
        </p:nvSpPr>
        <p:spPr>
          <a:xfrm>
            <a:off x="1508760"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Station assise prolongée</a:t>
            </a:r>
            <a:endParaRPr lang="en-US" sz="1500" dirty="0"/>
          </a:p>
        </p:txBody>
      </p:sp>
      <p:sp>
        <p:nvSpPr>
          <p:cNvPr id="27" name="Text 20"/>
          <p:cNvSpPr txBox="1"/>
          <p:nvPr/>
        </p:nvSpPr>
        <p:spPr>
          <a:xfrm>
            <a:off x="777240" y="486918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Conseils, commissions, réunions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Longs trajets en voiture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Travail sur écran</a:t>
            </a:r>
            <a:endParaRPr lang="en-US" sz="1250" dirty="0"/>
          </a:p>
        </p:txBody>
      </p:sp>
      <p:sp>
        <p:nvSpPr>
          <p:cNvPr id="28" name="Shape 21"/>
          <p:cNvSpPr/>
          <p:nvPr/>
        </p:nvSpPr>
        <p:spPr>
          <a:xfrm>
            <a:off x="4338218" y="3954780"/>
            <a:ext cx="3515258" cy="2080260"/>
          </a:xfrm>
          <a:prstGeom prst="roundRect">
            <a:avLst>
              <a:gd name="adj" fmla="val 3516"/>
            </a:avLst>
          </a:prstGeom>
          <a:solidFill>
            <a:srgbClr val="EEEDF5"/>
          </a:solidFill>
          <a:ln w="12700">
            <a:solidFill>
              <a:srgbClr val="EEEDF5"/>
            </a:solidFill>
            <a:prstDash val="solid"/>
          </a:ln>
        </p:spPr>
      </p:sp>
      <p:sp>
        <p:nvSpPr>
          <p:cNvPr id="29" name="Shape 22"/>
          <p:cNvSpPr/>
          <p:nvPr/>
        </p:nvSpPr>
        <p:spPr>
          <a:xfrm>
            <a:off x="4566818" y="4183380"/>
            <a:ext cx="548640" cy="548640"/>
          </a:xfrm>
          <a:prstGeom prst="ellipse">
            <a:avLst/>
          </a:prstGeom>
          <a:solidFill>
            <a:srgbClr val="0A032B"/>
          </a:solidFill>
          <a:ln w="12700">
            <a:solidFill>
              <a:srgbClr val="0A032B"/>
            </a:solidFill>
            <a:prstDash val="solid"/>
          </a:ln>
        </p:spPr>
      </p:sp>
      <p:pic>
        <p:nvPicPr>
          <p:cNvPr id="30" name="Image 5" descr="preencoded.png">    </p:cNvPr>
          <p:cNvPicPr>
            <a:picLocks noChangeAspect="1"/>
          </p:cNvPicPr>
          <p:nvPr/>
        </p:nvPicPr>
        <p:blipFill>
          <a:blip r:embed="rId6"/>
          <a:stretch>
            <a:fillRect/>
          </a:stretch>
        </p:blipFill>
        <p:spPr>
          <a:xfrm>
            <a:off x="4703978" y="4320540"/>
            <a:ext cx="274320" cy="274320"/>
          </a:xfrm>
          <a:prstGeom prst="rect">
            <a:avLst/>
          </a:prstGeom>
        </p:spPr>
      </p:pic>
      <p:sp>
        <p:nvSpPr>
          <p:cNvPr id="31" name="Text 23"/>
          <p:cNvSpPr txBox="1"/>
          <p:nvPr/>
        </p:nvSpPr>
        <p:spPr>
          <a:xfrm>
            <a:off x="5298338"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Facteurs psychosociaux</a:t>
            </a:r>
            <a:endParaRPr lang="en-US" sz="1500" dirty="0"/>
          </a:p>
        </p:txBody>
      </p:sp>
      <p:sp>
        <p:nvSpPr>
          <p:cNvPr id="32" name="Text 24"/>
          <p:cNvSpPr txBox="1"/>
          <p:nvPr/>
        </p:nvSpPr>
        <p:spPr>
          <a:xfrm>
            <a:off x="4566818" y="486918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Stress, pression du temps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Charge mentale du mandat</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Manque de récupération</a:t>
            </a:r>
            <a:endParaRPr lang="en-US" sz="1250" dirty="0"/>
          </a:p>
        </p:txBody>
      </p:sp>
      <p:sp>
        <p:nvSpPr>
          <p:cNvPr id="33" name="Shape 25"/>
          <p:cNvSpPr/>
          <p:nvPr/>
        </p:nvSpPr>
        <p:spPr>
          <a:xfrm>
            <a:off x="8127797" y="3954780"/>
            <a:ext cx="3515258" cy="2080260"/>
          </a:xfrm>
          <a:prstGeom prst="roundRect">
            <a:avLst>
              <a:gd name="adj" fmla="val 3516"/>
            </a:avLst>
          </a:prstGeom>
          <a:solidFill>
            <a:srgbClr val="EEEDF5"/>
          </a:solidFill>
          <a:ln w="12700">
            <a:solidFill>
              <a:srgbClr val="EEEDF5"/>
            </a:solidFill>
            <a:prstDash val="solid"/>
          </a:ln>
        </p:spPr>
      </p:sp>
      <p:sp>
        <p:nvSpPr>
          <p:cNvPr id="34" name="Shape 26"/>
          <p:cNvSpPr/>
          <p:nvPr/>
        </p:nvSpPr>
        <p:spPr>
          <a:xfrm>
            <a:off x="8356397" y="4183380"/>
            <a:ext cx="548640" cy="548640"/>
          </a:xfrm>
          <a:prstGeom prst="ellipse">
            <a:avLst/>
          </a:prstGeom>
          <a:solidFill>
            <a:srgbClr val="0A032B"/>
          </a:solidFill>
          <a:ln w="12700">
            <a:solidFill>
              <a:srgbClr val="0A032B"/>
            </a:solidFill>
            <a:prstDash val="solid"/>
          </a:ln>
        </p:spPr>
      </p:sp>
      <p:pic>
        <p:nvPicPr>
          <p:cNvPr id="35" name="Image 6" descr="preencoded.png">    </p:cNvPr>
          <p:cNvPicPr>
            <a:picLocks noChangeAspect="1"/>
          </p:cNvPicPr>
          <p:nvPr/>
        </p:nvPicPr>
        <p:blipFill>
          <a:blip r:embed="rId7"/>
          <a:stretch>
            <a:fillRect/>
          </a:stretch>
        </p:blipFill>
        <p:spPr>
          <a:xfrm>
            <a:off x="8493557" y="4320540"/>
            <a:ext cx="274320" cy="274320"/>
          </a:xfrm>
          <a:prstGeom prst="rect">
            <a:avLst/>
          </a:prstGeom>
        </p:spPr>
      </p:pic>
      <p:sp>
        <p:nvSpPr>
          <p:cNvPr id="36" name="Text 27"/>
          <p:cNvSpPr txBox="1"/>
          <p:nvPr/>
        </p:nvSpPr>
        <p:spPr>
          <a:xfrm>
            <a:off x="9087917"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Environnement et individu</a:t>
            </a:r>
            <a:endParaRPr lang="en-US" sz="1500" dirty="0"/>
          </a:p>
        </p:txBody>
      </p:sp>
      <p:sp>
        <p:nvSpPr>
          <p:cNvPr id="37" name="Text 28"/>
          <p:cNvSpPr txBox="1"/>
          <p:nvPr/>
        </p:nvSpPr>
        <p:spPr>
          <a:xfrm>
            <a:off x="8356397" y="4869180"/>
            <a:ext cx="3058058" cy="102870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Froid, vibrations, sols glissants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Âge, condition physique, sommeil</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Échauffement absent</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EXERCICE EN SOUS-GROUPES</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Le mandat à la loupe : repérer les situations à risque</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15 minutes (10 min + 5 min de restitution)</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Sous-groupes de 3 à 4 élus</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Paperboard, feutres, livret stagiaire</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Listez vos situations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Toutes les situations du mandat où votre corps est sollicité : installation de salles, cérémonies, marchés, élections, visites de chantier, conseils, trajets…</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Classez-les par facteur de risque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Port de charges, gestes répétitifs, postures contraignantes, station assise prolongée, stress.</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Identifiez la plus fréquente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Et la plus pénible : entourez-les.</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Restituez au groupe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Un rapporteur par sous-groupe présente ses 2 situations entourées.</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Garder les situations entourées : elles serviront de base aux mises en situation des séquences 2 et 5.</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1</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EXERCICE INDIVIDUEL</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Auto-diagnostic : « Mon corps dans le mandat »</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10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Individuel, puis mise en commun</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Silhouette du livret stagiaire, gommettes de couleur</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Repérez vos zones sensibles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Sur la silhouette du livret, placez une gommette sur chaque zone où vous ressentez gêne ou douleur.</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Qualifiez l'intensité</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Jaune = gêne passagère, orange = douleur régulière, rouge = douleur fréquente ou persistante.</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Associez une situation</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À côté de chaque gommette, notez la situation qui la provoque.</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Mise en commun anonyme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 formateur reporte les zones sur une grande silhouette : quelles zones reviennent le plus ?</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Cet exercice n'est pas un diagnostic médical. Une douleur persistante doit être signalée à un médecin.</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1</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DF5"/>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À retenir</a:t>
            </a:r>
            <a:endParaRPr lang="en-US" sz="2800" dirty="0"/>
          </a:p>
        </p:txBody>
      </p:sp>
      <p:sp>
        <p:nvSpPr>
          <p:cNvPr id="3" name="Text 1"/>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1</a:t>
            </a:r>
            <a:endParaRPr lang="en-US" sz="900" dirty="0"/>
          </a:p>
        </p:txBody>
      </p:sp>
      <p:pic>
        <p:nvPicPr>
          <p:cNvPr id="4"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5" name="Shape 2"/>
          <p:cNvSpPr/>
          <p:nvPr/>
        </p:nvSpPr>
        <p:spPr>
          <a:xfrm>
            <a:off x="548640"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6" name="Shape 3"/>
          <p:cNvSpPr/>
          <p:nvPr/>
        </p:nvSpPr>
        <p:spPr>
          <a:xfrm>
            <a:off x="777240" y="1859280"/>
            <a:ext cx="457200" cy="457200"/>
          </a:xfrm>
          <a:prstGeom prst="ellipse">
            <a:avLst/>
          </a:prstGeom>
          <a:solidFill>
            <a:srgbClr val="F0EF96"/>
          </a:solidFill>
          <a:ln w="12700">
            <a:solidFill>
              <a:srgbClr val="F0EF96"/>
            </a:solidFill>
            <a:prstDash val="solid"/>
          </a:ln>
        </p:spPr>
      </p:sp>
      <p:pic>
        <p:nvPicPr>
          <p:cNvPr id="7" name="Image 1" descr="preencoded.png">    </p:cNvPr>
          <p:cNvPicPr>
            <a:picLocks noChangeAspect="1"/>
          </p:cNvPicPr>
          <p:nvPr/>
        </p:nvPicPr>
        <p:blipFill>
          <a:blip r:embed="rId2"/>
          <a:stretch>
            <a:fillRect/>
          </a:stretch>
        </p:blipFill>
        <p:spPr>
          <a:xfrm>
            <a:off x="891540" y="1973580"/>
            <a:ext cx="228600" cy="228600"/>
          </a:xfrm>
          <a:prstGeom prst="rect">
            <a:avLst/>
          </a:prstGeom>
        </p:spPr>
      </p:pic>
      <p:sp>
        <p:nvSpPr>
          <p:cNvPr id="8" name="Text 4"/>
          <p:cNvSpPr txBox="1"/>
          <p:nvPr/>
        </p:nvSpPr>
        <p:spPr>
          <a:xfrm>
            <a:off x="1417320"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La colonne est plus solide quand elle garde ses 3 courbures naturelles.</a:t>
            </a:r>
            <a:endParaRPr lang="en-US" sz="1400" dirty="0"/>
          </a:p>
        </p:txBody>
      </p:sp>
      <p:sp>
        <p:nvSpPr>
          <p:cNvPr id="9" name="Shape 5"/>
          <p:cNvSpPr/>
          <p:nvPr/>
        </p:nvSpPr>
        <p:spPr>
          <a:xfrm>
            <a:off x="6233008"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0" name="Shape 6"/>
          <p:cNvSpPr/>
          <p:nvPr/>
        </p:nvSpPr>
        <p:spPr>
          <a:xfrm>
            <a:off x="6461608" y="1859280"/>
            <a:ext cx="457200" cy="457200"/>
          </a:xfrm>
          <a:prstGeom prst="ellipse">
            <a:avLst/>
          </a:prstGeom>
          <a:solidFill>
            <a:srgbClr val="F0EF96"/>
          </a:solidFill>
          <a:ln w="12700">
            <a:solidFill>
              <a:srgbClr val="F0EF96"/>
            </a:solidFill>
            <a:prstDash val="solid"/>
          </a:ln>
        </p:spPr>
      </p:sp>
      <p:pic>
        <p:nvPicPr>
          <p:cNvPr id="11" name="Image 2" descr="preencoded.png">    </p:cNvPr>
          <p:cNvPicPr>
            <a:picLocks noChangeAspect="1"/>
          </p:cNvPicPr>
          <p:nvPr/>
        </p:nvPicPr>
        <p:blipFill>
          <a:blip r:embed="rId3"/>
          <a:stretch>
            <a:fillRect/>
          </a:stretch>
        </p:blipFill>
        <p:spPr>
          <a:xfrm>
            <a:off x="6575908" y="1973580"/>
            <a:ext cx="228600" cy="228600"/>
          </a:xfrm>
          <a:prstGeom prst="rect">
            <a:avLst/>
          </a:prstGeom>
        </p:spPr>
      </p:pic>
      <p:sp>
        <p:nvSpPr>
          <p:cNvPr id="12" name="Text 7"/>
          <p:cNvSpPr txBox="1"/>
          <p:nvPr/>
        </p:nvSpPr>
        <p:spPr>
          <a:xfrm>
            <a:off x="7101688"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Dos penché + charge : la pression sur le disque peut plus que doubler.</a:t>
            </a:r>
            <a:endParaRPr lang="en-US" sz="1400" dirty="0"/>
          </a:p>
        </p:txBody>
      </p:sp>
      <p:sp>
        <p:nvSpPr>
          <p:cNvPr id="13" name="Shape 8"/>
          <p:cNvSpPr/>
          <p:nvPr/>
        </p:nvSpPr>
        <p:spPr>
          <a:xfrm>
            <a:off x="548640"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4" name="Shape 9"/>
          <p:cNvSpPr/>
          <p:nvPr/>
        </p:nvSpPr>
        <p:spPr>
          <a:xfrm>
            <a:off x="777240" y="3474720"/>
            <a:ext cx="457200" cy="457200"/>
          </a:xfrm>
          <a:prstGeom prst="ellipse">
            <a:avLst/>
          </a:prstGeom>
          <a:solidFill>
            <a:srgbClr val="F0EF96"/>
          </a:solidFill>
          <a:ln w="12700">
            <a:solidFill>
              <a:srgbClr val="F0EF96"/>
            </a:solidFill>
            <a:prstDash val="solid"/>
          </a:ln>
        </p:spPr>
      </p:sp>
      <p:pic>
        <p:nvPicPr>
          <p:cNvPr id="15" name="Image 3" descr="preencoded.png">    </p:cNvPr>
          <p:cNvPicPr>
            <a:picLocks noChangeAspect="1"/>
          </p:cNvPicPr>
          <p:nvPr/>
        </p:nvPicPr>
        <p:blipFill>
          <a:blip r:embed="rId4"/>
          <a:stretch>
            <a:fillRect/>
          </a:stretch>
        </p:blipFill>
        <p:spPr>
          <a:xfrm>
            <a:off x="891540" y="3589020"/>
            <a:ext cx="228600" cy="228600"/>
          </a:xfrm>
          <a:prstGeom prst="rect">
            <a:avLst/>
          </a:prstGeom>
        </p:spPr>
      </p:pic>
      <p:sp>
        <p:nvSpPr>
          <p:cNvPr id="16" name="Text 10"/>
          <p:cNvSpPr txBox="1"/>
          <p:nvPr/>
        </p:nvSpPr>
        <p:spPr>
          <a:xfrm>
            <a:off x="1417320"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Une douleur qui disparaît au repos est déjà un signal d'alerte (stade 1).</a:t>
            </a:r>
            <a:endParaRPr lang="en-US" sz="1400" dirty="0"/>
          </a:p>
        </p:txBody>
      </p:sp>
      <p:sp>
        <p:nvSpPr>
          <p:cNvPr id="17" name="Shape 11"/>
          <p:cNvSpPr/>
          <p:nvPr/>
        </p:nvSpPr>
        <p:spPr>
          <a:xfrm>
            <a:off x="6233008"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8" name="Shape 12"/>
          <p:cNvSpPr/>
          <p:nvPr/>
        </p:nvSpPr>
        <p:spPr>
          <a:xfrm>
            <a:off x="6461608" y="3474720"/>
            <a:ext cx="457200" cy="457200"/>
          </a:xfrm>
          <a:prstGeom prst="ellipse">
            <a:avLst/>
          </a:prstGeom>
          <a:solidFill>
            <a:srgbClr val="F0EF96"/>
          </a:solidFill>
          <a:ln w="12700">
            <a:solidFill>
              <a:srgbClr val="F0EF96"/>
            </a:solidFill>
            <a:prstDash val="solid"/>
          </a:ln>
        </p:spPr>
      </p:sp>
      <p:pic>
        <p:nvPicPr>
          <p:cNvPr id="19" name="Image 4" descr="preencoded.png">    </p:cNvPr>
          <p:cNvPicPr>
            <a:picLocks noChangeAspect="1"/>
          </p:cNvPicPr>
          <p:nvPr/>
        </p:nvPicPr>
        <p:blipFill>
          <a:blip r:embed="rId5"/>
          <a:stretch>
            <a:fillRect/>
          </a:stretch>
        </p:blipFill>
        <p:spPr>
          <a:xfrm>
            <a:off x="6575908" y="3589020"/>
            <a:ext cx="228600" cy="228600"/>
          </a:xfrm>
          <a:prstGeom prst="rect">
            <a:avLst/>
          </a:prstGeom>
        </p:spPr>
      </p:pic>
      <p:sp>
        <p:nvSpPr>
          <p:cNvPr id="20" name="Text 13"/>
          <p:cNvSpPr txBox="1"/>
          <p:nvPr/>
        </p:nvSpPr>
        <p:spPr>
          <a:xfrm>
            <a:off x="7101688"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Les TMS sont multifactoriels : charges, répétition, postures, sédentarité, stress.</a:t>
            </a:r>
            <a:endParaRPr lang="en-US" sz="1400" dirty="0"/>
          </a:p>
        </p:txBody>
      </p:sp>
      <p:sp>
        <p:nvSpPr>
          <p:cNvPr id="21" name="Shape 14"/>
          <p:cNvSpPr/>
          <p:nvPr/>
        </p:nvSpPr>
        <p:spPr>
          <a:xfrm>
            <a:off x="548640"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2" name="Shape 15"/>
          <p:cNvSpPr/>
          <p:nvPr/>
        </p:nvSpPr>
        <p:spPr>
          <a:xfrm>
            <a:off x="777240" y="5090160"/>
            <a:ext cx="457200" cy="457200"/>
          </a:xfrm>
          <a:prstGeom prst="ellipse">
            <a:avLst/>
          </a:prstGeom>
          <a:solidFill>
            <a:srgbClr val="F0EF96"/>
          </a:solidFill>
          <a:ln w="12700">
            <a:solidFill>
              <a:srgbClr val="F0EF96"/>
            </a:solidFill>
            <a:prstDash val="solid"/>
          </a:ln>
        </p:spPr>
      </p:sp>
      <p:pic>
        <p:nvPicPr>
          <p:cNvPr id="23" name="Image 5" descr="preencoded.png">    </p:cNvPr>
          <p:cNvPicPr>
            <a:picLocks noChangeAspect="1"/>
          </p:cNvPicPr>
          <p:nvPr/>
        </p:nvPicPr>
        <p:blipFill>
          <a:blip r:embed="rId6"/>
          <a:stretch>
            <a:fillRect/>
          </a:stretch>
        </p:blipFill>
        <p:spPr>
          <a:xfrm>
            <a:off x="891540" y="5204460"/>
            <a:ext cx="228600" cy="228600"/>
          </a:xfrm>
          <a:prstGeom prst="rect">
            <a:avLst/>
          </a:prstGeom>
        </p:spPr>
      </p:pic>
      <p:sp>
        <p:nvSpPr>
          <p:cNvPr id="24" name="Text 16"/>
          <p:cNvSpPr txBox="1"/>
          <p:nvPr/>
        </p:nvSpPr>
        <p:spPr>
          <a:xfrm>
            <a:off x="1417320"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L'élu est exposé : conseils, déplacements, installations, cérémonies.</a:t>
            </a:r>
            <a:endParaRPr lang="en-US" sz="1400" dirty="0"/>
          </a:p>
        </p:txBody>
      </p:sp>
      <p:sp>
        <p:nvSpPr>
          <p:cNvPr id="25" name="Shape 17"/>
          <p:cNvSpPr/>
          <p:nvPr/>
        </p:nvSpPr>
        <p:spPr>
          <a:xfrm>
            <a:off x="6233008"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6" name="Shape 18"/>
          <p:cNvSpPr/>
          <p:nvPr/>
        </p:nvSpPr>
        <p:spPr>
          <a:xfrm>
            <a:off x="6461608" y="5090160"/>
            <a:ext cx="457200" cy="457200"/>
          </a:xfrm>
          <a:prstGeom prst="ellipse">
            <a:avLst/>
          </a:prstGeom>
          <a:solidFill>
            <a:srgbClr val="F0EF96"/>
          </a:solidFill>
          <a:ln w="12700">
            <a:solidFill>
              <a:srgbClr val="F0EF96"/>
            </a:solidFill>
            <a:prstDash val="solid"/>
          </a:ln>
        </p:spPr>
      </p:sp>
      <p:pic>
        <p:nvPicPr>
          <p:cNvPr id="27" name="Image 6" descr="preencoded.png">    </p:cNvPr>
          <p:cNvPicPr>
            <a:picLocks noChangeAspect="1"/>
          </p:cNvPicPr>
          <p:nvPr/>
        </p:nvPicPr>
        <p:blipFill>
          <a:blip r:embed="rId7"/>
          <a:stretch>
            <a:fillRect/>
          </a:stretch>
        </p:blipFill>
        <p:spPr>
          <a:xfrm>
            <a:off x="6575908" y="5204460"/>
            <a:ext cx="228600" cy="228600"/>
          </a:xfrm>
          <a:prstGeom prst="rect">
            <a:avLst/>
          </a:prstGeom>
        </p:spPr>
      </p:pic>
      <p:sp>
        <p:nvSpPr>
          <p:cNvPr id="28" name="Text 19"/>
          <p:cNvSpPr txBox="1"/>
          <p:nvPr/>
        </p:nvSpPr>
        <p:spPr>
          <a:xfrm>
            <a:off x="7101688"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Repérer tôt, c'est pouvoir agir simplement.</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F96"/>
        </a:solidFill>
      </p:bgPr>
    </p:bg>
    <p:spTree>
      <p:nvGrpSpPr>
        <p:cNvPr id="1" name=""/>
        <p:cNvGrpSpPr/>
        <p:nvPr/>
      </p:nvGrpSpPr>
      <p:grpSpPr>
        <a:xfrm>
          <a:off x="0" y="0"/>
          <a:ext cx="0" cy="0"/>
          <a:chOff x="0" y="0"/>
          <a:chExt cx="0" cy="0"/>
        </a:xfrm>
      </p:grpSpPr>
      <p:sp>
        <p:nvSpPr>
          <p:cNvPr id="2" name="Shape 0"/>
          <p:cNvSpPr/>
          <p:nvPr/>
        </p:nvSpPr>
        <p:spPr>
          <a:xfrm>
            <a:off x="5272888" y="1463040"/>
            <a:ext cx="1645920" cy="1645920"/>
          </a:xfrm>
          <a:prstGeom prst="ellipse">
            <a:avLst/>
          </a:prstGeom>
          <a:solidFill>
            <a:srgbClr val="0A032B"/>
          </a:solidFill>
          <a:ln w="12700">
            <a:solidFill>
              <a:srgbClr val="0A032B"/>
            </a:solidFill>
            <a:prstDash val="solid"/>
          </a:ln>
        </p:spPr>
      </p:sp>
      <p:pic>
        <p:nvPicPr>
          <p:cNvPr id="3" name="Image 0" descr="preencoded.png">    </p:cNvPr>
          <p:cNvPicPr>
            <a:picLocks noChangeAspect="1"/>
          </p:cNvPicPr>
          <p:nvPr/>
        </p:nvPicPr>
        <p:blipFill>
          <a:blip r:embed="rId1"/>
          <a:stretch>
            <a:fillRect/>
          </a:stretch>
        </p:blipFill>
        <p:spPr>
          <a:xfrm>
            <a:off x="5684368" y="1874520"/>
            <a:ext cx="822960" cy="822960"/>
          </a:xfrm>
          <a:prstGeom prst="rect">
            <a:avLst/>
          </a:prstGeom>
        </p:spPr>
      </p:pic>
      <p:sp>
        <p:nvSpPr>
          <p:cNvPr id="4" name="Text 1"/>
          <p:cNvSpPr txBox="1"/>
          <p:nvPr/>
        </p:nvSpPr>
        <p:spPr>
          <a:xfrm>
            <a:off x="548640" y="3383280"/>
            <a:ext cx="11094415" cy="822960"/>
          </a:xfrm>
          <a:prstGeom prst="rect">
            <a:avLst/>
          </a:prstGeom>
          <a:noFill/>
          <a:ln/>
        </p:spPr>
        <p:txBody>
          <a:bodyPr wrap="square" lIns="0" tIns="0" rIns="0" bIns="0" rtlCol="0" anchor="ctr"/>
          <a:lstStyle/>
          <a:p>
            <a:pPr algn="ctr" indent="0" marL="0">
              <a:buNone/>
            </a:pPr>
            <a:r>
              <a:rPr lang="en-US" sz="4400" b="1" dirty="0">
                <a:solidFill>
                  <a:srgbClr val="0A032B"/>
                </a:solidFill>
                <a:latin typeface="Montserrat" pitchFamily="34" charset="0"/>
                <a:ea typeface="Montserrat" pitchFamily="34" charset="-122"/>
                <a:cs typeface="Montserrat" pitchFamily="34" charset="-120"/>
              </a:rPr>
              <a:t>Pause</a:t>
            </a:r>
            <a:endParaRPr lang="en-US" sz="4400" dirty="0"/>
          </a:p>
        </p:txBody>
      </p:sp>
      <p:sp>
        <p:nvSpPr>
          <p:cNvPr id="5" name="Text 2"/>
          <p:cNvSpPr txBox="1"/>
          <p:nvPr/>
        </p:nvSpPr>
        <p:spPr>
          <a:xfrm>
            <a:off x="548640" y="4206240"/>
            <a:ext cx="11094415" cy="548640"/>
          </a:xfrm>
          <a:prstGeom prst="rect">
            <a:avLst/>
          </a:prstGeom>
          <a:noFill/>
          <a:ln/>
        </p:spPr>
        <p:txBody>
          <a:bodyPr wrap="square" lIns="0" tIns="0" rIns="0" bIns="0" rtlCol="0" anchor="ctr"/>
          <a:lstStyle/>
          <a:p>
            <a:pPr algn="ctr" indent="0" marL="0">
              <a:buNone/>
            </a:pPr>
            <a:r>
              <a:rPr lang="en-US" sz="2000" dirty="0">
                <a:solidFill>
                  <a:srgbClr val="35305C"/>
                </a:solidFill>
                <a:latin typeface="Arial" pitchFamily="34" charset="0"/>
                <a:ea typeface="Arial" pitchFamily="34" charset="-122"/>
                <a:cs typeface="Arial" pitchFamily="34" charset="-120"/>
              </a:rPr>
              <a:t>15 minutes</a:t>
            </a:r>
            <a:endParaRPr lang="en-US" sz="2000" dirty="0"/>
          </a:p>
        </p:txBody>
      </p:sp>
      <p:pic>
        <p:nvPicPr>
          <p:cNvPr id="6" name="Image 1" descr="logo_light.png">    </p:cNvPr>
          <p:cNvPicPr>
            <a:picLocks noChangeAspect="1"/>
          </p:cNvPicPr>
          <p:nvPr/>
        </p:nvPicPr>
        <p:blipFill>
          <a:blip r:embed="rId2"/>
          <a:stretch>
            <a:fillRect/>
          </a:stretch>
        </p:blipFill>
        <p:spPr>
          <a:xfrm>
            <a:off x="10682935" y="6236208"/>
            <a:ext cx="960120" cy="39844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Retour et évaluation collective : vrai ou faux ?</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Levez le carton vert pour VRAI, le carton rouge pour FAUX</a:t>
            </a:r>
            <a:endParaRPr lang="en-US" sz="1400" dirty="0"/>
          </a:p>
        </p:txBody>
      </p:sp>
      <p:sp>
        <p:nvSpPr>
          <p:cNvPr id="4" name="Shape 2"/>
          <p:cNvSpPr/>
          <p:nvPr/>
        </p:nvSpPr>
        <p:spPr>
          <a:xfrm>
            <a:off x="10042855" y="530352"/>
            <a:ext cx="1600200" cy="347472"/>
          </a:xfrm>
          <a:prstGeom prst="roundRect">
            <a:avLst>
              <a:gd name="adj" fmla="val 50000"/>
            </a:avLst>
          </a:prstGeom>
          <a:solidFill>
            <a:srgbClr val="35305C"/>
          </a:solidFill>
          <a:ln w="12700">
            <a:solidFill>
              <a:srgbClr val="35305C"/>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Retour sur la séquence 1</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5410048" cy="1234440"/>
          </a:xfrm>
          <a:prstGeom prst="roundRect">
            <a:avLst>
              <a:gd name="adj" fmla="val 5926"/>
            </a:avLst>
          </a:prstGeom>
          <a:solidFill>
            <a:srgbClr val="EEEDF5"/>
          </a:solidFill>
          <a:ln w="12700">
            <a:solidFill>
              <a:srgbClr val="EEEDF5"/>
            </a:solidFill>
            <a:prstDash val="solid"/>
          </a:ln>
        </p:spPr>
      </p:sp>
      <p:sp>
        <p:nvSpPr>
          <p:cNvPr id="9" name="Shape 6"/>
          <p:cNvSpPr/>
          <p:nvPr/>
        </p:nvSpPr>
        <p:spPr>
          <a:xfrm>
            <a:off x="777240" y="1947672"/>
            <a:ext cx="548640" cy="548640"/>
          </a:xfrm>
          <a:prstGeom prst="ellipse">
            <a:avLst/>
          </a:prstGeom>
          <a:solidFill>
            <a:srgbClr val="F0EF96"/>
          </a:solidFill>
          <a:ln w="12700">
            <a:solidFill>
              <a:srgbClr val="F0EF96"/>
            </a:solidFill>
            <a:prstDash val="solid"/>
          </a:ln>
        </p:spPr>
      </p:sp>
      <p:sp>
        <p:nvSpPr>
          <p:cNvPr id="10" name="Text 7"/>
          <p:cNvSpPr txBox="1"/>
          <p:nvPr/>
        </p:nvSpPr>
        <p:spPr>
          <a:xfrm>
            <a:off x="777240" y="194767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1</a:t>
            </a:r>
            <a:endParaRPr lang="en-US" sz="1800" dirty="0"/>
          </a:p>
        </p:txBody>
      </p:sp>
      <p:sp>
        <p:nvSpPr>
          <p:cNvPr id="11" name="Text 8"/>
          <p:cNvSpPr txBox="1"/>
          <p:nvPr/>
        </p:nvSpPr>
        <p:spPr>
          <a:xfrm>
            <a:off x="1554480" y="160020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Le dos est plus sollicité assis penché en avant que debout.</a:t>
            </a:r>
            <a:endParaRPr lang="en-US" sz="1500" dirty="0"/>
          </a:p>
        </p:txBody>
      </p:sp>
      <p:sp>
        <p:nvSpPr>
          <p:cNvPr id="12" name="Shape 9"/>
          <p:cNvSpPr/>
          <p:nvPr/>
        </p:nvSpPr>
        <p:spPr>
          <a:xfrm>
            <a:off x="6233008" y="1600200"/>
            <a:ext cx="5410048" cy="1234440"/>
          </a:xfrm>
          <a:prstGeom prst="roundRect">
            <a:avLst>
              <a:gd name="adj" fmla="val 5926"/>
            </a:avLst>
          </a:prstGeom>
          <a:solidFill>
            <a:srgbClr val="EEEDF5"/>
          </a:solidFill>
          <a:ln w="12700">
            <a:solidFill>
              <a:srgbClr val="EEEDF5"/>
            </a:solidFill>
            <a:prstDash val="solid"/>
          </a:ln>
        </p:spPr>
      </p:sp>
      <p:sp>
        <p:nvSpPr>
          <p:cNvPr id="13" name="Shape 10"/>
          <p:cNvSpPr/>
          <p:nvPr/>
        </p:nvSpPr>
        <p:spPr>
          <a:xfrm>
            <a:off x="6461608" y="1947672"/>
            <a:ext cx="548640" cy="548640"/>
          </a:xfrm>
          <a:prstGeom prst="ellipse">
            <a:avLst/>
          </a:prstGeom>
          <a:solidFill>
            <a:srgbClr val="F0EF96"/>
          </a:solidFill>
          <a:ln w="12700">
            <a:solidFill>
              <a:srgbClr val="F0EF96"/>
            </a:solidFill>
            <a:prstDash val="solid"/>
          </a:ln>
        </p:spPr>
      </p:sp>
      <p:sp>
        <p:nvSpPr>
          <p:cNvPr id="14" name="Text 11"/>
          <p:cNvSpPr txBox="1"/>
          <p:nvPr/>
        </p:nvSpPr>
        <p:spPr>
          <a:xfrm>
            <a:off x="6461608" y="194767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2</a:t>
            </a:r>
            <a:endParaRPr lang="en-US" sz="1800" dirty="0"/>
          </a:p>
        </p:txBody>
      </p:sp>
      <p:sp>
        <p:nvSpPr>
          <p:cNvPr id="15" name="Text 12"/>
          <p:cNvSpPr txBox="1"/>
          <p:nvPr/>
        </p:nvSpPr>
        <p:spPr>
          <a:xfrm>
            <a:off x="7238848" y="160020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Une douleur qui disparaît au repos n'est pas un signal d'alerte.</a:t>
            </a:r>
            <a:endParaRPr lang="en-US" sz="1500" dirty="0"/>
          </a:p>
        </p:txBody>
      </p:sp>
      <p:sp>
        <p:nvSpPr>
          <p:cNvPr id="16" name="Shape 13"/>
          <p:cNvSpPr/>
          <p:nvPr/>
        </p:nvSpPr>
        <p:spPr>
          <a:xfrm>
            <a:off x="548640" y="3063240"/>
            <a:ext cx="5410048" cy="1234440"/>
          </a:xfrm>
          <a:prstGeom prst="roundRect">
            <a:avLst>
              <a:gd name="adj" fmla="val 5926"/>
            </a:avLst>
          </a:prstGeom>
          <a:solidFill>
            <a:srgbClr val="EEEDF5"/>
          </a:solidFill>
          <a:ln w="12700">
            <a:solidFill>
              <a:srgbClr val="EEEDF5"/>
            </a:solidFill>
            <a:prstDash val="solid"/>
          </a:ln>
        </p:spPr>
      </p:sp>
      <p:sp>
        <p:nvSpPr>
          <p:cNvPr id="17" name="Shape 14"/>
          <p:cNvSpPr/>
          <p:nvPr/>
        </p:nvSpPr>
        <p:spPr>
          <a:xfrm>
            <a:off x="777240" y="3410712"/>
            <a:ext cx="548640" cy="548640"/>
          </a:xfrm>
          <a:prstGeom prst="ellipse">
            <a:avLst/>
          </a:prstGeom>
          <a:solidFill>
            <a:srgbClr val="F0EF96"/>
          </a:solidFill>
          <a:ln w="12700">
            <a:solidFill>
              <a:srgbClr val="F0EF96"/>
            </a:solidFill>
            <a:prstDash val="solid"/>
          </a:ln>
        </p:spPr>
      </p:sp>
      <p:sp>
        <p:nvSpPr>
          <p:cNvPr id="18" name="Text 15"/>
          <p:cNvSpPr txBox="1"/>
          <p:nvPr/>
        </p:nvSpPr>
        <p:spPr>
          <a:xfrm>
            <a:off x="777240" y="341071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3</a:t>
            </a:r>
            <a:endParaRPr lang="en-US" sz="1800" dirty="0"/>
          </a:p>
        </p:txBody>
      </p:sp>
      <p:sp>
        <p:nvSpPr>
          <p:cNvPr id="19" name="Text 16"/>
          <p:cNvSpPr txBox="1"/>
          <p:nvPr/>
        </p:nvSpPr>
        <p:spPr>
          <a:xfrm>
            <a:off x="1554480" y="306324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Les TMS ne concernent que les métiers manuels.</a:t>
            </a:r>
            <a:endParaRPr lang="en-US" sz="1500" dirty="0"/>
          </a:p>
        </p:txBody>
      </p:sp>
      <p:sp>
        <p:nvSpPr>
          <p:cNvPr id="20" name="Shape 17"/>
          <p:cNvSpPr/>
          <p:nvPr/>
        </p:nvSpPr>
        <p:spPr>
          <a:xfrm>
            <a:off x="6233008" y="3063240"/>
            <a:ext cx="5410048" cy="1234440"/>
          </a:xfrm>
          <a:prstGeom prst="roundRect">
            <a:avLst>
              <a:gd name="adj" fmla="val 5926"/>
            </a:avLst>
          </a:prstGeom>
          <a:solidFill>
            <a:srgbClr val="EEEDF5"/>
          </a:solidFill>
          <a:ln w="12700">
            <a:solidFill>
              <a:srgbClr val="EEEDF5"/>
            </a:solidFill>
            <a:prstDash val="solid"/>
          </a:ln>
        </p:spPr>
      </p:sp>
      <p:sp>
        <p:nvSpPr>
          <p:cNvPr id="21" name="Shape 18"/>
          <p:cNvSpPr/>
          <p:nvPr/>
        </p:nvSpPr>
        <p:spPr>
          <a:xfrm>
            <a:off x="6461608" y="3410712"/>
            <a:ext cx="548640" cy="548640"/>
          </a:xfrm>
          <a:prstGeom prst="ellipse">
            <a:avLst/>
          </a:prstGeom>
          <a:solidFill>
            <a:srgbClr val="F0EF96"/>
          </a:solidFill>
          <a:ln w="12700">
            <a:solidFill>
              <a:srgbClr val="F0EF96"/>
            </a:solidFill>
            <a:prstDash val="solid"/>
          </a:ln>
        </p:spPr>
      </p:sp>
      <p:sp>
        <p:nvSpPr>
          <p:cNvPr id="22" name="Text 19"/>
          <p:cNvSpPr txBox="1"/>
          <p:nvPr/>
        </p:nvSpPr>
        <p:spPr>
          <a:xfrm>
            <a:off x="6461608" y="341071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4</a:t>
            </a:r>
            <a:endParaRPr lang="en-US" sz="1800" dirty="0"/>
          </a:p>
        </p:txBody>
      </p:sp>
      <p:sp>
        <p:nvSpPr>
          <p:cNvPr id="23" name="Text 20"/>
          <p:cNvSpPr txBox="1"/>
          <p:nvPr/>
        </p:nvSpPr>
        <p:spPr>
          <a:xfrm>
            <a:off x="7238848" y="306324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Le stress peut favoriser l'apparition des TMS.</a:t>
            </a:r>
            <a:endParaRPr lang="en-US" sz="1500" dirty="0"/>
          </a:p>
        </p:txBody>
      </p:sp>
      <p:sp>
        <p:nvSpPr>
          <p:cNvPr id="24" name="Shape 21"/>
          <p:cNvSpPr/>
          <p:nvPr/>
        </p:nvSpPr>
        <p:spPr>
          <a:xfrm>
            <a:off x="548640" y="4526280"/>
            <a:ext cx="5410048" cy="1234440"/>
          </a:xfrm>
          <a:prstGeom prst="roundRect">
            <a:avLst>
              <a:gd name="adj" fmla="val 5926"/>
            </a:avLst>
          </a:prstGeom>
          <a:solidFill>
            <a:srgbClr val="EEEDF5"/>
          </a:solidFill>
          <a:ln w="12700">
            <a:solidFill>
              <a:srgbClr val="EEEDF5"/>
            </a:solidFill>
            <a:prstDash val="solid"/>
          </a:ln>
        </p:spPr>
      </p:sp>
      <p:sp>
        <p:nvSpPr>
          <p:cNvPr id="25" name="Shape 22"/>
          <p:cNvSpPr/>
          <p:nvPr/>
        </p:nvSpPr>
        <p:spPr>
          <a:xfrm>
            <a:off x="777240" y="4873752"/>
            <a:ext cx="548640" cy="548640"/>
          </a:xfrm>
          <a:prstGeom prst="ellipse">
            <a:avLst/>
          </a:prstGeom>
          <a:solidFill>
            <a:srgbClr val="F0EF96"/>
          </a:solidFill>
          <a:ln w="12700">
            <a:solidFill>
              <a:srgbClr val="F0EF96"/>
            </a:solidFill>
            <a:prstDash val="solid"/>
          </a:ln>
        </p:spPr>
      </p:sp>
      <p:sp>
        <p:nvSpPr>
          <p:cNvPr id="26" name="Text 23"/>
          <p:cNvSpPr txBox="1"/>
          <p:nvPr/>
        </p:nvSpPr>
        <p:spPr>
          <a:xfrm>
            <a:off x="777240" y="487375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5</a:t>
            </a:r>
            <a:endParaRPr lang="en-US" sz="1800" dirty="0"/>
          </a:p>
        </p:txBody>
      </p:sp>
      <p:sp>
        <p:nvSpPr>
          <p:cNvPr id="27" name="Text 24"/>
          <p:cNvSpPr txBox="1"/>
          <p:nvPr/>
        </p:nvSpPr>
        <p:spPr>
          <a:xfrm>
            <a:off x="1554480" y="452628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Nous avons 5 vertèbres lombaires.</a:t>
            </a:r>
            <a:endParaRPr lang="en-US" sz="1500" dirty="0"/>
          </a:p>
        </p:txBody>
      </p:sp>
      <p:sp>
        <p:nvSpPr>
          <p:cNvPr id="28" name="Shape 25"/>
          <p:cNvSpPr/>
          <p:nvPr/>
        </p:nvSpPr>
        <p:spPr>
          <a:xfrm>
            <a:off x="6233008" y="4526280"/>
            <a:ext cx="5410048" cy="1234440"/>
          </a:xfrm>
          <a:prstGeom prst="roundRect">
            <a:avLst>
              <a:gd name="adj" fmla="val 5926"/>
            </a:avLst>
          </a:prstGeom>
          <a:solidFill>
            <a:srgbClr val="EEEDF5"/>
          </a:solidFill>
          <a:ln w="12700">
            <a:solidFill>
              <a:srgbClr val="EEEDF5"/>
            </a:solidFill>
            <a:prstDash val="solid"/>
          </a:ln>
        </p:spPr>
      </p:sp>
      <p:sp>
        <p:nvSpPr>
          <p:cNvPr id="29" name="Shape 26"/>
          <p:cNvSpPr/>
          <p:nvPr/>
        </p:nvSpPr>
        <p:spPr>
          <a:xfrm>
            <a:off x="6461608" y="4873752"/>
            <a:ext cx="548640" cy="548640"/>
          </a:xfrm>
          <a:prstGeom prst="ellipse">
            <a:avLst/>
          </a:prstGeom>
          <a:solidFill>
            <a:srgbClr val="F0EF96"/>
          </a:solidFill>
          <a:ln w="12700">
            <a:solidFill>
              <a:srgbClr val="F0EF96"/>
            </a:solidFill>
            <a:prstDash val="solid"/>
          </a:ln>
        </p:spPr>
      </p:sp>
      <p:sp>
        <p:nvSpPr>
          <p:cNvPr id="30" name="Text 27"/>
          <p:cNvSpPr txBox="1"/>
          <p:nvPr/>
        </p:nvSpPr>
        <p:spPr>
          <a:xfrm>
            <a:off x="6461608" y="4873752"/>
            <a:ext cx="548640" cy="548640"/>
          </a:xfrm>
          <a:prstGeom prst="rect">
            <a:avLst/>
          </a:prstGeom>
          <a:noFill/>
          <a:ln/>
        </p:spPr>
        <p:txBody>
          <a:bodyPr wrap="square" lIns="0" tIns="0" rIns="0" bIns="0" rtlCol="0" anchor="ctr"/>
          <a:lstStyle/>
          <a:p>
            <a:pPr algn="ctr" indent="0" marL="0">
              <a:buNone/>
            </a:pPr>
            <a:r>
              <a:rPr lang="en-US" sz="1800" b="1" dirty="0">
                <a:solidFill>
                  <a:srgbClr val="0A032B"/>
                </a:solidFill>
                <a:latin typeface="Montserrat" pitchFamily="34" charset="0"/>
                <a:ea typeface="Montserrat" pitchFamily="34" charset="-122"/>
                <a:cs typeface="Montserrat" pitchFamily="34" charset="-120"/>
              </a:rPr>
              <a:t>6</a:t>
            </a:r>
            <a:endParaRPr lang="en-US" sz="1800" dirty="0"/>
          </a:p>
        </p:txBody>
      </p:sp>
      <p:sp>
        <p:nvSpPr>
          <p:cNvPr id="31" name="Text 28"/>
          <p:cNvSpPr txBox="1"/>
          <p:nvPr/>
        </p:nvSpPr>
        <p:spPr>
          <a:xfrm>
            <a:off x="7238848" y="4526280"/>
            <a:ext cx="4221328" cy="1234440"/>
          </a:xfrm>
          <a:prstGeom prst="rect">
            <a:avLst/>
          </a:prstGeom>
          <a:noFill/>
          <a:ln/>
        </p:spPr>
        <p:txBody>
          <a:bodyPr wrap="square" lIns="0" tIns="0" rIns="0" bIns="0" rtlCol="0" anchor="ctr"/>
          <a:lstStyle/>
          <a:p>
            <a:pPr indent="0" marL="0">
              <a:buNone/>
            </a:pPr>
            <a:r>
              <a:rPr lang="en-US" sz="1500" dirty="0">
                <a:solidFill>
                  <a:srgbClr val="0A032B"/>
                </a:solidFill>
                <a:latin typeface="Arial" pitchFamily="34" charset="0"/>
                <a:ea typeface="Arial" pitchFamily="34" charset="-122"/>
                <a:cs typeface="Arial" pitchFamily="34" charset="-120"/>
              </a:rPr>
              <a:t>Les lombaires sont la zone la moins sollicitée de la colonne.</a:t>
            </a:r>
            <a:endParaRPr lang="en-US" sz="15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02</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SÉQUENCE 2</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Principes de sécurité physique et d'économie d'effort</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Acquérir les principes de base de la manutention manuelle et les appliquer aux charges usuelles.</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75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Avant de soulever : observer la charge</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Une manutention se prépare : 5 étapes</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783080"/>
            <a:ext cx="1962851" cy="3108960"/>
          </a:xfrm>
          <a:prstGeom prst="roundRect">
            <a:avLst>
              <a:gd name="adj" fmla="val 3727"/>
            </a:avLst>
          </a:prstGeom>
          <a:solidFill>
            <a:srgbClr val="0A032B"/>
          </a:solidFill>
          <a:ln w="12700">
            <a:solidFill>
              <a:srgbClr val="0A032B"/>
            </a:solidFill>
            <a:prstDash val="solid"/>
          </a:ln>
        </p:spPr>
      </p:sp>
      <p:sp>
        <p:nvSpPr>
          <p:cNvPr id="9" name="Shape 6"/>
          <p:cNvSpPr/>
          <p:nvPr/>
        </p:nvSpPr>
        <p:spPr>
          <a:xfrm>
            <a:off x="1141446" y="2103120"/>
            <a:ext cx="777240" cy="777240"/>
          </a:xfrm>
          <a:prstGeom prst="ellipse">
            <a:avLst/>
          </a:prstGeom>
          <a:solidFill>
            <a:srgbClr val="F0EF96"/>
          </a:solidFill>
          <a:ln w="12700">
            <a:solidFill>
              <a:srgbClr val="F0EF96"/>
            </a:solidFill>
            <a:prstDash val="solid"/>
          </a:ln>
        </p:spPr>
      </p:sp>
      <p:pic>
        <p:nvPicPr>
          <p:cNvPr id="10" name="Image 1" descr="preencoded.png">    </p:cNvPr>
          <p:cNvPicPr>
            <a:picLocks noChangeAspect="1"/>
          </p:cNvPicPr>
          <p:nvPr/>
        </p:nvPicPr>
        <p:blipFill>
          <a:blip r:embed="rId2"/>
          <a:stretch>
            <a:fillRect/>
          </a:stretch>
        </p:blipFill>
        <p:spPr>
          <a:xfrm>
            <a:off x="1335756" y="2297430"/>
            <a:ext cx="388620" cy="388620"/>
          </a:xfrm>
          <a:prstGeom prst="rect">
            <a:avLst/>
          </a:prstGeom>
        </p:spPr>
      </p:pic>
      <p:sp>
        <p:nvSpPr>
          <p:cNvPr id="11" name="Text 7"/>
          <p:cNvSpPr txBox="1"/>
          <p:nvPr/>
        </p:nvSpPr>
        <p:spPr>
          <a:xfrm>
            <a:off x="685800" y="3063240"/>
            <a:ext cx="1688531" cy="457200"/>
          </a:xfrm>
          <a:prstGeom prst="rect">
            <a:avLst/>
          </a:prstGeom>
          <a:noFill/>
          <a:ln/>
        </p:spPr>
        <p:txBody>
          <a:bodyPr wrap="square" lIns="0" tIns="0" rIns="0" bIns="0" rtlCol="0" anchor="ctr"/>
          <a:lstStyle/>
          <a:p>
            <a:pPr algn="ctr" indent="0" marL="0">
              <a:buNone/>
            </a:pPr>
            <a:r>
              <a:rPr lang="en-US" sz="1600" b="1" dirty="0">
                <a:solidFill>
                  <a:srgbClr val="F0EF96"/>
                </a:solidFill>
                <a:latin typeface="Montserrat" pitchFamily="34" charset="0"/>
                <a:ea typeface="Montserrat" pitchFamily="34" charset="-122"/>
                <a:cs typeface="Montserrat" pitchFamily="34" charset="-120"/>
              </a:rPr>
              <a:t>1. Observer</a:t>
            </a:r>
            <a:endParaRPr lang="en-US" sz="1600" dirty="0"/>
          </a:p>
        </p:txBody>
      </p:sp>
      <p:sp>
        <p:nvSpPr>
          <p:cNvPr id="12" name="Text 8"/>
          <p:cNvSpPr txBox="1"/>
          <p:nvPr/>
        </p:nvSpPr>
        <p:spPr>
          <a:xfrm>
            <a:off x="731520" y="3566160"/>
            <a:ext cx="1597091" cy="1188720"/>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Poids, volume, prise, centre de gravité, fragilité</a:t>
            </a:r>
            <a:endParaRPr lang="en-US" sz="1300" dirty="0"/>
          </a:p>
        </p:txBody>
      </p:sp>
      <p:sp>
        <p:nvSpPr>
          <p:cNvPr id="13" name="Shape 9"/>
          <p:cNvSpPr/>
          <p:nvPr/>
        </p:nvSpPr>
        <p:spPr>
          <a:xfrm>
            <a:off x="2557211" y="3154680"/>
            <a:ext cx="228600" cy="320040"/>
          </a:xfrm>
          <a:prstGeom prst="rightArrow">
            <a:avLst/>
          </a:prstGeom>
          <a:solidFill>
            <a:srgbClr val="5E5A78"/>
          </a:solidFill>
          <a:ln w="12700">
            <a:solidFill>
              <a:srgbClr val="5E5A78"/>
            </a:solidFill>
            <a:prstDash val="solid"/>
          </a:ln>
        </p:spPr>
      </p:sp>
      <p:sp>
        <p:nvSpPr>
          <p:cNvPr id="14" name="Shape 10"/>
          <p:cNvSpPr/>
          <p:nvPr/>
        </p:nvSpPr>
        <p:spPr>
          <a:xfrm>
            <a:off x="2831531" y="1783080"/>
            <a:ext cx="1962851" cy="3108960"/>
          </a:xfrm>
          <a:prstGeom prst="roundRect">
            <a:avLst>
              <a:gd name="adj" fmla="val 3727"/>
            </a:avLst>
          </a:prstGeom>
          <a:solidFill>
            <a:srgbClr val="EEEDF5"/>
          </a:solidFill>
          <a:ln w="12700">
            <a:solidFill>
              <a:srgbClr val="EEEDF5"/>
            </a:solidFill>
            <a:prstDash val="solid"/>
          </a:ln>
        </p:spPr>
      </p:sp>
      <p:sp>
        <p:nvSpPr>
          <p:cNvPr id="15" name="Shape 11"/>
          <p:cNvSpPr/>
          <p:nvPr/>
        </p:nvSpPr>
        <p:spPr>
          <a:xfrm>
            <a:off x="3424337" y="2103120"/>
            <a:ext cx="777240" cy="777240"/>
          </a:xfrm>
          <a:prstGeom prst="ellipse">
            <a:avLst/>
          </a:prstGeom>
          <a:solidFill>
            <a:srgbClr val="0A032B"/>
          </a:solidFill>
          <a:ln w="12700">
            <a:solidFill>
              <a:srgbClr val="0A032B"/>
            </a:solidFill>
            <a:prstDash val="solid"/>
          </a:ln>
        </p:spPr>
      </p:sp>
      <p:pic>
        <p:nvPicPr>
          <p:cNvPr id="16" name="Image 2" descr="preencoded.png">    </p:cNvPr>
          <p:cNvPicPr>
            <a:picLocks noChangeAspect="1"/>
          </p:cNvPicPr>
          <p:nvPr/>
        </p:nvPicPr>
        <p:blipFill>
          <a:blip r:embed="rId3"/>
          <a:stretch>
            <a:fillRect/>
          </a:stretch>
        </p:blipFill>
        <p:spPr>
          <a:xfrm>
            <a:off x="3618647" y="2297430"/>
            <a:ext cx="388620" cy="388620"/>
          </a:xfrm>
          <a:prstGeom prst="rect">
            <a:avLst/>
          </a:prstGeom>
        </p:spPr>
      </p:pic>
      <p:sp>
        <p:nvSpPr>
          <p:cNvPr id="17" name="Text 12"/>
          <p:cNvSpPr txBox="1"/>
          <p:nvPr/>
        </p:nvSpPr>
        <p:spPr>
          <a:xfrm>
            <a:off x="2968691" y="3063240"/>
            <a:ext cx="1688531" cy="457200"/>
          </a:xfrm>
          <a:prstGeom prst="rect">
            <a:avLst/>
          </a:prstGeom>
          <a:noFill/>
          <a:ln/>
        </p:spPr>
        <p:txBody>
          <a:bodyPr wrap="square" lIns="0" tIns="0" rIns="0" bIns="0" rtlCol="0" anchor="ctr"/>
          <a:lstStyle/>
          <a:p>
            <a:pPr algn="ctr" indent="0" marL="0">
              <a:buNone/>
            </a:pPr>
            <a:r>
              <a:rPr lang="en-US" sz="1600" b="1" dirty="0">
                <a:solidFill>
                  <a:srgbClr val="0A032B"/>
                </a:solidFill>
                <a:latin typeface="Montserrat" pitchFamily="34" charset="0"/>
                <a:ea typeface="Montserrat" pitchFamily="34" charset="-122"/>
                <a:cs typeface="Montserrat" pitchFamily="34" charset="-120"/>
              </a:rPr>
              <a:t>2. Préparer</a:t>
            </a:r>
            <a:endParaRPr lang="en-US" sz="1600" dirty="0"/>
          </a:p>
        </p:txBody>
      </p:sp>
      <p:sp>
        <p:nvSpPr>
          <p:cNvPr id="18" name="Text 13"/>
          <p:cNvSpPr txBox="1"/>
          <p:nvPr/>
        </p:nvSpPr>
        <p:spPr>
          <a:xfrm>
            <a:off x="3014411" y="3566160"/>
            <a:ext cx="1597091" cy="11887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Dégager le trajet, prévoir la dépose, chercher une aide</a:t>
            </a:r>
            <a:endParaRPr lang="en-US" sz="1300" dirty="0"/>
          </a:p>
        </p:txBody>
      </p:sp>
      <p:sp>
        <p:nvSpPr>
          <p:cNvPr id="19" name="Shape 14"/>
          <p:cNvSpPr/>
          <p:nvPr/>
        </p:nvSpPr>
        <p:spPr>
          <a:xfrm>
            <a:off x="4840102" y="3154680"/>
            <a:ext cx="228600" cy="320040"/>
          </a:xfrm>
          <a:prstGeom prst="rightArrow">
            <a:avLst/>
          </a:prstGeom>
          <a:solidFill>
            <a:srgbClr val="5E5A78"/>
          </a:solidFill>
          <a:ln w="12700">
            <a:solidFill>
              <a:srgbClr val="5E5A78"/>
            </a:solidFill>
            <a:prstDash val="solid"/>
          </a:ln>
        </p:spPr>
      </p:sp>
      <p:sp>
        <p:nvSpPr>
          <p:cNvPr id="20" name="Shape 15"/>
          <p:cNvSpPr/>
          <p:nvPr/>
        </p:nvSpPr>
        <p:spPr>
          <a:xfrm>
            <a:off x="5114422" y="1783080"/>
            <a:ext cx="1962851" cy="3108960"/>
          </a:xfrm>
          <a:prstGeom prst="roundRect">
            <a:avLst>
              <a:gd name="adj" fmla="val 3727"/>
            </a:avLst>
          </a:prstGeom>
          <a:solidFill>
            <a:srgbClr val="EEEDF5"/>
          </a:solidFill>
          <a:ln w="12700">
            <a:solidFill>
              <a:srgbClr val="EEEDF5"/>
            </a:solidFill>
            <a:prstDash val="solid"/>
          </a:ln>
        </p:spPr>
      </p:sp>
      <p:sp>
        <p:nvSpPr>
          <p:cNvPr id="21" name="Shape 16"/>
          <p:cNvSpPr/>
          <p:nvPr/>
        </p:nvSpPr>
        <p:spPr>
          <a:xfrm>
            <a:off x="5707228" y="2103120"/>
            <a:ext cx="777240" cy="777240"/>
          </a:xfrm>
          <a:prstGeom prst="ellipse">
            <a:avLst/>
          </a:prstGeom>
          <a:solidFill>
            <a:srgbClr val="0A032B"/>
          </a:solidFill>
          <a:ln w="12700">
            <a:solidFill>
              <a:srgbClr val="0A032B"/>
            </a:solidFill>
            <a:prstDash val="solid"/>
          </a:ln>
        </p:spPr>
      </p:sp>
      <p:pic>
        <p:nvPicPr>
          <p:cNvPr id="22" name="Image 3" descr="preencoded.png">    </p:cNvPr>
          <p:cNvPicPr>
            <a:picLocks noChangeAspect="1"/>
          </p:cNvPicPr>
          <p:nvPr/>
        </p:nvPicPr>
        <p:blipFill>
          <a:blip r:embed="rId4"/>
          <a:stretch>
            <a:fillRect/>
          </a:stretch>
        </p:blipFill>
        <p:spPr>
          <a:xfrm>
            <a:off x="5901538" y="2297430"/>
            <a:ext cx="388620" cy="388620"/>
          </a:xfrm>
          <a:prstGeom prst="rect">
            <a:avLst/>
          </a:prstGeom>
        </p:spPr>
      </p:pic>
      <p:sp>
        <p:nvSpPr>
          <p:cNvPr id="23" name="Text 17"/>
          <p:cNvSpPr txBox="1"/>
          <p:nvPr/>
        </p:nvSpPr>
        <p:spPr>
          <a:xfrm>
            <a:off x="5251582" y="3063240"/>
            <a:ext cx="1688531" cy="457200"/>
          </a:xfrm>
          <a:prstGeom prst="rect">
            <a:avLst/>
          </a:prstGeom>
          <a:noFill/>
          <a:ln/>
        </p:spPr>
        <p:txBody>
          <a:bodyPr wrap="square" lIns="0" tIns="0" rIns="0" bIns="0" rtlCol="0" anchor="ctr"/>
          <a:lstStyle/>
          <a:p>
            <a:pPr algn="ctr" indent="0" marL="0">
              <a:buNone/>
            </a:pPr>
            <a:r>
              <a:rPr lang="en-US" sz="1600" b="1" dirty="0">
                <a:solidFill>
                  <a:srgbClr val="0A032B"/>
                </a:solidFill>
                <a:latin typeface="Montserrat" pitchFamily="34" charset="0"/>
                <a:ea typeface="Montserrat" pitchFamily="34" charset="-122"/>
                <a:cs typeface="Montserrat" pitchFamily="34" charset="-120"/>
              </a:rPr>
              <a:t>3. Soulever</a:t>
            </a:r>
            <a:endParaRPr lang="en-US" sz="1600" dirty="0"/>
          </a:p>
        </p:txBody>
      </p:sp>
      <p:sp>
        <p:nvSpPr>
          <p:cNvPr id="24" name="Text 18"/>
          <p:cNvSpPr txBox="1"/>
          <p:nvPr/>
        </p:nvSpPr>
        <p:spPr>
          <a:xfrm>
            <a:off x="5297302" y="3566160"/>
            <a:ext cx="1597091" cy="11887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Principes de sécurité physique, jambes fléchies</a:t>
            </a:r>
            <a:endParaRPr lang="en-US" sz="1300" dirty="0"/>
          </a:p>
        </p:txBody>
      </p:sp>
      <p:sp>
        <p:nvSpPr>
          <p:cNvPr id="25" name="Shape 19"/>
          <p:cNvSpPr/>
          <p:nvPr/>
        </p:nvSpPr>
        <p:spPr>
          <a:xfrm>
            <a:off x="7122993" y="3154680"/>
            <a:ext cx="228600" cy="320040"/>
          </a:xfrm>
          <a:prstGeom prst="rightArrow">
            <a:avLst/>
          </a:prstGeom>
          <a:solidFill>
            <a:srgbClr val="5E5A78"/>
          </a:solidFill>
          <a:ln w="12700">
            <a:solidFill>
              <a:srgbClr val="5E5A78"/>
            </a:solidFill>
            <a:prstDash val="solid"/>
          </a:ln>
        </p:spPr>
      </p:sp>
      <p:sp>
        <p:nvSpPr>
          <p:cNvPr id="26" name="Shape 20"/>
          <p:cNvSpPr/>
          <p:nvPr/>
        </p:nvSpPr>
        <p:spPr>
          <a:xfrm>
            <a:off x="7397313" y="1783080"/>
            <a:ext cx="1962851" cy="3108960"/>
          </a:xfrm>
          <a:prstGeom prst="roundRect">
            <a:avLst>
              <a:gd name="adj" fmla="val 3727"/>
            </a:avLst>
          </a:prstGeom>
          <a:solidFill>
            <a:srgbClr val="EEEDF5"/>
          </a:solidFill>
          <a:ln w="12700">
            <a:solidFill>
              <a:srgbClr val="EEEDF5"/>
            </a:solidFill>
            <a:prstDash val="solid"/>
          </a:ln>
        </p:spPr>
      </p:sp>
      <p:sp>
        <p:nvSpPr>
          <p:cNvPr id="27" name="Shape 21"/>
          <p:cNvSpPr/>
          <p:nvPr/>
        </p:nvSpPr>
        <p:spPr>
          <a:xfrm>
            <a:off x="7990119" y="2103120"/>
            <a:ext cx="777240" cy="777240"/>
          </a:xfrm>
          <a:prstGeom prst="ellipse">
            <a:avLst/>
          </a:prstGeom>
          <a:solidFill>
            <a:srgbClr val="0A032B"/>
          </a:solidFill>
          <a:ln w="12700">
            <a:solidFill>
              <a:srgbClr val="0A032B"/>
            </a:solidFill>
            <a:prstDash val="solid"/>
          </a:ln>
        </p:spPr>
      </p:sp>
      <p:pic>
        <p:nvPicPr>
          <p:cNvPr id="28" name="Image 4" descr="preencoded.png">    </p:cNvPr>
          <p:cNvPicPr>
            <a:picLocks noChangeAspect="1"/>
          </p:cNvPicPr>
          <p:nvPr/>
        </p:nvPicPr>
        <p:blipFill>
          <a:blip r:embed="rId5"/>
          <a:stretch>
            <a:fillRect/>
          </a:stretch>
        </p:blipFill>
        <p:spPr>
          <a:xfrm>
            <a:off x="8184429" y="2297430"/>
            <a:ext cx="388620" cy="388620"/>
          </a:xfrm>
          <a:prstGeom prst="rect">
            <a:avLst/>
          </a:prstGeom>
        </p:spPr>
      </p:pic>
      <p:sp>
        <p:nvSpPr>
          <p:cNvPr id="29" name="Text 22"/>
          <p:cNvSpPr txBox="1"/>
          <p:nvPr/>
        </p:nvSpPr>
        <p:spPr>
          <a:xfrm>
            <a:off x="7534473" y="3063240"/>
            <a:ext cx="1688531" cy="457200"/>
          </a:xfrm>
          <a:prstGeom prst="rect">
            <a:avLst/>
          </a:prstGeom>
          <a:noFill/>
          <a:ln/>
        </p:spPr>
        <p:txBody>
          <a:bodyPr wrap="square" lIns="0" tIns="0" rIns="0" bIns="0" rtlCol="0" anchor="ctr"/>
          <a:lstStyle/>
          <a:p>
            <a:pPr algn="ctr" indent="0" marL="0">
              <a:buNone/>
            </a:pPr>
            <a:r>
              <a:rPr lang="en-US" sz="1600" b="1" dirty="0">
                <a:solidFill>
                  <a:srgbClr val="0A032B"/>
                </a:solidFill>
                <a:latin typeface="Montserrat" pitchFamily="34" charset="0"/>
                <a:ea typeface="Montserrat" pitchFamily="34" charset="-122"/>
                <a:cs typeface="Montserrat" pitchFamily="34" charset="-120"/>
              </a:rPr>
              <a:t>4. Déplacer</a:t>
            </a:r>
            <a:endParaRPr lang="en-US" sz="1600" dirty="0"/>
          </a:p>
        </p:txBody>
      </p:sp>
      <p:sp>
        <p:nvSpPr>
          <p:cNvPr id="30" name="Text 23"/>
          <p:cNvSpPr txBox="1"/>
          <p:nvPr/>
        </p:nvSpPr>
        <p:spPr>
          <a:xfrm>
            <a:off x="7580193" y="3566160"/>
            <a:ext cx="1597091" cy="11887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Charge contre soi, petits pas, pas de torsion</a:t>
            </a:r>
            <a:endParaRPr lang="en-US" sz="1300" dirty="0"/>
          </a:p>
        </p:txBody>
      </p:sp>
      <p:sp>
        <p:nvSpPr>
          <p:cNvPr id="31" name="Shape 24"/>
          <p:cNvSpPr/>
          <p:nvPr/>
        </p:nvSpPr>
        <p:spPr>
          <a:xfrm>
            <a:off x="9405884" y="3154680"/>
            <a:ext cx="228600" cy="320040"/>
          </a:xfrm>
          <a:prstGeom prst="rightArrow">
            <a:avLst/>
          </a:prstGeom>
          <a:solidFill>
            <a:srgbClr val="5E5A78"/>
          </a:solidFill>
          <a:ln w="12700">
            <a:solidFill>
              <a:srgbClr val="5E5A78"/>
            </a:solidFill>
            <a:prstDash val="solid"/>
          </a:ln>
        </p:spPr>
      </p:sp>
      <p:sp>
        <p:nvSpPr>
          <p:cNvPr id="32" name="Shape 25"/>
          <p:cNvSpPr/>
          <p:nvPr/>
        </p:nvSpPr>
        <p:spPr>
          <a:xfrm>
            <a:off x="9680204" y="1783080"/>
            <a:ext cx="1962851" cy="3108960"/>
          </a:xfrm>
          <a:prstGeom prst="roundRect">
            <a:avLst>
              <a:gd name="adj" fmla="val 3727"/>
            </a:avLst>
          </a:prstGeom>
          <a:solidFill>
            <a:srgbClr val="EEEDF5"/>
          </a:solidFill>
          <a:ln w="12700">
            <a:solidFill>
              <a:srgbClr val="EEEDF5"/>
            </a:solidFill>
            <a:prstDash val="solid"/>
          </a:ln>
        </p:spPr>
      </p:sp>
      <p:sp>
        <p:nvSpPr>
          <p:cNvPr id="33" name="Shape 26"/>
          <p:cNvSpPr/>
          <p:nvPr/>
        </p:nvSpPr>
        <p:spPr>
          <a:xfrm>
            <a:off x="10273010" y="2103120"/>
            <a:ext cx="777240" cy="777240"/>
          </a:xfrm>
          <a:prstGeom prst="ellipse">
            <a:avLst/>
          </a:prstGeom>
          <a:solidFill>
            <a:srgbClr val="0A032B"/>
          </a:solidFill>
          <a:ln w="12700">
            <a:solidFill>
              <a:srgbClr val="0A032B"/>
            </a:solidFill>
            <a:prstDash val="solid"/>
          </a:ln>
        </p:spPr>
      </p:sp>
      <p:pic>
        <p:nvPicPr>
          <p:cNvPr id="34" name="Image 5" descr="preencoded.png">    </p:cNvPr>
          <p:cNvPicPr>
            <a:picLocks noChangeAspect="1"/>
          </p:cNvPicPr>
          <p:nvPr/>
        </p:nvPicPr>
        <p:blipFill>
          <a:blip r:embed="rId6"/>
          <a:stretch>
            <a:fillRect/>
          </a:stretch>
        </p:blipFill>
        <p:spPr>
          <a:xfrm>
            <a:off x="10467320" y="2297430"/>
            <a:ext cx="388620" cy="388620"/>
          </a:xfrm>
          <a:prstGeom prst="rect">
            <a:avLst/>
          </a:prstGeom>
        </p:spPr>
      </p:pic>
      <p:sp>
        <p:nvSpPr>
          <p:cNvPr id="35" name="Text 27"/>
          <p:cNvSpPr txBox="1"/>
          <p:nvPr/>
        </p:nvSpPr>
        <p:spPr>
          <a:xfrm>
            <a:off x="9817364" y="3063240"/>
            <a:ext cx="1688531" cy="457200"/>
          </a:xfrm>
          <a:prstGeom prst="rect">
            <a:avLst/>
          </a:prstGeom>
          <a:noFill/>
          <a:ln/>
        </p:spPr>
        <p:txBody>
          <a:bodyPr wrap="square" lIns="0" tIns="0" rIns="0" bIns="0" rtlCol="0" anchor="ctr"/>
          <a:lstStyle/>
          <a:p>
            <a:pPr algn="ctr" indent="0" marL="0">
              <a:buNone/>
            </a:pPr>
            <a:r>
              <a:rPr lang="en-US" sz="1600" b="1" dirty="0">
                <a:solidFill>
                  <a:srgbClr val="0A032B"/>
                </a:solidFill>
                <a:latin typeface="Montserrat" pitchFamily="34" charset="0"/>
                <a:ea typeface="Montserrat" pitchFamily="34" charset="-122"/>
                <a:cs typeface="Montserrat" pitchFamily="34" charset="-120"/>
              </a:rPr>
              <a:t>5. Déposer</a:t>
            </a:r>
            <a:endParaRPr lang="en-US" sz="1600" dirty="0"/>
          </a:p>
        </p:txBody>
      </p:sp>
      <p:sp>
        <p:nvSpPr>
          <p:cNvPr id="36" name="Text 28"/>
          <p:cNvSpPr txBox="1"/>
          <p:nvPr/>
        </p:nvSpPr>
        <p:spPr>
          <a:xfrm>
            <a:off x="9863084" y="3566160"/>
            <a:ext cx="1597091" cy="11887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Même principes qu'au lever, en contrôlant la charge</a:t>
            </a:r>
            <a:endParaRPr lang="en-US" sz="1300" dirty="0"/>
          </a:p>
        </p:txBody>
      </p:sp>
      <p:sp>
        <p:nvSpPr>
          <p:cNvPr id="37" name="Shape 29"/>
          <p:cNvSpPr/>
          <p:nvPr/>
        </p:nvSpPr>
        <p:spPr>
          <a:xfrm>
            <a:off x="548640" y="5166360"/>
            <a:ext cx="11094415" cy="777240"/>
          </a:xfrm>
          <a:prstGeom prst="roundRect">
            <a:avLst>
              <a:gd name="adj" fmla="val 9412"/>
            </a:avLst>
          </a:prstGeom>
          <a:solidFill>
            <a:srgbClr val="F0EF96"/>
          </a:solidFill>
          <a:ln w="12700">
            <a:solidFill>
              <a:srgbClr val="F0EF96"/>
            </a:solidFill>
            <a:prstDash val="solid"/>
          </a:ln>
        </p:spPr>
      </p:sp>
      <p:sp>
        <p:nvSpPr>
          <p:cNvPr id="38" name="Text 30"/>
          <p:cNvSpPr txBox="1"/>
          <p:nvPr/>
        </p:nvSpPr>
        <p:spPr>
          <a:xfrm>
            <a:off x="777240" y="5166360"/>
            <a:ext cx="10637215" cy="7772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Le réflexe de l'élu : </a:t>
            </a:r>
            <a:pPr indent="0" marL="0">
              <a:buNone/>
            </a:pPr>
            <a:r>
              <a:rPr lang="en-US" sz="1500" i="1" dirty="0">
                <a:solidFill>
                  <a:srgbClr val="0A032B"/>
                </a:solidFill>
                <a:latin typeface="Arial" pitchFamily="34" charset="0"/>
                <a:ea typeface="Arial" pitchFamily="34" charset="-122"/>
                <a:cs typeface="Arial" pitchFamily="34" charset="-120"/>
              </a:rPr>
              <a:t>« Est-ce que je dois vraiment porter cela ? Seul ? Sans aide technique ? »</a:t>
            </a:r>
            <a:endParaRPr lang="en-US" sz="15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5 principes de sécurité physique</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17320"/>
            <a:ext cx="1999427" cy="4617720"/>
          </a:xfrm>
          <a:prstGeom prst="roundRect">
            <a:avLst>
              <a:gd name="adj" fmla="val 3659"/>
            </a:avLst>
          </a:prstGeom>
          <a:solidFill>
            <a:srgbClr val="EEEDF5"/>
          </a:solidFill>
          <a:ln w="12700">
            <a:solidFill>
              <a:srgbClr val="EEEDF5"/>
            </a:solidFill>
            <a:prstDash val="solid"/>
          </a:ln>
        </p:spPr>
      </p:sp>
      <p:sp>
        <p:nvSpPr>
          <p:cNvPr id="8" name="Shape 5"/>
          <p:cNvSpPr/>
          <p:nvPr/>
        </p:nvSpPr>
        <p:spPr>
          <a:xfrm>
            <a:off x="777240" y="1645920"/>
            <a:ext cx="457200" cy="457200"/>
          </a:xfrm>
          <a:prstGeom prst="ellipse">
            <a:avLst/>
          </a:prstGeom>
          <a:solidFill>
            <a:srgbClr val="F0EF96"/>
          </a:solidFill>
          <a:ln w="12700">
            <a:solidFill>
              <a:srgbClr val="F0EF96"/>
            </a:solidFill>
            <a:prstDash val="solid"/>
          </a:ln>
        </p:spPr>
      </p:sp>
      <p:sp>
        <p:nvSpPr>
          <p:cNvPr id="9" name="Text 6"/>
          <p:cNvSpPr txBox="1"/>
          <p:nvPr/>
        </p:nvSpPr>
        <p:spPr>
          <a:xfrm>
            <a:off x="777240" y="16459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1</a:t>
            </a:r>
            <a:endParaRPr lang="en-US" sz="1300" dirty="0"/>
          </a:p>
        </p:txBody>
      </p:sp>
      <p:sp>
        <p:nvSpPr>
          <p:cNvPr id="10" name="Shape 7"/>
          <p:cNvSpPr/>
          <p:nvPr/>
        </p:nvSpPr>
        <p:spPr>
          <a:xfrm>
            <a:off x="1045434" y="2286000"/>
            <a:ext cx="1005840" cy="100584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1296894" y="2537460"/>
            <a:ext cx="502920" cy="502920"/>
          </a:xfrm>
          <a:prstGeom prst="rect">
            <a:avLst/>
          </a:prstGeom>
        </p:spPr>
      </p:pic>
      <p:sp>
        <p:nvSpPr>
          <p:cNvPr id="12" name="Text 8"/>
          <p:cNvSpPr txBox="1"/>
          <p:nvPr/>
        </p:nvSpPr>
        <p:spPr>
          <a:xfrm>
            <a:off x="685800" y="3474720"/>
            <a:ext cx="1725107" cy="45720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Les pieds</a:t>
            </a:r>
            <a:endParaRPr lang="en-US" sz="1700" dirty="0"/>
          </a:p>
        </p:txBody>
      </p:sp>
      <p:sp>
        <p:nvSpPr>
          <p:cNvPr id="13" name="Text 9"/>
          <p:cNvSpPr txBox="1"/>
          <p:nvPr/>
        </p:nvSpPr>
        <p:spPr>
          <a:xfrm>
            <a:off x="749808" y="4023360"/>
            <a:ext cx="1597091" cy="187452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Écartés à largeur du bassin, un pied en avant dans le sens du déplacement, au plus près de la charge.</a:t>
            </a:r>
            <a:endParaRPr lang="en-US" sz="1300" dirty="0"/>
          </a:p>
        </p:txBody>
      </p:sp>
      <p:sp>
        <p:nvSpPr>
          <p:cNvPr id="14" name="Shape 10"/>
          <p:cNvSpPr/>
          <p:nvPr/>
        </p:nvSpPr>
        <p:spPr>
          <a:xfrm>
            <a:off x="2822387" y="1417320"/>
            <a:ext cx="1999427" cy="4617720"/>
          </a:xfrm>
          <a:prstGeom prst="roundRect">
            <a:avLst>
              <a:gd name="adj" fmla="val 3659"/>
            </a:avLst>
          </a:prstGeom>
          <a:solidFill>
            <a:srgbClr val="EEEDF5"/>
          </a:solidFill>
          <a:ln w="12700">
            <a:solidFill>
              <a:srgbClr val="EEEDF5"/>
            </a:solidFill>
            <a:prstDash val="solid"/>
          </a:ln>
        </p:spPr>
      </p:sp>
      <p:sp>
        <p:nvSpPr>
          <p:cNvPr id="15" name="Shape 11"/>
          <p:cNvSpPr/>
          <p:nvPr/>
        </p:nvSpPr>
        <p:spPr>
          <a:xfrm>
            <a:off x="3050987" y="1645920"/>
            <a:ext cx="457200" cy="457200"/>
          </a:xfrm>
          <a:prstGeom prst="ellipse">
            <a:avLst/>
          </a:prstGeom>
          <a:solidFill>
            <a:srgbClr val="F0EF96"/>
          </a:solidFill>
          <a:ln w="12700">
            <a:solidFill>
              <a:srgbClr val="F0EF96"/>
            </a:solidFill>
            <a:prstDash val="solid"/>
          </a:ln>
        </p:spPr>
      </p:sp>
      <p:sp>
        <p:nvSpPr>
          <p:cNvPr id="16" name="Text 12"/>
          <p:cNvSpPr txBox="1"/>
          <p:nvPr/>
        </p:nvSpPr>
        <p:spPr>
          <a:xfrm>
            <a:off x="3050987" y="16459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2</a:t>
            </a:r>
            <a:endParaRPr lang="en-US" sz="1300" dirty="0"/>
          </a:p>
        </p:txBody>
      </p:sp>
      <p:sp>
        <p:nvSpPr>
          <p:cNvPr id="17" name="Shape 13"/>
          <p:cNvSpPr/>
          <p:nvPr/>
        </p:nvSpPr>
        <p:spPr>
          <a:xfrm>
            <a:off x="3319181" y="2286000"/>
            <a:ext cx="1005840" cy="1005840"/>
          </a:xfrm>
          <a:prstGeom prst="ellipse">
            <a:avLst/>
          </a:prstGeom>
          <a:solidFill>
            <a:srgbClr val="0A032B"/>
          </a:solidFill>
          <a:ln w="12700">
            <a:solidFill>
              <a:srgbClr val="0A032B"/>
            </a:solidFill>
            <a:prstDash val="solid"/>
          </a:ln>
        </p:spPr>
      </p:sp>
      <p:pic>
        <p:nvPicPr>
          <p:cNvPr id="18" name="Image 2" descr="preencoded.png">    </p:cNvPr>
          <p:cNvPicPr>
            <a:picLocks noChangeAspect="1"/>
          </p:cNvPicPr>
          <p:nvPr/>
        </p:nvPicPr>
        <p:blipFill>
          <a:blip r:embed="rId3"/>
          <a:stretch>
            <a:fillRect/>
          </a:stretch>
        </p:blipFill>
        <p:spPr>
          <a:xfrm>
            <a:off x="3570641" y="2537460"/>
            <a:ext cx="502920" cy="502920"/>
          </a:xfrm>
          <a:prstGeom prst="rect">
            <a:avLst/>
          </a:prstGeom>
        </p:spPr>
      </p:pic>
      <p:sp>
        <p:nvSpPr>
          <p:cNvPr id="19" name="Text 14"/>
          <p:cNvSpPr txBox="1"/>
          <p:nvPr/>
        </p:nvSpPr>
        <p:spPr>
          <a:xfrm>
            <a:off x="2959547" y="3474720"/>
            <a:ext cx="1725107" cy="45720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Le dos</a:t>
            </a:r>
            <a:endParaRPr lang="en-US" sz="1700" dirty="0"/>
          </a:p>
        </p:txBody>
      </p:sp>
      <p:sp>
        <p:nvSpPr>
          <p:cNvPr id="20" name="Text 15"/>
          <p:cNvSpPr txBox="1"/>
          <p:nvPr/>
        </p:nvSpPr>
        <p:spPr>
          <a:xfrm>
            <a:off x="3023555" y="4023360"/>
            <a:ext cx="1597091" cy="187452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Droit, en gardant ses courbures naturelles. On fléchit les jambes, pas le dos. Pas de torsion.</a:t>
            </a:r>
            <a:endParaRPr lang="en-US" sz="1300" dirty="0"/>
          </a:p>
        </p:txBody>
      </p:sp>
      <p:sp>
        <p:nvSpPr>
          <p:cNvPr id="21" name="Shape 16"/>
          <p:cNvSpPr/>
          <p:nvPr/>
        </p:nvSpPr>
        <p:spPr>
          <a:xfrm>
            <a:off x="5096134" y="1417320"/>
            <a:ext cx="1999427" cy="4617720"/>
          </a:xfrm>
          <a:prstGeom prst="roundRect">
            <a:avLst>
              <a:gd name="adj" fmla="val 3659"/>
            </a:avLst>
          </a:prstGeom>
          <a:solidFill>
            <a:srgbClr val="EEEDF5"/>
          </a:solidFill>
          <a:ln w="12700">
            <a:solidFill>
              <a:srgbClr val="EEEDF5"/>
            </a:solidFill>
            <a:prstDash val="solid"/>
          </a:ln>
        </p:spPr>
      </p:sp>
      <p:sp>
        <p:nvSpPr>
          <p:cNvPr id="22" name="Shape 17"/>
          <p:cNvSpPr/>
          <p:nvPr/>
        </p:nvSpPr>
        <p:spPr>
          <a:xfrm>
            <a:off x="5324734" y="1645920"/>
            <a:ext cx="457200" cy="457200"/>
          </a:xfrm>
          <a:prstGeom prst="ellipse">
            <a:avLst/>
          </a:prstGeom>
          <a:solidFill>
            <a:srgbClr val="F0EF96"/>
          </a:solidFill>
          <a:ln w="12700">
            <a:solidFill>
              <a:srgbClr val="F0EF96"/>
            </a:solidFill>
            <a:prstDash val="solid"/>
          </a:ln>
        </p:spPr>
      </p:sp>
      <p:sp>
        <p:nvSpPr>
          <p:cNvPr id="23" name="Text 18"/>
          <p:cNvSpPr txBox="1"/>
          <p:nvPr/>
        </p:nvSpPr>
        <p:spPr>
          <a:xfrm>
            <a:off x="5324734" y="16459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3</a:t>
            </a:r>
            <a:endParaRPr lang="en-US" sz="1300" dirty="0"/>
          </a:p>
        </p:txBody>
      </p:sp>
      <p:sp>
        <p:nvSpPr>
          <p:cNvPr id="24" name="Shape 19"/>
          <p:cNvSpPr/>
          <p:nvPr/>
        </p:nvSpPr>
        <p:spPr>
          <a:xfrm>
            <a:off x="5592928" y="2286000"/>
            <a:ext cx="1005840" cy="1005840"/>
          </a:xfrm>
          <a:prstGeom prst="ellipse">
            <a:avLst/>
          </a:prstGeom>
          <a:solidFill>
            <a:srgbClr val="0A032B"/>
          </a:solidFill>
          <a:ln w="12700">
            <a:solidFill>
              <a:srgbClr val="0A032B"/>
            </a:solidFill>
            <a:prstDash val="solid"/>
          </a:ln>
        </p:spPr>
      </p:sp>
      <p:pic>
        <p:nvPicPr>
          <p:cNvPr id="25" name="Image 3" descr="preencoded.png">    </p:cNvPr>
          <p:cNvPicPr>
            <a:picLocks noChangeAspect="1"/>
          </p:cNvPicPr>
          <p:nvPr/>
        </p:nvPicPr>
        <p:blipFill>
          <a:blip r:embed="rId4"/>
          <a:stretch>
            <a:fillRect/>
          </a:stretch>
        </p:blipFill>
        <p:spPr>
          <a:xfrm>
            <a:off x="5844388" y="2537460"/>
            <a:ext cx="502920" cy="502920"/>
          </a:xfrm>
          <a:prstGeom prst="rect">
            <a:avLst/>
          </a:prstGeom>
        </p:spPr>
      </p:pic>
      <p:sp>
        <p:nvSpPr>
          <p:cNvPr id="26" name="Text 20"/>
          <p:cNvSpPr txBox="1"/>
          <p:nvPr/>
        </p:nvSpPr>
        <p:spPr>
          <a:xfrm>
            <a:off x="5233294" y="3474720"/>
            <a:ext cx="1725107" cy="45720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La prise</a:t>
            </a:r>
            <a:endParaRPr lang="en-US" sz="1700" dirty="0"/>
          </a:p>
        </p:txBody>
      </p:sp>
      <p:sp>
        <p:nvSpPr>
          <p:cNvPr id="27" name="Text 21"/>
          <p:cNvSpPr txBox="1"/>
          <p:nvPr/>
        </p:nvSpPr>
        <p:spPr>
          <a:xfrm>
            <a:off x="5297302" y="4023360"/>
            <a:ext cx="1597091" cy="187452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Prise sûre avec la paume et les doigts, bras tendus sans crispation, charge collée au corps.</a:t>
            </a:r>
            <a:endParaRPr lang="en-US" sz="1300" dirty="0"/>
          </a:p>
        </p:txBody>
      </p:sp>
      <p:sp>
        <p:nvSpPr>
          <p:cNvPr id="28" name="Shape 22"/>
          <p:cNvSpPr/>
          <p:nvPr/>
        </p:nvSpPr>
        <p:spPr>
          <a:xfrm>
            <a:off x="7369881" y="1417320"/>
            <a:ext cx="1999427" cy="4617720"/>
          </a:xfrm>
          <a:prstGeom prst="roundRect">
            <a:avLst>
              <a:gd name="adj" fmla="val 3659"/>
            </a:avLst>
          </a:prstGeom>
          <a:solidFill>
            <a:srgbClr val="EEEDF5"/>
          </a:solidFill>
          <a:ln w="12700">
            <a:solidFill>
              <a:srgbClr val="EEEDF5"/>
            </a:solidFill>
            <a:prstDash val="solid"/>
          </a:ln>
        </p:spPr>
      </p:sp>
      <p:sp>
        <p:nvSpPr>
          <p:cNvPr id="29" name="Shape 23"/>
          <p:cNvSpPr/>
          <p:nvPr/>
        </p:nvSpPr>
        <p:spPr>
          <a:xfrm>
            <a:off x="7598481" y="1645920"/>
            <a:ext cx="457200" cy="457200"/>
          </a:xfrm>
          <a:prstGeom prst="ellipse">
            <a:avLst/>
          </a:prstGeom>
          <a:solidFill>
            <a:srgbClr val="F0EF96"/>
          </a:solidFill>
          <a:ln w="12700">
            <a:solidFill>
              <a:srgbClr val="F0EF96"/>
            </a:solidFill>
            <a:prstDash val="solid"/>
          </a:ln>
        </p:spPr>
      </p:sp>
      <p:sp>
        <p:nvSpPr>
          <p:cNvPr id="30" name="Text 24"/>
          <p:cNvSpPr txBox="1"/>
          <p:nvPr/>
        </p:nvSpPr>
        <p:spPr>
          <a:xfrm>
            <a:off x="7598481" y="16459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4</a:t>
            </a:r>
            <a:endParaRPr lang="en-US" sz="1300" dirty="0"/>
          </a:p>
        </p:txBody>
      </p:sp>
      <p:sp>
        <p:nvSpPr>
          <p:cNvPr id="31" name="Shape 25"/>
          <p:cNvSpPr/>
          <p:nvPr/>
        </p:nvSpPr>
        <p:spPr>
          <a:xfrm>
            <a:off x="7866675" y="2286000"/>
            <a:ext cx="1005840" cy="1005840"/>
          </a:xfrm>
          <a:prstGeom prst="ellipse">
            <a:avLst/>
          </a:prstGeom>
          <a:solidFill>
            <a:srgbClr val="0A032B"/>
          </a:solidFill>
          <a:ln w="12700">
            <a:solidFill>
              <a:srgbClr val="0A032B"/>
            </a:solidFill>
            <a:prstDash val="solid"/>
          </a:ln>
        </p:spPr>
      </p:sp>
      <p:pic>
        <p:nvPicPr>
          <p:cNvPr id="32" name="Image 4" descr="preencoded.png">    </p:cNvPr>
          <p:cNvPicPr>
            <a:picLocks noChangeAspect="1"/>
          </p:cNvPicPr>
          <p:nvPr/>
        </p:nvPicPr>
        <p:blipFill>
          <a:blip r:embed="rId5"/>
          <a:stretch>
            <a:fillRect/>
          </a:stretch>
        </p:blipFill>
        <p:spPr>
          <a:xfrm>
            <a:off x="8118135" y="2537460"/>
            <a:ext cx="502920" cy="502920"/>
          </a:xfrm>
          <a:prstGeom prst="rect">
            <a:avLst/>
          </a:prstGeom>
        </p:spPr>
      </p:pic>
      <p:sp>
        <p:nvSpPr>
          <p:cNvPr id="33" name="Text 26"/>
          <p:cNvSpPr txBox="1"/>
          <p:nvPr/>
        </p:nvSpPr>
        <p:spPr>
          <a:xfrm>
            <a:off x="7507041" y="3474720"/>
            <a:ext cx="1725107" cy="45720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L'appui</a:t>
            </a:r>
            <a:endParaRPr lang="en-US" sz="1700" dirty="0"/>
          </a:p>
        </p:txBody>
      </p:sp>
      <p:sp>
        <p:nvSpPr>
          <p:cNvPr id="34" name="Text 27"/>
          <p:cNvSpPr txBox="1"/>
          <p:nvPr/>
        </p:nvSpPr>
        <p:spPr>
          <a:xfrm>
            <a:off x="7571049" y="4023360"/>
            <a:ext cx="1597091" cy="187452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Prendre appui sur la cuisse, le genou ou un support pour soulager le dos.</a:t>
            </a:r>
            <a:endParaRPr lang="en-US" sz="1300" dirty="0"/>
          </a:p>
        </p:txBody>
      </p:sp>
      <p:sp>
        <p:nvSpPr>
          <p:cNvPr id="35" name="Shape 28"/>
          <p:cNvSpPr/>
          <p:nvPr/>
        </p:nvSpPr>
        <p:spPr>
          <a:xfrm>
            <a:off x="9643628" y="1417320"/>
            <a:ext cx="1999427" cy="4617720"/>
          </a:xfrm>
          <a:prstGeom prst="roundRect">
            <a:avLst>
              <a:gd name="adj" fmla="val 3659"/>
            </a:avLst>
          </a:prstGeom>
          <a:solidFill>
            <a:srgbClr val="EEEDF5"/>
          </a:solidFill>
          <a:ln w="12700">
            <a:solidFill>
              <a:srgbClr val="EEEDF5"/>
            </a:solidFill>
            <a:prstDash val="solid"/>
          </a:ln>
        </p:spPr>
      </p:sp>
      <p:sp>
        <p:nvSpPr>
          <p:cNvPr id="36" name="Shape 29"/>
          <p:cNvSpPr/>
          <p:nvPr/>
        </p:nvSpPr>
        <p:spPr>
          <a:xfrm>
            <a:off x="9872228" y="1645920"/>
            <a:ext cx="457200" cy="457200"/>
          </a:xfrm>
          <a:prstGeom prst="ellipse">
            <a:avLst/>
          </a:prstGeom>
          <a:solidFill>
            <a:srgbClr val="F0EF96"/>
          </a:solidFill>
          <a:ln w="12700">
            <a:solidFill>
              <a:srgbClr val="F0EF96"/>
            </a:solidFill>
            <a:prstDash val="solid"/>
          </a:ln>
        </p:spPr>
      </p:sp>
      <p:sp>
        <p:nvSpPr>
          <p:cNvPr id="37" name="Text 30"/>
          <p:cNvSpPr txBox="1"/>
          <p:nvPr/>
        </p:nvSpPr>
        <p:spPr>
          <a:xfrm>
            <a:off x="9872228" y="16459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5</a:t>
            </a:r>
            <a:endParaRPr lang="en-US" sz="1300" dirty="0"/>
          </a:p>
        </p:txBody>
      </p:sp>
      <p:sp>
        <p:nvSpPr>
          <p:cNvPr id="38" name="Shape 31"/>
          <p:cNvSpPr/>
          <p:nvPr/>
        </p:nvSpPr>
        <p:spPr>
          <a:xfrm>
            <a:off x="10140422" y="2286000"/>
            <a:ext cx="1005840" cy="1005840"/>
          </a:xfrm>
          <a:prstGeom prst="ellipse">
            <a:avLst/>
          </a:prstGeom>
          <a:solidFill>
            <a:srgbClr val="0A032B"/>
          </a:solidFill>
          <a:ln w="12700">
            <a:solidFill>
              <a:srgbClr val="0A032B"/>
            </a:solidFill>
            <a:prstDash val="solid"/>
          </a:ln>
        </p:spPr>
      </p:sp>
      <p:pic>
        <p:nvPicPr>
          <p:cNvPr id="39" name="Image 5" descr="preencoded.png">    </p:cNvPr>
          <p:cNvPicPr>
            <a:picLocks noChangeAspect="1"/>
          </p:cNvPicPr>
          <p:nvPr/>
        </p:nvPicPr>
        <p:blipFill>
          <a:blip r:embed="rId6"/>
          <a:stretch>
            <a:fillRect/>
          </a:stretch>
        </p:blipFill>
        <p:spPr>
          <a:xfrm>
            <a:off x="10391882" y="2537460"/>
            <a:ext cx="502920" cy="502920"/>
          </a:xfrm>
          <a:prstGeom prst="rect">
            <a:avLst/>
          </a:prstGeom>
        </p:spPr>
      </p:pic>
      <p:sp>
        <p:nvSpPr>
          <p:cNvPr id="40" name="Text 32"/>
          <p:cNvSpPr txBox="1"/>
          <p:nvPr/>
        </p:nvSpPr>
        <p:spPr>
          <a:xfrm>
            <a:off x="9780788" y="3474720"/>
            <a:ext cx="1725107" cy="45720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Le contrepoids</a:t>
            </a:r>
            <a:endParaRPr lang="en-US" sz="1700" dirty="0"/>
          </a:p>
        </p:txBody>
      </p:sp>
      <p:sp>
        <p:nvSpPr>
          <p:cNvPr id="41" name="Text 33"/>
          <p:cNvSpPr txBox="1"/>
          <p:nvPr/>
        </p:nvSpPr>
        <p:spPr>
          <a:xfrm>
            <a:off x="9844796" y="4023360"/>
            <a:ext cx="1597091" cy="187452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Utiliser le poids de son corps pour déséquilibrer et déplacer la charge plutôt que la force des bras.</a:t>
            </a:r>
            <a:endParaRPr lang="en-US" sz="13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Économiser son effort</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Travailler avec son corps, pas contre lui</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554480"/>
            <a:ext cx="4937760" cy="4480560"/>
          </a:xfrm>
          <a:prstGeom prst="roundRect">
            <a:avLst>
              <a:gd name="adj" fmla="val 1633"/>
            </a:avLst>
          </a:prstGeom>
          <a:solidFill>
            <a:srgbClr val="0A032B"/>
          </a:solidFill>
          <a:ln w="12700">
            <a:solidFill>
              <a:srgbClr val="0A032B"/>
            </a:solidFill>
            <a:prstDash val="solid"/>
          </a:ln>
        </p:spPr>
      </p:sp>
      <p:sp>
        <p:nvSpPr>
          <p:cNvPr id="9" name="Text 6"/>
          <p:cNvSpPr txBox="1"/>
          <p:nvPr/>
        </p:nvSpPr>
        <p:spPr>
          <a:xfrm>
            <a:off x="822960" y="1783080"/>
            <a:ext cx="4389120" cy="457200"/>
          </a:xfrm>
          <a:prstGeom prst="rect">
            <a:avLst/>
          </a:prstGeom>
          <a:noFill/>
          <a:ln/>
        </p:spPr>
        <p:txBody>
          <a:bodyPr wrap="square" lIns="0" tIns="0" rIns="0" bIns="0" rtlCol="0" anchor="ctr"/>
          <a:lstStyle/>
          <a:p>
            <a:pPr indent="0" marL="0">
              <a:buNone/>
            </a:pPr>
            <a:r>
              <a:rPr lang="en-US" sz="1800" b="1" dirty="0">
                <a:solidFill>
                  <a:srgbClr val="F0EF96"/>
                </a:solidFill>
                <a:latin typeface="Montserrat" pitchFamily="34" charset="0"/>
                <a:ea typeface="Montserrat" pitchFamily="34" charset="-122"/>
                <a:cs typeface="Montserrat" pitchFamily="34" charset="-120"/>
              </a:rPr>
              <a:t>L'effet bras de levier</a:t>
            </a:r>
            <a:endParaRPr lang="en-US" sz="1800" dirty="0"/>
          </a:p>
        </p:txBody>
      </p:sp>
      <p:sp>
        <p:nvSpPr>
          <p:cNvPr id="10" name="Text 7"/>
          <p:cNvSpPr txBox="1"/>
          <p:nvPr/>
        </p:nvSpPr>
        <p:spPr>
          <a:xfrm>
            <a:off x="822960" y="2468880"/>
            <a:ext cx="18288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Charge collée au corps</a:t>
            </a:r>
            <a:endParaRPr lang="en-US" sz="1250" dirty="0"/>
          </a:p>
        </p:txBody>
      </p:sp>
      <p:sp>
        <p:nvSpPr>
          <p:cNvPr id="11" name="Shape 8"/>
          <p:cNvSpPr/>
          <p:nvPr/>
        </p:nvSpPr>
        <p:spPr>
          <a:xfrm>
            <a:off x="2697480" y="2578608"/>
            <a:ext cx="731520" cy="329184"/>
          </a:xfrm>
          <a:prstGeom prst="rect">
            <a:avLst/>
          </a:prstGeom>
          <a:solidFill>
            <a:srgbClr val="F0EF96"/>
          </a:solidFill>
          <a:ln w="12700">
            <a:solidFill>
              <a:srgbClr val="F0EF96"/>
            </a:solidFill>
            <a:prstDash val="solid"/>
          </a:ln>
        </p:spPr>
      </p:sp>
      <p:sp>
        <p:nvSpPr>
          <p:cNvPr id="12" name="Text 9"/>
          <p:cNvSpPr txBox="1"/>
          <p:nvPr/>
        </p:nvSpPr>
        <p:spPr>
          <a:xfrm>
            <a:off x="822960" y="3337560"/>
            <a:ext cx="18288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Charge à 30 cm</a:t>
            </a:r>
            <a:endParaRPr lang="en-US" sz="1250" dirty="0"/>
          </a:p>
        </p:txBody>
      </p:sp>
      <p:sp>
        <p:nvSpPr>
          <p:cNvPr id="13" name="Shape 10"/>
          <p:cNvSpPr/>
          <p:nvPr/>
        </p:nvSpPr>
        <p:spPr>
          <a:xfrm>
            <a:off x="2697480" y="3447288"/>
            <a:ext cx="1536192" cy="329184"/>
          </a:xfrm>
          <a:prstGeom prst="rect">
            <a:avLst/>
          </a:prstGeom>
          <a:solidFill>
            <a:srgbClr val="F0EF96"/>
          </a:solidFill>
          <a:ln w="12700">
            <a:solidFill>
              <a:srgbClr val="F0EF96"/>
            </a:solidFill>
            <a:prstDash val="solid"/>
          </a:ln>
        </p:spPr>
      </p:sp>
      <p:sp>
        <p:nvSpPr>
          <p:cNvPr id="14" name="Text 11"/>
          <p:cNvSpPr txBox="1"/>
          <p:nvPr/>
        </p:nvSpPr>
        <p:spPr>
          <a:xfrm>
            <a:off x="822960" y="4206240"/>
            <a:ext cx="1828800" cy="54864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Charge bras tendus</a:t>
            </a:r>
            <a:endParaRPr lang="en-US" sz="1250" dirty="0"/>
          </a:p>
        </p:txBody>
      </p:sp>
      <p:sp>
        <p:nvSpPr>
          <p:cNvPr id="15" name="Shape 12"/>
          <p:cNvSpPr/>
          <p:nvPr/>
        </p:nvSpPr>
        <p:spPr>
          <a:xfrm>
            <a:off x="2697480" y="4315968"/>
            <a:ext cx="2487168" cy="329184"/>
          </a:xfrm>
          <a:prstGeom prst="rect">
            <a:avLst/>
          </a:prstGeom>
          <a:solidFill>
            <a:srgbClr val="F0EF96"/>
          </a:solidFill>
          <a:ln w="12700">
            <a:solidFill>
              <a:srgbClr val="F0EF96"/>
            </a:solidFill>
            <a:prstDash val="solid"/>
          </a:ln>
        </p:spPr>
      </p:sp>
      <p:sp>
        <p:nvSpPr>
          <p:cNvPr id="16" name="Text 13"/>
          <p:cNvSpPr txBox="1"/>
          <p:nvPr/>
        </p:nvSpPr>
        <p:spPr>
          <a:xfrm>
            <a:off x="822960" y="5120640"/>
            <a:ext cx="4389120" cy="777240"/>
          </a:xfrm>
          <a:prstGeom prst="rect">
            <a:avLst/>
          </a:prstGeom>
          <a:noFill/>
          <a:ln/>
        </p:spPr>
        <p:txBody>
          <a:bodyPr wrap="square" lIns="0" tIns="0" rIns="0" bIns="0" rtlCol="0" anchor="t"/>
          <a:lstStyle/>
          <a:p>
            <a:pPr indent="0" marL="0">
              <a:buNone/>
            </a:pPr>
            <a:r>
              <a:rPr lang="en-US" sz="1300" i="1" dirty="0">
                <a:solidFill>
                  <a:srgbClr val="DCDAEA"/>
                </a:solidFill>
                <a:latin typeface="Arial" pitchFamily="34" charset="0"/>
                <a:ea typeface="Arial" pitchFamily="34" charset="-122"/>
                <a:cs typeface="Arial" pitchFamily="34" charset="-120"/>
              </a:rPr>
              <a:t>Plus la charge s'éloigne du corps, plus l'effort sur les lombaires augmente, pour un poids identique.</a:t>
            </a:r>
            <a:endParaRPr lang="en-US" sz="1300" dirty="0"/>
          </a:p>
        </p:txBody>
      </p:sp>
      <p:sp>
        <p:nvSpPr>
          <p:cNvPr id="17" name="Shape 14"/>
          <p:cNvSpPr/>
          <p:nvPr/>
        </p:nvSpPr>
        <p:spPr>
          <a:xfrm>
            <a:off x="5760720" y="1554480"/>
            <a:ext cx="2804008" cy="2103120"/>
          </a:xfrm>
          <a:prstGeom prst="roundRect">
            <a:avLst>
              <a:gd name="adj" fmla="val 3478"/>
            </a:avLst>
          </a:prstGeom>
          <a:solidFill>
            <a:srgbClr val="EEEDF5"/>
          </a:solidFill>
          <a:ln w="12700">
            <a:solidFill>
              <a:srgbClr val="EEEDF5"/>
            </a:solidFill>
            <a:prstDash val="solid"/>
          </a:ln>
        </p:spPr>
      </p:sp>
      <p:sp>
        <p:nvSpPr>
          <p:cNvPr id="18" name="Shape 15"/>
          <p:cNvSpPr/>
          <p:nvPr/>
        </p:nvSpPr>
        <p:spPr>
          <a:xfrm>
            <a:off x="5989320" y="1783080"/>
            <a:ext cx="548640" cy="548640"/>
          </a:xfrm>
          <a:prstGeom prst="ellipse">
            <a:avLst/>
          </a:prstGeom>
          <a:solidFill>
            <a:srgbClr val="0A032B"/>
          </a:solidFill>
          <a:ln w="12700">
            <a:solidFill>
              <a:srgbClr val="0A032B"/>
            </a:solidFill>
            <a:prstDash val="solid"/>
          </a:ln>
        </p:spPr>
      </p:sp>
      <p:pic>
        <p:nvPicPr>
          <p:cNvPr id="19" name="Image 1" descr="preencoded.png">    </p:cNvPr>
          <p:cNvPicPr>
            <a:picLocks noChangeAspect="1"/>
          </p:cNvPicPr>
          <p:nvPr/>
        </p:nvPicPr>
        <p:blipFill>
          <a:blip r:embed="rId2"/>
          <a:stretch>
            <a:fillRect/>
          </a:stretch>
        </p:blipFill>
        <p:spPr>
          <a:xfrm>
            <a:off x="6126480" y="1920240"/>
            <a:ext cx="274320" cy="274320"/>
          </a:xfrm>
          <a:prstGeom prst="rect">
            <a:avLst/>
          </a:prstGeom>
        </p:spPr>
      </p:pic>
      <p:sp>
        <p:nvSpPr>
          <p:cNvPr id="20" name="Text 16"/>
          <p:cNvSpPr txBox="1"/>
          <p:nvPr/>
        </p:nvSpPr>
        <p:spPr>
          <a:xfrm>
            <a:off x="6720840" y="1783080"/>
            <a:ext cx="161528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La force des jambes</a:t>
            </a:r>
            <a:endParaRPr lang="en-US" sz="1400" dirty="0"/>
          </a:p>
        </p:txBody>
      </p:sp>
      <p:sp>
        <p:nvSpPr>
          <p:cNvPr id="21" name="Text 17"/>
          <p:cNvSpPr txBox="1"/>
          <p:nvPr/>
        </p:nvSpPr>
        <p:spPr>
          <a:xfrm>
            <a:off x="5989320" y="2468880"/>
            <a:ext cx="234680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Les cuisses sont les muscles les plus puissants : ce sont elles qui soulèvent.</a:t>
            </a:r>
            <a:endParaRPr lang="en-US" sz="1250" dirty="0"/>
          </a:p>
        </p:txBody>
      </p:sp>
      <p:sp>
        <p:nvSpPr>
          <p:cNvPr id="22" name="Shape 18"/>
          <p:cNvSpPr/>
          <p:nvPr/>
        </p:nvSpPr>
        <p:spPr>
          <a:xfrm>
            <a:off x="8839048" y="1554480"/>
            <a:ext cx="2804008" cy="2103120"/>
          </a:xfrm>
          <a:prstGeom prst="roundRect">
            <a:avLst>
              <a:gd name="adj" fmla="val 3478"/>
            </a:avLst>
          </a:prstGeom>
          <a:solidFill>
            <a:srgbClr val="EEEDF5"/>
          </a:solidFill>
          <a:ln w="12700">
            <a:solidFill>
              <a:srgbClr val="EEEDF5"/>
            </a:solidFill>
            <a:prstDash val="solid"/>
          </a:ln>
        </p:spPr>
      </p:sp>
      <p:sp>
        <p:nvSpPr>
          <p:cNvPr id="23" name="Shape 19"/>
          <p:cNvSpPr/>
          <p:nvPr/>
        </p:nvSpPr>
        <p:spPr>
          <a:xfrm>
            <a:off x="9067648" y="1783080"/>
            <a:ext cx="548640" cy="548640"/>
          </a:xfrm>
          <a:prstGeom prst="ellipse">
            <a:avLst/>
          </a:prstGeom>
          <a:solidFill>
            <a:srgbClr val="0A032B"/>
          </a:solidFill>
          <a:ln w="12700">
            <a:solidFill>
              <a:srgbClr val="0A032B"/>
            </a:solidFill>
            <a:prstDash val="solid"/>
          </a:ln>
        </p:spPr>
      </p:sp>
      <p:pic>
        <p:nvPicPr>
          <p:cNvPr id="24" name="Image 2" descr="preencoded.png">    </p:cNvPr>
          <p:cNvPicPr>
            <a:picLocks noChangeAspect="1"/>
          </p:cNvPicPr>
          <p:nvPr/>
        </p:nvPicPr>
        <p:blipFill>
          <a:blip r:embed="rId3"/>
          <a:stretch>
            <a:fillRect/>
          </a:stretch>
        </p:blipFill>
        <p:spPr>
          <a:xfrm>
            <a:off x="9204808" y="1920240"/>
            <a:ext cx="274320" cy="274320"/>
          </a:xfrm>
          <a:prstGeom prst="rect">
            <a:avLst/>
          </a:prstGeom>
        </p:spPr>
      </p:pic>
      <p:sp>
        <p:nvSpPr>
          <p:cNvPr id="25" name="Text 20"/>
          <p:cNvSpPr txBox="1"/>
          <p:nvPr/>
        </p:nvSpPr>
        <p:spPr>
          <a:xfrm>
            <a:off x="9799168" y="1783080"/>
            <a:ext cx="161528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Pivoter avec les pieds</a:t>
            </a:r>
            <a:endParaRPr lang="en-US" sz="1400" dirty="0"/>
          </a:p>
        </p:txBody>
      </p:sp>
      <p:sp>
        <p:nvSpPr>
          <p:cNvPr id="26" name="Text 21"/>
          <p:cNvSpPr txBox="1"/>
          <p:nvPr/>
        </p:nvSpPr>
        <p:spPr>
          <a:xfrm>
            <a:off x="9067648" y="2468880"/>
            <a:ext cx="234680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Pour tourner, on déplace les pieds. Jamais de torsion du tronc sous la charge.</a:t>
            </a:r>
            <a:endParaRPr lang="en-US" sz="1250" dirty="0"/>
          </a:p>
        </p:txBody>
      </p:sp>
      <p:sp>
        <p:nvSpPr>
          <p:cNvPr id="27" name="Shape 22"/>
          <p:cNvSpPr/>
          <p:nvPr/>
        </p:nvSpPr>
        <p:spPr>
          <a:xfrm>
            <a:off x="5760720" y="3931920"/>
            <a:ext cx="2804008" cy="2103120"/>
          </a:xfrm>
          <a:prstGeom prst="roundRect">
            <a:avLst>
              <a:gd name="adj" fmla="val 3478"/>
            </a:avLst>
          </a:prstGeom>
          <a:solidFill>
            <a:srgbClr val="EEEDF5"/>
          </a:solidFill>
          <a:ln w="12700">
            <a:solidFill>
              <a:srgbClr val="EEEDF5"/>
            </a:solidFill>
            <a:prstDash val="solid"/>
          </a:ln>
        </p:spPr>
      </p:sp>
      <p:sp>
        <p:nvSpPr>
          <p:cNvPr id="28" name="Shape 23"/>
          <p:cNvSpPr/>
          <p:nvPr/>
        </p:nvSpPr>
        <p:spPr>
          <a:xfrm>
            <a:off x="5989320" y="4160520"/>
            <a:ext cx="548640" cy="548640"/>
          </a:xfrm>
          <a:prstGeom prst="ellipse">
            <a:avLst/>
          </a:prstGeom>
          <a:solidFill>
            <a:srgbClr val="0A032B"/>
          </a:solidFill>
          <a:ln w="12700">
            <a:solidFill>
              <a:srgbClr val="0A032B"/>
            </a:solidFill>
            <a:prstDash val="solid"/>
          </a:ln>
        </p:spPr>
      </p:sp>
      <p:pic>
        <p:nvPicPr>
          <p:cNvPr id="29" name="Image 3" descr="preencoded.png">    </p:cNvPr>
          <p:cNvPicPr>
            <a:picLocks noChangeAspect="1"/>
          </p:cNvPicPr>
          <p:nvPr/>
        </p:nvPicPr>
        <p:blipFill>
          <a:blip r:embed="rId4"/>
          <a:stretch>
            <a:fillRect/>
          </a:stretch>
        </p:blipFill>
        <p:spPr>
          <a:xfrm>
            <a:off x="6126480" y="4297680"/>
            <a:ext cx="274320" cy="274320"/>
          </a:xfrm>
          <a:prstGeom prst="rect">
            <a:avLst/>
          </a:prstGeom>
        </p:spPr>
      </p:pic>
      <p:sp>
        <p:nvSpPr>
          <p:cNvPr id="30" name="Text 24"/>
          <p:cNvSpPr txBox="1"/>
          <p:nvPr/>
        </p:nvSpPr>
        <p:spPr>
          <a:xfrm>
            <a:off x="6720840" y="4160520"/>
            <a:ext cx="161528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Choisir la trajectoire</a:t>
            </a:r>
            <a:endParaRPr lang="en-US" sz="1400" dirty="0"/>
          </a:p>
        </p:txBody>
      </p:sp>
      <p:sp>
        <p:nvSpPr>
          <p:cNvPr id="31" name="Text 25"/>
          <p:cNvSpPr txBox="1"/>
          <p:nvPr/>
        </p:nvSpPr>
        <p:spPr>
          <a:xfrm>
            <a:off x="5989320" y="4846320"/>
            <a:ext cx="234680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La plus courte, sans obstacle, entre mi-cuisses et épaules, sans lever au-dessus de la tête.</a:t>
            </a:r>
            <a:endParaRPr lang="en-US" sz="1250" dirty="0"/>
          </a:p>
        </p:txBody>
      </p:sp>
      <p:sp>
        <p:nvSpPr>
          <p:cNvPr id="32" name="Shape 26"/>
          <p:cNvSpPr/>
          <p:nvPr/>
        </p:nvSpPr>
        <p:spPr>
          <a:xfrm>
            <a:off x="8839048" y="3931920"/>
            <a:ext cx="2804008" cy="2103120"/>
          </a:xfrm>
          <a:prstGeom prst="roundRect">
            <a:avLst>
              <a:gd name="adj" fmla="val 3478"/>
            </a:avLst>
          </a:prstGeom>
          <a:solidFill>
            <a:srgbClr val="EEEDF5"/>
          </a:solidFill>
          <a:ln w="12700">
            <a:solidFill>
              <a:srgbClr val="EEEDF5"/>
            </a:solidFill>
            <a:prstDash val="solid"/>
          </a:ln>
        </p:spPr>
      </p:sp>
      <p:sp>
        <p:nvSpPr>
          <p:cNvPr id="33" name="Shape 27"/>
          <p:cNvSpPr/>
          <p:nvPr/>
        </p:nvSpPr>
        <p:spPr>
          <a:xfrm>
            <a:off x="9067648" y="4160520"/>
            <a:ext cx="548640" cy="548640"/>
          </a:xfrm>
          <a:prstGeom prst="ellipse">
            <a:avLst/>
          </a:prstGeom>
          <a:solidFill>
            <a:srgbClr val="0A032B"/>
          </a:solidFill>
          <a:ln w="12700">
            <a:solidFill>
              <a:srgbClr val="0A032B"/>
            </a:solidFill>
            <a:prstDash val="solid"/>
          </a:ln>
        </p:spPr>
      </p:sp>
      <p:pic>
        <p:nvPicPr>
          <p:cNvPr id="34" name="Image 4" descr="preencoded.png">    </p:cNvPr>
          <p:cNvPicPr>
            <a:picLocks noChangeAspect="1"/>
          </p:cNvPicPr>
          <p:nvPr/>
        </p:nvPicPr>
        <p:blipFill>
          <a:blip r:embed="rId5"/>
          <a:stretch>
            <a:fillRect/>
          </a:stretch>
        </p:blipFill>
        <p:spPr>
          <a:xfrm>
            <a:off x="9204808" y="4297680"/>
            <a:ext cx="274320" cy="274320"/>
          </a:xfrm>
          <a:prstGeom prst="rect">
            <a:avLst/>
          </a:prstGeom>
        </p:spPr>
      </p:pic>
      <p:sp>
        <p:nvSpPr>
          <p:cNvPr id="35" name="Text 28"/>
          <p:cNvSpPr txBox="1"/>
          <p:nvPr/>
        </p:nvSpPr>
        <p:spPr>
          <a:xfrm>
            <a:off x="9799168" y="4160520"/>
            <a:ext cx="161528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Doser l'effort</a:t>
            </a:r>
            <a:endParaRPr lang="en-US" sz="1400" dirty="0"/>
          </a:p>
        </p:txBody>
      </p:sp>
      <p:sp>
        <p:nvSpPr>
          <p:cNvPr id="36" name="Text 29"/>
          <p:cNvSpPr txBox="1"/>
          <p:nvPr/>
        </p:nvSpPr>
        <p:spPr>
          <a:xfrm>
            <a:off x="9067648" y="4846320"/>
            <a:ext cx="2346808" cy="10515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Fractionner les charges, alterner les tâches, s'accorder des micro-pauses.</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MÉTHODE DÉMONSTRATIVE</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Démonstration commentée en 4 temps</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15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Grand groupe, puis volontaires</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Carton de 8 à 10 kg, table</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Le formateur réalise le geste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Lever un carton du sol et le poser sur une table, à vitesse réelle, sans commentaire.</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Le formateur réalise et commente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Au ralenti, en nommant chaque principe : pieds, dos, prise, appui, contrepoids.</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Le formateur réalise, un stagiaire commente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 stagiaire explique ce qu'il voit, le groupe complète.</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Le stagiaire réalise et commente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Plusieurs volontaires font le geste en l'expliquant. Le groupe observe et fait un retour positif.</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Commencer par une charge légère. Chaque stagiaire respecte ses limites physiques.</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2</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ATELIER DE MANUTENTION</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Atelier 1 : lever et poser une charge du sol</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20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Binômes : un acteur, un observateur, puis inversion</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Cartons de 5, 8 et 12 kg, table, grille d'observation</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Observer et préparer</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L'acteur observe la charge et le trajet, puis annonce comment il va procéder.</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Lever du sol, déplacer sur 5 mètres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Avec un changement de direction, sans torsion.</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Déposer sur la table, puis au sol</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Deux hauteurs de dépose différentes.</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Observer avec la grille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L'observateur coche chaque principe et donne un retour constructif, puis on inverse les rôles.</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Adapter la charge à chacun. On ne cherche pas la performance mais la qualité du geste.</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2</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Grille d'observation</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Utilisée par l'observateur pendant les ateliers</a:t>
            </a:r>
            <a:endParaRPr lang="en-US" sz="1400" dirty="0"/>
          </a:p>
        </p:txBody>
      </p:sp>
      <p:sp>
        <p:nvSpPr>
          <p:cNvPr id="4" name="Shape 2"/>
          <p:cNvSpPr/>
          <p:nvPr/>
        </p:nvSpPr>
        <p:spPr>
          <a:xfrm>
            <a:off x="10042855" y="530352"/>
            <a:ext cx="1600200" cy="347472"/>
          </a:xfrm>
          <a:prstGeom prst="roundRect">
            <a:avLst>
              <a:gd name="adj" fmla="val 50000"/>
            </a:avLst>
          </a:prstGeom>
          <a:solidFill>
            <a:srgbClr val="F0EF96"/>
          </a:solidFill>
          <a:ln w="12700">
            <a:solidFill>
              <a:srgbClr val="F0EF96"/>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920240"/>
                <a:gridCol w="4480560"/>
                <a:gridCol w="1005840"/>
                <a:gridCol w="1280160"/>
                <a:gridCol w="2407615"/>
              </a:tblGrid>
              <a:tr h="512064">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Critère observé</a:t>
                      </a:r>
                      <a:endParaRPr lang="en-US" sz="12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Ce que je vérifie</a:t>
                      </a:r>
                      <a:endParaRPr lang="en-US" sz="12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Acquis</a:t>
                      </a:r>
                      <a:endParaRPr lang="en-US" sz="12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À améliorer</a:t>
                      </a:r>
                      <a:endParaRPr lang="en-US" sz="12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c>
                  <a:txBody>
                    <a:bodyPr/>
                    <a:lstStyle/>
                    <a:p>
                      <a:pPr indent="0" marL="0">
                        <a:buNone/>
                      </a:pPr>
                      <a:r>
                        <a:rPr lang="en-US" sz="1200" b="1" dirty="0">
                          <a:solidFill>
                            <a:srgbClr val="FFFFFF"/>
                          </a:solidFill>
                          <a:latin typeface="Montserrat" pitchFamily="34" charset="0"/>
                          <a:ea typeface="Montserrat" pitchFamily="34" charset="-122"/>
                          <a:cs typeface="Montserrat" pitchFamily="34" charset="-120"/>
                        </a:rPr>
                        <a:t>Remarques</a:t>
                      </a:r>
                      <a:endParaRPr lang="en-US" sz="12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Observation</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Évalue la charge et dégage le trajet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Pieds</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Écartés, un pied en avant, proches de la charge</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Dos</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Droit, courbures conservées, pas de torsion</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Prise</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Sûre, paume et doigts, charge collée au corps</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Appui</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Utilise cuisse, genou ou support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Contrepoids</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Utilise le poids du corps</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0A032B"/>
                          </a:solidFill>
                          <a:latin typeface="Montserrat" pitchFamily="34" charset="0"/>
                          <a:ea typeface="Montserrat" pitchFamily="34" charset="-122"/>
                          <a:cs typeface="Montserrat" pitchFamily="34" charset="-120"/>
                        </a:rPr>
                        <a:t>Trajectoire</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r>
                        <a:rPr lang="en-US" sz="1300" dirty="0">
                          <a:solidFill>
                            <a:srgbClr val="35305C"/>
                          </a:solidFill>
                          <a:latin typeface="Arial" pitchFamily="34" charset="0"/>
                          <a:ea typeface="Arial" pitchFamily="34" charset="-122"/>
                          <a:cs typeface="Arial" pitchFamily="34" charset="-120"/>
                        </a:rPr>
                        <a:t>Courte, fluide, pivote avec les pieds</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algn="ctr" indent="0" marL="0">
                        <a:buNone/>
                      </a:pPr>
                      <a:r>
                        <a:rPr lang="en-US" sz="1300" dirty="0">
                          <a:solidFill>
                            <a:srgbClr val="0A032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3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bl>
          </a:graphicData>
        </a:graphic>
      </p:graphicFrame>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La manutention à deux</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Deux personnes, un seul geste : la réussite tient à la communication</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3337560" cy="2080260"/>
          </a:xfrm>
          <a:prstGeom prst="roundRect">
            <a:avLst>
              <a:gd name="adj" fmla="val 3516"/>
            </a:avLst>
          </a:prstGeom>
          <a:solidFill>
            <a:srgbClr val="EEEDF5"/>
          </a:solidFill>
          <a:ln w="12700">
            <a:solidFill>
              <a:srgbClr val="EEEDF5"/>
            </a:solidFill>
            <a:prstDash val="solid"/>
          </a:ln>
        </p:spPr>
      </p:sp>
      <p:sp>
        <p:nvSpPr>
          <p:cNvPr id="9" name="Shape 6"/>
          <p:cNvSpPr/>
          <p:nvPr/>
        </p:nvSpPr>
        <p:spPr>
          <a:xfrm>
            <a:off x="777240" y="1828800"/>
            <a:ext cx="548640" cy="54864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914400" y="1965960"/>
            <a:ext cx="274320" cy="274320"/>
          </a:xfrm>
          <a:prstGeom prst="rect">
            <a:avLst/>
          </a:prstGeom>
        </p:spPr>
      </p:pic>
      <p:sp>
        <p:nvSpPr>
          <p:cNvPr id="11" name="Text 7"/>
          <p:cNvSpPr txBox="1"/>
          <p:nvPr/>
        </p:nvSpPr>
        <p:spPr>
          <a:xfrm>
            <a:off x="1508760" y="1828800"/>
            <a:ext cx="2148840"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Un meneur</a:t>
            </a:r>
            <a:endParaRPr lang="en-US" sz="1500" dirty="0"/>
          </a:p>
        </p:txBody>
      </p:sp>
      <p:sp>
        <p:nvSpPr>
          <p:cNvPr id="12" name="Text 8"/>
          <p:cNvSpPr txBox="1"/>
          <p:nvPr/>
        </p:nvSpPr>
        <p:spPr>
          <a:xfrm>
            <a:off x="777240" y="2514600"/>
            <a:ext cx="2880360" cy="102870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Une seule personne donne les ordres. Elle est placée là où elle voit le mieux le trajet.</a:t>
            </a:r>
            <a:endParaRPr lang="en-US" sz="1300" dirty="0"/>
          </a:p>
        </p:txBody>
      </p:sp>
      <p:sp>
        <p:nvSpPr>
          <p:cNvPr id="13" name="Shape 9"/>
          <p:cNvSpPr/>
          <p:nvPr/>
        </p:nvSpPr>
        <p:spPr>
          <a:xfrm>
            <a:off x="4160520" y="1600200"/>
            <a:ext cx="3337560" cy="2080260"/>
          </a:xfrm>
          <a:prstGeom prst="roundRect">
            <a:avLst>
              <a:gd name="adj" fmla="val 3516"/>
            </a:avLst>
          </a:prstGeom>
          <a:solidFill>
            <a:srgbClr val="EEEDF5"/>
          </a:solidFill>
          <a:ln w="12700">
            <a:solidFill>
              <a:srgbClr val="EEEDF5"/>
            </a:solidFill>
            <a:prstDash val="solid"/>
          </a:ln>
        </p:spPr>
      </p:sp>
      <p:sp>
        <p:nvSpPr>
          <p:cNvPr id="14" name="Shape 10"/>
          <p:cNvSpPr/>
          <p:nvPr/>
        </p:nvSpPr>
        <p:spPr>
          <a:xfrm>
            <a:off x="4389120" y="1828800"/>
            <a:ext cx="548640" cy="548640"/>
          </a:xfrm>
          <a:prstGeom prst="ellipse">
            <a:avLst/>
          </a:prstGeom>
          <a:solidFill>
            <a:srgbClr val="0A032B"/>
          </a:solidFill>
          <a:ln w="12700">
            <a:solidFill>
              <a:srgbClr val="0A032B"/>
            </a:solidFill>
            <a:prstDash val="solid"/>
          </a:ln>
        </p:spPr>
      </p:sp>
      <p:pic>
        <p:nvPicPr>
          <p:cNvPr id="15" name="Image 2" descr="preencoded.png">    </p:cNvPr>
          <p:cNvPicPr>
            <a:picLocks noChangeAspect="1"/>
          </p:cNvPicPr>
          <p:nvPr/>
        </p:nvPicPr>
        <p:blipFill>
          <a:blip r:embed="rId3"/>
          <a:stretch>
            <a:fillRect/>
          </a:stretch>
        </p:blipFill>
        <p:spPr>
          <a:xfrm>
            <a:off x="4526280" y="1965960"/>
            <a:ext cx="274320" cy="274320"/>
          </a:xfrm>
          <a:prstGeom prst="rect">
            <a:avLst/>
          </a:prstGeom>
        </p:spPr>
      </p:pic>
      <p:sp>
        <p:nvSpPr>
          <p:cNvPr id="16" name="Text 11"/>
          <p:cNvSpPr txBox="1"/>
          <p:nvPr/>
        </p:nvSpPr>
        <p:spPr>
          <a:xfrm>
            <a:off x="5120640" y="1828800"/>
            <a:ext cx="2148840"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Des annonces claires</a:t>
            </a:r>
            <a:endParaRPr lang="en-US" sz="1500" dirty="0"/>
          </a:p>
        </p:txBody>
      </p:sp>
      <p:sp>
        <p:nvSpPr>
          <p:cNvPr id="17" name="Text 12"/>
          <p:cNvSpPr txBox="1"/>
          <p:nvPr/>
        </p:nvSpPr>
        <p:spPr>
          <a:xfrm>
            <a:off x="4389120" y="2514600"/>
            <a:ext cx="2880360" cy="102870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 Prêt ? … On soulève. » « On avance. » « Stop. » « On pose. »</a:t>
            </a:r>
            <a:endParaRPr lang="en-US" sz="1300" dirty="0"/>
          </a:p>
        </p:txBody>
      </p:sp>
      <p:sp>
        <p:nvSpPr>
          <p:cNvPr id="18" name="Shape 13"/>
          <p:cNvSpPr/>
          <p:nvPr/>
        </p:nvSpPr>
        <p:spPr>
          <a:xfrm>
            <a:off x="548640" y="3954780"/>
            <a:ext cx="3337560" cy="2080260"/>
          </a:xfrm>
          <a:prstGeom prst="roundRect">
            <a:avLst>
              <a:gd name="adj" fmla="val 3516"/>
            </a:avLst>
          </a:prstGeom>
          <a:solidFill>
            <a:srgbClr val="EEEDF5"/>
          </a:solidFill>
          <a:ln w="12700">
            <a:solidFill>
              <a:srgbClr val="EEEDF5"/>
            </a:solidFill>
            <a:prstDash val="solid"/>
          </a:ln>
        </p:spPr>
      </p:sp>
      <p:sp>
        <p:nvSpPr>
          <p:cNvPr id="19" name="Shape 14"/>
          <p:cNvSpPr/>
          <p:nvPr/>
        </p:nvSpPr>
        <p:spPr>
          <a:xfrm>
            <a:off x="777240" y="4183380"/>
            <a:ext cx="548640" cy="548640"/>
          </a:xfrm>
          <a:prstGeom prst="ellipse">
            <a:avLst/>
          </a:prstGeom>
          <a:solidFill>
            <a:srgbClr val="0A032B"/>
          </a:solidFill>
          <a:ln w="12700">
            <a:solidFill>
              <a:srgbClr val="0A032B"/>
            </a:solidFill>
            <a:prstDash val="solid"/>
          </a:ln>
        </p:spPr>
      </p:sp>
      <p:pic>
        <p:nvPicPr>
          <p:cNvPr id="20" name="Image 3" descr="preencoded.png">    </p:cNvPr>
          <p:cNvPicPr>
            <a:picLocks noChangeAspect="1"/>
          </p:cNvPicPr>
          <p:nvPr/>
        </p:nvPicPr>
        <p:blipFill>
          <a:blip r:embed="rId4"/>
          <a:stretch>
            <a:fillRect/>
          </a:stretch>
        </p:blipFill>
        <p:spPr>
          <a:xfrm>
            <a:off x="914400" y="4320540"/>
            <a:ext cx="274320" cy="274320"/>
          </a:xfrm>
          <a:prstGeom prst="rect">
            <a:avLst/>
          </a:prstGeom>
        </p:spPr>
      </p:pic>
      <p:sp>
        <p:nvSpPr>
          <p:cNvPr id="21" name="Text 15"/>
          <p:cNvSpPr txBox="1"/>
          <p:nvPr/>
        </p:nvSpPr>
        <p:spPr>
          <a:xfrm>
            <a:off x="1508760" y="4183380"/>
            <a:ext cx="2148840"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Des gestes synchronisés</a:t>
            </a:r>
            <a:endParaRPr lang="en-US" sz="1500" dirty="0"/>
          </a:p>
        </p:txBody>
      </p:sp>
      <p:sp>
        <p:nvSpPr>
          <p:cNvPr id="22" name="Text 16"/>
          <p:cNvSpPr txBox="1"/>
          <p:nvPr/>
        </p:nvSpPr>
        <p:spPr>
          <a:xfrm>
            <a:off x="777240" y="4869180"/>
            <a:ext cx="2880360" cy="102870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Même rythme, même hauteur, départ du même pied, pas de mouvement brusque.</a:t>
            </a:r>
            <a:endParaRPr lang="en-US" sz="1300" dirty="0"/>
          </a:p>
        </p:txBody>
      </p:sp>
      <p:sp>
        <p:nvSpPr>
          <p:cNvPr id="23" name="Shape 17"/>
          <p:cNvSpPr/>
          <p:nvPr/>
        </p:nvSpPr>
        <p:spPr>
          <a:xfrm>
            <a:off x="4160520" y="3954780"/>
            <a:ext cx="3337560" cy="2080260"/>
          </a:xfrm>
          <a:prstGeom prst="roundRect">
            <a:avLst>
              <a:gd name="adj" fmla="val 3516"/>
            </a:avLst>
          </a:prstGeom>
          <a:solidFill>
            <a:srgbClr val="EEEDF5"/>
          </a:solidFill>
          <a:ln w="12700">
            <a:solidFill>
              <a:srgbClr val="EEEDF5"/>
            </a:solidFill>
            <a:prstDash val="solid"/>
          </a:ln>
        </p:spPr>
      </p:sp>
      <p:sp>
        <p:nvSpPr>
          <p:cNvPr id="24" name="Shape 18"/>
          <p:cNvSpPr/>
          <p:nvPr/>
        </p:nvSpPr>
        <p:spPr>
          <a:xfrm>
            <a:off x="4389120" y="4183380"/>
            <a:ext cx="548640" cy="548640"/>
          </a:xfrm>
          <a:prstGeom prst="ellipse">
            <a:avLst/>
          </a:prstGeom>
          <a:solidFill>
            <a:srgbClr val="0A032B"/>
          </a:solidFill>
          <a:ln w="12700">
            <a:solidFill>
              <a:srgbClr val="0A032B"/>
            </a:solidFill>
            <a:prstDash val="solid"/>
          </a:ln>
        </p:spPr>
      </p:sp>
      <p:pic>
        <p:nvPicPr>
          <p:cNvPr id="25" name="Image 4" descr="preencoded.png">    </p:cNvPr>
          <p:cNvPicPr>
            <a:picLocks noChangeAspect="1"/>
          </p:cNvPicPr>
          <p:nvPr/>
        </p:nvPicPr>
        <p:blipFill>
          <a:blip r:embed="rId5"/>
          <a:stretch>
            <a:fillRect/>
          </a:stretch>
        </p:blipFill>
        <p:spPr>
          <a:xfrm>
            <a:off x="4526280" y="4320540"/>
            <a:ext cx="274320" cy="274320"/>
          </a:xfrm>
          <a:prstGeom prst="rect">
            <a:avLst/>
          </a:prstGeom>
        </p:spPr>
      </p:pic>
      <p:sp>
        <p:nvSpPr>
          <p:cNvPr id="26" name="Text 19"/>
          <p:cNvSpPr txBox="1"/>
          <p:nvPr/>
        </p:nvSpPr>
        <p:spPr>
          <a:xfrm>
            <a:off x="5120640" y="4183380"/>
            <a:ext cx="2148840"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Une charge partagée</a:t>
            </a:r>
            <a:endParaRPr lang="en-US" sz="1500" dirty="0"/>
          </a:p>
        </p:txBody>
      </p:sp>
      <p:sp>
        <p:nvSpPr>
          <p:cNvPr id="27" name="Text 20"/>
          <p:cNvSpPr txBox="1"/>
          <p:nvPr/>
        </p:nvSpPr>
        <p:spPr>
          <a:xfrm>
            <a:off x="4389120" y="4869180"/>
            <a:ext cx="2880360" cy="1028700"/>
          </a:xfrm>
          <a:prstGeom prst="rect">
            <a:avLst/>
          </a:prstGeom>
          <a:noFill/>
          <a:ln/>
        </p:spPr>
        <p:txBody>
          <a:bodyPr wrap="square" lIns="0" tIns="0" rIns="0" bIns="0" rtlCol="0" anchor="t"/>
          <a:lstStyle/>
          <a:p>
            <a:pPr indent="0" marL="0">
              <a:buNone/>
            </a:pPr>
            <a:r>
              <a:rPr lang="en-US" sz="1300" dirty="0">
                <a:solidFill>
                  <a:srgbClr val="35305C"/>
                </a:solidFill>
                <a:latin typeface="Arial" pitchFamily="34" charset="0"/>
                <a:ea typeface="Arial" pitchFamily="34" charset="-122"/>
                <a:cs typeface="Arial" pitchFamily="34" charset="-120"/>
              </a:rPr>
              <a:t>Porteurs de taille proche si possible. Le plus fort côté le plus lourd.</a:t>
            </a:r>
            <a:endParaRPr lang="en-US" sz="1300" dirty="0"/>
          </a:p>
        </p:txBody>
      </p:sp>
      <p:sp>
        <p:nvSpPr>
          <p:cNvPr id="28" name="Shape 21"/>
          <p:cNvSpPr/>
          <p:nvPr/>
        </p:nvSpPr>
        <p:spPr>
          <a:xfrm>
            <a:off x="7818120" y="1600200"/>
            <a:ext cx="3824935" cy="4434840"/>
          </a:xfrm>
          <a:prstGeom prst="roundRect">
            <a:avLst>
              <a:gd name="adj" fmla="val 1913"/>
            </a:avLst>
          </a:prstGeom>
          <a:solidFill>
            <a:srgbClr val="0A032B"/>
          </a:solidFill>
          <a:ln w="12700">
            <a:solidFill>
              <a:srgbClr val="0A032B"/>
            </a:solidFill>
            <a:prstDash val="solid"/>
          </a:ln>
        </p:spPr>
      </p:sp>
      <p:sp>
        <p:nvSpPr>
          <p:cNvPr id="29" name="Text 22"/>
          <p:cNvSpPr txBox="1"/>
          <p:nvPr/>
        </p:nvSpPr>
        <p:spPr>
          <a:xfrm>
            <a:off x="8092440" y="1828800"/>
            <a:ext cx="3276295" cy="457200"/>
          </a:xfrm>
          <a:prstGeom prst="rect">
            <a:avLst/>
          </a:prstGeom>
          <a:noFill/>
          <a:ln/>
        </p:spPr>
        <p:txBody>
          <a:bodyPr wrap="square" lIns="0" tIns="0" rIns="0" bIns="0" rtlCol="0" anchor="ctr"/>
          <a:lstStyle/>
          <a:p>
            <a:pPr indent="0" marL="0">
              <a:buNone/>
            </a:pPr>
            <a:r>
              <a:rPr lang="en-US" sz="1800" b="1" dirty="0">
                <a:solidFill>
                  <a:srgbClr val="F0EF96"/>
                </a:solidFill>
                <a:latin typeface="Montserrat" pitchFamily="34" charset="0"/>
                <a:ea typeface="Montserrat" pitchFamily="34" charset="-122"/>
                <a:cs typeface="Montserrat" pitchFamily="34" charset="-120"/>
              </a:rPr>
              <a:t>Les 4 annonces</a:t>
            </a:r>
            <a:endParaRPr lang="en-US" sz="1800" dirty="0"/>
          </a:p>
        </p:txBody>
      </p:sp>
      <p:sp>
        <p:nvSpPr>
          <p:cNvPr id="30" name="Shape 23"/>
          <p:cNvSpPr/>
          <p:nvPr/>
        </p:nvSpPr>
        <p:spPr>
          <a:xfrm>
            <a:off x="8092440" y="2514600"/>
            <a:ext cx="457200" cy="457200"/>
          </a:xfrm>
          <a:prstGeom prst="ellipse">
            <a:avLst/>
          </a:prstGeom>
          <a:solidFill>
            <a:srgbClr val="F0EF96"/>
          </a:solidFill>
          <a:ln w="12700">
            <a:solidFill>
              <a:srgbClr val="F0EF96"/>
            </a:solidFill>
            <a:prstDash val="solid"/>
          </a:ln>
        </p:spPr>
      </p:sp>
      <p:sp>
        <p:nvSpPr>
          <p:cNvPr id="31" name="Text 24"/>
          <p:cNvSpPr txBox="1"/>
          <p:nvPr/>
        </p:nvSpPr>
        <p:spPr>
          <a:xfrm>
            <a:off x="8092440" y="251460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1</a:t>
            </a:r>
            <a:endParaRPr lang="en-US" sz="1300" dirty="0"/>
          </a:p>
        </p:txBody>
      </p:sp>
      <p:sp>
        <p:nvSpPr>
          <p:cNvPr id="32" name="Text 25"/>
          <p:cNvSpPr txBox="1"/>
          <p:nvPr/>
        </p:nvSpPr>
        <p:spPr>
          <a:xfrm>
            <a:off x="8732520" y="2514600"/>
            <a:ext cx="2773375"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 Attention… prêts ? »</a:t>
            </a:r>
            <a:endParaRPr lang="en-US" sz="1500" dirty="0"/>
          </a:p>
        </p:txBody>
      </p:sp>
      <p:sp>
        <p:nvSpPr>
          <p:cNvPr id="33" name="Shape 26"/>
          <p:cNvSpPr/>
          <p:nvPr/>
        </p:nvSpPr>
        <p:spPr>
          <a:xfrm>
            <a:off x="8092440" y="3337560"/>
            <a:ext cx="457200" cy="457200"/>
          </a:xfrm>
          <a:prstGeom prst="ellipse">
            <a:avLst/>
          </a:prstGeom>
          <a:solidFill>
            <a:srgbClr val="F0EF96"/>
          </a:solidFill>
          <a:ln w="12700">
            <a:solidFill>
              <a:srgbClr val="F0EF96"/>
            </a:solidFill>
            <a:prstDash val="solid"/>
          </a:ln>
        </p:spPr>
      </p:sp>
      <p:sp>
        <p:nvSpPr>
          <p:cNvPr id="34" name="Text 27"/>
          <p:cNvSpPr txBox="1"/>
          <p:nvPr/>
        </p:nvSpPr>
        <p:spPr>
          <a:xfrm>
            <a:off x="8092440" y="333756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2</a:t>
            </a:r>
            <a:endParaRPr lang="en-US" sz="1300" dirty="0"/>
          </a:p>
        </p:txBody>
      </p:sp>
      <p:sp>
        <p:nvSpPr>
          <p:cNvPr id="35" name="Text 28"/>
          <p:cNvSpPr txBox="1"/>
          <p:nvPr/>
        </p:nvSpPr>
        <p:spPr>
          <a:xfrm>
            <a:off x="8732520" y="3337560"/>
            <a:ext cx="2773375"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 On soulève ! »</a:t>
            </a:r>
            <a:endParaRPr lang="en-US" sz="1500" dirty="0"/>
          </a:p>
        </p:txBody>
      </p:sp>
      <p:sp>
        <p:nvSpPr>
          <p:cNvPr id="36" name="Shape 29"/>
          <p:cNvSpPr/>
          <p:nvPr/>
        </p:nvSpPr>
        <p:spPr>
          <a:xfrm>
            <a:off x="8092440" y="4160520"/>
            <a:ext cx="457200" cy="457200"/>
          </a:xfrm>
          <a:prstGeom prst="ellipse">
            <a:avLst/>
          </a:prstGeom>
          <a:solidFill>
            <a:srgbClr val="F0EF96"/>
          </a:solidFill>
          <a:ln w="12700">
            <a:solidFill>
              <a:srgbClr val="F0EF96"/>
            </a:solidFill>
            <a:prstDash val="solid"/>
          </a:ln>
        </p:spPr>
      </p:sp>
      <p:sp>
        <p:nvSpPr>
          <p:cNvPr id="37" name="Text 30"/>
          <p:cNvSpPr txBox="1"/>
          <p:nvPr/>
        </p:nvSpPr>
        <p:spPr>
          <a:xfrm>
            <a:off x="8092440" y="416052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3</a:t>
            </a:r>
            <a:endParaRPr lang="en-US" sz="1300" dirty="0"/>
          </a:p>
        </p:txBody>
      </p:sp>
      <p:sp>
        <p:nvSpPr>
          <p:cNvPr id="38" name="Text 31"/>
          <p:cNvSpPr txBox="1"/>
          <p:nvPr/>
        </p:nvSpPr>
        <p:spPr>
          <a:xfrm>
            <a:off x="8732520" y="4160520"/>
            <a:ext cx="2773375"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 On avance… stop ! »</a:t>
            </a:r>
            <a:endParaRPr lang="en-US" sz="1500" dirty="0"/>
          </a:p>
        </p:txBody>
      </p:sp>
      <p:sp>
        <p:nvSpPr>
          <p:cNvPr id="39" name="Shape 32"/>
          <p:cNvSpPr/>
          <p:nvPr/>
        </p:nvSpPr>
        <p:spPr>
          <a:xfrm>
            <a:off x="8092440" y="4983480"/>
            <a:ext cx="457200" cy="457200"/>
          </a:xfrm>
          <a:prstGeom prst="ellipse">
            <a:avLst/>
          </a:prstGeom>
          <a:solidFill>
            <a:srgbClr val="F0EF96"/>
          </a:solidFill>
          <a:ln w="12700">
            <a:solidFill>
              <a:srgbClr val="F0EF96"/>
            </a:solidFill>
            <a:prstDash val="solid"/>
          </a:ln>
        </p:spPr>
      </p:sp>
      <p:sp>
        <p:nvSpPr>
          <p:cNvPr id="40" name="Text 33"/>
          <p:cNvSpPr txBox="1"/>
          <p:nvPr/>
        </p:nvSpPr>
        <p:spPr>
          <a:xfrm>
            <a:off x="8092440" y="4983480"/>
            <a:ext cx="457200" cy="457200"/>
          </a:xfrm>
          <a:prstGeom prst="rect">
            <a:avLst/>
          </a:prstGeom>
          <a:noFill/>
          <a:ln/>
        </p:spPr>
        <p:txBody>
          <a:bodyPr wrap="square" lIns="0" tIns="0" rIns="0" bIns="0" rtlCol="0" anchor="ctr"/>
          <a:lstStyle/>
          <a:p>
            <a:pPr algn="ctr" indent="0" marL="0">
              <a:buNone/>
            </a:pPr>
            <a:r>
              <a:rPr lang="en-US" sz="1300" b="1" dirty="0">
                <a:solidFill>
                  <a:srgbClr val="0A032B"/>
                </a:solidFill>
                <a:latin typeface="Montserrat" pitchFamily="34" charset="0"/>
                <a:ea typeface="Montserrat" pitchFamily="34" charset="-122"/>
                <a:cs typeface="Montserrat" pitchFamily="34" charset="-120"/>
              </a:rPr>
              <a:t>4</a:t>
            </a:r>
            <a:endParaRPr lang="en-US" sz="1300" dirty="0"/>
          </a:p>
        </p:txBody>
      </p:sp>
      <p:sp>
        <p:nvSpPr>
          <p:cNvPr id="41" name="Text 34"/>
          <p:cNvSpPr txBox="1"/>
          <p:nvPr/>
        </p:nvSpPr>
        <p:spPr>
          <a:xfrm>
            <a:off x="8732520" y="4983480"/>
            <a:ext cx="2773375" cy="45720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 On pose ! »</a:t>
            </a:r>
            <a:endParaRPr lang="en-US" sz="15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ATELIER DE MANUTENTION</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Atelier 2 : manutention à deux</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20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Trinômes : deux porteurs, un observateur, rotation des rôles</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Table pliante, banc, grille d'observation</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Désigner le meneur</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 binôme choisit qui donne les ordres et répète les annonces.</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Déplier et déplacer une table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Soulever, franchir une porte, tourner, poser : avec les 4 annonces.</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Empiler et désempiler</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Poser la table sur une autre, en synchronisant la hauteur.</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Débriefer à trois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L'observateur note la communication et les principes de sécurité, puis rotation.</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Garder les doigts hors des zones de pincement (charnières, bords de table au moment de poser).</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2</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DF5"/>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À retenir</a:t>
            </a:r>
            <a:endParaRPr lang="en-US" sz="2800" dirty="0"/>
          </a:p>
        </p:txBody>
      </p:sp>
      <p:sp>
        <p:nvSpPr>
          <p:cNvPr id="3" name="Text 1"/>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2</a:t>
            </a:r>
            <a:endParaRPr lang="en-US" sz="900" dirty="0"/>
          </a:p>
        </p:txBody>
      </p:sp>
      <p:pic>
        <p:nvPicPr>
          <p:cNvPr id="4"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5" name="Shape 2"/>
          <p:cNvSpPr/>
          <p:nvPr/>
        </p:nvSpPr>
        <p:spPr>
          <a:xfrm>
            <a:off x="548640"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6" name="Shape 3"/>
          <p:cNvSpPr/>
          <p:nvPr/>
        </p:nvSpPr>
        <p:spPr>
          <a:xfrm>
            <a:off x="777240" y="1859280"/>
            <a:ext cx="457200" cy="457200"/>
          </a:xfrm>
          <a:prstGeom prst="ellipse">
            <a:avLst/>
          </a:prstGeom>
          <a:solidFill>
            <a:srgbClr val="F0EF96"/>
          </a:solidFill>
          <a:ln w="12700">
            <a:solidFill>
              <a:srgbClr val="F0EF96"/>
            </a:solidFill>
            <a:prstDash val="solid"/>
          </a:ln>
        </p:spPr>
      </p:sp>
      <p:pic>
        <p:nvPicPr>
          <p:cNvPr id="7" name="Image 1" descr="preencoded.png">    </p:cNvPr>
          <p:cNvPicPr>
            <a:picLocks noChangeAspect="1"/>
          </p:cNvPicPr>
          <p:nvPr/>
        </p:nvPicPr>
        <p:blipFill>
          <a:blip r:embed="rId2"/>
          <a:stretch>
            <a:fillRect/>
          </a:stretch>
        </p:blipFill>
        <p:spPr>
          <a:xfrm>
            <a:off x="891540" y="1973580"/>
            <a:ext cx="228600" cy="228600"/>
          </a:xfrm>
          <a:prstGeom prst="rect">
            <a:avLst/>
          </a:prstGeom>
        </p:spPr>
      </p:pic>
      <p:sp>
        <p:nvSpPr>
          <p:cNvPr id="8" name="Text 4"/>
          <p:cNvSpPr txBox="1"/>
          <p:nvPr/>
        </p:nvSpPr>
        <p:spPr>
          <a:xfrm>
            <a:off x="1417320"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J'observe et je prépare avant de soulever.</a:t>
            </a:r>
            <a:endParaRPr lang="en-US" sz="1400" dirty="0"/>
          </a:p>
        </p:txBody>
      </p:sp>
      <p:sp>
        <p:nvSpPr>
          <p:cNvPr id="9" name="Shape 5"/>
          <p:cNvSpPr/>
          <p:nvPr/>
        </p:nvSpPr>
        <p:spPr>
          <a:xfrm>
            <a:off x="6233008"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0" name="Shape 6"/>
          <p:cNvSpPr/>
          <p:nvPr/>
        </p:nvSpPr>
        <p:spPr>
          <a:xfrm>
            <a:off x="6461608" y="1859280"/>
            <a:ext cx="457200" cy="457200"/>
          </a:xfrm>
          <a:prstGeom prst="ellipse">
            <a:avLst/>
          </a:prstGeom>
          <a:solidFill>
            <a:srgbClr val="F0EF96"/>
          </a:solidFill>
          <a:ln w="12700">
            <a:solidFill>
              <a:srgbClr val="F0EF96"/>
            </a:solidFill>
            <a:prstDash val="solid"/>
          </a:ln>
        </p:spPr>
      </p:sp>
      <p:pic>
        <p:nvPicPr>
          <p:cNvPr id="11" name="Image 2" descr="preencoded.png">    </p:cNvPr>
          <p:cNvPicPr>
            <a:picLocks noChangeAspect="1"/>
          </p:cNvPicPr>
          <p:nvPr/>
        </p:nvPicPr>
        <p:blipFill>
          <a:blip r:embed="rId3"/>
          <a:stretch>
            <a:fillRect/>
          </a:stretch>
        </p:blipFill>
        <p:spPr>
          <a:xfrm>
            <a:off x="6575908" y="1973580"/>
            <a:ext cx="228600" cy="228600"/>
          </a:xfrm>
          <a:prstGeom prst="rect">
            <a:avLst/>
          </a:prstGeom>
        </p:spPr>
      </p:pic>
      <p:sp>
        <p:nvSpPr>
          <p:cNvPr id="12" name="Text 7"/>
          <p:cNvSpPr txBox="1"/>
          <p:nvPr/>
        </p:nvSpPr>
        <p:spPr>
          <a:xfrm>
            <a:off x="7101688"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Pieds – Dos – Prise – Appui – Contrepoids.</a:t>
            </a:r>
            <a:endParaRPr lang="en-US" sz="1400" dirty="0"/>
          </a:p>
        </p:txBody>
      </p:sp>
      <p:sp>
        <p:nvSpPr>
          <p:cNvPr id="13" name="Shape 8"/>
          <p:cNvSpPr/>
          <p:nvPr/>
        </p:nvSpPr>
        <p:spPr>
          <a:xfrm>
            <a:off x="548640"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4" name="Shape 9"/>
          <p:cNvSpPr/>
          <p:nvPr/>
        </p:nvSpPr>
        <p:spPr>
          <a:xfrm>
            <a:off x="777240" y="3474720"/>
            <a:ext cx="457200" cy="457200"/>
          </a:xfrm>
          <a:prstGeom prst="ellipse">
            <a:avLst/>
          </a:prstGeom>
          <a:solidFill>
            <a:srgbClr val="F0EF96"/>
          </a:solidFill>
          <a:ln w="12700">
            <a:solidFill>
              <a:srgbClr val="F0EF96"/>
            </a:solidFill>
            <a:prstDash val="solid"/>
          </a:ln>
        </p:spPr>
      </p:sp>
      <p:pic>
        <p:nvPicPr>
          <p:cNvPr id="15" name="Image 3" descr="preencoded.png">    </p:cNvPr>
          <p:cNvPicPr>
            <a:picLocks noChangeAspect="1"/>
          </p:cNvPicPr>
          <p:nvPr/>
        </p:nvPicPr>
        <p:blipFill>
          <a:blip r:embed="rId4"/>
          <a:stretch>
            <a:fillRect/>
          </a:stretch>
        </p:blipFill>
        <p:spPr>
          <a:xfrm>
            <a:off x="891540" y="3589020"/>
            <a:ext cx="228600" cy="228600"/>
          </a:xfrm>
          <a:prstGeom prst="rect">
            <a:avLst/>
          </a:prstGeom>
        </p:spPr>
      </p:pic>
      <p:sp>
        <p:nvSpPr>
          <p:cNvPr id="16" name="Text 10"/>
          <p:cNvSpPr txBox="1"/>
          <p:nvPr/>
        </p:nvSpPr>
        <p:spPr>
          <a:xfrm>
            <a:off x="1417320"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Je soulève avec les jambes, le dos reste droit.</a:t>
            </a:r>
            <a:endParaRPr lang="en-US" sz="1400" dirty="0"/>
          </a:p>
        </p:txBody>
      </p:sp>
      <p:sp>
        <p:nvSpPr>
          <p:cNvPr id="17" name="Shape 11"/>
          <p:cNvSpPr/>
          <p:nvPr/>
        </p:nvSpPr>
        <p:spPr>
          <a:xfrm>
            <a:off x="6233008"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8" name="Shape 12"/>
          <p:cNvSpPr/>
          <p:nvPr/>
        </p:nvSpPr>
        <p:spPr>
          <a:xfrm>
            <a:off x="6461608" y="3474720"/>
            <a:ext cx="457200" cy="457200"/>
          </a:xfrm>
          <a:prstGeom prst="ellipse">
            <a:avLst/>
          </a:prstGeom>
          <a:solidFill>
            <a:srgbClr val="F0EF96"/>
          </a:solidFill>
          <a:ln w="12700">
            <a:solidFill>
              <a:srgbClr val="F0EF96"/>
            </a:solidFill>
            <a:prstDash val="solid"/>
          </a:ln>
        </p:spPr>
      </p:sp>
      <p:pic>
        <p:nvPicPr>
          <p:cNvPr id="19" name="Image 4" descr="preencoded.png">    </p:cNvPr>
          <p:cNvPicPr>
            <a:picLocks noChangeAspect="1"/>
          </p:cNvPicPr>
          <p:nvPr/>
        </p:nvPicPr>
        <p:blipFill>
          <a:blip r:embed="rId5"/>
          <a:stretch>
            <a:fillRect/>
          </a:stretch>
        </p:blipFill>
        <p:spPr>
          <a:xfrm>
            <a:off x="6575908" y="3589020"/>
            <a:ext cx="228600" cy="228600"/>
          </a:xfrm>
          <a:prstGeom prst="rect">
            <a:avLst/>
          </a:prstGeom>
        </p:spPr>
      </p:pic>
      <p:sp>
        <p:nvSpPr>
          <p:cNvPr id="20" name="Text 13"/>
          <p:cNvSpPr txBox="1"/>
          <p:nvPr/>
        </p:nvSpPr>
        <p:spPr>
          <a:xfrm>
            <a:off x="7101688"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La charge reste collée au corps.</a:t>
            </a:r>
            <a:endParaRPr lang="en-US" sz="1400" dirty="0"/>
          </a:p>
        </p:txBody>
      </p:sp>
      <p:sp>
        <p:nvSpPr>
          <p:cNvPr id="21" name="Shape 14"/>
          <p:cNvSpPr/>
          <p:nvPr/>
        </p:nvSpPr>
        <p:spPr>
          <a:xfrm>
            <a:off x="548640"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2" name="Shape 15"/>
          <p:cNvSpPr/>
          <p:nvPr/>
        </p:nvSpPr>
        <p:spPr>
          <a:xfrm>
            <a:off x="777240" y="5090160"/>
            <a:ext cx="457200" cy="457200"/>
          </a:xfrm>
          <a:prstGeom prst="ellipse">
            <a:avLst/>
          </a:prstGeom>
          <a:solidFill>
            <a:srgbClr val="F0EF96"/>
          </a:solidFill>
          <a:ln w="12700">
            <a:solidFill>
              <a:srgbClr val="F0EF96"/>
            </a:solidFill>
            <a:prstDash val="solid"/>
          </a:ln>
        </p:spPr>
      </p:sp>
      <p:pic>
        <p:nvPicPr>
          <p:cNvPr id="23" name="Image 5" descr="preencoded.png">    </p:cNvPr>
          <p:cNvPicPr>
            <a:picLocks noChangeAspect="1"/>
          </p:cNvPicPr>
          <p:nvPr/>
        </p:nvPicPr>
        <p:blipFill>
          <a:blip r:embed="rId6"/>
          <a:stretch>
            <a:fillRect/>
          </a:stretch>
        </p:blipFill>
        <p:spPr>
          <a:xfrm>
            <a:off x="891540" y="5204460"/>
            <a:ext cx="228600" cy="228600"/>
          </a:xfrm>
          <a:prstGeom prst="rect">
            <a:avLst/>
          </a:prstGeom>
        </p:spPr>
      </p:pic>
      <p:sp>
        <p:nvSpPr>
          <p:cNvPr id="24" name="Text 16"/>
          <p:cNvSpPr txBox="1"/>
          <p:nvPr/>
        </p:nvSpPr>
        <p:spPr>
          <a:xfrm>
            <a:off x="1417320"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Je pivote avec les pieds, jamais de torsion.</a:t>
            </a:r>
            <a:endParaRPr lang="en-US" sz="1400" dirty="0"/>
          </a:p>
        </p:txBody>
      </p:sp>
      <p:sp>
        <p:nvSpPr>
          <p:cNvPr id="25" name="Shape 17"/>
          <p:cNvSpPr/>
          <p:nvPr/>
        </p:nvSpPr>
        <p:spPr>
          <a:xfrm>
            <a:off x="6233008"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6" name="Shape 18"/>
          <p:cNvSpPr/>
          <p:nvPr/>
        </p:nvSpPr>
        <p:spPr>
          <a:xfrm>
            <a:off x="6461608" y="5090160"/>
            <a:ext cx="457200" cy="457200"/>
          </a:xfrm>
          <a:prstGeom prst="ellipse">
            <a:avLst/>
          </a:prstGeom>
          <a:solidFill>
            <a:srgbClr val="F0EF96"/>
          </a:solidFill>
          <a:ln w="12700">
            <a:solidFill>
              <a:srgbClr val="F0EF96"/>
            </a:solidFill>
            <a:prstDash val="solid"/>
          </a:ln>
        </p:spPr>
      </p:sp>
      <p:pic>
        <p:nvPicPr>
          <p:cNvPr id="27" name="Image 6" descr="preencoded.png">    </p:cNvPr>
          <p:cNvPicPr>
            <a:picLocks noChangeAspect="1"/>
          </p:cNvPicPr>
          <p:nvPr/>
        </p:nvPicPr>
        <p:blipFill>
          <a:blip r:embed="rId7"/>
          <a:stretch>
            <a:fillRect/>
          </a:stretch>
        </p:blipFill>
        <p:spPr>
          <a:xfrm>
            <a:off x="6575908" y="5204460"/>
            <a:ext cx="228600" cy="228600"/>
          </a:xfrm>
          <a:prstGeom prst="rect">
            <a:avLst/>
          </a:prstGeom>
        </p:spPr>
      </p:pic>
      <p:sp>
        <p:nvSpPr>
          <p:cNvPr id="28" name="Text 19"/>
          <p:cNvSpPr txBox="1"/>
          <p:nvPr/>
        </p:nvSpPr>
        <p:spPr>
          <a:xfrm>
            <a:off x="7101688"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À deux : un meneur, des annonces claires.</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EF96"/>
        </a:solidFill>
      </p:bgPr>
    </p:bg>
    <p:spTree>
      <p:nvGrpSpPr>
        <p:cNvPr id="1" name=""/>
        <p:cNvGrpSpPr/>
        <p:nvPr/>
      </p:nvGrpSpPr>
      <p:grpSpPr>
        <a:xfrm>
          <a:off x="0" y="0"/>
          <a:ext cx="0" cy="0"/>
          <a:chOff x="0" y="0"/>
          <a:chExt cx="0" cy="0"/>
        </a:xfrm>
      </p:grpSpPr>
      <p:sp>
        <p:nvSpPr>
          <p:cNvPr id="2" name="Shape 0"/>
          <p:cNvSpPr/>
          <p:nvPr/>
        </p:nvSpPr>
        <p:spPr>
          <a:xfrm>
            <a:off x="5272888" y="1463040"/>
            <a:ext cx="1645920" cy="1645920"/>
          </a:xfrm>
          <a:prstGeom prst="ellipse">
            <a:avLst/>
          </a:prstGeom>
          <a:solidFill>
            <a:srgbClr val="0A032B"/>
          </a:solidFill>
          <a:ln w="12700">
            <a:solidFill>
              <a:srgbClr val="0A032B"/>
            </a:solidFill>
            <a:prstDash val="solid"/>
          </a:ln>
        </p:spPr>
      </p:sp>
      <p:pic>
        <p:nvPicPr>
          <p:cNvPr id="3" name="Image 0" descr="preencoded.png">    </p:cNvPr>
          <p:cNvPicPr>
            <a:picLocks noChangeAspect="1"/>
          </p:cNvPicPr>
          <p:nvPr/>
        </p:nvPicPr>
        <p:blipFill>
          <a:blip r:embed="rId1"/>
          <a:stretch>
            <a:fillRect/>
          </a:stretch>
        </p:blipFill>
        <p:spPr>
          <a:xfrm>
            <a:off x="5684368" y="1874520"/>
            <a:ext cx="822960" cy="822960"/>
          </a:xfrm>
          <a:prstGeom prst="rect">
            <a:avLst/>
          </a:prstGeom>
        </p:spPr>
      </p:pic>
      <p:sp>
        <p:nvSpPr>
          <p:cNvPr id="4" name="Text 1"/>
          <p:cNvSpPr txBox="1"/>
          <p:nvPr/>
        </p:nvSpPr>
        <p:spPr>
          <a:xfrm>
            <a:off x="548640" y="3383280"/>
            <a:ext cx="11094415" cy="822960"/>
          </a:xfrm>
          <a:prstGeom prst="rect">
            <a:avLst/>
          </a:prstGeom>
          <a:noFill/>
          <a:ln/>
        </p:spPr>
        <p:txBody>
          <a:bodyPr wrap="square" lIns="0" tIns="0" rIns="0" bIns="0" rtlCol="0" anchor="ctr"/>
          <a:lstStyle/>
          <a:p>
            <a:pPr algn="ctr" indent="0" marL="0">
              <a:buNone/>
            </a:pPr>
            <a:r>
              <a:rPr lang="en-US" sz="4400" b="1" dirty="0">
                <a:solidFill>
                  <a:srgbClr val="0A032B"/>
                </a:solidFill>
                <a:latin typeface="Montserrat" pitchFamily="34" charset="0"/>
                <a:ea typeface="Montserrat" pitchFamily="34" charset="-122"/>
                <a:cs typeface="Montserrat" pitchFamily="34" charset="-120"/>
              </a:rPr>
              <a:t>Pause déjeuner</a:t>
            </a:r>
            <a:endParaRPr lang="en-US" sz="4400" dirty="0"/>
          </a:p>
        </p:txBody>
      </p:sp>
      <p:sp>
        <p:nvSpPr>
          <p:cNvPr id="5" name="Text 2"/>
          <p:cNvSpPr txBox="1"/>
          <p:nvPr/>
        </p:nvSpPr>
        <p:spPr>
          <a:xfrm>
            <a:off x="548640" y="4206240"/>
            <a:ext cx="11094415" cy="548640"/>
          </a:xfrm>
          <a:prstGeom prst="rect">
            <a:avLst/>
          </a:prstGeom>
          <a:noFill/>
          <a:ln/>
        </p:spPr>
        <p:txBody>
          <a:bodyPr wrap="square" lIns="0" tIns="0" rIns="0" bIns="0" rtlCol="0" anchor="ctr"/>
          <a:lstStyle/>
          <a:p>
            <a:pPr algn="ctr" indent="0" marL="0">
              <a:buNone/>
            </a:pPr>
            <a:r>
              <a:rPr lang="en-US" sz="2000" dirty="0">
                <a:solidFill>
                  <a:srgbClr val="35305C"/>
                </a:solidFill>
                <a:latin typeface="Arial" pitchFamily="34" charset="0"/>
                <a:ea typeface="Arial" pitchFamily="34" charset="-122"/>
                <a:cs typeface="Arial" pitchFamily="34" charset="-120"/>
              </a:rPr>
              <a:t>1 heure</a:t>
            </a:r>
            <a:endParaRPr lang="en-US" sz="2000" dirty="0"/>
          </a:p>
        </p:txBody>
      </p:sp>
      <p:pic>
        <p:nvPicPr>
          <p:cNvPr id="6" name="Image 1" descr="logo_light.png">    </p:cNvPr>
          <p:cNvPicPr>
            <a:picLocks noChangeAspect="1"/>
          </p:cNvPicPr>
          <p:nvPr/>
        </p:nvPicPr>
        <p:blipFill>
          <a:blip r:embed="rId2"/>
          <a:stretch>
            <a:fillRect/>
          </a:stretch>
        </p:blipFill>
        <p:spPr>
          <a:xfrm>
            <a:off x="10682935" y="6236208"/>
            <a:ext cx="960120" cy="39844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03</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SÉQUENCE 3</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Aides à la manutention et aménagement du poste de travail</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Préférer l'aide technique à l'effort et adapter son poste et ses déplacements aux lieux du mandat.</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85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ÉCHAUFFEMENT</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Réveil musculaire de début d'après-midi</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5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Grand groupe, debout</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Aucun</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Mobiliser la nuque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Oui / non lentement, 5 fois chacun.</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Rouler les épaules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10 fois vers l'arrière, 10 fois vers l'avant.</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Mobiliser le bassin</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Mains sur les hanches, cercles lents dans les deux sens.</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Activer les jambes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Montées sur la pointe des pieds, puis 5 flexions de jambes, dos droit.</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Mouvements lents, amples, sans douleur. S'arrêter en cas de gêne.</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3</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Préférer l'aide technique à l'effort</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La meilleure manutention est celle qu'on n'a pas à faire</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1371600" y="1645920"/>
            <a:ext cx="2926080" cy="914400"/>
          </a:xfrm>
          <a:prstGeom prst="roundRect">
            <a:avLst>
              <a:gd name="adj" fmla="val 8000"/>
            </a:avLst>
          </a:prstGeom>
          <a:solidFill>
            <a:srgbClr val="0A032B"/>
          </a:solidFill>
          <a:ln w="12700">
            <a:solidFill>
              <a:srgbClr val="0A032B"/>
            </a:solidFill>
            <a:prstDash val="solid"/>
          </a:ln>
        </p:spPr>
      </p:sp>
      <p:sp>
        <p:nvSpPr>
          <p:cNvPr id="9" name="Text 6"/>
          <p:cNvSpPr txBox="1"/>
          <p:nvPr/>
        </p:nvSpPr>
        <p:spPr>
          <a:xfrm>
            <a:off x="1508760" y="1645920"/>
            <a:ext cx="26517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Montserrat" pitchFamily="34" charset="0"/>
                <a:ea typeface="Montserrat" pitchFamily="34" charset="-122"/>
                <a:cs typeface="Montserrat" pitchFamily="34" charset="-120"/>
              </a:rPr>
              <a:t>1. Supprimer</a:t>
            </a:r>
            <a:endParaRPr lang="en-US" sz="1500" dirty="0"/>
          </a:p>
          <a:p>
            <a:pPr algn="ctr" indent="0" marL="0">
              <a:buNone/>
            </a:pPr>
            <a:r>
              <a:rPr lang="en-US" sz="1150" dirty="0">
                <a:solidFill>
                  <a:srgbClr val="FFFFFF"/>
                </a:solidFill>
                <a:latin typeface="Arial" pitchFamily="34" charset="0"/>
                <a:ea typeface="Arial" pitchFamily="34" charset="-122"/>
                <a:cs typeface="Arial" pitchFamily="34" charset="-120"/>
              </a:rPr>
              <a:t>la manutention (livraison directe, stockage sur place)</a:t>
            </a:r>
            <a:endParaRPr lang="en-US" sz="1500" dirty="0"/>
          </a:p>
        </p:txBody>
      </p:sp>
      <p:sp>
        <p:nvSpPr>
          <p:cNvPr id="10" name="Shape 7"/>
          <p:cNvSpPr/>
          <p:nvPr/>
        </p:nvSpPr>
        <p:spPr>
          <a:xfrm>
            <a:off x="1097280" y="2724912"/>
            <a:ext cx="3474720" cy="914400"/>
          </a:xfrm>
          <a:prstGeom prst="roundRect">
            <a:avLst>
              <a:gd name="adj" fmla="val 8000"/>
            </a:avLst>
          </a:prstGeom>
          <a:solidFill>
            <a:srgbClr val="35305C"/>
          </a:solidFill>
          <a:ln w="12700">
            <a:solidFill>
              <a:srgbClr val="35305C"/>
            </a:solidFill>
            <a:prstDash val="solid"/>
          </a:ln>
        </p:spPr>
      </p:sp>
      <p:sp>
        <p:nvSpPr>
          <p:cNvPr id="11" name="Text 8"/>
          <p:cNvSpPr txBox="1"/>
          <p:nvPr/>
        </p:nvSpPr>
        <p:spPr>
          <a:xfrm>
            <a:off x="1234440" y="2724912"/>
            <a:ext cx="320040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Montserrat" pitchFamily="34" charset="0"/>
                <a:ea typeface="Montserrat" pitchFamily="34" charset="-122"/>
                <a:cs typeface="Montserrat" pitchFamily="34" charset="-120"/>
              </a:rPr>
              <a:t>2. Mécaniser</a:t>
            </a:r>
            <a:endParaRPr lang="en-US" sz="1500" dirty="0"/>
          </a:p>
          <a:p>
            <a:pPr algn="ctr" indent="0" marL="0">
              <a:buNone/>
            </a:pPr>
            <a:r>
              <a:rPr lang="en-US" sz="1150" dirty="0">
                <a:solidFill>
                  <a:srgbClr val="FFFFFF"/>
                </a:solidFill>
                <a:latin typeface="Arial" pitchFamily="34" charset="0"/>
                <a:ea typeface="Arial" pitchFamily="34" charset="-122"/>
                <a:cs typeface="Arial" pitchFamily="34" charset="-120"/>
              </a:rPr>
              <a:t>avec une aide technique adaptée</a:t>
            </a:r>
            <a:endParaRPr lang="en-US" sz="1500" dirty="0"/>
          </a:p>
        </p:txBody>
      </p:sp>
      <p:sp>
        <p:nvSpPr>
          <p:cNvPr id="12" name="Shape 9"/>
          <p:cNvSpPr/>
          <p:nvPr/>
        </p:nvSpPr>
        <p:spPr>
          <a:xfrm>
            <a:off x="822960" y="3803904"/>
            <a:ext cx="4023360" cy="914400"/>
          </a:xfrm>
          <a:prstGeom prst="roundRect">
            <a:avLst>
              <a:gd name="adj" fmla="val 8000"/>
            </a:avLst>
          </a:prstGeom>
          <a:solidFill>
            <a:srgbClr val="DCDAEA"/>
          </a:solidFill>
          <a:ln w="12700">
            <a:solidFill>
              <a:srgbClr val="DCDAEA"/>
            </a:solidFill>
            <a:prstDash val="solid"/>
          </a:ln>
        </p:spPr>
      </p:sp>
      <p:sp>
        <p:nvSpPr>
          <p:cNvPr id="13" name="Text 10"/>
          <p:cNvSpPr txBox="1"/>
          <p:nvPr/>
        </p:nvSpPr>
        <p:spPr>
          <a:xfrm>
            <a:off x="960120" y="3803904"/>
            <a:ext cx="3749040" cy="914400"/>
          </a:xfrm>
          <a:prstGeom prst="rect">
            <a:avLst/>
          </a:prstGeom>
          <a:noFill/>
          <a:ln/>
        </p:spPr>
        <p:txBody>
          <a:bodyPr wrap="square" lIns="0" tIns="0" rIns="0" bIns="0" rtlCol="0" anchor="ctr"/>
          <a:lstStyle/>
          <a:p>
            <a:pPr algn="ctr" indent="0" marL="0">
              <a:buNone/>
            </a:pPr>
            <a:r>
              <a:rPr lang="en-US" sz="1500" b="1" dirty="0">
                <a:solidFill>
                  <a:srgbClr val="0A032B"/>
                </a:solidFill>
                <a:latin typeface="Montserrat" pitchFamily="34" charset="0"/>
                <a:ea typeface="Montserrat" pitchFamily="34" charset="-122"/>
                <a:cs typeface="Montserrat" pitchFamily="34" charset="-120"/>
              </a:rPr>
              <a:t>3. Réduire</a:t>
            </a:r>
            <a:endParaRPr lang="en-US" sz="1500" dirty="0"/>
          </a:p>
          <a:p>
            <a:pPr algn="ctr" indent="0" marL="0">
              <a:buNone/>
            </a:pPr>
            <a:r>
              <a:rPr lang="en-US" sz="1150" dirty="0">
                <a:solidFill>
                  <a:srgbClr val="0A032B"/>
                </a:solidFill>
                <a:latin typeface="Arial" pitchFamily="34" charset="0"/>
                <a:ea typeface="Arial" pitchFamily="34" charset="-122"/>
                <a:cs typeface="Arial" pitchFamily="34" charset="-120"/>
              </a:rPr>
              <a:t>le poids, la fréquence, la distance</a:t>
            </a:r>
            <a:endParaRPr lang="en-US" sz="1500" dirty="0"/>
          </a:p>
        </p:txBody>
      </p:sp>
      <p:sp>
        <p:nvSpPr>
          <p:cNvPr id="14" name="Shape 11"/>
          <p:cNvSpPr/>
          <p:nvPr/>
        </p:nvSpPr>
        <p:spPr>
          <a:xfrm>
            <a:off x="548640" y="4882896"/>
            <a:ext cx="4572000" cy="914400"/>
          </a:xfrm>
          <a:prstGeom prst="roundRect">
            <a:avLst>
              <a:gd name="adj" fmla="val 8000"/>
            </a:avLst>
          </a:prstGeom>
          <a:solidFill>
            <a:srgbClr val="F0EF96"/>
          </a:solidFill>
          <a:ln w="12700">
            <a:solidFill>
              <a:srgbClr val="F0EF96"/>
            </a:solidFill>
            <a:prstDash val="solid"/>
          </a:ln>
        </p:spPr>
      </p:sp>
      <p:sp>
        <p:nvSpPr>
          <p:cNvPr id="15" name="Text 12"/>
          <p:cNvSpPr txBox="1"/>
          <p:nvPr/>
        </p:nvSpPr>
        <p:spPr>
          <a:xfrm>
            <a:off x="685800" y="4882896"/>
            <a:ext cx="4297680" cy="914400"/>
          </a:xfrm>
          <a:prstGeom prst="rect">
            <a:avLst/>
          </a:prstGeom>
          <a:noFill/>
          <a:ln/>
        </p:spPr>
        <p:txBody>
          <a:bodyPr wrap="square" lIns="0" tIns="0" rIns="0" bIns="0" rtlCol="0" anchor="ctr"/>
          <a:lstStyle/>
          <a:p>
            <a:pPr algn="ctr" indent="0" marL="0">
              <a:buNone/>
            </a:pPr>
            <a:r>
              <a:rPr lang="en-US" sz="1500" b="1" dirty="0">
                <a:solidFill>
                  <a:srgbClr val="0A032B"/>
                </a:solidFill>
                <a:latin typeface="Montserrat" pitchFamily="34" charset="0"/>
                <a:ea typeface="Montserrat" pitchFamily="34" charset="-122"/>
                <a:cs typeface="Montserrat" pitchFamily="34" charset="-120"/>
              </a:rPr>
              <a:t>4. Former</a:t>
            </a:r>
            <a:endParaRPr lang="en-US" sz="1500" dirty="0"/>
          </a:p>
          <a:p>
            <a:pPr algn="ctr" indent="0" marL="0">
              <a:buNone/>
            </a:pPr>
            <a:r>
              <a:rPr lang="en-US" sz="1150" dirty="0">
                <a:solidFill>
                  <a:srgbClr val="0A032B"/>
                </a:solidFill>
                <a:latin typeface="Arial" pitchFamily="34" charset="0"/>
                <a:ea typeface="Arial" pitchFamily="34" charset="-122"/>
                <a:cs typeface="Arial" pitchFamily="34" charset="-120"/>
              </a:rPr>
              <a:t>aux gestes et postures</a:t>
            </a:r>
            <a:endParaRPr lang="en-US" sz="1500" dirty="0"/>
          </a:p>
        </p:txBody>
      </p:sp>
      <p:sp>
        <p:nvSpPr>
          <p:cNvPr id="16" name="Shape 13"/>
          <p:cNvSpPr/>
          <p:nvPr/>
        </p:nvSpPr>
        <p:spPr>
          <a:xfrm>
            <a:off x="5486400" y="1645920"/>
            <a:ext cx="2941168" cy="2057400"/>
          </a:xfrm>
          <a:prstGeom prst="roundRect">
            <a:avLst>
              <a:gd name="adj" fmla="val 3556"/>
            </a:avLst>
          </a:prstGeom>
          <a:solidFill>
            <a:srgbClr val="EEEDF5"/>
          </a:solidFill>
          <a:ln w="12700">
            <a:solidFill>
              <a:srgbClr val="EEEDF5"/>
            </a:solidFill>
            <a:prstDash val="solid"/>
          </a:ln>
        </p:spPr>
      </p:sp>
      <p:sp>
        <p:nvSpPr>
          <p:cNvPr id="17" name="Shape 14"/>
          <p:cNvSpPr/>
          <p:nvPr/>
        </p:nvSpPr>
        <p:spPr>
          <a:xfrm>
            <a:off x="5715000" y="1874520"/>
            <a:ext cx="548640" cy="548640"/>
          </a:xfrm>
          <a:prstGeom prst="ellipse">
            <a:avLst/>
          </a:prstGeom>
          <a:solidFill>
            <a:srgbClr val="0A032B"/>
          </a:solidFill>
          <a:ln w="12700">
            <a:solidFill>
              <a:srgbClr val="0A032B"/>
            </a:solidFill>
            <a:prstDash val="solid"/>
          </a:ln>
        </p:spPr>
      </p:sp>
      <p:pic>
        <p:nvPicPr>
          <p:cNvPr id="18" name="Image 1" descr="preencoded.png">    </p:cNvPr>
          <p:cNvPicPr>
            <a:picLocks noChangeAspect="1"/>
          </p:cNvPicPr>
          <p:nvPr/>
        </p:nvPicPr>
        <p:blipFill>
          <a:blip r:embed="rId2"/>
          <a:stretch>
            <a:fillRect/>
          </a:stretch>
        </p:blipFill>
        <p:spPr>
          <a:xfrm>
            <a:off x="5852160" y="2011680"/>
            <a:ext cx="274320" cy="274320"/>
          </a:xfrm>
          <a:prstGeom prst="rect">
            <a:avLst/>
          </a:prstGeom>
        </p:spPr>
      </p:pic>
      <p:sp>
        <p:nvSpPr>
          <p:cNvPr id="19" name="Text 15"/>
          <p:cNvSpPr txBox="1"/>
          <p:nvPr/>
        </p:nvSpPr>
        <p:spPr>
          <a:xfrm>
            <a:off x="6446520" y="1874520"/>
            <a:ext cx="17524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Diable</a:t>
            </a:r>
            <a:endParaRPr lang="en-US" sz="1400" dirty="0"/>
          </a:p>
        </p:txBody>
      </p:sp>
      <p:sp>
        <p:nvSpPr>
          <p:cNvPr id="20" name="Text 16"/>
          <p:cNvSpPr txBox="1"/>
          <p:nvPr/>
        </p:nvSpPr>
        <p:spPr>
          <a:xfrm>
            <a:off x="5715000" y="2560320"/>
            <a:ext cx="2483968" cy="100584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Cartons, caisses, bonbonnes. Trouver le point d'équilibre, basculer avec le pied.</a:t>
            </a:r>
            <a:endParaRPr lang="en-US" sz="1250" dirty="0"/>
          </a:p>
        </p:txBody>
      </p:sp>
      <p:sp>
        <p:nvSpPr>
          <p:cNvPr id="21" name="Shape 17"/>
          <p:cNvSpPr/>
          <p:nvPr/>
        </p:nvSpPr>
        <p:spPr>
          <a:xfrm>
            <a:off x="8701888" y="1645920"/>
            <a:ext cx="2941168" cy="2057400"/>
          </a:xfrm>
          <a:prstGeom prst="roundRect">
            <a:avLst>
              <a:gd name="adj" fmla="val 3556"/>
            </a:avLst>
          </a:prstGeom>
          <a:solidFill>
            <a:srgbClr val="EEEDF5"/>
          </a:solidFill>
          <a:ln w="12700">
            <a:solidFill>
              <a:srgbClr val="EEEDF5"/>
            </a:solidFill>
            <a:prstDash val="solid"/>
          </a:ln>
        </p:spPr>
      </p:sp>
      <p:sp>
        <p:nvSpPr>
          <p:cNvPr id="22" name="Shape 18"/>
          <p:cNvSpPr/>
          <p:nvPr/>
        </p:nvSpPr>
        <p:spPr>
          <a:xfrm>
            <a:off x="8930488" y="1874520"/>
            <a:ext cx="548640" cy="548640"/>
          </a:xfrm>
          <a:prstGeom prst="ellipse">
            <a:avLst/>
          </a:prstGeom>
          <a:solidFill>
            <a:srgbClr val="0A032B"/>
          </a:solidFill>
          <a:ln w="12700">
            <a:solidFill>
              <a:srgbClr val="0A032B"/>
            </a:solidFill>
            <a:prstDash val="solid"/>
          </a:ln>
        </p:spPr>
      </p:sp>
      <p:pic>
        <p:nvPicPr>
          <p:cNvPr id="23" name="Image 2" descr="preencoded.png">    </p:cNvPr>
          <p:cNvPicPr>
            <a:picLocks noChangeAspect="1"/>
          </p:cNvPicPr>
          <p:nvPr/>
        </p:nvPicPr>
        <p:blipFill>
          <a:blip r:embed="rId3"/>
          <a:stretch>
            <a:fillRect/>
          </a:stretch>
        </p:blipFill>
        <p:spPr>
          <a:xfrm>
            <a:off x="9067648" y="2011680"/>
            <a:ext cx="274320" cy="274320"/>
          </a:xfrm>
          <a:prstGeom prst="rect">
            <a:avLst/>
          </a:prstGeom>
        </p:spPr>
      </p:pic>
      <p:sp>
        <p:nvSpPr>
          <p:cNvPr id="24" name="Text 19"/>
          <p:cNvSpPr txBox="1"/>
          <p:nvPr/>
        </p:nvSpPr>
        <p:spPr>
          <a:xfrm>
            <a:off x="9662008" y="1874520"/>
            <a:ext cx="17524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Chariot</a:t>
            </a:r>
            <a:endParaRPr lang="en-US" sz="1400" dirty="0"/>
          </a:p>
        </p:txBody>
      </p:sp>
      <p:sp>
        <p:nvSpPr>
          <p:cNvPr id="25" name="Text 20"/>
          <p:cNvSpPr txBox="1"/>
          <p:nvPr/>
        </p:nvSpPr>
        <p:spPr>
          <a:xfrm>
            <a:off x="8930488" y="2560320"/>
            <a:ext cx="2483968" cy="100584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Matériel de réunion, vaisselle, documents. Pousser plutôt que tirer.</a:t>
            </a:r>
            <a:endParaRPr lang="en-US" sz="1250" dirty="0"/>
          </a:p>
        </p:txBody>
      </p:sp>
      <p:sp>
        <p:nvSpPr>
          <p:cNvPr id="26" name="Shape 21"/>
          <p:cNvSpPr/>
          <p:nvPr/>
        </p:nvSpPr>
        <p:spPr>
          <a:xfrm>
            <a:off x="5486400" y="3977640"/>
            <a:ext cx="2941168" cy="2057400"/>
          </a:xfrm>
          <a:prstGeom prst="roundRect">
            <a:avLst>
              <a:gd name="adj" fmla="val 3556"/>
            </a:avLst>
          </a:prstGeom>
          <a:solidFill>
            <a:srgbClr val="EEEDF5"/>
          </a:solidFill>
          <a:ln w="12700">
            <a:solidFill>
              <a:srgbClr val="EEEDF5"/>
            </a:solidFill>
            <a:prstDash val="solid"/>
          </a:ln>
        </p:spPr>
      </p:sp>
      <p:sp>
        <p:nvSpPr>
          <p:cNvPr id="27" name="Shape 22"/>
          <p:cNvSpPr/>
          <p:nvPr/>
        </p:nvSpPr>
        <p:spPr>
          <a:xfrm>
            <a:off x="5715000" y="4206240"/>
            <a:ext cx="548640" cy="548640"/>
          </a:xfrm>
          <a:prstGeom prst="ellipse">
            <a:avLst/>
          </a:prstGeom>
          <a:solidFill>
            <a:srgbClr val="0A032B"/>
          </a:solidFill>
          <a:ln w="12700">
            <a:solidFill>
              <a:srgbClr val="0A032B"/>
            </a:solidFill>
            <a:prstDash val="solid"/>
          </a:ln>
        </p:spPr>
      </p:sp>
      <p:pic>
        <p:nvPicPr>
          <p:cNvPr id="28" name="Image 3" descr="preencoded.png">    </p:cNvPr>
          <p:cNvPicPr>
            <a:picLocks noChangeAspect="1"/>
          </p:cNvPicPr>
          <p:nvPr/>
        </p:nvPicPr>
        <p:blipFill>
          <a:blip r:embed="rId4"/>
          <a:stretch>
            <a:fillRect/>
          </a:stretch>
        </p:blipFill>
        <p:spPr>
          <a:xfrm>
            <a:off x="5852160" y="4343400"/>
            <a:ext cx="274320" cy="274320"/>
          </a:xfrm>
          <a:prstGeom prst="rect">
            <a:avLst/>
          </a:prstGeom>
        </p:spPr>
      </p:pic>
      <p:sp>
        <p:nvSpPr>
          <p:cNvPr id="29" name="Text 23"/>
          <p:cNvSpPr txBox="1"/>
          <p:nvPr/>
        </p:nvSpPr>
        <p:spPr>
          <a:xfrm>
            <a:off x="6446520" y="4206240"/>
            <a:ext cx="17524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Sangles de portage</a:t>
            </a:r>
            <a:endParaRPr lang="en-US" sz="1400" dirty="0"/>
          </a:p>
        </p:txBody>
      </p:sp>
      <p:sp>
        <p:nvSpPr>
          <p:cNvPr id="30" name="Text 24"/>
          <p:cNvSpPr txBox="1"/>
          <p:nvPr/>
        </p:nvSpPr>
        <p:spPr>
          <a:xfrm>
            <a:off x="5715000" y="4892040"/>
            <a:ext cx="2483968" cy="100584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Charges encombrantes à deux : les jambes travaillent, le dos reste droit.</a:t>
            </a:r>
            <a:endParaRPr lang="en-US" sz="1250" dirty="0"/>
          </a:p>
        </p:txBody>
      </p:sp>
      <p:sp>
        <p:nvSpPr>
          <p:cNvPr id="31" name="Shape 25"/>
          <p:cNvSpPr/>
          <p:nvPr/>
        </p:nvSpPr>
        <p:spPr>
          <a:xfrm>
            <a:off x="8701888" y="3977640"/>
            <a:ext cx="2941168" cy="2057400"/>
          </a:xfrm>
          <a:prstGeom prst="roundRect">
            <a:avLst>
              <a:gd name="adj" fmla="val 3556"/>
            </a:avLst>
          </a:prstGeom>
          <a:solidFill>
            <a:srgbClr val="EEEDF5"/>
          </a:solidFill>
          <a:ln w="12700">
            <a:solidFill>
              <a:srgbClr val="EEEDF5"/>
            </a:solidFill>
            <a:prstDash val="solid"/>
          </a:ln>
        </p:spPr>
      </p:sp>
      <p:sp>
        <p:nvSpPr>
          <p:cNvPr id="32" name="Shape 26"/>
          <p:cNvSpPr/>
          <p:nvPr/>
        </p:nvSpPr>
        <p:spPr>
          <a:xfrm>
            <a:off x="8930488" y="4206240"/>
            <a:ext cx="548640" cy="548640"/>
          </a:xfrm>
          <a:prstGeom prst="ellipse">
            <a:avLst/>
          </a:prstGeom>
          <a:solidFill>
            <a:srgbClr val="0A032B"/>
          </a:solidFill>
          <a:ln w="12700">
            <a:solidFill>
              <a:srgbClr val="0A032B"/>
            </a:solidFill>
            <a:prstDash val="solid"/>
          </a:ln>
        </p:spPr>
      </p:sp>
      <p:pic>
        <p:nvPicPr>
          <p:cNvPr id="33" name="Image 4" descr="preencoded.png">    </p:cNvPr>
          <p:cNvPicPr>
            <a:picLocks noChangeAspect="1"/>
          </p:cNvPicPr>
          <p:nvPr/>
        </p:nvPicPr>
        <p:blipFill>
          <a:blip r:embed="rId5"/>
          <a:stretch>
            <a:fillRect/>
          </a:stretch>
        </p:blipFill>
        <p:spPr>
          <a:xfrm>
            <a:off x="9067648" y="4343400"/>
            <a:ext cx="274320" cy="274320"/>
          </a:xfrm>
          <a:prstGeom prst="rect">
            <a:avLst/>
          </a:prstGeom>
        </p:spPr>
      </p:pic>
      <p:sp>
        <p:nvSpPr>
          <p:cNvPr id="34" name="Text 27"/>
          <p:cNvSpPr txBox="1"/>
          <p:nvPr/>
        </p:nvSpPr>
        <p:spPr>
          <a:xfrm>
            <a:off x="9662008" y="4206240"/>
            <a:ext cx="175244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Plan incliné / rampe</a:t>
            </a:r>
            <a:endParaRPr lang="en-US" sz="1400" dirty="0"/>
          </a:p>
        </p:txBody>
      </p:sp>
      <p:sp>
        <p:nvSpPr>
          <p:cNvPr id="35" name="Text 28"/>
          <p:cNvSpPr txBox="1"/>
          <p:nvPr/>
        </p:nvSpPr>
        <p:spPr>
          <a:xfrm>
            <a:off x="8930488" y="4892040"/>
            <a:ext cx="2483968" cy="100584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Franchir marches et quais sans soulever la charge.</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ATELIER EN ROTATION</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Atelier 3 : prise en main des aides à la manutention</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25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3 postes de 7 min, groupes de 3 à 4</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Diable, chariot, sangles, plan incliné, cartons</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Poste diable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Charger une pile de cartons, basculer au point d'équilibre, franchir une marche en marche arrière.</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Poste chariot</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Charger du matériel de réunion, pousser sur un parcours avec virages et passage de porte.</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Poste sangles / plan incliné</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Déplacer à deux une charge encombrante avec sangles, puis la monter sur un plan incliné.</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Retour rapide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Après chaque poste : quelle aide pour quelle situation du mandat ?</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Charger lourd en bas, léger en haut. La charge ne doit jamais masquer la vue.</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3</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Aménager son poste de travail sur écran</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Mairie, bureau, permanence : 8 réglages à vérifier</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5410048" cy="1024128"/>
          </a:xfrm>
          <a:prstGeom prst="roundRect">
            <a:avLst>
              <a:gd name="adj" fmla="val 7143"/>
            </a:avLst>
          </a:prstGeom>
          <a:solidFill>
            <a:srgbClr val="EEEDF5"/>
          </a:solidFill>
          <a:ln w="12700">
            <a:solidFill>
              <a:srgbClr val="EEEDF5"/>
            </a:solidFill>
            <a:prstDash val="solid"/>
          </a:ln>
        </p:spPr>
      </p:sp>
      <p:sp>
        <p:nvSpPr>
          <p:cNvPr id="9" name="Shape 6"/>
          <p:cNvSpPr/>
          <p:nvPr/>
        </p:nvSpPr>
        <p:spPr>
          <a:xfrm>
            <a:off x="731520" y="1815084"/>
            <a:ext cx="594360" cy="59436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880110" y="1963674"/>
            <a:ext cx="297180" cy="297180"/>
          </a:xfrm>
          <a:prstGeom prst="rect">
            <a:avLst/>
          </a:prstGeom>
        </p:spPr>
      </p:pic>
      <p:sp>
        <p:nvSpPr>
          <p:cNvPr id="11" name="Text 7"/>
          <p:cNvSpPr txBox="1"/>
          <p:nvPr/>
        </p:nvSpPr>
        <p:spPr>
          <a:xfrm>
            <a:off x="1508760" y="1645920"/>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Écran</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Haut de l'écran à hauteur des yeux, à une longueur de bras (50 à 70 cm).</a:t>
            </a:r>
            <a:endParaRPr lang="en-US" sz="1400" dirty="0"/>
          </a:p>
        </p:txBody>
      </p:sp>
      <p:sp>
        <p:nvSpPr>
          <p:cNvPr id="12" name="Shape 8"/>
          <p:cNvSpPr/>
          <p:nvPr/>
        </p:nvSpPr>
        <p:spPr>
          <a:xfrm>
            <a:off x="6233008" y="1600200"/>
            <a:ext cx="5410048" cy="1024128"/>
          </a:xfrm>
          <a:prstGeom prst="roundRect">
            <a:avLst>
              <a:gd name="adj" fmla="val 7143"/>
            </a:avLst>
          </a:prstGeom>
          <a:solidFill>
            <a:srgbClr val="EEEDF5"/>
          </a:solidFill>
          <a:ln w="12700">
            <a:solidFill>
              <a:srgbClr val="EEEDF5"/>
            </a:solidFill>
            <a:prstDash val="solid"/>
          </a:ln>
        </p:spPr>
      </p:sp>
      <p:sp>
        <p:nvSpPr>
          <p:cNvPr id="13" name="Shape 9"/>
          <p:cNvSpPr/>
          <p:nvPr/>
        </p:nvSpPr>
        <p:spPr>
          <a:xfrm>
            <a:off x="6415888" y="1815084"/>
            <a:ext cx="594360" cy="59436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564478" y="1963674"/>
            <a:ext cx="297180" cy="297180"/>
          </a:xfrm>
          <a:prstGeom prst="rect">
            <a:avLst/>
          </a:prstGeom>
        </p:spPr>
      </p:pic>
      <p:sp>
        <p:nvSpPr>
          <p:cNvPr id="15" name="Text 10"/>
          <p:cNvSpPr txBox="1"/>
          <p:nvPr/>
        </p:nvSpPr>
        <p:spPr>
          <a:xfrm>
            <a:off x="7193128" y="1645920"/>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Lumière</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Écran perpendiculaire aux fenêtres, sans reflet ni contre-jour.</a:t>
            </a:r>
            <a:endParaRPr lang="en-US" sz="1400" dirty="0"/>
          </a:p>
        </p:txBody>
      </p:sp>
      <p:sp>
        <p:nvSpPr>
          <p:cNvPr id="16" name="Shape 11"/>
          <p:cNvSpPr/>
          <p:nvPr/>
        </p:nvSpPr>
        <p:spPr>
          <a:xfrm>
            <a:off x="548640" y="2734056"/>
            <a:ext cx="5410048" cy="1024128"/>
          </a:xfrm>
          <a:prstGeom prst="roundRect">
            <a:avLst>
              <a:gd name="adj" fmla="val 7143"/>
            </a:avLst>
          </a:prstGeom>
          <a:solidFill>
            <a:srgbClr val="EEEDF5"/>
          </a:solidFill>
          <a:ln w="12700">
            <a:solidFill>
              <a:srgbClr val="EEEDF5"/>
            </a:solidFill>
            <a:prstDash val="solid"/>
          </a:ln>
        </p:spPr>
      </p:sp>
      <p:sp>
        <p:nvSpPr>
          <p:cNvPr id="17" name="Shape 12"/>
          <p:cNvSpPr/>
          <p:nvPr/>
        </p:nvSpPr>
        <p:spPr>
          <a:xfrm>
            <a:off x="731520" y="2948940"/>
            <a:ext cx="594360" cy="594360"/>
          </a:xfrm>
          <a:prstGeom prst="ellipse">
            <a:avLst/>
          </a:prstGeom>
          <a:solidFill>
            <a:srgbClr val="0A032B"/>
          </a:solidFill>
          <a:ln w="12700">
            <a:solidFill>
              <a:srgbClr val="0A032B"/>
            </a:solidFill>
            <a:prstDash val="solid"/>
          </a:ln>
        </p:spPr>
      </p:sp>
      <p:pic>
        <p:nvPicPr>
          <p:cNvPr id="18" name="Image 3" descr="preencoded.png">    </p:cNvPr>
          <p:cNvPicPr>
            <a:picLocks noChangeAspect="1"/>
          </p:cNvPicPr>
          <p:nvPr/>
        </p:nvPicPr>
        <p:blipFill>
          <a:blip r:embed="rId4"/>
          <a:stretch>
            <a:fillRect/>
          </a:stretch>
        </p:blipFill>
        <p:spPr>
          <a:xfrm>
            <a:off x="880110" y="3097530"/>
            <a:ext cx="297180" cy="297180"/>
          </a:xfrm>
          <a:prstGeom prst="rect">
            <a:avLst/>
          </a:prstGeom>
        </p:spPr>
      </p:pic>
      <p:sp>
        <p:nvSpPr>
          <p:cNvPr id="19" name="Text 13"/>
          <p:cNvSpPr txBox="1"/>
          <p:nvPr/>
        </p:nvSpPr>
        <p:spPr>
          <a:xfrm>
            <a:off x="1508760" y="2779776"/>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Clavier</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Face à soi, à 10-15 cm du bord de la table, poignets dans l'alignement.</a:t>
            </a:r>
            <a:endParaRPr lang="en-US" sz="1400" dirty="0"/>
          </a:p>
        </p:txBody>
      </p:sp>
      <p:sp>
        <p:nvSpPr>
          <p:cNvPr id="20" name="Shape 14"/>
          <p:cNvSpPr/>
          <p:nvPr/>
        </p:nvSpPr>
        <p:spPr>
          <a:xfrm>
            <a:off x="6233008" y="2734056"/>
            <a:ext cx="5410048" cy="1024128"/>
          </a:xfrm>
          <a:prstGeom prst="roundRect">
            <a:avLst>
              <a:gd name="adj" fmla="val 7143"/>
            </a:avLst>
          </a:prstGeom>
          <a:solidFill>
            <a:srgbClr val="EEEDF5"/>
          </a:solidFill>
          <a:ln w="12700">
            <a:solidFill>
              <a:srgbClr val="EEEDF5"/>
            </a:solidFill>
            <a:prstDash val="solid"/>
          </a:ln>
        </p:spPr>
      </p:sp>
      <p:sp>
        <p:nvSpPr>
          <p:cNvPr id="21" name="Shape 15"/>
          <p:cNvSpPr/>
          <p:nvPr/>
        </p:nvSpPr>
        <p:spPr>
          <a:xfrm>
            <a:off x="6415888" y="2948940"/>
            <a:ext cx="594360" cy="594360"/>
          </a:xfrm>
          <a:prstGeom prst="ellipse">
            <a:avLst/>
          </a:prstGeom>
          <a:solidFill>
            <a:srgbClr val="0A032B"/>
          </a:solidFill>
          <a:ln w="12700">
            <a:solidFill>
              <a:srgbClr val="0A032B"/>
            </a:solidFill>
            <a:prstDash val="solid"/>
          </a:ln>
        </p:spPr>
      </p:sp>
      <p:pic>
        <p:nvPicPr>
          <p:cNvPr id="22" name="Image 4" descr="preencoded.png">    </p:cNvPr>
          <p:cNvPicPr>
            <a:picLocks noChangeAspect="1"/>
          </p:cNvPicPr>
          <p:nvPr/>
        </p:nvPicPr>
        <p:blipFill>
          <a:blip r:embed="rId5"/>
          <a:stretch>
            <a:fillRect/>
          </a:stretch>
        </p:blipFill>
        <p:spPr>
          <a:xfrm>
            <a:off x="6564478" y="3097530"/>
            <a:ext cx="297180" cy="297180"/>
          </a:xfrm>
          <a:prstGeom prst="rect">
            <a:avLst/>
          </a:prstGeom>
        </p:spPr>
      </p:pic>
      <p:sp>
        <p:nvSpPr>
          <p:cNvPr id="23" name="Text 16"/>
          <p:cNvSpPr txBox="1"/>
          <p:nvPr/>
        </p:nvSpPr>
        <p:spPr>
          <a:xfrm>
            <a:off x="7193128" y="2779776"/>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Souris</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Proche du clavier, avant-bras posé sur la table.</a:t>
            </a:r>
            <a:endParaRPr lang="en-US" sz="1400" dirty="0"/>
          </a:p>
        </p:txBody>
      </p:sp>
      <p:sp>
        <p:nvSpPr>
          <p:cNvPr id="24" name="Shape 17"/>
          <p:cNvSpPr/>
          <p:nvPr/>
        </p:nvSpPr>
        <p:spPr>
          <a:xfrm>
            <a:off x="548640" y="3867912"/>
            <a:ext cx="5410048" cy="1024128"/>
          </a:xfrm>
          <a:prstGeom prst="roundRect">
            <a:avLst>
              <a:gd name="adj" fmla="val 7143"/>
            </a:avLst>
          </a:prstGeom>
          <a:solidFill>
            <a:srgbClr val="EEEDF5"/>
          </a:solidFill>
          <a:ln w="12700">
            <a:solidFill>
              <a:srgbClr val="EEEDF5"/>
            </a:solidFill>
            <a:prstDash val="solid"/>
          </a:ln>
        </p:spPr>
      </p:sp>
      <p:sp>
        <p:nvSpPr>
          <p:cNvPr id="25" name="Shape 18"/>
          <p:cNvSpPr/>
          <p:nvPr/>
        </p:nvSpPr>
        <p:spPr>
          <a:xfrm>
            <a:off x="731520" y="4082796"/>
            <a:ext cx="594360" cy="594360"/>
          </a:xfrm>
          <a:prstGeom prst="ellipse">
            <a:avLst/>
          </a:prstGeom>
          <a:solidFill>
            <a:srgbClr val="0A032B"/>
          </a:solidFill>
          <a:ln w="12700">
            <a:solidFill>
              <a:srgbClr val="0A032B"/>
            </a:solidFill>
            <a:prstDash val="solid"/>
          </a:ln>
        </p:spPr>
      </p:sp>
      <p:pic>
        <p:nvPicPr>
          <p:cNvPr id="26" name="Image 5" descr="preencoded.png">    </p:cNvPr>
          <p:cNvPicPr>
            <a:picLocks noChangeAspect="1"/>
          </p:cNvPicPr>
          <p:nvPr/>
        </p:nvPicPr>
        <p:blipFill>
          <a:blip r:embed="rId6"/>
          <a:stretch>
            <a:fillRect/>
          </a:stretch>
        </p:blipFill>
        <p:spPr>
          <a:xfrm>
            <a:off x="880110" y="4231386"/>
            <a:ext cx="297180" cy="297180"/>
          </a:xfrm>
          <a:prstGeom prst="rect">
            <a:avLst/>
          </a:prstGeom>
        </p:spPr>
      </p:pic>
      <p:sp>
        <p:nvSpPr>
          <p:cNvPr id="27" name="Text 19"/>
          <p:cNvSpPr txBox="1"/>
          <p:nvPr/>
        </p:nvSpPr>
        <p:spPr>
          <a:xfrm>
            <a:off x="1508760" y="3913632"/>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Siège</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Hauteur réglée : coudes à 90°, avant-bras à hauteur du plan de travail.</a:t>
            </a:r>
            <a:endParaRPr lang="en-US" sz="1400" dirty="0"/>
          </a:p>
        </p:txBody>
      </p:sp>
      <p:sp>
        <p:nvSpPr>
          <p:cNvPr id="28" name="Shape 20"/>
          <p:cNvSpPr/>
          <p:nvPr/>
        </p:nvSpPr>
        <p:spPr>
          <a:xfrm>
            <a:off x="6233008" y="3867912"/>
            <a:ext cx="5410048" cy="1024128"/>
          </a:xfrm>
          <a:prstGeom prst="roundRect">
            <a:avLst>
              <a:gd name="adj" fmla="val 7143"/>
            </a:avLst>
          </a:prstGeom>
          <a:solidFill>
            <a:srgbClr val="EEEDF5"/>
          </a:solidFill>
          <a:ln w="12700">
            <a:solidFill>
              <a:srgbClr val="EEEDF5"/>
            </a:solidFill>
            <a:prstDash val="solid"/>
          </a:ln>
        </p:spPr>
      </p:sp>
      <p:sp>
        <p:nvSpPr>
          <p:cNvPr id="29" name="Shape 21"/>
          <p:cNvSpPr/>
          <p:nvPr/>
        </p:nvSpPr>
        <p:spPr>
          <a:xfrm>
            <a:off x="6415888" y="4082796"/>
            <a:ext cx="594360" cy="594360"/>
          </a:xfrm>
          <a:prstGeom prst="ellipse">
            <a:avLst/>
          </a:prstGeom>
          <a:solidFill>
            <a:srgbClr val="0A032B"/>
          </a:solidFill>
          <a:ln w="12700">
            <a:solidFill>
              <a:srgbClr val="0A032B"/>
            </a:solidFill>
            <a:prstDash val="solid"/>
          </a:ln>
        </p:spPr>
      </p:sp>
      <p:pic>
        <p:nvPicPr>
          <p:cNvPr id="30" name="Image 6" descr="preencoded.png">    </p:cNvPr>
          <p:cNvPicPr>
            <a:picLocks noChangeAspect="1"/>
          </p:cNvPicPr>
          <p:nvPr/>
        </p:nvPicPr>
        <p:blipFill>
          <a:blip r:embed="rId7"/>
          <a:stretch>
            <a:fillRect/>
          </a:stretch>
        </p:blipFill>
        <p:spPr>
          <a:xfrm>
            <a:off x="6564478" y="4231386"/>
            <a:ext cx="297180" cy="297180"/>
          </a:xfrm>
          <a:prstGeom prst="rect">
            <a:avLst/>
          </a:prstGeom>
        </p:spPr>
      </p:pic>
      <p:sp>
        <p:nvSpPr>
          <p:cNvPr id="31" name="Text 22"/>
          <p:cNvSpPr txBox="1"/>
          <p:nvPr/>
        </p:nvSpPr>
        <p:spPr>
          <a:xfrm>
            <a:off x="7193128" y="3913632"/>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Dossier</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Le bas du dos est soutenu, la courbure lombaire respectée.</a:t>
            </a:r>
            <a:endParaRPr lang="en-US" sz="1400" dirty="0"/>
          </a:p>
        </p:txBody>
      </p:sp>
      <p:sp>
        <p:nvSpPr>
          <p:cNvPr id="32" name="Shape 23"/>
          <p:cNvSpPr/>
          <p:nvPr/>
        </p:nvSpPr>
        <p:spPr>
          <a:xfrm>
            <a:off x="548640" y="5001768"/>
            <a:ext cx="5410048" cy="1024128"/>
          </a:xfrm>
          <a:prstGeom prst="roundRect">
            <a:avLst>
              <a:gd name="adj" fmla="val 7143"/>
            </a:avLst>
          </a:prstGeom>
          <a:solidFill>
            <a:srgbClr val="EEEDF5"/>
          </a:solidFill>
          <a:ln w="12700">
            <a:solidFill>
              <a:srgbClr val="EEEDF5"/>
            </a:solidFill>
            <a:prstDash val="solid"/>
          </a:ln>
        </p:spPr>
      </p:sp>
      <p:sp>
        <p:nvSpPr>
          <p:cNvPr id="33" name="Shape 24"/>
          <p:cNvSpPr/>
          <p:nvPr/>
        </p:nvSpPr>
        <p:spPr>
          <a:xfrm>
            <a:off x="731520" y="5216652"/>
            <a:ext cx="594360" cy="594360"/>
          </a:xfrm>
          <a:prstGeom prst="ellipse">
            <a:avLst/>
          </a:prstGeom>
          <a:solidFill>
            <a:srgbClr val="0A032B"/>
          </a:solidFill>
          <a:ln w="12700">
            <a:solidFill>
              <a:srgbClr val="0A032B"/>
            </a:solidFill>
            <a:prstDash val="solid"/>
          </a:ln>
        </p:spPr>
      </p:sp>
      <p:pic>
        <p:nvPicPr>
          <p:cNvPr id="34" name="Image 7" descr="preencoded.png">    </p:cNvPr>
          <p:cNvPicPr>
            <a:picLocks noChangeAspect="1"/>
          </p:cNvPicPr>
          <p:nvPr/>
        </p:nvPicPr>
        <p:blipFill>
          <a:blip r:embed="rId8"/>
          <a:stretch>
            <a:fillRect/>
          </a:stretch>
        </p:blipFill>
        <p:spPr>
          <a:xfrm>
            <a:off x="880110" y="5365242"/>
            <a:ext cx="297180" cy="297180"/>
          </a:xfrm>
          <a:prstGeom prst="rect">
            <a:avLst/>
          </a:prstGeom>
        </p:spPr>
      </p:pic>
      <p:sp>
        <p:nvSpPr>
          <p:cNvPr id="35" name="Text 25"/>
          <p:cNvSpPr txBox="1"/>
          <p:nvPr/>
        </p:nvSpPr>
        <p:spPr>
          <a:xfrm>
            <a:off x="1508760" y="5047488"/>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Pieds</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À plat au sol ou sur un repose-pieds, genoux à 90°.</a:t>
            </a:r>
            <a:endParaRPr lang="en-US" sz="1400" dirty="0"/>
          </a:p>
        </p:txBody>
      </p:sp>
      <p:sp>
        <p:nvSpPr>
          <p:cNvPr id="36" name="Shape 26"/>
          <p:cNvSpPr/>
          <p:nvPr/>
        </p:nvSpPr>
        <p:spPr>
          <a:xfrm>
            <a:off x="6233008" y="5001768"/>
            <a:ext cx="5410048" cy="1024128"/>
          </a:xfrm>
          <a:prstGeom prst="roundRect">
            <a:avLst>
              <a:gd name="adj" fmla="val 7143"/>
            </a:avLst>
          </a:prstGeom>
          <a:solidFill>
            <a:srgbClr val="EEEDF5"/>
          </a:solidFill>
          <a:ln w="12700">
            <a:solidFill>
              <a:srgbClr val="EEEDF5"/>
            </a:solidFill>
            <a:prstDash val="solid"/>
          </a:ln>
        </p:spPr>
      </p:sp>
      <p:sp>
        <p:nvSpPr>
          <p:cNvPr id="37" name="Shape 27"/>
          <p:cNvSpPr/>
          <p:nvPr/>
        </p:nvSpPr>
        <p:spPr>
          <a:xfrm>
            <a:off x="6415888" y="5216652"/>
            <a:ext cx="594360" cy="594360"/>
          </a:xfrm>
          <a:prstGeom prst="ellipse">
            <a:avLst/>
          </a:prstGeom>
          <a:solidFill>
            <a:srgbClr val="0A032B"/>
          </a:solidFill>
          <a:ln w="12700">
            <a:solidFill>
              <a:srgbClr val="0A032B"/>
            </a:solidFill>
            <a:prstDash val="solid"/>
          </a:ln>
        </p:spPr>
      </p:sp>
      <p:pic>
        <p:nvPicPr>
          <p:cNvPr id="38" name="Image 8" descr="preencoded.png">    </p:cNvPr>
          <p:cNvPicPr>
            <a:picLocks noChangeAspect="1"/>
          </p:cNvPicPr>
          <p:nvPr/>
        </p:nvPicPr>
        <p:blipFill>
          <a:blip r:embed="rId9"/>
          <a:stretch>
            <a:fillRect/>
          </a:stretch>
        </p:blipFill>
        <p:spPr>
          <a:xfrm>
            <a:off x="6564478" y="5365242"/>
            <a:ext cx="297180" cy="297180"/>
          </a:xfrm>
          <a:prstGeom prst="rect">
            <a:avLst/>
          </a:prstGeom>
        </p:spPr>
      </p:pic>
      <p:sp>
        <p:nvSpPr>
          <p:cNvPr id="39" name="Text 28"/>
          <p:cNvSpPr txBox="1"/>
          <p:nvPr/>
        </p:nvSpPr>
        <p:spPr>
          <a:xfrm>
            <a:off x="7193128" y="5047488"/>
            <a:ext cx="4267048" cy="932688"/>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Portable</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Réhausseur + clavier et souris externes pour tout usage prolongé.</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S'adapter à la diversité des lieux du mandat</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17320"/>
            <a:ext cx="3515258" cy="2171700"/>
          </a:xfrm>
          <a:prstGeom prst="roundRect">
            <a:avLst>
              <a:gd name="adj" fmla="val 3368"/>
            </a:avLst>
          </a:prstGeom>
          <a:solidFill>
            <a:srgbClr val="EEEDF5"/>
          </a:solidFill>
          <a:ln w="12700">
            <a:solidFill>
              <a:srgbClr val="EEEDF5"/>
            </a:solidFill>
            <a:prstDash val="solid"/>
          </a:ln>
        </p:spPr>
      </p:sp>
      <p:sp>
        <p:nvSpPr>
          <p:cNvPr id="8" name="Shape 5"/>
          <p:cNvSpPr/>
          <p:nvPr/>
        </p:nvSpPr>
        <p:spPr>
          <a:xfrm>
            <a:off x="777240" y="1645920"/>
            <a:ext cx="548640" cy="54864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914400" y="1783080"/>
            <a:ext cx="274320" cy="274320"/>
          </a:xfrm>
          <a:prstGeom prst="rect">
            <a:avLst/>
          </a:prstGeom>
        </p:spPr>
      </p:pic>
      <p:sp>
        <p:nvSpPr>
          <p:cNvPr id="10" name="Text 6"/>
          <p:cNvSpPr txBox="1"/>
          <p:nvPr/>
        </p:nvSpPr>
        <p:spPr>
          <a:xfrm>
            <a:off x="1508760"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Salle du conseil</a:t>
            </a:r>
            <a:endParaRPr lang="en-US" sz="1500" dirty="0"/>
          </a:p>
        </p:txBody>
      </p:sp>
      <p:sp>
        <p:nvSpPr>
          <p:cNvPr id="11" name="Text 7"/>
          <p:cNvSpPr txBox="1"/>
          <p:nvPr/>
        </p:nvSpPr>
        <p:spPr>
          <a:xfrm>
            <a:off x="777240"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Réunions longues : se redresser, décroiser les jambes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Se lever pendant les suspensions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Documents numériques : tablette sur support</a:t>
            </a:r>
            <a:endParaRPr lang="en-US" sz="1250" dirty="0"/>
          </a:p>
        </p:txBody>
      </p:sp>
      <p:sp>
        <p:nvSpPr>
          <p:cNvPr id="12" name="Shape 8"/>
          <p:cNvSpPr/>
          <p:nvPr/>
        </p:nvSpPr>
        <p:spPr>
          <a:xfrm>
            <a:off x="4338218" y="1417320"/>
            <a:ext cx="3515258" cy="2171700"/>
          </a:xfrm>
          <a:prstGeom prst="roundRect">
            <a:avLst>
              <a:gd name="adj" fmla="val 3368"/>
            </a:avLst>
          </a:prstGeom>
          <a:solidFill>
            <a:srgbClr val="EEEDF5"/>
          </a:solidFill>
          <a:ln w="12700">
            <a:solidFill>
              <a:srgbClr val="EEEDF5"/>
            </a:solidFill>
            <a:prstDash val="solid"/>
          </a:ln>
        </p:spPr>
      </p:sp>
      <p:sp>
        <p:nvSpPr>
          <p:cNvPr id="13" name="Shape 9"/>
          <p:cNvSpPr/>
          <p:nvPr/>
        </p:nvSpPr>
        <p:spPr>
          <a:xfrm>
            <a:off x="4566818" y="1645920"/>
            <a:ext cx="548640" cy="54864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4703978" y="1783080"/>
            <a:ext cx="274320" cy="274320"/>
          </a:xfrm>
          <a:prstGeom prst="rect">
            <a:avLst/>
          </a:prstGeom>
        </p:spPr>
      </p:pic>
      <p:sp>
        <p:nvSpPr>
          <p:cNvPr id="15" name="Text 10"/>
          <p:cNvSpPr txBox="1"/>
          <p:nvPr/>
        </p:nvSpPr>
        <p:spPr>
          <a:xfrm>
            <a:off x="5298338"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En voiture</a:t>
            </a:r>
            <a:endParaRPr lang="en-US" sz="1500" dirty="0"/>
          </a:p>
        </p:txBody>
      </p:sp>
      <p:sp>
        <p:nvSpPr>
          <p:cNvPr id="16" name="Text 11"/>
          <p:cNvSpPr txBox="1"/>
          <p:nvPr/>
        </p:nvSpPr>
        <p:spPr>
          <a:xfrm>
            <a:off x="4566818"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Régler siège, dossier et appui-tête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Pause toutes les 2 heures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Sortir les charges du coffre jambes fléchies</a:t>
            </a:r>
            <a:endParaRPr lang="en-US" sz="1250" dirty="0"/>
          </a:p>
        </p:txBody>
      </p:sp>
      <p:sp>
        <p:nvSpPr>
          <p:cNvPr id="17" name="Shape 12"/>
          <p:cNvSpPr/>
          <p:nvPr/>
        </p:nvSpPr>
        <p:spPr>
          <a:xfrm>
            <a:off x="8127797" y="1417320"/>
            <a:ext cx="3515258" cy="2171700"/>
          </a:xfrm>
          <a:prstGeom prst="roundRect">
            <a:avLst>
              <a:gd name="adj" fmla="val 3368"/>
            </a:avLst>
          </a:prstGeom>
          <a:solidFill>
            <a:srgbClr val="EEEDF5"/>
          </a:solidFill>
          <a:ln w="12700">
            <a:solidFill>
              <a:srgbClr val="EEEDF5"/>
            </a:solidFill>
            <a:prstDash val="solid"/>
          </a:ln>
        </p:spPr>
      </p:sp>
      <p:sp>
        <p:nvSpPr>
          <p:cNvPr id="18" name="Shape 13"/>
          <p:cNvSpPr/>
          <p:nvPr/>
        </p:nvSpPr>
        <p:spPr>
          <a:xfrm>
            <a:off x="8356397" y="1645920"/>
            <a:ext cx="548640" cy="548640"/>
          </a:xfrm>
          <a:prstGeom prst="ellipse">
            <a:avLst/>
          </a:prstGeom>
          <a:solidFill>
            <a:srgbClr val="0A032B"/>
          </a:solidFill>
          <a:ln w="12700">
            <a:solidFill>
              <a:srgbClr val="0A032B"/>
            </a:solidFill>
            <a:prstDash val="solid"/>
          </a:ln>
        </p:spPr>
      </p:sp>
      <p:pic>
        <p:nvPicPr>
          <p:cNvPr id="19" name="Image 3" descr="preencoded.png">    </p:cNvPr>
          <p:cNvPicPr>
            <a:picLocks noChangeAspect="1"/>
          </p:cNvPicPr>
          <p:nvPr/>
        </p:nvPicPr>
        <p:blipFill>
          <a:blip r:embed="rId4"/>
          <a:stretch>
            <a:fillRect/>
          </a:stretch>
        </p:blipFill>
        <p:spPr>
          <a:xfrm>
            <a:off x="8493557" y="1783080"/>
            <a:ext cx="274320" cy="274320"/>
          </a:xfrm>
          <a:prstGeom prst="rect">
            <a:avLst/>
          </a:prstGeom>
        </p:spPr>
      </p:pic>
      <p:sp>
        <p:nvSpPr>
          <p:cNvPr id="20" name="Text 14"/>
          <p:cNvSpPr txBox="1"/>
          <p:nvPr/>
        </p:nvSpPr>
        <p:spPr>
          <a:xfrm>
            <a:off x="9087917" y="16459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Sur le terrain</a:t>
            </a:r>
            <a:endParaRPr lang="en-US" sz="1500" dirty="0"/>
          </a:p>
        </p:txBody>
      </p:sp>
      <p:sp>
        <p:nvSpPr>
          <p:cNvPr id="21" name="Text 15"/>
          <p:cNvSpPr txBox="1"/>
          <p:nvPr/>
        </p:nvSpPr>
        <p:spPr>
          <a:xfrm>
            <a:off x="8356397" y="233172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Chaussures stables et fermées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Attention aux sols irréguliers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Porter les EPI demandés aux agents</a:t>
            </a:r>
            <a:endParaRPr lang="en-US" sz="1250" dirty="0"/>
          </a:p>
        </p:txBody>
      </p:sp>
      <p:sp>
        <p:nvSpPr>
          <p:cNvPr id="22" name="Shape 16"/>
          <p:cNvSpPr/>
          <p:nvPr/>
        </p:nvSpPr>
        <p:spPr>
          <a:xfrm>
            <a:off x="548640" y="3863340"/>
            <a:ext cx="3515258" cy="2171700"/>
          </a:xfrm>
          <a:prstGeom prst="roundRect">
            <a:avLst>
              <a:gd name="adj" fmla="val 3368"/>
            </a:avLst>
          </a:prstGeom>
          <a:solidFill>
            <a:srgbClr val="EEEDF5"/>
          </a:solidFill>
          <a:ln w="12700">
            <a:solidFill>
              <a:srgbClr val="EEEDF5"/>
            </a:solidFill>
            <a:prstDash val="solid"/>
          </a:ln>
        </p:spPr>
      </p:sp>
      <p:sp>
        <p:nvSpPr>
          <p:cNvPr id="23" name="Shape 17"/>
          <p:cNvSpPr/>
          <p:nvPr/>
        </p:nvSpPr>
        <p:spPr>
          <a:xfrm>
            <a:off x="777240" y="4091940"/>
            <a:ext cx="548640" cy="548640"/>
          </a:xfrm>
          <a:prstGeom prst="ellipse">
            <a:avLst/>
          </a:prstGeom>
          <a:solidFill>
            <a:srgbClr val="0A032B"/>
          </a:solidFill>
          <a:ln w="12700">
            <a:solidFill>
              <a:srgbClr val="0A032B"/>
            </a:solidFill>
            <a:prstDash val="solid"/>
          </a:ln>
        </p:spPr>
      </p:sp>
      <p:pic>
        <p:nvPicPr>
          <p:cNvPr id="24" name="Image 4" descr="preencoded.png">    </p:cNvPr>
          <p:cNvPicPr>
            <a:picLocks noChangeAspect="1"/>
          </p:cNvPicPr>
          <p:nvPr/>
        </p:nvPicPr>
        <p:blipFill>
          <a:blip r:embed="rId5"/>
          <a:stretch>
            <a:fillRect/>
          </a:stretch>
        </p:blipFill>
        <p:spPr>
          <a:xfrm>
            <a:off x="914400" y="4229100"/>
            <a:ext cx="274320" cy="274320"/>
          </a:xfrm>
          <a:prstGeom prst="rect">
            <a:avLst/>
          </a:prstGeom>
        </p:spPr>
      </p:pic>
      <p:sp>
        <p:nvSpPr>
          <p:cNvPr id="25" name="Text 18"/>
          <p:cNvSpPr txBox="1"/>
          <p:nvPr/>
        </p:nvSpPr>
        <p:spPr>
          <a:xfrm>
            <a:off x="1508760"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Dossiers et sacs</a:t>
            </a:r>
            <a:endParaRPr lang="en-US" sz="1500" dirty="0"/>
          </a:p>
        </p:txBody>
      </p:sp>
      <p:sp>
        <p:nvSpPr>
          <p:cNvPr id="26" name="Text 19"/>
          <p:cNvSpPr txBox="1"/>
          <p:nvPr/>
        </p:nvSpPr>
        <p:spPr>
          <a:xfrm>
            <a:off x="777240"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Sac à dos porté sur les 2 épaules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Alléger : dématérialiser</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Répartir le poids des deux côtés</a:t>
            </a:r>
            <a:endParaRPr lang="en-US" sz="1250" dirty="0"/>
          </a:p>
        </p:txBody>
      </p:sp>
      <p:sp>
        <p:nvSpPr>
          <p:cNvPr id="27" name="Shape 20"/>
          <p:cNvSpPr/>
          <p:nvPr/>
        </p:nvSpPr>
        <p:spPr>
          <a:xfrm>
            <a:off x="4338218" y="3863340"/>
            <a:ext cx="3515258" cy="2171700"/>
          </a:xfrm>
          <a:prstGeom prst="roundRect">
            <a:avLst>
              <a:gd name="adj" fmla="val 3368"/>
            </a:avLst>
          </a:prstGeom>
          <a:solidFill>
            <a:srgbClr val="EEEDF5"/>
          </a:solidFill>
          <a:ln w="12700">
            <a:solidFill>
              <a:srgbClr val="EEEDF5"/>
            </a:solidFill>
            <a:prstDash val="solid"/>
          </a:ln>
        </p:spPr>
      </p:sp>
      <p:sp>
        <p:nvSpPr>
          <p:cNvPr id="28" name="Shape 21"/>
          <p:cNvSpPr/>
          <p:nvPr/>
        </p:nvSpPr>
        <p:spPr>
          <a:xfrm>
            <a:off x="4566818" y="4091940"/>
            <a:ext cx="548640" cy="548640"/>
          </a:xfrm>
          <a:prstGeom prst="ellipse">
            <a:avLst/>
          </a:prstGeom>
          <a:solidFill>
            <a:srgbClr val="0A032B"/>
          </a:solidFill>
          <a:ln w="12700">
            <a:solidFill>
              <a:srgbClr val="0A032B"/>
            </a:solidFill>
            <a:prstDash val="solid"/>
          </a:ln>
        </p:spPr>
      </p:sp>
      <p:pic>
        <p:nvPicPr>
          <p:cNvPr id="29" name="Image 5" descr="preencoded.png">    </p:cNvPr>
          <p:cNvPicPr>
            <a:picLocks noChangeAspect="1"/>
          </p:cNvPicPr>
          <p:nvPr/>
        </p:nvPicPr>
        <p:blipFill>
          <a:blip r:embed="rId6"/>
          <a:stretch>
            <a:fillRect/>
          </a:stretch>
        </p:blipFill>
        <p:spPr>
          <a:xfrm>
            <a:off x="4703978" y="4229100"/>
            <a:ext cx="274320" cy="274320"/>
          </a:xfrm>
          <a:prstGeom prst="rect">
            <a:avLst/>
          </a:prstGeom>
        </p:spPr>
      </p:pic>
      <p:sp>
        <p:nvSpPr>
          <p:cNvPr id="30" name="Text 22"/>
          <p:cNvSpPr txBox="1"/>
          <p:nvPr/>
        </p:nvSpPr>
        <p:spPr>
          <a:xfrm>
            <a:off x="5298338"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Téléphone</a:t>
            </a:r>
            <a:endParaRPr lang="en-US" sz="1500" dirty="0"/>
          </a:p>
        </p:txBody>
      </p:sp>
      <p:sp>
        <p:nvSpPr>
          <p:cNvPr id="31" name="Text 23"/>
          <p:cNvSpPr txBox="1"/>
          <p:nvPr/>
        </p:nvSpPr>
        <p:spPr>
          <a:xfrm>
            <a:off x="4566818"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Jamais coincé entre oreille et épaule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Kit mains libres ou écouteurs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Alterner les mains</a:t>
            </a:r>
            <a:endParaRPr lang="en-US" sz="1250" dirty="0"/>
          </a:p>
        </p:txBody>
      </p:sp>
      <p:sp>
        <p:nvSpPr>
          <p:cNvPr id="32" name="Shape 24"/>
          <p:cNvSpPr/>
          <p:nvPr/>
        </p:nvSpPr>
        <p:spPr>
          <a:xfrm>
            <a:off x="8127797" y="3863340"/>
            <a:ext cx="3515258" cy="2171700"/>
          </a:xfrm>
          <a:prstGeom prst="roundRect">
            <a:avLst>
              <a:gd name="adj" fmla="val 3368"/>
            </a:avLst>
          </a:prstGeom>
          <a:solidFill>
            <a:srgbClr val="EEEDF5"/>
          </a:solidFill>
          <a:ln w="12700">
            <a:solidFill>
              <a:srgbClr val="EEEDF5"/>
            </a:solidFill>
            <a:prstDash val="solid"/>
          </a:ln>
        </p:spPr>
      </p:sp>
      <p:sp>
        <p:nvSpPr>
          <p:cNvPr id="33" name="Shape 25"/>
          <p:cNvSpPr/>
          <p:nvPr/>
        </p:nvSpPr>
        <p:spPr>
          <a:xfrm>
            <a:off x="8356397" y="4091940"/>
            <a:ext cx="548640" cy="548640"/>
          </a:xfrm>
          <a:prstGeom prst="ellipse">
            <a:avLst/>
          </a:prstGeom>
          <a:solidFill>
            <a:srgbClr val="0A032B"/>
          </a:solidFill>
          <a:ln w="12700">
            <a:solidFill>
              <a:srgbClr val="0A032B"/>
            </a:solidFill>
            <a:prstDash val="solid"/>
          </a:ln>
        </p:spPr>
      </p:sp>
      <p:pic>
        <p:nvPicPr>
          <p:cNvPr id="34" name="Image 6" descr="preencoded.png">    </p:cNvPr>
          <p:cNvPicPr>
            <a:picLocks noChangeAspect="1"/>
          </p:cNvPicPr>
          <p:nvPr/>
        </p:nvPicPr>
        <p:blipFill>
          <a:blip r:embed="rId7"/>
          <a:stretch>
            <a:fillRect/>
          </a:stretch>
        </p:blipFill>
        <p:spPr>
          <a:xfrm>
            <a:off x="8493557" y="4229100"/>
            <a:ext cx="274320" cy="274320"/>
          </a:xfrm>
          <a:prstGeom prst="rect">
            <a:avLst/>
          </a:prstGeom>
        </p:spPr>
      </p:pic>
      <p:sp>
        <p:nvSpPr>
          <p:cNvPr id="35" name="Text 26"/>
          <p:cNvSpPr txBox="1"/>
          <p:nvPr/>
        </p:nvSpPr>
        <p:spPr>
          <a:xfrm>
            <a:off x="9087917" y="409194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Cérémonies et événements</a:t>
            </a:r>
            <a:endParaRPr lang="en-US" sz="1500" dirty="0"/>
          </a:p>
        </p:txBody>
      </p:sp>
      <p:sp>
        <p:nvSpPr>
          <p:cNvPr id="36" name="Text 27"/>
          <p:cNvSpPr txBox="1"/>
          <p:nvPr/>
        </p:nvSpPr>
        <p:spPr>
          <a:xfrm>
            <a:off x="8356397" y="4777740"/>
            <a:ext cx="3058058" cy="112014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Station debout : transférer le poids d'un pied sur l'autre</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Installation : exiger les aides techniques</a:t>
            </a:r>
            <a:endParaRPr lang="en-US" sz="1250" dirty="0"/>
          </a:p>
          <a:p>
            <a:pPr marL="177800" indent="-177800">
              <a:spcAft>
                <a:spcPts val="400"/>
              </a:spcAft>
              <a:buSzPct val="100000"/>
              <a:buChar char="•"/>
            </a:pPr>
            <a:r>
              <a:rPr lang="en-US" sz="1250" dirty="0">
                <a:solidFill>
                  <a:srgbClr val="35305C"/>
                </a:solidFill>
                <a:latin typeface="Arial" pitchFamily="34" charset="0"/>
                <a:ea typeface="Arial" pitchFamily="34" charset="-122"/>
                <a:cs typeface="Arial" pitchFamily="34" charset="-120"/>
              </a:rPr>
              <a:t>Ne pas porter seul</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Station assise prolongée et pauses actives</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La meilleure posture, c'est la suivante</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4846320" cy="1298448"/>
          </a:xfrm>
          <a:prstGeom prst="roundRect">
            <a:avLst>
              <a:gd name="adj" fmla="val 5634"/>
            </a:avLst>
          </a:prstGeom>
          <a:solidFill>
            <a:srgbClr val="0A032B"/>
          </a:solidFill>
          <a:ln w="12700">
            <a:solidFill>
              <a:srgbClr val="0A032B"/>
            </a:solidFill>
            <a:prstDash val="solid"/>
          </a:ln>
        </p:spPr>
      </p:sp>
      <p:sp>
        <p:nvSpPr>
          <p:cNvPr id="9" name="Text 6"/>
          <p:cNvSpPr txBox="1"/>
          <p:nvPr/>
        </p:nvSpPr>
        <p:spPr>
          <a:xfrm>
            <a:off x="777240" y="1600200"/>
            <a:ext cx="2103120" cy="1298448"/>
          </a:xfrm>
          <a:prstGeom prst="rect">
            <a:avLst/>
          </a:prstGeom>
          <a:noFill/>
          <a:ln/>
        </p:spPr>
        <p:txBody>
          <a:bodyPr wrap="square" lIns="0" tIns="0" rIns="0" bIns="0" rtlCol="0" anchor="ctr"/>
          <a:lstStyle/>
          <a:p>
            <a:pPr indent="0" marL="0">
              <a:buNone/>
            </a:pPr>
            <a:r>
              <a:rPr lang="en-US" sz="3400" b="1" dirty="0">
                <a:solidFill>
                  <a:srgbClr val="F0EF96"/>
                </a:solidFill>
                <a:latin typeface="Montserrat" pitchFamily="34" charset="0"/>
                <a:ea typeface="Montserrat" pitchFamily="34" charset="-122"/>
                <a:cs typeface="Montserrat" pitchFamily="34" charset="-120"/>
              </a:rPr>
              <a:t>30 min</a:t>
            </a:r>
            <a:endParaRPr lang="en-US" sz="3400" dirty="0"/>
          </a:p>
        </p:txBody>
      </p:sp>
      <p:sp>
        <p:nvSpPr>
          <p:cNvPr id="10" name="Text 7"/>
          <p:cNvSpPr txBox="1"/>
          <p:nvPr/>
        </p:nvSpPr>
        <p:spPr>
          <a:xfrm>
            <a:off x="2880360" y="1600200"/>
            <a:ext cx="2377440" cy="1298448"/>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changer de position au moins toutes les 30 minutes</a:t>
            </a:r>
            <a:endParaRPr lang="en-US" sz="1300" dirty="0"/>
          </a:p>
        </p:txBody>
      </p:sp>
      <p:sp>
        <p:nvSpPr>
          <p:cNvPr id="11" name="Shape 8"/>
          <p:cNvSpPr/>
          <p:nvPr/>
        </p:nvSpPr>
        <p:spPr>
          <a:xfrm>
            <a:off x="548640" y="3081528"/>
            <a:ext cx="4846320" cy="1298448"/>
          </a:xfrm>
          <a:prstGeom prst="roundRect">
            <a:avLst>
              <a:gd name="adj" fmla="val 5634"/>
            </a:avLst>
          </a:prstGeom>
          <a:solidFill>
            <a:srgbClr val="EEEDF5"/>
          </a:solidFill>
          <a:ln w="12700">
            <a:solidFill>
              <a:srgbClr val="EEEDF5"/>
            </a:solidFill>
            <a:prstDash val="solid"/>
          </a:ln>
        </p:spPr>
      </p:sp>
      <p:sp>
        <p:nvSpPr>
          <p:cNvPr id="12" name="Text 9"/>
          <p:cNvSpPr txBox="1"/>
          <p:nvPr/>
        </p:nvSpPr>
        <p:spPr>
          <a:xfrm>
            <a:off x="777240" y="3081528"/>
            <a:ext cx="2103120" cy="1298448"/>
          </a:xfrm>
          <a:prstGeom prst="rect">
            <a:avLst/>
          </a:prstGeom>
          <a:noFill/>
          <a:ln/>
        </p:spPr>
        <p:txBody>
          <a:bodyPr wrap="square" lIns="0" tIns="0" rIns="0" bIns="0" rtlCol="0" anchor="ctr"/>
          <a:lstStyle/>
          <a:p>
            <a:pPr indent="0" marL="0">
              <a:buNone/>
            </a:pPr>
            <a:r>
              <a:rPr lang="en-US" sz="3400" b="1" dirty="0">
                <a:solidFill>
                  <a:srgbClr val="0A032B"/>
                </a:solidFill>
                <a:latin typeface="Montserrat" pitchFamily="34" charset="0"/>
                <a:ea typeface="Montserrat" pitchFamily="34" charset="-122"/>
                <a:cs typeface="Montserrat" pitchFamily="34" charset="-120"/>
              </a:rPr>
              <a:t>5 min</a:t>
            </a:r>
            <a:endParaRPr lang="en-US" sz="3400" dirty="0"/>
          </a:p>
        </p:txBody>
      </p:sp>
      <p:sp>
        <p:nvSpPr>
          <p:cNvPr id="13" name="Text 10"/>
          <p:cNvSpPr txBox="1"/>
          <p:nvPr/>
        </p:nvSpPr>
        <p:spPr>
          <a:xfrm>
            <a:off x="2880360" y="3081528"/>
            <a:ext cx="2377440" cy="1298448"/>
          </a:xfrm>
          <a:prstGeom prst="rect">
            <a:avLst/>
          </a:prstGeom>
          <a:noFill/>
          <a:ln/>
        </p:spPr>
        <p:txBody>
          <a:bodyPr wrap="square" lIns="0" tIns="0" rIns="0" bIns="0" rtlCol="0" anchor="ctr"/>
          <a:lstStyle/>
          <a:p>
            <a:pPr indent="0" marL="0">
              <a:buNone/>
            </a:pPr>
            <a:r>
              <a:rPr lang="en-US" sz="1300" dirty="0">
                <a:solidFill>
                  <a:srgbClr val="35305C"/>
                </a:solidFill>
                <a:latin typeface="Arial" pitchFamily="34" charset="0"/>
                <a:ea typeface="Arial" pitchFamily="34" charset="-122"/>
                <a:cs typeface="Arial" pitchFamily="34" charset="-120"/>
              </a:rPr>
              <a:t>de pause active par heure de travail sur écran</a:t>
            </a:r>
            <a:endParaRPr lang="en-US" sz="1300" dirty="0"/>
          </a:p>
        </p:txBody>
      </p:sp>
      <p:sp>
        <p:nvSpPr>
          <p:cNvPr id="14" name="Shape 11"/>
          <p:cNvSpPr/>
          <p:nvPr/>
        </p:nvSpPr>
        <p:spPr>
          <a:xfrm>
            <a:off x="548640" y="4562856"/>
            <a:ext cx="4846320" cy="1298448"/>
          </a:xfrm>
          <a:prstGeom prst="roundRect">
            <a:avLst>
              <a:gd name="adj" fmla="val 5634"/>
            </a:avLst>
          </a:prstGeom>
          <a:solidFill>
            <a:srgbClr val="EEEDF5"/>
          </a:solidFill>
          <a:ln w="12700">
            <a:solidFill>
              <a:srgbClr val="EEEDF5"/>
            </a:solidFill>
            <a:prstDash val="solid"/>
          </a:ln>
        </p:spPr>
      </p:sp>
      <p:sp>
        <p:nvSpPr>
          <p:cNvPr id="15" name="Text 12"/>
          <p:cNvSpPr txBox="1"/>
          <p:nvPr/>
        </p:nvSpPr>
        <p:spPr>
          <a:xfrm>
            <a:off x="777240" y="4562856"/>
            <a:ext cx="2103120" cy="1298448"/>
          </a:xfrm>
          <a:prstGeom prst="rect">
            <a:avLst/>
          </a:prstGeom>
          <a:noFill/>
          <a:ln/>
        </p:spPr>
        <p:txBody>
          <a:bodyPr wrap="square" lIns="0" tIns="0" rIns="0" bIns="0" rtlCol="0" anchor="ctr"/>
          <a:lstStyle/>
          <a:p>
            <a:pPr indent="0" marL="0">
              <a:buNone/>
            </a:pPr>
            <a:r>
              <a:rPr lang="en-US" sz="2400" b="1" dirty="0">
                <a:solidFill>
                  <a:srgbClr val="0A032B"/>
                </a:solidFill>
                <a:latin typeface="Montserrat" pitchFamily="34" charset="0"/>
                <a:ea typeface="Montserrat" pitchFamily="34" charset="-122"/>
                <a:cs typeface="Montserrat" pitchFamily="34" charset="-120"/>
              </a:rPr>
              <a:t>20-20-20</a:t>
            </a:r>
            <a:endParaRPr lang="en-US" sz="2400" dirty="0"/>
          </a:p>
        </p:txBody>
      </p:sp>
      <p:sp>
        <p:nvSpPr>
          <p:cNvPr id="16" name="Text 13"/>
          <p:cNvSpPr txBox="1"/>
          <p:nvPr/>
        </p:nvSpPr>
        <p:spPr>
          <a:xfrm>
            <a:off x="2880360" y="4562856"/>
            <a:ext cx="2377440" cy="1298448"/>
          </a:xfrm>
          <a:prstGeom prst="rect">
            <a:avLst/>
          </a:prstGeom>
          <a:noFill/>
          <a:ln/>
        </p:spPr>
        <p:txBody>
          <a:bodyPr wrap="square" lIns="0" tIns="0" rIns="0" bIns="0" rtlCol="0" anchor="ctr"/>
          <a:lstStyle/>
          <a:p>
            <a:pPr indent="0" marL="0">
              <a:buNone/>
            </a:pPr>
            <a:r>
              <a:rPr lang="en-US" sz="1300" dirty="0">
                <a:solidFill>
                  <a:srgbClr val="35305C"/>
                </a:solidFill>
                <a:latin typeface="Arial" pitchFamily="34" charset="0"/>
                <a:ea typeface="Arial" pitchFamily="34" charset="-122"/>
                <a:cs typeface="Arial" pitchFamily="34" charset="-120"/>
              </a:rPr>
              <a:t>toutes les 20 min, regarder à 6 m (20 pieds) pendant 20 s</a:t>
            </a:r>
            <a:endParaRPr lang="en-US" sz="1300" dirty="0"/>
          </a:p>
        </p:txBody>
      </p:sp>
      <p:sp>
        <p:nvSpPr>
          <p:cNvPr id="17" name="Shape 14"/>
          <p:cNvSpPr/>
          <p:nvPr/>
        </p:nvSpPr>
        <p:spPr>
          <a:xfrm>
            <a:off x="5669280" y="1600200"/>
            <a:ext cx="2849728" cy="2080260"/>
          </a:xfrm>
          <a:prstGeom prst="roundRect">
            <a:avLst>
              <a:gd name="adj" fmla="val 3516"/>
            </a:avLst>
          </a:prstGeom>
          <a:solidFill>
            <a:srgbClr val="EEEDF5"/>
          </a:solidFill>
          <a:ln w="12700">
            <a:solidFill>
              <a:srgbClr val="EEEDF5"/>
            </a:solidFill>
            <a:prstDash val="solid"/>
          </a:ln>
        </p:spPr>
      </p:sp>
      <p:sp>
        <p:nvSpPr>
          <p:cNvPr id="18" name="Shape 15"/>
          <p:cNvSpPr/>
          <p:nvPr/>
        </p:nvSpPr>
        <p:spPr>
          <a:xfrm>
            <a:off x="5897880" y="1828800"/>
            <a:ext cx="548640" cy="548640"/>
          </a:xfrm>
          <a:prstGeom prst="ellipse">
            <a:avLst/>
          </a:prstGeom>
          <a:solidFill>
            <a:srgbClr val="0A032B"/>
          </a:solidFill>
          <a:ln w="12700">
            <a:solidFill>
              <a:srgbClr val="0A032B"/>
            </a:solidFill>
            <a:prstDash val="solid"/>
          </a:ln>
        </p:spPr>
      </p:sp>
      <p:pic>
        <p:nvPicPr>
          <p:cNvPr id="19" name="Image 1" descr="preencoded.png">    </p:cNvPr>
          <p:cNvPicPr>
            <a:picLocks noChangeAspect="1"/>
          </p:cNvPicPr>
          <p:nvPr/>
        </p:nvPicPr>
        <p:blipFill>
          <a:blip r:embed="rId2"/>
          <a:stretch>
            <a:fillRect/>
          </a:stretch>
        </p:blipFill>
        <p:spPr>
          <a:xfrm>
            <a:off x="6035040" y="1965960"/>
            <a:ext cx="274320" cy="274320"/>
          </a:xfrm>
          <a:prstGeom prst="rect">
            <a:avLst/>
          </a:prstGeom>
        </p:spPr>
      </p:pic>
      <p:sp>
        <p:nvSpPr>
          <p:cNvPr id="20" name="Text 16"/>
          <p:cNvSpPr txBox="1"/>
          <p:nvPr/>
        </p:nvSpPr>
        <p:spPr>
          <a:xfrm>
            <a:off x="6629400" y="1828800"/>
            <a:ext cx="166100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Bouger régulièrement</a:t>
            </a:r>
            <a:endParaRPr lang="en-US" sz="1400" dirty="0"/>
          </a:p>
        </p:txBody>
      </p:sp>
      <p:sp>
        <p:nvSpPr>
          <p:cNvPr id="21" name="Text 17"/>
          <p:cNvSpPr txBox="1"/>
          <p:nvPr/>
        </p:nvSpPr>
        <p:spPr>
          <a:xfrm>
            <a:off x="5897880" y="2514600"/>
            <a:ext cx="239252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Se lever pour téléphoner, aller voir un collègue plutôt que d'envoyer un courriel, préférer l'escalier.</a:t>
            </a:r>
            <a:endParaRPr lang="en-US" sz="1250" dirty="0"/>
          </a:p>
        </p:txBody>
      </p:sp>
      <p:sp>
        <p:nvSpPr>
          <p:cNvPr id="22" name="Shape 18"/>
          <p:cNvSpPr/>
          <p:nvPr/>
        </p:nvSpPr>
        <p:spPr>
          <a:xfrm>
            <a:off x="8793328" y="1600200"/>
            <a:ext cx="2849728" cy="2080260"/>
          </a:xfrm>
          <a:prstGeom prst="roundRect">
            <a:avLst>
              <a:gd name="adj" fmla="val 3516"/>
            </a:avLst>
          </a:prstGeom>
          <a:solidFill>
            <a:srgbClr val="EEEDF5"/>
          </a:solidFill>
          <a:ln w="12700">
            <a:solidFill>
              <a:srgbClr val="EEEDF5"/>
            </a:solidFill>
            <a:prstDash val="solid"/>
          </a:ln>
        </p:spPr>
      </p:sp>
      <p:sp>
        <p:nvSpPr>
          <p:cNvPr id="23" name="Shape 19"/>
          <p:cNvSpPr/>
          <p:nvPr/>
        </p:nvSpPr>
        <p:spPr>
          <a:xfrm>
            <a:off x="9021928" y="1828800"/>
            <a:ext cx="548640" cy="548640"/>
          </a:xfrm>
          <a:prstGeom prst="ellipse">
            <a:avLst/>
          </a:prstGeom>
          <a:solidFill>
            <a:srgbClr val="0A032B"/>
          </a:solidFill>
          <a:ln w="12700">
            <a:solidFill>
              <a:srgbClr val="0A032B"/>
            </a:solidFill>
            <a:prstDash val="solid"/>
          </a:ln>
        </p:spPr>
      </p:sp>
      <p:pic>
        <p:nvPicPr>
          <p:cNvPr id="24" name="Image 2" descr="preencoded.png">    </p:cNvPr>
          <p:cNvPicPr>
            <a:picLocks noChangeAspect="1"/>
          </p:cNvPicPr>
          <p:nvPr/>
        </p:nvPicPr>
        <p:blipFill>
          <a:blip r:embed="rId3"/>
          <a:stretch>
            <a:fillRect/>
          </a:stretch>
        </p:blipFill>
        <p:spPr>
          <a:xfrm>
            <a:off x="9159088" y="1965960"/>
            <a:ext cx="274320" cy="274320"/>
          </a:xfrm>
          <a:prstGeom prst="rect">
            <a:avLst/>
          </a:prstGeom>
        </p:spPr>
      </p:pic>
      <p:sp>
        <p:nvSpPr>
          <p:cNvPr id="25" name="Text 20"/>
          <p:cNvSpPr txBox="1"/>
          <p:nvPr/>
        </p:nvSpPr>
        <p:spPr>
          <a:xfrm>
            <a:off x="9753448" y="1828800"/>
            <a:ext cx="166100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Réunions actives</a:t>
            </a:r>
            <a:endParaRPr lang="en-US" sz="1400" dirty="0"/>
          </a:p>
        </p:txBody>
      </p:sp>
      <p:sp>
        <p:nvSpPr>
          <p:cNvPr id="26" name="Text 21"/>
          <p:cNvSpPr txBox="1"/>
          <p:nvPr/>
        </p:nvSpPr>
        <p:spPr>
          <a:xfrm>
            <a:off x="9021928" y="2514600"/>
            <a:ext cx="239252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Réunions debout pour les points courts, suspension de séance toutes les heures pour les longs conseils.</a:t>
            </a:r>
            <a:endParaRPr lang="en-US" sz="1250" dirty="0"/>
          </a:p>
        </p:txBody>
      </p:sp>
      <p:sp>
        <p:nvSpPr>
          <p:cNvPr id="27" name="Shape 22"/>
          <p:cNvSpPr/>
          <p:nvPr/>
        </p:nvSpPr>
        <p:spPr>
          <a:xfrm>
            <a:off x="5669280" y="3954780"/>
            <a:ext cx="2849728" cy="2080260"/>
          </a:xfrm>
          <a:prstGeom prst="roundRect">
            <a:avLst>
              <a:gd name="adj" fmla="val 3516"/>
            </a:avLst>
          </a:prstGeom>
          <a:solidFill>
            <a:srgbClr val="EEEDF5"/>
          </a:solidFill>
          <a:ln w="12700">
            <a:solidFill>
              <a:srgbClr val="EEEDF5"/>
            </a:solidFill>
            <a:prstDash val="solid"/>
          </a:ln>
        </p:spPr>
      </p:sp>
      <p:sp>
        <p:nvSpPr>
          <p:cNvPr id="28" name="Shape 23"/>
          <p:cNvSpPr/>
          <p:nvPr/>
        </p:nvSpPr>
        <p:spPr>
          <a:xfrm>
            <a:off x="5897880" y="4183380"/>
            <a:ext cx="548640" cy="548640"/>
          </a:xfrm>
          <a:prstGeom prst="ellipse">
            <a:avLst/>
          </a:prstGeom>
          <a:solidFill>
            <a:srgbClr val="0A032B"/>
          </a:solidFill>
          <a:ln w="12700">
            <a:solidFill>
              <a:srgbClr val="0A032B"/>
            </a:solidFill>
            <a:prstDash val="solid"/>
          </a:ln>
        </p:spPr>
      </p:sp>
      <p:pic>
        <p:nvPicPr>
          <p:cNvPr id="29" name="Image 3" descr="preencoded.png">    </p:cNvPr>
          <p:cNvPicPr>
            <a:picLocks noChangeAspect="1"/>
          </p:cNvPicPr>
          <p:nvPr/>
        </p:nvPicPr>
        <p:blipFill>
          <a:blip r:embed="rId4"/>
          <a:stretch>
            <a:fillRect/>
          </a:stretch>
        </p:blipFill>
        <p:spPr>
          <a:xfrm>
            <a:off x="6035040" y="4320540"/>
            <a:ext cx="274320" cy="274320"/>
          </a:xfrm>
          <a:prstGeom prst="rect">
            <a:avLst/>
          </a:prstGeom>
        </p:spPr>
      </p:pic>
      <p:sp>
        <p:nvSpPr>
          <p:cNvPr id="30" name="Text 24"/>
          <p:cNvSpPr txBox="1"/>
          <p:nvPr/>
        </p:nvSpPr>
        <p:spPr>
          <a:xfrm>
            <a:off x="6629400" y="4183380"/>
            <a:ext cx="166100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Reposer les yeux</a:t>
            </a:r>
            <a:endParaRPr lang="en-US" sz="1400" dirty="0"/>
          </a:p>
        </p:txBody>
      </p:sp>
      <p:sp>
        <p:nvSpPr>
          <p:cNvPr id="31" name="Text 25"/>
          <p:cNvSpPr txBox="1"/>
          <p:nvPr/>
        </p:nvSpPr>
        <p:spPr>
          <a:xfrm>
            <a:off x="5897880" y="4869180"/>
            <a:ext cx="239252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Cligner, regarder au loin, ajuster la luminosité de l'écran.</a:t>
            </a:r>
            <a:endParaRPr lang="en-US" sz="1250" dirty="0"/>
          </a:p>
        </p:txBody>
      </p:sp>
      <p:sp>
        <p:nvSpPr>
          <p:cNvPr id="32" name="Shape 26"/>
          <p:cNvSpPr/>
          <p:nvPr/>
        </p:nvSpPr>
        <p:spPr>
          <a:xfrm>
            <a:off x="8793328" y="3954780"/>
            <a:ext cx="2849728" cy="2080260"/>
          </a:xfrm>
          <a:prstGeom prst="roundRect">
            <a:avLst>
              <a:gd name="adj" fmla="val 3516"/>
            </a:avLst>
          </a:prstGeom>
          <a:solidFill>
            <a:srgbClr val="EEEDF5"/>
          </a:solidFill>
          <a:ln w="12700">
            <a:solidFill>
              <a:srgbClr val="EEEDF5"/>
            </a:solidFill>
            <a:prstDash val="solid"/>
          </a:ln>
        </p:spPr>
      </p:sp>
      <p:sp>
        <p:nvSpPr>
          <p:cNvPr id="33" name="Shape 27"/>
          <p:cNvSpPr/>
          <p:nvPr/>
        </p:nvSpPr>
        <p:spPr>
          <a:xfrm>
            <a:off x="9021928" y="4183380"/>
            <a:ext cx="548640" cy="548640"/>
          </a:xfrm>
          <a:prstGeom prst="ellipse">
            <a:avLst/>
          </a:prstGeom>
          <a:solidFill>
            <a:srgbClr val="0A032B"/>
          </a:solidFill>
          <a:ln w="12700">
            <a:solidFill>
              <a:srgbClr val="0A032B"/>
            </a:solidFill>
            <a:prstDash val="solid"/>
          </a:ln>
        </p:spPr>
      </p:sp>
      <p:pic>
        <p:nvPicPr>
          <p:cNvPr id="34" name="Image 4" descr="preencoded.png">    </p:cNvPr>
          <p:cNvPicPr>
            <a:picLocks noChangeAspect="1"/>
          </p:cNvPicPr>
          <p:nvPr/>
        </p:nvPicPr>
        <p:blipFill>
          <a:blip r:embed="rId5"/>
          <a:stretch>
            <a:fillRect/>
          </a:stretch>
        </p:blipFill>
        <p:spPr>
          <a:xfrm>
            <a:off x="9159088" y="4320540"/>
            <a:ext cx="274320" cy="274320"/>
          </a:xfrm>
          <a:prstGeom prst="rect">
            <a:avLst/>
          </a:prstGeom>
        </p:spPr>
      </p:pic>
      <p:sp>
        <p:nvSpPr>
          <p:cNvPr id="35" name="Text 28"/>
          <p:cNvSpPr txBox="1"/>
          <p:nvPr/>
        </p:nvSpPr>
        <p:spPr>
          <a:xfrm>
            <a:off x="9753448" y="4183380"/>
            <a:ext cx="1661008" cy="548640"/>
          </a:xfrm>
          <a:prstGeom prst="rect">
            <a:avLst/>
          </a:prstGeom>
          <a:noFill/>
          <a:ln/>
        </p:spPr>
        <p:txBody>
          <a:bodyPr wrap="square" lIns="0" tIns="0" rIns="0" bIns="0" rtlCol="0" anchor="ctr"/>
          <a:lstStyle/>
          <a:p>
            <a:pPr indent="0" marL="0">
              <a:buNone/>
            </a:pPr>
            <a:r>
              <a:rPr lang="en-US" sz="1400" b="1" dirty="0">
                <a:solidFill>
                  <a:srgbClr val="0A032B"/>
                </a:solidFill>
                <a:latin typeface="Montserrat" pitchFamily="34" charset="0"/>
                <a:ea typeface="Montserrat" pitchFamily="34" charset="-122"/>
                <a:cs typeface="Montserrat" pitchFamily="34" charset="-120"/>
              </a:rPr>
              <a:t>S'étirer</a:t>
            </a:r>
            <a:endParaRPr lang="en-US" sz="1400" dirty="0"/>
          </a:p>
        </p:txBody>
      </p:sp>
      <p:sp>
        <p:nvSpPr>
          <p:cNvPr id="36" name="Text 29"/>
          <p:cNvSpPr txBox="1"/>
          <p:nvPr/>
        </p:nvSpPr>
        <p:spPr>
          <a:xfrm>
            <a:off x="9021928" y="4869180"/>
            <a:ext cx="239252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Quelques étirements simples réduisent les tensions : ils sont pratiqués dans l'atelier suivant.</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MISE EN SITUATION</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Atelier 4 : régler son poste de travail</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20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Binômes : un utilisateur, un vérificateur</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Tables, chaises réglables, ordinateurs portables, réhausseurs, fiche d'aménagement</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Constat initial</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L'utilisateur s'installe « comme d'habitude » et travaille 2 minutes. Le vérificateur note les écarts avec la fiche.</a:t>
            </a:r>
            <a:endParaRPr lang="en-US" sz="1500" dirty="0"/>
          </a:p>
        </p:txBody>
      </p:sp>
      <p:sp>
        <p:nvSpPr>
          <p:cNvPr id="20" name="Shape 15"/>
          <p:cNvSpPr/>
          <p:nvPr/>
        </p:nvSpPr>
        <p:spPr>
          <a:xfrm>
            <a:off x="4663440" y="240715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40715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388870"/>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Réglages</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Ensemble, ils règlent siège, écran, clavier, souris, repose-pieds, avec les moyens disponibles.</a:t>
            </a:r>
            <a:endParaRPr lang="en-US" sz="1500" dirty="0"/>
          </a:p>
        </p:txBody>
      </p:sp>
      <p:sp>
        <p:nvSpPr>
          <p:cNvPr id="23" name="Shape 18"/>
          <p:cNvSpPr/>
          <p:nvPr/>
        </p:nvSpPr>
        <p:spPr>
          <a:xfrm>
            <a:off x="4663440" y="357987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5798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561588"/>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Ressenti</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L'utilisateur compare : qu'est-ce qui a changé ? Puis inversion des rôles.</a:t>
            </a:r>
            <a:endParaRPr lang="en-US" sz="1500" dirty="0"/>
          </a:p>
        </p:txBody>
      </p:sp>
      <p:sp>
        <p:nvSpPr>
          <p:cNvPr id="26" name="Shape 21"/>
          <p:cNvSpPr/>
          <p:nvPr/>
        </p:nvSpPr>
        <p:spPr>
          <a:xfrm>
            <a:off x="4663440" y="475259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475259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4734306"/>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Mon poste à la mairie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Chacun note dans son livret 2 réglages à faire sur son propre poste.</a:t>
            </a:r>
            <a:endParaRPr lang="en-US" sz="1500" dirty="0"/>
          </a:p>
        </p:txBody>
      </p:sp>
      <p:sp>
        <p:nvSpPr>
          <p:cNvPr id="29" name="Text 24"/>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3</a:t>
            </a:r>
            <a:endParaRPr lang="en-US" sz="900" dirty="0"/>
          </a:p>
        </p:txBody>
      </p:sp>
      <p:pic>
        <p:nvPicPr>
          <p:cNvPr id="30" name="Image 3" descr="logo_light.png">    </p:cNvPr>
          <p:cNvPicPr>
            <a:picLocks noChangeAspect="1"/>
          </p:cNvPicPr>
          <p:nvPr/>
        </p:nvPicPr>
        <p:blipFill>
          <a:blip r:embed="rId4"/>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Atelier 5 : routine d'étirements</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10 minutes, à reproduire au bureau ou entre deux réunions</a:t>
            </a:r>
            <a:endParaRPr lang="en-US" sz="1400" dirty="0"/>
          </a:p>
        </p:txBody>
      </p:sp>
      <p:sp>
        <p:nvSpPr>
          <p:cNvPr id="4" name="Shape 2"/>
          <p:cNvSpPr/>
          <p:nvPr/>
        </p:nvSpPr>
        <p:spPr>
          <a:xfrm>
            <a:off x="10042855" y="530352"/>
            <a:ext cx="1600200" cy="347472"/>
          </a:xfrm>
          <a:prstGeom prst="roundRect">
            <a:avLst>
              <a:gd name="adj" fmla="val 50000"/>
            </a:avLst>
          </a:prstGeom>
          <a:solidFill>
            <a:srgbClr val="F0EF96"/>
          </a:solidFill>
          <a:ln w="12700">
            <a:solidFill>
              <a:srgbClr val="F0EF96"/>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554480"/>
            <a:ext cx="3515258" cy="2103120"/>
          </a:xfrm>
          <a:prstGeom prst="roundRect">
            <a:avLst>
              <a:gd name="adj" fmla="val 3478"/>
            </a:avLst>
          </a:prstGeom>
          <a:solidFill>
            <a:srgbClr val="F0EF96"/>
          </a:solidFill>
          <a:ln w="12700">
            <a:solidFill>
              <a:srgbClr val="F0EF96"/>
            </a:solidFill>
            <a:prstDash val="solid"/>
          </a:ln>
        </p:spPr>
      </p:sp>
      <p:sp>
        <p:nvSpPr>
          <p:cNvPr id="9" name="Shape 6"/>
          <p:cNvSpPr/>
          <p:nvPr/>
        </p:nvSpPr>
        <p:spPr>
          <a:xfrm>
            <a:off x="777240" y="1783080"/>
            <a:ext cx="502920" cy="502920"/>
          </a:xfrm>
          <a:prstGeom prst="ellipse">
            <a:avLst/>
          </a:prstGeom>
          <a:solidFill>
            <a:srgbClr val="0A032B"/>
          </a:solidFill>
          <a:ln w="12700">
            <a:solidFill>
              <a:srgbClr val="0A032B"/>
            </a:solidFill>
            <a:prstDash val="solid"/>
          </a:ln>
        </p:spPr>
      </p:sp>
      <p:sp>
        <p:nvSpPr>
          <p:cNvPr id="10" name="Text 7"/>
          <p:cNvSpPr txBox="1"/>
          <p:nvPr/>
        </p:nvSpPr>
        <p:spPr>
          <a:xfrm>
            <a:off x="777240" y="178308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1</a:t>
            </a:r>
            <a:endParaRPr lang="en-US" sz="1800" dirty="0"/>
          </a:p>
        </p:txBody>
      </p:sp>
      <p:sp>
        <p:nvSpPr>
          <p:cNvPr id="11" name="Shape 8"/>
          <p:cNvSpPr/>
          <p:nvPr/>
        </p:nvSpPr>
        <p:spPr>
          <a:xfrm>
            <a:off x="3332378" y="1783080"/>
            <a:ext cx="502920" cy="50292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3458108" y="1908810"/>
            <a:ext cx="251460" cy="251460"/>
          </a:xfrm>
          <a:prstGeom prst="rect">
            <a:avLst/>
          </a:prstGeom>
        </p:spPr>
      </p:pic>
      <p:sp>
        <p:nvSpPr>
          <p:cNvPr id="13" name="Text 9"/>
          <p:cNvSpPr txBox="1"/>
          <p:nvPr/>
        </p:nvSpPr>
        <p:spPr>
          <a:xfrm>
            <a:off x="1417320" y="178308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Nuque</a:t>
            </a:r>
            <a:endParaRPr lang="en-US" sz="1600" dirty="0"/>
          </a:p>
        </p:txBody>
      </p:sp>
      <p:sp>
        <p:nvSpPr>
          <p:cNvPr id="14" name="Text 10"/>
          <p:cNvSpPr txBox="1"/>
          <p:nvPr/>
        </p:nvSpPr>
        <p:spPr>
          <a:xfrm>
            <a:off x="777240" y="242316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Incliner doucement la tête vers l'épaule, main sur la tête sans tirer. 20 s de chaque côté.</a:t>
            </a:r>
            <a:endParaRPr lang="en-US" sz="1300" dirty="0"/>
          </a:p>
        </p:txBody>
      </p:sp>
      <p:sp>
        <p:nvSpPr>
          <p:cNvPr id="15" name="Shape 11"/>
          <p:cNvSpPr/>
          <p:nvPr/>
        </p:nvSpPr>
        <p:spPr>
          <a:xfrm>
            <a:off x="4338218" y="1554480"/>
            <a:ext cx="3515258" cy="2103120"/>
          </a:xfrm>
          <a:prstGeom prst="roundRect">
            <a:avLst>
              <a:gd name="adj" fmla="val 3478"/>
            </a:avLst>
          </a:prstGeom>
          <a:solidFill>
            <a:srgbClr val="F0EF96"/>
          </a:solidFill>
          <a:ln w="12700">
            <a:solidFill>
              <a:srgbClr val="F0EF96"/>
            </a:solidFill>
            <a:prstDash val="solid"/>
          </a:ln>
        </p:spPr>
      </p:sp>
      <p:sp>
        <p:nvSpPr>
          <p:cNvPr id="16" name="Shape 12"/>
          <p:cNvSpPr/>
          <p:nvPr/>
        </p:nvSpPr>
        <p:spPr>
          <a:xfrm>
            <a:off x="4566818" y="1783080"/>
            <a:ext cx="502920" cy="502920"/>
          </a:xfrm>
          <a:prstGeom prst="ellipse">
            <a:avLst/>
          </a:prstGeom>
          <a:solidFill>
            <a:srgbClr val="0A032B"/>
          </a:solidFill>
          <a:ln w="12700">
            <a:solidFill>
              <a:srgbClr val="0A032B"/>
            </a:solidFill>
            <a:prstDash val="solid"/>
          </a:ln>
        </p:spPr>
      </p:sp>
      <p:sp>
        <p:nvSpPr>
          <p:cNvPr id="17" name="Text 13"/>
          <p:cNvSpPr txBox="1"/>
          <p:nvPr/>
        </p:nvSpPr>
        <p:spPr>
          <a:xfrm>
            <a:off x="4566818" y="178308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2</a:t>
            </a:r>
            <a:endParaRPr lang="en-US" sz="1800" dirty="0"/>
          </a:p>
        </p:txBody>
      </p:sp>
      <p:sp>
        <p:nvSpPr>
          <p:cNvPr id="18" name="Shape 14"/>
          <p:cNvSpPr/>
          <p:nvPr/>
        </p:nvSpPr>
        <p:spPr>
          <a:xfrm>
            <a:off x="7121957" y="1783080"/>
            <a:ext cx="502920" cy="502920"/>
          </a:xfrm>
          <a:prstGeom prst="ellipse">
            <a:avLst/>
          </a:prstGeom>
          <a:solidFill>
            <a:srgbClr val="FFFFFF"/>
          </a:solidFill>
          <a:ln w="12700">
            <a:solidFill>
              <a:srgbClr val="FFFFFF"/>
            </a:solidFill>
            <a:prstDash val="solid"/>
          </a:ln>
        </p:spPr>
      </p:sp>
      <p:pic>
        <p:nvPicPr>
          <p:cNvPr id="19" name="Image 2" descr="preencoded.png">    </p:cNvPr>
          <p:cNvPicPr>
            <a:picLocks noChangeAspect="1"/>
          </p:cNvPicPr>
          <p:nvPr/>
        </p:nvPicPr>
        <p:blipFill>
          <a:blip r:embed="rId3"/>
          <a:stretch>
            <a:fillRect/>
          </a:stretch>
        </p:blipFill>
        <p:spPr>
          <a:xfrm>
            <a:off x="7247687" y="1908810"/>
            <a:ext cx="251460" cy="251460"/>
          </a:xfrm>
          <a:prstGeom prst="rect">
            <a:avLst/>
          </a:prstGeom>
        </p:spPr>
      </p:pic>
      <p:sp>
        <p:nvSpPr>
          <p:cNvPr id="20" name="Text 15"/>
          <p:cNvSpPr txBox="1"/>
          <p:nvPr/>
        </p:nvSpPr>
        <p:spPr>
          <a:xfrm>
            <a:off x="5206898" y="178308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Épaules</a:t>
            </a:r>
            <a:endParaRPr lang="en-US" sz="1600" dirty="0"/>
          </a:p>
        </p:txBody>
      </p:sp>
      <p:sp>
        <p:nvSpPr>
          <p:cNvPr id="21" name="Text 16"/>
          <p:cNvSpPr txBox="1"/>
          <p:nvPr/>
        </p:nvSpPr>
        <p:spPr>
          <a:xfrm>
            <a:off x="4566818" y="242316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Rouler les épaules vers l'arrière, puis croiser un bras devant la poitrine. 20 s par bras.</a:t>
            </a:r>
            <a:endParaRPr lang="en-US" sz="1300" dirty="0"/>
          </a:p>
        </p:txBody>
      </p:sp>
      <p:sp>
        <p:nvSpPr>
          <p:cNvPr id="22" name="Shape 17"/>
          <p:cNvSpPr/>
          <p:nvPr/>
        </p:nvSpPr>
        <p:spPr>
          <a:xfrm>
            <a:off x="8127797" y="1554480"/>
            <a:ext cx="3515258" cy="2103120"/>
          </a:xfrm>
          <a:prstGeom prst="roundRect">
            <a:avLst>
              <a:gd name="adj" fmla="val 3478"/>
            </a:avLst>
          </a:prstGeom>
          <a:solidFill>
            <a:srgbClr val="F0EF96"/>
          </a:solidFill>
          <a:ln w="12700">
            <a:solidFill>
              <a:srgbClr val="F0EF96"/>
            </a:solidFill>
            <a:prstDash val="solid"/>
          </a:ln>
        </p:spPr>
      </p:sp>
      <p:sp>
        <p:nvSpPr>
          <p:cNvPr id="23" name="Shape 18"/>
          <p:cNvSpPr/>
          <p:nvPr/>
        </p:nvSpPr>
        <p:spPr>
          <a:xfrm>
            <a:off x="8356397" y="1783080"/>
            <a:ext cx="502920" cy="502920"/>
          </a:xfrm>
          <a:prstGeom prst="ellipse">
            <a:avLst/>
          </a:prstGeom>
          <a:solidFill>
            <a:srgbClr val="0A032B"/>
          </a:solidFill>
          <a:ln w="12700">
            <a:solidFill>
              <a:srgbClr val="0A032B"/>
            </a:solidFill>
            <a:prstDash val="solid"/>
          </a:ln>
        </p:spPr>
      </p:sp>
      <p:sp>
        <p:nvSpPr>
          <p:cNvPr id="24" name="Text 19"/>
          <p:cNvSpPr txBox="1"/>
          <p:nvPr/>
        </p:nvSpPr>
        <p:spPr>
          <a:xfrm>
            <a:off x="8356397" y="178308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3</a:t>
            </a:r>
            <a:endParaRPr lang="en-US" sz="1800" dirty="0"/>
          </a:p>
        </p:txBody>
      </p:sp>
      <p:sp>
        <p:nvSpPr>
          <p:cNvPr id="25" name="Shape 20"/>
          <p:cNvSpPr/>
          <p:nvPr/>
        </p:nvSpPr>
        <p:spPr>
          <a:xfrm>
            <a:off x="10911535" y="1783080"/>
            <a:ext cx="502920" cy="502920"/>
          </a:xfrm>
          <a:prstGeom prst="ellipse">
            <a:avLst/>
          </a:prstGeom>
          <a:solidFill>
            <a:srgbClr val="FFFFFF"/>
          </a:solidFill>
          <a:ln w="127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11037265" y="1908810"/>
            <a:ext cx="251460" cy="251460"/>
          </a:xfrm>
          <a:prstGeom prst="rect">
            <a:avLst/>
          </a:prstGeom>
        </p:spPr>
      </p:pic>
      <p:sp>
        <p:nvSpPr>
          <p:cNvPr id="27" name="Text 21"/>
          <p:cNvSpPr txBox="1"/>
          <p:nvPr/>
        </p:nvSpPr>
        <p:spPr>
          <a:xfrm>
            <a:off x="8996477" y="178308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Poignets</a:t>
            </a:r>
            <a:endParaRPr lang="en-US" sz="1600" dirty="0"/>
          </a:p>
        </p:txBody>
      </p:sp>
      <p:sp>
        <p:nvSpPr>
          <p:cNvPr id="28" name="Text 22"/>
          <p:cNvSpPr txBox="1"/>
          <p:nvPr/>
        </p:nvSpPr>
        <p:spPr>
          <a:xfrm>
            <a:off x="8356397" y="242316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Bras tendu, paume vers l'avant, ramener les doigts vers soi avec l'autre main. 20 s par main.</a:t>
            </a:r>
            <a:endParaRPr lang="en-US" sz="1300" dirty="0"/>
          </a:p>
        </p:txBody>
      </p:sp>
      <p:sp>
        <p:nvSpPr>
          <p:cNvPr id="29" name="Shape 23"/>
          <p:cNvSpPr/>
          <p:nvPr/>
        </p:nvSpPr>
        <p:spPr>
          <a:xfrm>
            <a:off x="548640" y="3886200"/>
            <a:ext cx="3515258" cy="2103120"/>
          </a:xfrm>
          <a:prstGeom prst="roundRect">
            <a:avLst>
              <a:gd name="adj" fmla="val 3478"/>
            </a:avLst>
          </a:prstGeom>
          <a:solidFill>
            <a:srgbClr val="F0EF96"/>
          </a:solidFill>
          <a:ln w="12700">
            <a:solidFill>
              <a:srgbClr val="F0EF96"/>
            </a:solidFill>
            <a:prstDash val="solid"/>
          </a:ln>
        </p:spPr>
      </p:sp>
      <p:sp>
        <p:nvSpPr>
          <p:cNvPr id="30" name="Shape 24"/>
          <p:cNvSpPr/>
          <p:nvPr/>
        </p:nvSpPr>
        <p:spPr>
          <a:xfrm>
            <a:off x="777240" y="4114800"/>
            <a:ext cx="502920" cy="502920"/>
          </a:xfrm>
          <a:prstGeom prst="ellipse">
            <a:avLst/>
          </a:prstGeom>
          <a:solidFill>
            <a:srgbClr val="0A032B"/>
          </a:solidFill>
          <a:ln w="12700">
            <a:solidFill>
              <a:srgbClr val="0A032B"/>
            </a:solidFill>
            <a:prstDash val="solid"/>
          </a:ln>
        </p:spPr>
      </p:sp>
      <p:sp>
        <p:nvSpPr>
          <p:cNvPr id="31" name="Text 25"/>
          <p:cNvSpPr txBox="1"/>
          <p:nvPr/>
        </p:nvSpPr>
        <p:spPr>
          <a:xfrm>
            <a:off x="777240" y="411480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4</a:t>
            </a:r>
            <a:endParaRPr lang="en-US" sz="1800" dirty="0"/>
          </a:p>
        </p:txBody>
      </p:sp>
      <p:sp>
        <p:nvSpPr>
          <p:cNvPr id="32" name="Shape 26"/>
          <p:cNvSpPr/>
          <p:nvPr/>
        </p:nvSpPr>
        <p:spPr>
          <a:xfrm>
            <a:off x="3332378" y="4114800"/>
            <a:ext cx="502920" cy="502920"/>
          </a:xfrm>
          <a:prstGeom prst="ellipse">
            <a:avLst/>
          </a:prstGeom>
          <a:solidFill>
            <a:srgbClr val="FFFFFF"/>
          </a:solidFill>
          <a:ln w="12700">
            <a:solidFill>
              <a:srgbClr val="FFFFFF"/>
            </a:solidFill>
            <a:prstDash val="solid"/>
          </a:ln>
        </p:spPr>
      </p:sp>
      <p:pic>
        <p:nvPicPr>
          <p:cNvPr id="33" name="Image 4" descr="preencoded.png">    </p:cNvPr>
          <p:cNvPicPr>
            <a:picLocks noChangeAspect="1"/>
          </p:cNvPicPr>
          <p:nvPr/>
        </p:nvPicPr>
        <p:blipFill>
          <a:blip r:embed="rId5"/>
          <a:stretch>
            <a:fillRect/>
          </a:stretch>
        </p:blipFill>
        <p:spPr>
          <a:xfrm>
            <a:off x="3458108" y="4240530"/>
            <a:ext cx="251460" cy="251460"/>
          </a:xfrm>
          <a:prstGeom prst="rect">
            <a:avLst/>
          </a:prstGeom>
        </p:spPr>
      </p:pic>
      <p:sp>
        <p:nvSpPr>
          <p:cNvPr id="34" name="Text 27"/>
          <p:cNvSpPr txBox="1"/>
          <p:nvPr/>
        </p:nvSpPr>
        <p:spPr>
          <a:xfrm>
            <a:off x="1417320" y="411480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Dos</a:t>
            </a:r>
            <a:endParaRPr lang="en-US" sz="1600" dirty="0"/>
          </a:p>
        </p:txBody>
      </p:sp>
      <p:sp>
        <p:nvSpPr>
          <p:cNvPr id="35" name="Text 28"/>
          <p:cNvSpPr txBox="1"/>
          <p:nvPr/>
        </p:nvSpPr>
        <p:spPr>
          <a:xfrm>
            <a:off x="777240" y="475488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Assis, dos rond en expirant, puis dos creux en inspirant (chat / vache). 5 fois.</a:t>
            </a:r>
            <a:endParaRPr lang="en-US" sz="1300" dirty="0"/>
          </a:p>
        </p:txBody>
      </p:sp>
      <p:sp>
        <p:nvSpPr>
          <p:cNvPr id="36" name="Shape 29"/>
          <p:cNvSpPr/>
          <p:nvPr/>
        </p:nvSpPr>
        <p:spPr>
          <a:xfrm>
            <a:off x="4338218" y="3886200"/>
            <a:ext cx="3515258" cy="2103120"/>
          </a:xfrm>
          <a:prstGeom prst="roundRect">
            <a:avLst>
              <a:gd name="adj" fmla="val 3478"/>
            </a:avLst>
          </a:prstGeom>
          <a:solidFill>
            <a:srgbClr val="F0EF96"/>
          </a:solidFill>
          <a:ln w="12700">
            <a:solidFill>
              <a:srgbClr val="F0EF96"/>
            </a:solidFill>
            <a:prstDash val="solid"/>
          </a:ln>
        </p:spPr>
      </p:sp>
      <p:sp>
        <p:nvSpPr>
          <p:cNvPr id="37" name="Shape 30"/>
          <p:cNvSpPr/>
          <p:nvPr/>
        </p:nvSpPr>
        <p:spPr>
          <a:xfrm>
            <a:off x="4566818" y="4114800"/>
            <a:ext cx="502920" cy="502920"/>
          </a:xfrm>
          <a:prstGeom prst="ellipse">
            <a:avLst/>
          </a:prstGeom>
          <a:solidFill>
            <a:srgbClr val="0A032B"/>
          </a:solidFill>
          <a:ln w="12700">
            <a:solidFill>
              <a:srgbClr val="0A032B"/>
            </a:solidFill>
            <a:prstDash val="solid"/>
          </a:ln>
        </p:spPr>
      </p:sp>
      <p:sp>
        <p:nvSpPr>
          <p:cNvPr id="38" name="Text 31"/>
          <p:cNvSpPr txBox="1"/>
          <p:nvPr/>
        </p:nvSpPr>
        <p:spPr>
          <a:xfrm>
            <a:off x="4566818" y="411480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5</a:t>
            </a:r>
            <a:endParaRPr lang="en-US" sz="1800" dirty="0"/>
          </a:p>
        </p:txBody>
      </p:sp>
      <p:sp>
        <p:nvSpPr>
          <p:cNvPr id="39" name="Shape 32"/>
          <p:cNvSpPr/>
          <p:nvPr/>
        </p:nvSpPr>
        <p:spPr>
          <a:xfrm>
            <a:off x="7121957" y="4114800"/>
            <a:ext cx="502920" cy="502920"/>
          </a:xfrm>
          <a:prstGeom prst="ellipse">
            <a:avLst/>
          </a:prstGeom>
          <a:solidFill>
            <a:srgbClr val="FFFFFF"/>
          </a:solidFill>
          <a:ln w="12700">
            <a:solidFill>
              <a:srgbClr val="FFFFFF"/>
            </a:solidFill>
            <a:prstDash val="solid"/>
          </a:ln>
        </p:spPr>
      </p:sp>
      <p:pic>
        <p:nvPicPr>
          <p:cNvPr id="40" name="Image 5" descr="preencoded.png">    </p:cNvPr>
          <p:cNvPicPr>
            <a:picLocks noChangeAspect="1"/>
          </p:cNvPicPr>
          <p:nvPr/>
        </p:nvPicPr>
        <p:blipFill>
          <a:blip r:embed="rId6"/>
          <a:stretch>
            <a:fillRect/>
          </a:stretch>
        </p:blipFill>
        <p:spPr>
          <a:xfrm>
            <a:off x="7247687" y="4240530"/>
            <a:ext cx="251460" cy="251460"/>
          </a:xfrm>
          <a:prstGeom prst="rect">
            <a:avLst/>
          </a:prstGeom>
        </p:spPr>
      </p:pic>
      <p:sp>
        <p:nvSpPr>
          <p:cNvPr id="41" name="Text 33"/>
          <p:cNvSpPr txBox="1"/>
          <p:nvPr/>
        </p:nvSpPr>
        <p:spPr>
          <a:xfrm>
            <a:off x="5206898" y="411480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Rotation</a:t>
            </a:r>
            <a:endParaRPr lang="en-US" sz="1600" dirty="0"/>
          </a:p>
        </p:txBody>
      </p:sp>
      <p:sp>
        <p:nvSpPr>
          <p:cNvPr id="42" name="Text 34"/>
          <p:cNvSpPr txBox="1"/>
          <p:nvPr/>
        </p:nvSpPr>
        <p:spPr>
          <a:xfrm>
            <a:off x="4566818" y="475488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Assis, pivoter doucement le buste en tenant le dossier de la chaise. 15 s de chaque côté.</a:t>
            </a:r>
            <a:endParaRPr lang="en-US" sz="1300" dirty="0"/>
          </a:p>
        </p:txBody>
      </p:sp>
      <p:sp>
        <p:nvSpPr>
          <p:cNvPr id="43" name="Shape 35"/>
          <p:cNvSpPr/>
          <p:nvPr/>
        </p:nvSpPr>
        <p:spPr>
          <a:xfrm>
            <a:off x="8127797" y="3886200"/>
            <a:ext cx="3515258" cy="2103120"/>
          </a:xfrm>
          <a:prstGeom prst="roundRect">
            <a:avLst>
              <a:gd name="adj" fmla="val 3478"/>
            </a:avLst>
          </a:prstGeom>
          <a:solidFill>
            <a:srgbClr val="F0EF96"/>
          </a:solidFill>
          <a:ln w="12700">
            <a:solidFill>
              <a:srgbClr val="F0EF96"/>
            </a:solidFill>
            <a:prstDash val="solid"/>
          </a:ln>
        </p:spPr>
      </p:sp>
      <p:sp>
        <p:nvSpPr>
          <p:cNvPr id="44" name="Shape 36"/>
          <p:cNvSpPr/>
          <p:nvPr/>
        </p:nvSpPr>
        <p:spPr>
          <a:xfrm>
            <a:off x="8356397" y="4114800"/>
            <a:ext cx="502920" cy="502920"/>
          </a:xfrm>
          <a:prstGeom prst="ellipse">
            <a:avLst/>
          </a:prstGeom>
          <a:solidFill>
            <a:srgbClr val="0A032B"/>
          </a:solidFill>
          <a:ln w="12700">
            <a:solidFill>
              <a:srgbClr val="0A032B"/>
            </a:solidFill>
            <a:prstDash val="solid"/>
          </a:ln>
        </p:spPr>
      </p:sp>
      <p:sp>
        <p:nvSpPr>
          <p:cNvPr id="45" name="Text 37"/>
          <p:cNvSpPr txBox="1"/>
          <p:nvPr/>
        </p:nvSpPr>
        <p:spPr>
          <a:xfrm>
            <a:off x="8356397" y="411480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6</a:t>
            </a:r>
            <a:endParaRPr lang="en-US" sz="1800" dirty="0"/>
          </a:p>
        </p:txBody>
      </p:sp>
      <p:sp>
        <p:nvSpPr>
          <p:cNvPr id="46" name="Shape 38"/>
          <p:cNvSpPr/>
          <p:nvPr/>
        </p:nvSpPr>
        <p:spPr>
          <a:xfrm>
            <a:off x="10911535" y="4114800"/>
            <a:ext cx="502920" cy="502920"/>
          </a:xfrm>
          <a:prstGeom prst="ellipse">
            <a:avLst/>
          </a:prstGeom>
          <a:solidFill>
            <a:srgbClr val="FFFFFF"/>
          </a:solidFill>
          <a:ln w="12700">
            <a:solidFill>
              <a:srgbClr val="FFFFFF"/>
            </a:solidFill>
            <a:prstDash val="solid"/>
          </a:ln>
        </p:spPr>
      </p:sp>
      <p:pic>
        <p:nvPicPr>
          <p:cNvPr id="47" name="Image 6" descr="preencoded.png">    </p:cNvPr>
          <p:cNvPicPr>
            <a:picLocks noChangeAspect="1"/>
          </p:cNvPicPr>
          <p:nvPr/>
        </p:nvPicPr>
        <p:blipFill>
          <a:blip r:embed="rId7"/>
          <a:stretch>
            <a:fillRect/>
          </a:stretch>
        </p:blipFill>
        <p:spPr>
          <a:xfrm>
            <a:off x="11037265" y="4240530"/>
            <a:ext cx="251460" cy="251460"/>
          </a:xfrm>
          <a:prstGeom prst="rect">
            <a:avLst/>
          </a:prstGeom>
        </p:spPr>
      </p:pic>
      <p:sp>
        <p:nvSpPr>
          <p:cNvPr id="48" name="Text 39"/>
          <p:cNvSpPr txBox="1"/>
          <p:nvPr/>
        </p:nvSpPr>
        <p:spPr>
          <a:xfrm>
            <a:off x="8996477" y="4114800"/>
            <a:ext cx="1777898" cy="50292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Jambes</a:t>
            </a:r>
            <a:endParaRPr lang="en-US" sz="1600" dirty="0"/>
          </a:p>
        </p:txBody>
      </p:sp>
      <p:sp>
        <p:nvSpPr>
          <p:cNvPr id="49" name="Text 40"/>
          <p:cNvSpPr txBox="1"/>
          <p:nvPr/>
        </p:nvSpPr>
        <p:spPr>
          <a:xfrm>
            <a:off x="8356397" y="4754880"/>
            <a:ext cx="3058058" cy="1097280"/>
          </a:xfrm>
          <a:prstGeom prst="rect">
            <a:avLst/>
          </a:prstGeom>
          <a:noFill/>
          <a:ln/>
        </p:spPr>
        <p:txBody>
          <a:bodyPr wrap="square" lIns="0" tIns="0" rIns="0" bIns="0" rtlCol="0" anchor="t"/>
          <a:lstStyle/>
          <a:p>
            <a:pPr indent="0" marL="0">
              <a:buNone/>
            </a:pPr>
            <a:r>
              <a:rPr lang="en-US" sz="1300" dirty="0">
                <a:solidFill>
                  <a:srgbClr val="0A032B"/>
                </a:solidFill>
                <a:latin typeface="Arial" pitchFamily="34" charset="0"/>
                <a:ea typeface="Arial" pitchFamily="34" charset="-122"/>
                <a:cs typeface="Arial" pitchFamily="34" charset="-120"/>
              </a:rPr>
              <a:t>Debout, un pied sur une marche, jambe tendue, buste droit penché vers l'avant. 20 s par jambe.</a:t>
            </a:r>
            <a:endParaRPr lang="en-US" sz="1300" dirty="0"/>
          </a:p>
        </p:txBody>
      </p:sp>
      <p:sp>
        <p:nvSpPr>
          <p:cNvPr id="50" name="Text 41"/>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200" b="1" i="1" dirty="0">
                <a:solidFill>
                  <a:srgbClr val="35305C"/>
                </a:solidFill>
                <a:latin typeface="Arial" pitchFamily="34" charset="0"/>
                <a:ea typeface="Arial" pitchFamily="34" charset="-122"/>
                <a:cs typeface="Arial" pitchFamily="34" charset="-120"/>
              </a:rPr>
              <a:t>Sans à-coups · sans douleur · en respirant calmement</a:t>
            </a:r>
            <a:endParaRPr lang="en-US" sz="12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EEDF5"/>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À retenir</a:t>
            </a:r>
            <a:endParaRPr lang="en-US" sz="2800" dirty="0"/>
          </a:p>
        </p:txBody>
      </p:sp>
      <p:sp>
        <p:nvSpPr>
          <p:cNvPr id="3" name="Text 1"/>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3</a:t>
            </a:r>
            <a:endParaRPr lang="en-US" sz="900" dirty="0"/>
          </a:p>
        </p:txBody>
      </p:sp>
      <p:pic>
        <p:nvPicPr>
          <p:cNvPr id="4"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5" name="Shape 2"/>
          <p:cNvSpPr/>
          <p:nvPr/>
        </p:nvSpPr>
        <p:spPr>
          <a:xfrm>
            <a:off x="548640"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6" name="Shape 3"/>
          <p:cNvSpPr/>
          <p:nvPr/>
        </p:nvSpPr>
        <p:spPr>
          <a:xfrm>
            <a:off x="777240" y="1859280"/>
            <a:ext cx="457200" cy="457200"/>
          </a:xfrm>
          <a:prstGeom prst="ellipse">
            <a:avLst/>
          </a:prstGeom>
          <a:solidFill>
            <a:srgbClr val="F0EF96"/>
          </a:solidFill>
          <a:ln w="12700">
            <a:solidFill>
              <a:srgbClr val="F0EF96"/>
            </a:solidFill>
            <a:prstDash val="solid"/>
          </a:ln>
        </p:spPr>
      </p:sp>
      <p:pic>
        <p:nvPicPr>
          <p:cNvPr id="7" name="Image 1" descr="preencoded.png">    </p:cNvPr>
          <p:cNvPicPr>
            <a:picLocks noChangeAspect="1"/>
          </p:cNvPicPr>
          <p:nvPr/>
        </p:nvPicPr>
        <p:blipFill>
          <a:blip r:embed="rId2"/>
          <a:stretch>
            <a:fillRect/>
          </a:stretch>
        </p:blipFill>
        <p:spPr>
          <a:xfrm>
            <a:off x="891540" y="1973580"/>
            <a:ext cx="228600" cy="228600"/>
          </a:xfrm>
          <a:prstGeom prst="rect">
            <a:avLst/>
          </a:prstGeom>
        </p:spPr>
      </p:pic>
      <p:sp>
        <p:nvSpPr>
          <p:cNvPr id="8" name="Text 4"/>
          <p:cNvSpPr txBox="1"/>
          <p:nvPr/>
        </p:nvSpPr>
        <p:spPr>
          <a:xfrm>
            <a:off x="1417320"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Supprimer, mécaniser, réduire, puis former : dans cet ordre.</a:t>
            </a:r>
            <a:endParaRPr lang="en-US" sz="1400" dirty="0"/>
          </a:p>
        </p:txBody>
      </p:sp>
      <p:sp>
        <p:nvSpPr>
          <p:cNvPr id="9" name="Shape 5"/>
          <p:cNvSpPr/>
          <p:nvPr/>
        </p:nvSpPr>
        <p:spPr>
          <a:xfrm>
            <a:off x="6233008"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0" name="Shape 6"/>
          <p:cNvSpPr/>
          <p:nvPr/>
        </p:nvSpPr>
        <p:spPr>
          <a:xfrm>
            <a:off x="6461608" y="1859280"/>
            <a:ext cx="457200" cy="457200"/>
          </a:xfrm>
          <a:prstGeom prst="ellipse">
            <a:avLst/>
          </a:prstGeom>
          <a:solidFill>
            <a:srgbClr val="F0EF96"/>
          </a:solidFill>
          <a:ln w="12700">
            <a:solidFill>
              <a:srgbClr val="F0EF96"/>
            </a:solidFill>
            <a:prstDash val="solid"/>
          </a:ln>
        </p:spPr>
      </p:sp>
      <p:pic>
        <p:nvPicPr>
          <p:cNvPr id="11" name="Image 2" descr="preencoded.png">    </p:cNvPr>
          <p:cNvPicPr>
            <a:picLocks noChangeAspect="1"/>
          </p:cNvPicPr>
          <p:nvPr/>
        </p:nvPicPr>
        <p:blipFill>
          <a:blip r:embed="rId3"/>
          <a:stretch>
            <a:fillRect/>
          </a:stretch>
        </p:blipFill>
        <p:spPr>
          <a:xfrm>
            <a:off x="6575908" y="1973580"/>
            <a:ext cx="228600" cy="228600"/>
          </a:xfrm>
          <a:prstGeom prst="rect">
            <a:avLst/>
          </a:prstGeom>
        </p:spPr>
      </p:pic>
      <p:sp>
        <p:nvSpPr>
          <p:cNvPr id="12" name="Text 7"/>
          <p:cNvSpPr txBox="1"/>
          <p:nvPr/>
        </p:nvSpPr>
        <p:spPr>
          <a:xfrm>
            <a:off x="7101688"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Une aide technique existe pour presque chaque manutention du mandat.</a:t>
            </a:r>
            <a:endParaRPr lang="en-US" sz="1400" dirty="0"/>
          </a:p>
        </p:txBody>
      </p:sp>
      <p:sp>
        <p:nvSpPr>
          <p:cNvPr id="13" name="Shape 8"/>
          <p:cNvSpPr/>
          <p:nvPr/>
        </p:nvSpPr>
        <p:spPr>
          <a:xfrm>
            <a:off x="548640"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4" name="Shape 9"/>
          <p:cNvSpPr/>
          <p:nvPr/>
        </p:nvSpPr>
        <p:spPr>
          <a:xfrm>
            <a:off x="777240" y="3474720"/>
            <a:ext cx="457200" cy="457200"/>
          </a:xfrm>
          <a:prstGeom prst="ellipse">
            <a:avLst/>
          </a:prstGeom>
          <a:solidFill>
            <a:srgbClr val="F0EF96"/>
          </a:solidFill>
          <a:ln w="12700">
            <a:solidFill>
              <a:srgbClr val="F0EF96"/>
            </a:solidFill>
            <a:prstDash val="solid"/>
          </a:ln>
        </p:spPr>
      </p:sp>
      <p:pic>
        <p:nvPicPr>
          <p:cNvPr id="15" name="Image 3" descr="preencoded.png">    </p:cNvPr>
          <p:cNvPicPr>
            <a:picLocks noChangeAspect="1"/>
          </p:cNvPicPr>
          <p:nvPr/>
        </p:nvPicPr>
        <p:blipFill>
          <a:blip r:embed="rId4"/>
          <a:stretch>
            <a:fillRect/>
          </a:stretch>
        </p:blipFill>
        <p:spPr>
          <a:xfrm>
            <a:off x="891540" y="3589020"/>
            <a:ext cx="228600" cy="228600"/>
          </a:xfrm>
          <a:prstGeom prst="rect">
            <a:avLst/>
          </a:prstGeom>
        </p:spPr>
      </p:pic>
      <p:sp>
        <p:nvSpPr>
          <p:cNvPr id="16" name="Text 10"/>
          <p:cNvSpPr txBox="1"/>
          <p:nvPr/>
        </p:nvSpPr>
        <p:spPr>
          <a:xfrm>
            <a:off x="1417320"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Écran à hauteur des yeux, à une longueur de bras.</a:t>
            </a:r>
            <a:endParaRPr lang="en-US" sz="1400" dirty="0"/>
          </a:p>
        </p:txBody>
      </p:sp>
      <p:sp>
        <p:nvSpPr>
          <p:cNvPr id="17" name="Shape 11"/>
          <p:cNvSpPr/>
          <p:nvPr/>
        </p:nvSpPr>
        <p:spPr>
          <a:xfrm>
            <a:off x="6233008"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8" name="Shape 12"/>
          <p:cNvSpPr/>
          <p:nvPr/>
        </p:nvSpPr>
        <p:spPr>
          <a:xfrm>
            <a:off x="6461608" y="3474720"/>
            <a:ext cx="457200" cy="457200"/>
          </a:xfrm>
          <a:prstGeom prst="ellipse">
            <a:avLst/>
          </a:prstGeom>
          <a:solidFill>
            <a:srgbClr val="F0EF96"/>
          </a:solidFill>
          <a:ln w="12700">
            <a:solidFill>
              <a:srgbClr val="F0EF96"/>
            </a:solidFill>
            <a:prstDash val="solid"/>
          </a:ln>
        </p:spPr>
      </p:sp>
      <p:pic>
        <p:nvPicPr>
          <p:cNvPr id="19" name="Image 4" descr="preencoded.png">    </p:cNvPr>
          <p:cNvPicPr>
            <a:picLocks noChangeAspect="1"/>
          </p:cNvPicPr>
          <p:nvPr/>
        </p:nvPicPr>
        <p:blipFill>
          <a:blip r:embed="rId5"/>
          <a:stretch>
            <a:fillRect/>
          </a:stretch>
        </p:blipFill>
        <p:spPr>
          <a:xfrm>
            <a:off x="6575908" y="3589020"/>
            <a:ext cx="228600" cy="228600"/>
          </a:xfrm>
          <a:prstGeom prst="rect">
            <a:avLst/>
          </a:prstGeom>
        </p:spPr>
      </p:pic>
      <p:sp>
        <p:nvSpPr>
          <p:cNvPr id="20" name="Text 13"/>
          <p:cNvSpPr txBox="1"/>
          <p:nvPr/>
        </p:nvSpPr>
        <p:spPr>
          <a:xfrm>
            <a:off x="7101688"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Changer de position au moins toutes les 30 minutes.</a:t>
            </a:r>
            <a:endParaRPr lang="en-US" sz="1400" dirty="0"/>
          </a:p>
        </p:txBody>
      </p:sp>
      <p:sp>
        <p:nvSpPr>
          <p:cNvPr id="21" name="Shape 14"/>
          <p:cNvSpPr/>
          <p:nvPr/>
        </p:nvSpPr>
        <p:spPr>
          <a:xfrm>
            <a:off x="548640"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2" name="Shape 15"/>
          <p:cNvSpPr/>
          <p:nvPr/>
        </p:nvSpPr>
        <p:spPr>
          <a:xfrm>
            <a:off x="777240" y="5090160"/>
            <a:ext cx="457200" cy="457200"/>
          </a:xfrm>
          <a:prstGeom prst="ellipse">
            <a:avLst/>
          </a:prstGeom>
          <a:solidFill>
            <a:srgbClr val="F0EF96"/>
          </a:solidFill>
          <a:ln w="12700">
            <a:solidFill>
              <a:srgbClr val="F0EF96"/>
            </a:solidFill>
            <a:prstDash val="solid"/>
          </a:ln>
        </p:spPr>
      </p:sp>
      <p:pic>
        <p:nvPicPr>
          <p:cNvPr id="23" name="Image 5" descr="preencoded.png">    </p:cNvPr>
          <p:cNvPicPr>
            <a:picLocks noChangeAspect="1"/>
          </p:cNvPicPr>
          <p:nvPr/>
        </p:nvPicPr>
        <p:blipFill>
          <a:blip r:embed="rId6"/>
          <a:stretch>
            <a:fillRect/>
          </a:stretch>
        </p:blipFill>
        <p:spPr>
          <a:xfrm>
            <a:off x="891540" y="5204460"/>
            <a:ext cx="228600" cy="228600"/>
          </a:xfrm>
          <a:prstGeom prst="rect">
            <a:avLst/>
          </a:prstGeom>
        </p:spPr>
      </p:pic>
      <p:sp>
        <p:nvSpPr>
          <p:cNvPr id="24" name="Text 16"/>
          <p:cNvSpPr txBox="1"/>
          <p:nvPr/>
        </p:nvSpPr>
        <p:spPr>
          <a:xfrm>
            <a:off x="1417320"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En voiture : régler son siège, faire une pause toutes les 2 heures.</a:t>
            </a:r>
            <a:endParaRPr lang="en-US" sz="1400" dirty="0"/>
          </a:p>
        </p:txBody>
      </p:sp>
      <p:sp>
        <p:nvSpPr>
          <p:cNvPr id="25" name="Shape 17"/>
          <p:cNvSpPr/>
          <p:nvPr/>
        </p:nvSpPr>
        <p:spPr>
          <a:xfrm>
            <a:off x="6233008"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6" name="Shape 18"/>
          <p:cNvSpPr/>
          <p:nvPr/>
        </p:nvSpPr>
        <p:spPr>
          <a:xfrm>
            <a:off x="6461608" y="5090160"/>
            <a:ext cx="457200" cy="457200"/>
          </a:xfrm>
          <a:prstGeom prst="ellipse">
            <a:avLst/>
          </a:prstGeom>
          <a:solidFill>
            <a:srgbClr val="F0EF96"/>
          </a:solidFill>
          <a:ln w="12700">
            <a:solidFill>
              <a:srgbClr val="F0EF96"/>
            </a:solidFill>
            <a:prstDash val="solid"/>
          </a:ln>
        </p:spPr>
      </p:sp>
      <p:pic>
        <p:nvPicPr>
          <p:cNvPr id="27" name="Image 6" descr="preencoded.png">    </p:cNvPr>
          <p:cNvPicPr>
            <a:picLocks noChangeAspect="1"/>
          </p:cNvPicPr>
          <p:nvPr/>
        </p:nvPicPr>
        <p:blipFill>
          <a:blip r:embed="rId7"/>
          <a:stretch>
            <a:fillRect/>
          </a:stretch>
        </p:blipFill>
        <p:spPr>
          <a:xfrm>
            <a:off x="6575908" y="5204460"/>
            <a:ext cx="228600" cy="228600"/>
          </a:xfrm>
          <a:prstGeom prst="rect">
            <a:avLst/>
          </a:prstGeom>
        </p:spPr>
      </p:pic>
      <p:sp>
        <p:nvSpPr>
          <p:cNvPr id="28" name="Text 19"/>
          <p:cNvSpPr txBox="1"/>
          <p:nvPr/>
        </p:nvSpPr>
        <p:spPr>
          <a:xfrm>
            <a:off x="7101688"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Quelques étirements simples, plusieurs fois par jour.</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04</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SÉQUENCE 4</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Le rôle de l'élu dans la prévention des risques des agents</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Connaître les obligations de la collectivité et les acteurs de la prévention, et situer le rôle de l'élu.</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75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obligations de l'autorité territoriale</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Le maire ou le président est responsable de la santé et de la sécurité des agents</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3515258" cy="2080260"/>
          </a:xfrm>
          <a:prstGeom prst="roundRect">
            <a:avLst>
              <a:gd name="adj" fmla="val 3516"/>
            </a:avLst>
          </a:prstGeom>
          <a:solidFill>
            <a:srgbClr val="EEEDF5"/>
          </a:solidFill>
          <a:ln w="12700">
            <a:solidFill>
              <a:srgbClr val="EEEDF5"/>
            </a:solidFill>
            <a:prstDash val="solid"/>
          </a:ln>
        </p:spPr>
      </p:sp>
      <p:sp>
        <p:nvSpPr>
          <p:cNvPr id="9" name="Shape 6"/>
          <p:cNvSpPr/>
          <p:nvPr/>
        </p:nvSpPr>
        <p:spPr>
          <a:xfrm>
            <a:off x="777240" y="1828800"/>
            <a:ext cx="548640" cy="54864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914400" y="1965960"/>
            <a:ext cx="274320" cy="274320"/>
          </a:xfrm>
          <a:prstGeom prst="rect">
            <a:avLst/>
          </a:prstGeom>
        </p:spPr>
      </p:pic>
      <p:sp>
        <p:nvSpPr>
          <p:cNvPr id="11" name="Text 7"/>
          <p:cNvSpPr txBox="1"/>
          <p:nvPr/>
        </p:nvSpPr>
        <p:spPr>
          <a:xfrm>
            <a:off x="1508760"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Évaluer les risques</a:t>
            </a:r>
            <a:endParaRPr lang="en-US" sz="1500" dirty="0"/>
          </a:p>
        </p:txBody>
      </p:sp>
      <p:sp>
        <p:nvSpPr>
          <p:cNvPr id="12" name="Text 8"/>
          <p:cNvSpPr txBox="1"/>
          <p:nvPr/>
        </p:nvSpPr>
        <p:spPr>
          <a:xfrm>
            <a:off x="777240" y="251460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Identifier et évaluer les risques de chaque unité de travail, et les transcrire dans le document unique.</a:t>
            </a:r>
            <a:endParaRPr lang="en-US" sz="1250" dirty="0"/>
          </a:p>
        </p:txBody>
      </p:sp>
      <p:sp>
        <p:nvSpPr>
          <p:cNvPr id="13" name="Shape 9"/>
          <p:cNvSpPr/>
          <p:nvPr/>
        </p:nvSpPr>
        <p:spPr>
          <a:xfrm>
            <a:off x="4338218" y="1600200"/>
            <a:ext cx="3515258" cy="2080260"/>
          </a:xfrm>
          <a:prstGeom prst="roundRect">
            <a:avLst>
              <a:gd name="adj" fmla="val 3516"/>
            </a:avLst>
          </a:prstGeom>
          <a:solidFill>
            <a:srgbClr val="EEEDF5"/>
          </a:solidFill>
          <a:ln w="12700">
            <a:solidFill>
              <a:srgbClr val="EEEDF5"/>
            </a:solidFill>
            <a:prstDash val="solid"/>
          </a:ln>
        </p:spPr>
      </p:sp>
      <p:sp>
        <p:nvSpPr>
          <p:cNvPr id="14" name="Shape 10"/>
          <p:cNvSpPr/>
          <p:nvPr/>
        </p:nvSpPr>
        <p:spPr>
          <a:xfrm>
            <a:off x="4566818" y="1828800"/>
            <a:ext cx="548640" cy="548640"/>
          </a:xfrm>
          <a:prstGeom prst="ellipse">
            <a:avLst/>
          </a:prstGeom>
          <a:solidFill>
            <a:srgbClr val="0A032B"/>
          </a:solidFill>
          <a:ln w="12700">
            <a:solidFill>
              <a:srgbClr val="0A032B"/>
            </a:solidFill>
            <a:prstDash val="solid"/>
          </a:ln>
        </p:spPr>
      </p:sp>
      <p:pic>
        <p:nvPicPr>
          <p:cNvPr id="15" name="Image 2" descr="preencoded.png">    </p:cNvPr>
          <p:cNvPicPr>
            <a:picLocks noChangeAspect="1"/>
          </p:cNvPicPr>
          <p:nvPr/>
        </p:nvPicPr>
        <p:blipFill>
          <a:blip r:embed="rId3"/>
          <a:stretch>
            <a:fillRect/>
          </a:stretch>
        </p:blipFill>
        <p:spPr>
          <a:xfrm>
            <a:off x="4703978" y="1965960"/>
            <a:ext cx="274320" cy="274320"/>
          </a:xfrm>
          <a:prstGeom prst="rect">
            <a:avLst/>
          </a:prstGeom>
        </p:spPr>
      </p:pic>
      <p:sp>
        <p:nvSpPr>
          <p:cNvPr id="16" name="Text 11"/>
          <p:cNvSpPr txBox="1"/>
          <p:nvPr/>
        </p:nvSpPr>
        <p:spPr>
          <a:xfrm>
            <a:off x="5298338"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Planifier la prévention</a:t>
            </a:r>
            <a:endParaRPr lang="en-US" sz="1500" dirty="0"/>
          </a:p>
        </p:txBody>
      </p:sp>
      <p:sp>
        <p:nvSpPr>
          <p:cNvPr id="17" name="Text 12"/>
          <p:cNvSpPr txBox="1"/>
          <p:nvPr/>
        </p:nvSpPr>
        <p:spPr>
          <a:xfrm>
            <a:off x="4566818" y="251460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Définir des actions de prévention et les inscrire dans un programme annuel.</a:t>
            </a:r>
            <a:endParaRPr lang="en-US" sz="1250" dirty="0"/>
          </a:p>
        </p:txBody>
      </p:sp>
      <p:sp>
        <p:nvSpPr>
          <p:cNvPr id="18" name="Shape 13"/>
          <p:cNvSpPr/>
          <p:nvPr/>
        </p:nvSpPr>
        <p:spPr>
          <a:xfrm>
            <a:off x="8127797" y="1600200"/>
            <a:ext cx="3515258" cy="2080260"/>
          </a:xfrm>
          <a:prstGeom prst="roundRect">
            <a:avLst>
              <a:gd name="adj" fmla="val 3516"/>
            </a:avLst>
          </a:prstGeom>
          <a:solidFill>
            <a:srgbClr val="EEEDF5"/>
          </a:solidFill>
          <a:ln w="12700">
            <a:solidFill>
              <a:srgbClr val="EEEDF5"/>
            </a:solidFill>
            <a:prstDash val="solid"/>
          </a:ln>
        </p:spPr>
      </p:sp>
      <p:sp>
        <p:nvSpPr>
          <p:cNvPr id="19" name="Shape 14"/>
          <p:cNvSpPr/>
          <p:nvPr/>
        </p:nvSpPr>
        <p:spPr>
          <a:xfrm>
            <a:off x="8356397" y="1828800"/>
            <a:ext cx="548640" cy="548640"/>
          </a:xfrm>
          <a:prstGeom prst="ellipse">
            <a:avLst/>
          </a:prstGeom>
          <a:solidFill>
            <a:srgbClr val="0A032B"/>
          </a:solidFill>
          <a:ln w="12700">
            <a:solidFill>
              <a:srgbClr val="0A032B"/>
            </a:solidFill>
            <a:prstDash val="solid"/>
          </a:ln>
        </p:spPr>
      </p:sp>
      <p:pic>
        <p:nvPicPr>
          <p:cNvPr id="20" name="Image 3" descr="preencoded.png">    </p:cNvPr>
          <p:cNvPicPr>
            <a:picLocks noChangeAspect="1"/>
          </p:cNvPicPr>
          <p:nvPr/>
        </p:nvPicPr>
        <p:blipFill>
          <a:blip r:embed="rId4"/>
          <a:stretch>
            <a:fillRect/>
          </a:stretch>
        </p:blipFill>
        <p:spPr>
          <a:xfrm>
            <a:off x="8493557" y="1965960"/>
            <a:ext cx="274320" cy="274320"/>
          </a:xfrm>
          <a:prstGeom prst="rect">
            <a:avLst/>
          </a:prstGeom>
        </p:spPr>
      </p:pic>
      <p:sp>
        <p:nvSpPr>
          <p:cNvPr id="21" name="Text 15"/>
          <p:cNvSpPr txBox="1"/>
          <p:nvPr/>
        </p:nvSpPr>
        <p:spPr>
          <a:xfrm>
            <a:off x="9087917" y="182880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Informer et former</a:t>
            </a:r>
            <a:endParaRPr lang="en-US" sz="1500" dirty="0"/>
          </a:p>
        </p:txBody>
      </p:sp>
      <p:sp>
        <p:nvSpPr>
          <p:cNvPr id="22" name="Text 16"/>
          <p:cNvSpPr txBox="1"/>
          <p:nvPr/>
        </p:nvSpPr>
        <p:spPr>
          <a:xfrm>
            <a:off x="8356397" y="251460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Former les agents à la sécurité, notamment aux gestes et postures pour les manutentions.</a:t>
            </a:r>
            <a:endParaRPr lang="en-US" sz="1250" dirty="0"/>
          </a:p>
        </p:txBody>
      </p:sp>
      <p:sp>
        <p:nvSpPr>
          <p:cNvPr id="23" name="Shape 17"/>
          <p:cNvSpPr/>
          <p:nvPr/>
        </p:nvSpPr>
        <p:spPr>
          <a:xfrm>
            <a:off x="548640" y="3954780"/>
            <a:ext cx="3515258" cy="2080260"/>
          </a:xfrm>
          <a:prstGeom prst="roundRect">
            <a:avLst>
              <a:gd name="adj" fmla="val 3516"/>
            </a:avLst>
          </a:prstGeom>
          <a:solidFill>
            <a:srgbClr val="EEEDF5"/>
          </a:solidFill>
          <a:ln w="12700">
            <a:solidFill>
              <a:srgbClr val="EEEDF5"/>
            </a:solidFill>
            <a:prstDash val="solid"/>
          </a:ln>
        </p:spPr>
      </p:sp>
      <p:sp>
        <p:nvSpPr>
          <p:cNvPr id="24" name="Shape 18"/>
          <p:cNvSpPr/>
          <p:nvPr/>
        </p:nvSpPr>
        <p:spPr>
          <a:xfrm>
            <a:off x="777240" y="4183380"/>
            <a:ext cx="548640" cy="548640"/>
          </a:xfrm>
          <a:prstGeom prst="ellipse">
            <a:avLst/>
          </a:prstGeom>
          <a:solidFill>
            <a:srgbClr val="0A032B"/>
          </a:solidFill>
          <a:ln w="12700">
            <a:solidFill>
              <a:srgbClr val="0A032B"/>
            </a:solidFill>
            <a:prstDash val="solid"/>
          </a:ln>
        </p:spPr>
      </p:sp>
      <p:pic>
        <p:nvPicPr>
          <p:cNvPr id="25" name="Image 4" descr="preencoded.png">    </p:cNvPr>
          <p:cNvPicPr>
            <a:picLocks noChangeAspect="1"/>
          </p:cNvPicPr>
          <p:nvPr/>
        </p:nvPicPr>
        <p:blipFill>
          <a:blip r:embed="rId5"/>
          <a:stretch>
            <a:fillRect/>
          </a:stretch>
        </p:blipFill>
        <p:spPr>
          <a:xfrm>
            <a:off x="914400" y="4320540"/>
            <a:ext cx="274320" cy="274320"/>
          </a:xfrm>
          <a:prstGeom prst="rect">
            <a:avLst/>
          </a:prstGeom>
        </p:spPr>
      </p:pic>
      <p:sp>
        <p:nvSpPr>
          <p:cNvPr id="26" name="Text 19"/>
          <p:cNvSpPr txBox="1"/>
          <p:nvPr/>
        </p:nvSpPr>
        <p:spPr>
          <a:xfrm>
            <a:off x="1508760"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Fournir les moyens</a:t>
            </a:r>
            <a:endParaRPr lang="en-US" sz="1500" dirty="0"/>
          </a:p>
        </p:txBody>
      </p:sp>
      <p:sp>
        <p:nvSpPr>
          <p:cNvPr id="27" name="Text 20"/>
          <p:cNvSpPr txBox="1"/>
          <p:nvPr/>
        </p:nvSpPr>
        <p:spPr>
          <a:xfrm>
            <a:off x="777240" y="486918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Équipements adaptés, aides à la manutention, EPI, locaux conformes.</a:t>
            </a:r>
            <a:endParaRPr lang="en-US" sz="1250" dirty="0"/>
          </a:p>
        </p:txBody>
      </p:sp>
      <p:sp>
        <p:nvSpPr>
          <p:cNvPr id="28" name="Shape 21"/>
          <p:cNvSpPr/>
          <p:nvPr/>
        </p:nvSpPr>
        <p:spPr>
          <a:xfrm>
            <a:off x="4338218" y="3954780"/>
            <a:ext cx="3515258" cy="2080260"/>
          </a:xfrm>
          <a:prstGeom prst="roundRect">
            <a:avLst>
              <a:gd name="adj" fmla="val 3516"/>
            </a:avLst>
          </a:prstGeom>
          <a:solidFill>
            <a:srgbClr val="EEEDF5"/>
          </a:solidFill>
          <a:ln w="12700">
            <a:solidFill>
              <a:srgbClr val="EEEDF5"/>
            </a:solidFill>
            <a:prstDash val="solid"/>
          </a:ln>
        </p:spPr>
      </p:sp>
      <p:sp>
        <p:nvSpPr>
          <p:cNvPr id="29" name="Shape 22"/>
          <p:cNvSpPr/>
          <p:nvPr/>
        </p:nvSpPr>
        <p:spPr>
          <a:xfrm>
            <a:off x="4566818" y="4183380"/>
            <a:ext cx="548640" cy="548640"/>
          </a:xfrm>
          <a:prstGeom prst="ellipse">
            <a:avLst/>
          </a:prstGeom>
          <a:solidFill>
            <a:srgbClr val="0A032B"/>
          </a:solidFill>
          <a:ln w="12700">
            <a:solidFill>
              <a:srgbClr val="0A032B"/>
            </a:solidFill>
            <a:prstDash val="solid"/>
          </a:ln>
        </p:spPr>
      </p:sp>
      <p:pic>
        <p:nvPicPr>
          <p:cNvPr id="30" name="Image 5" descr="preencoded.png">    </p:cNvPr>
          <p:cNvPicPr>
            <a:picLocks noChangeAspect="1"/>
          </p:cNvPicPr>
          <p:nvPr/>
        </p:nvPicPr>
        <p:blipFill>
          <a:blip r:embed="rId6"/>
          <a:stretch>
            <a:fillRect/>
          </a:stretch>
        </p:blipFill>
        <p:spPr>
          <a:xfrm>
            <a:off x="4703978" y="4320540"/>
            <a:ext cx="274320" cy="274320"/>
          </a:xfrm>
          <a:prstGeom prst="rect">
            <a:avLst/>
          </a:prstGeom>
        </p:spPr>
      </p:pic>
      <p:sp>
        <p:nvSpPr>
          <p:cNvPr id="31" name="Text 23"/>
          <p:cNvSpPr txBox="1"/>
          <p:nvPr/>
        </p:nvSpPr>
        <p:spPr>
          <a:xfrm>
            <a:off x="5298338"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Organiser le suivi</a:t>
            </a:r>
            <a:endParaRPr lang="en-US" sz="1500" dirty="0"/>
          </a:p>
        </p:txBody>
      </p:sp>
      <p:sp>
        <p:nvSpPr>
          <p:cNvPr id="32" name="Text 24"/>
          <p:cNvSpPr txBox="1"/>
          <p:nvPr/>
        </p:nvSpPr>
        <p:spPr>
          <a:xfrm>
            <a:off x="4566818" y="486918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Accès à un service de médecine préventive, désignation d'un assistant ou conseiller de prévention.</a:t>
            </a:r>
            <a:endParaRPr lang="en-US" sz="1250" dirty="0"/>
          </a:p>
        </p:txBody>
      </p:sp>
      <p:sp>
        <p:nvSpPr>
          <p:cNvPr id="33" name="Shape 25"/>
          <p:cNvSpPr/>
          <p:nvPr/>
        </p:nvSpPr>
        <p:spPr>
          <a:xfrm>
            <a:off x="8127797" y="3954780"/>
            <a:ext cx="3515258" cy="2080260"/>
          </a:xfrm>
          <a:prstGeom prst="roundRect">
            <a:avLst>
              <a:gd name="adj" fmla="val 3516"/>
            </a:avLst>
          </a:prstGeom>
          <a:solidFill>
            <a:srgbClr val="EEEDF5"/>
          </a:solidFill>
          <a:ln w="12700">
            <a:solidFill>
              <a:srgbClr val="EEEDF5"/>
            </a:solidFill>
            <a:prstDash val="solid"/>
          </a:ln>
        </p:spPr>
      </p:sp>
      <p:sp>
        <p:nvSpPr>
          <p:cNvPr id="34" name="Shape 26"/>
          <p:cNvSpPr/>
          <p:nvPr/>
        </p:nvSpPr>
        <p:spPr>
          <a:xfrm>
            <a:off x="8356397" y="4183380"/>
            <a:ext cx="548640" cy="548640"/>
          </a:xfrm>
          <a:prstGeom prst="ellipse">
            <a:avLst/>
          </a:prstGeom>
          <a:solidFill>
            <a:srgbClr val="0A032B"/>
          </a:solidFill>
          <a:ln w="12700">
            <a:solidFill>
              <a:srgbClr val="0A032B"/>
            </a:solidFill>
            <a:prstDash val="solid"/>
          </a:ln>
        </p:spPr>
      </p:sp>
      <p:pic>
        <p:nvPicPr>
          <p:cNvPr id="35" name="Image 6" descr="preencoded.png">    </p:cNvPr>
          <p:cNvPicPr>
            <a:picLocks noChangeAspect="1"/>
          </p:cNvPicPr>
          <p:nvPr/>
        </p:nvPicPr>
        <p:blipFill>
          <a:blip r:embed="rId7"/>
          <a:stretch>
            <a:fillRect/>
          </a:stretch>
        </p:blipFill>
        <p:spPr>
          <a:xfrm>
            <a:off x="8493557" y="4320540"/>
            <a:ext cx="274320" cy="274320"/>
          </a:xfrm>
          <a:prstGeom prst="rect">
            <a:avLst/>
          </a:prstGeom>
        </p:spPr>
      </p:pic>
      <p:sp>
        <p:nvSpPr>
          <p:cNvPr id="36" name="Text 27"/>
          <p:cNvSpPr txBox="1"/>
          <p:nvPr/>
        </p:nvSpPr>
        <p:spPr>
          <a:xfrm>
            <a:off x="9087917" y="41833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Engager sa responsabilité</a:t>
            </a:r>
            <a:endParaRPr lang="en-US" sz="1500" dirty="0"/>
          </a:p>
        </p:txBody>
      </p:sp>
      <p:sp>
        <p:nvSpPr>
          <p:cNvPr id="37" name="Text 28"/>
          <p:cNvSpPr txBox="1"/>
          <p:nvPr/>
        </p:nvSpPr>
        <p:spPr>
          <a:xfrm>
            <a:off x="8356397" y="4869180"/>
            <a:ext cx="3058058" cy="102870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En cas de manquement, la responsabilité administrative, voire pénale, de l'autorité peut être recherchée.</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Document unique et programme de prévention</a:t>
            </a:r>
            <a:endParaRPr lang="en-US" sz="2800" dirty="0"/>
          </a:p>
        </p:txBody>
      </p:sp>
      <p:sp>
        <p:nvSpPr>
          <p:cNvPr id="3" name="Shape 1"/>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17320"/>
            <a:ext cx="2464994" cy="2331720"/>
          </a:xfrm>
          <a:prstGeom prst="roundRect">
            <a:avLst>
              <a:gd name="adj" fmla="val 3137"/>
            </a:avLst>
          </a:prstGeom>
          <a:solidFill>
            <a:srgbClr val="EEEDF5"/>
          </a:solidFill>
          <a:ln w="12700">
            <a:solidFill>
              <a:srgbClr val="EEEDF5"/>
            </a:solidFill>
            <a:prstDash val="solid"/>
          </a:ln>
        </p:spPr>
      </p:sp>
      <p:sp>
        <p:nvSpPr>
          <p:cNvPr id="8" name="Shape 5"/>
          <p:cNvSpPr/>
          <p:nvPr/>
        </p:nvSpPr>
        <p:spPr>
          <a:xfrm>
            <a:off x="1415377" y="1691640"/>
            <a:ext cx="731520" cy="73152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1598257" y="1874520"/>
            <a:ext cx="365760" cy="365760"/>
          </a:xfrm>
          <a:prstGeom prst="rect">
            <a:avLst/>
          </a:prstGeom>
        </p:spPr>
      </p:pic>
      <p:sp>
        <p:nvSpPr>
          <p:cNvPr id="10" name="Text 6"/>
          <p:cNvSpPr txBox="1"/>
          <p:nvPr/>
        </p:nvSpPr>
        <p:spPr>
          <a:xfrm>
            <a:off x="731520" y="2514600"/>
            <a:ext cx="2099234" cy="41148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Identifier</a:t>
            </a:r>
            <a:endParaRPr lang="en-US" sz="1700" dirty="0"/>
          </a:p>
        </p:txBody>
      </p:sp>
      <p:sp>
        <p:nvSpPr>
          <p:cNvPr id="11" name="Text 7"/>
          <p:cNvSpPr txBox="1"/>
          <p:nvPr/>
        </p:nvSpPr>
        <p:spPr>
          <a:xfrm>
            <a:off x="731520" y="2926080"/>
            <a:ext cx="2099234" cy="7315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les dangers par unité de travail</a:t>
            </a:r>
            <a:endParaRPr lang="en-US" sz="1300" dirty="0"/>
          </a:p>
        </p:txBody>
      </p:sp>
      <p:sp>
        <p:nvSpPr>
          <p:cNvPr id="12" name="Shape 8"/>
          <p:cNvSpPr/>
          <p:nvPr/>
        </p:nvSpPr>
        <p:spPr>
          <a:xfrm>
            <a:off x="3086786" y="2377440"/>
            <a:ext cx="274320" cy="365760"/>
          </a:xfrm>
          <a:prstGeom prst="rightArrow">
            <a:avLst/>
          </a:prstGeom>
          <a:solidFill>
            <a:srgbClr val="5E5A78"/>
          </a:solidFill>
          <a:ln w="12700">
            <a:solidFill>
              <a:srgbClr val="5E5A78"/>
            </a:solidFill>
            <a:prstDash val="solid"/>
          </a:ln>
        </p:spPr>
      </p:sp>
      <p:sp>
        <p:nvSpPr>
          <p:cNvPr id="13" name="Shape 9"/>
          <p:cNvSpPr/>
          <p:nvPr/>
        </p:nvSpPr>
        <p:spPr>
          <a:xfrm>
            <a:off x="3425114" y="1417320"/>
            <a:ext cx="2464994" cy="2331720"/>
          </a:xfrm>
          <a:prstGeom prst="roundRect">
            <a:avLst>
              <a:gd name="adj" fmla="val 3137"/>
            </a:avLst>
          </a:prstGeom>
          <a:solidFill>
            <a:srgbClr val="EEEDF5"/>
          </a:solidFill>
          <a:ln w="12700">
            <a:solidFill>
              <a:srgbClr val="EEEDF5"/>
            </a:solidFill>
            <a:prstDash val="solid"/>
          </a:ln>
        </p:spPr>
      </p:sp>
      <p:sp>
        <p:nvSpPr>
          <p:cNvPr id="14" name="Shape 10"/>
          <p:cNvSpPr/>
          <p:nvPr/>
        </p:nvSpPr>
        <p:spPr>
          <a:xfrm>
            <a:off x="4291851" y="1691640"/>
            <a:ext cx="731520" cy="731520"/>
          </a:xfrm>
          <a:prstGeom prst="ellipse">
            <a:avLst/>
          </a:prstGeom>
          <a:solidFill>
            <a:srgbClr val="0A032B"/>
          </a:solidFill>
          <a:ln w="12700">
            <a:solidFill>
              <a:srgbClr val="0A032B"/>
            </a:solidFill>
            <a:prstDash val="solid"/>
          </a:ln>
        </p:spPr>
      </p:sp>
      <p:pic>
        <p:nvPicPr>
          <p:cNvPr id="15" name="Image 2" descr="preencoded.png">    </p:cNvPr>
          <p:cNvPicPr>
            <a:picLocks noChangeAspect="1"/>
          </p:cNvPicPr>
          <p:nvPr/>
        </p:nvPicPr>
        <p:blipFill>
          <a:blip r:embed="rId3"/>
          <a:stretch>
            <a:fillRect/>
          </a:stretch>
        </p:blipFill>
        <p:spPr>
          <a:xfrm>
            <a:off x="4474731" y="1874520"/>
            <a:ext cx="365760" cy="365760"/>
          </a:xfrm>
          <a:prstGeom prst="rect">
            <a:avLst/>
          </a:prstGeom>
        </p:spPr>
      </p:pic>
      <p:sp>
        <p:nvSpPr>
          <p:cNvPr id="16" name="Text 11"/>
          <p:cNvSpPr txBox="1"/>
          <p:nvPr/>
        </p:nvSpPr>
        <p:spPr>
          <a:xfrm>
            <a:off x="3607994" y="2514600"/>
            <a:ext cx="2099234" cy="41148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Évaluer</a:t>
            </a:r>
            <a:endParaRPr lang="en-US" sz="1700" dirty="0"/>
          </a:p>
        </p:txBody>
      </p:sp>
      <p:sp>
        <p:nvSpPr>
          <p:cNvPr id="17" name="Text 12"/>
          <p:cNvSpPr txBox="1"/>
          <p:nvPr/>
        </p:nvSpPr>
        <p:spPr>
          <a:xfrm>
            <a:off x="3607994" y="2926080"/>
            <a:ext cx="2099234" cy="7315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gravité × fréquence d'exposition</a:t>
            </a:r>
            <a:endParaRPr lang="en-US" sz="1300" dirty="0"/>
          </a:p>
        </p:txBody>
      </p:sp>
      <p:sp>
        <p:nvSpPr>
          <p:cNvPr id="18" name="Shape 13"/>
          <p:cNvSpPr/>
          <p:nvPr/>
        </p:nvSpPr>
        <p:spPr>
          <a:xfrm>
            <a:off x="5963260" y="2377440"/>
            <a:ext cx="274320" cy="365760"/>
          </a:xfrm>
          <a:prstGeom prst="rightArrow">
            <a:avLst/>
          </a:prstGeom>
          <a:solidFill>
            <a:srgbClr val="5E5A78"/>
          </a:solidFill>
          <a:ln w="12700">
            <a:solidFill>
              <a:srgbClr val="5E5A78"/>
            </a:solidFill>
            <a:prstDash val="solid"/>
          </a:ln>
        </p:spPr>
      </p:sp>
      <p:sp>
        <p:nvSpPr>
          <p:cNvPr id="19" name="Shape 14"/>
          <p:cNvSpPr/>
          <p:nvPr/>
        </p:nvSpPr>
        <p:spPr>
          <a:xfrm>
            <a:off x="6301588" y="1417320"/>
            <a:ext cx="2464994" cy="2331720"/>
          </a:xfrm>
          <a:prstGeom prst="roundRect">
            <a:avLst>
              <a:gd name="adj" fmla="val 3137"/>
            </a:avLst>
          </a:prstGeom>
          <a:solidFill>
            <a:srgbClr val="EEEDF5"/>
          </a:solidFill>
          <a:ln w="12700">
            <a:solidFill>
              <a:srgbClr val="EEEDF5"/>
            </a:solidFill>
            <a:prstDash val="solid"/>
          </a:ln>
        </p:spPr>
      </p:sp>
      <p:sp>
        <p:nvSpPr>
          <p:cNvPr id="20" name="Shape 15"/>
          <p:cNvSpPr/>
          <p:nvPr/>
        </p:nvSpPr>
        <p:spPr>
          <a:xfrm>
            <a:off x="7168325" y="1691640"/>
            <a:ext cx="731520" cy="731520"/>
          </a:xfrm>
          <a:prstGeom prst="ellipse">
            <a:avLst/>
          </a:prstGeom>
          <a:solidFill>
            <a:srgbClr val="0A032B"/>
          </a:solidFill>
          <a:ln w="12700">
            <a:solidFill>
              <a:srgbClr val="0A032B"/>
            </a:solidFill>
            <a:prstDash val="solid"/>
          </a:ln>
        </p:spPr>
      </p:sp>
      <p:pic>
        <p:nvPicPr>
          <p:cNvPr id="21" name="Image 3" descr="preencoded.png">    </p:cNvPr>
          <p:cNvPicPr>
            <a:picLocks noChangeAspect="1"/>
          </p:cNvPicPr>
          <p:nvPr/>
        </p:nvPicPr>
        <p:blipFill>
          <a:blip r:embed="rId4"/>
          <a:stretch>
            <a:fillRect/>
          </a:stretch>
        </p:blipFill>
        <p:spPr>
          <a:xfrm>
            <a:off x="7351205" y="1874520"/>
            <a:ext cx="365760" cy="365760"/>
          </a:xfrm>
          <a:prstGeom prst="rect">
            <a:avLst/>
          </a:prstGeom>
        </p:spPr>
      </p:pic>
      <p:sp>
        <p:nvSpPr>
          <p:cNvPr id="22" name="Text 16"/>
          <p:cNvSpPr txBox="1"/>
          <p:nvPr/>
        </p:nvSpPr>
        <p:spPr>
          <a:xfrm>
            <a:off x="6484468" y="2514600"/>
            <a:ext cx="2099234" cy="41148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Planifier</a:t>
            </a:r>
            <a:endParaRPr lang="en-US" sz="1700" dirty="0"/>
          </a:p>
        </p:txBody>
      </p:sp>
      <p:sp>
        <p:nvSpPr>
          <p:cNvPr id="23" name="Text 17"/>
          <p:cNvSpPr txBox="1"/>
          <p:nvPr/>
        </p:nvSpPr>
        <p:spPr>
          <a:xfrm>
            <a:off x="6484468" y="2926080"/>
            <a:ext cx="2099234" cy="7315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actions, responsables, budget, délais</a:t>
            </a:r>
            <a:endParaRPr lang="en-US" sz="1300" dirty="0"/>
          </a:p>
        </p:txBody>
      </p:sp>
      <p:sp>
        <p:nvSpPr>
          <p:cNvPr id="24" name="Shape 18"/>
          <p:cNvSpPr/>
          <p:nvPr/>
        </p:nvSpPr>
        <p:spPr>
          <a:xfrm>
            <a:off x="8839733" y="2377440"/>
            <a:ext cx="274320" cy="365760"/>
          </a:xfrm>
          <a:prstGeom prst="rightArrow">
            <a:avLst/>
          </a:prstGeom>
          <a:solidFill>
            <a:srgbClr val="5E5A78"/>
          </a:solidFill>
          <a:ln w="12700">
            <a:solidFill>
              <a:srgbClr val="5E5A78"/>
            </a:solidFill>
            <a:prstDash val="solid"/>
          </a:ln>
        </p:spPr>
      </p:sp>
      <p:sp>
        <p:nvSpPr>
          <p:cNvPr id="25" name="Shape 19"/>
          <p:cNvSpPr/>
          <p:nvPr/>
        </p:nvSpPr>
        <p:spPr>
          <a:xfrm>
            <a:off x="9178061" y="1417320"/>
            <a:ext cx="2464994" cy="2331720"/>
          </a:xfrm>
          <a:prstGeom prst="roundRect">
            <a:avLst>
              <a:gd name="adj" fmla="val 3137"/>
            </a:avLst>
          </a:prstGeom>
          <a:solidFill>
            <a:srgbClr val="EEEDF5"/>
          </a:solidFill>
          <a:ln w="12700">
            <a:solidFill>
              <a:srgbClr val="EEEDF5"/>
            </a:solidFill>
            <a:prstDash val="solid"/>
          </a:ln>
        </p:spPr>
      </p:sp>
      <p:sp>
        <p:nvSpPr>
          <p:cNvPr id="26" name="Shape 20"/>
          <p:cNvSpPr/>
          <p:nvPr/>
        </p:nvSpPr>
        <p:spPr>
          <a:xfrm>
            <a:off x="10044798" y="1691640"/>
            <a:ext cx="731520" cy="731520"/>
          </a:xfrm>
          <a:prstGeom prst="ellipse">
            <a:avLst/>
          </a:prstGeom>
          <a:solidFill>
            <a:srgbClr val="0A032B"/>
          </a:solidFill>
          <a:ln w="12700">
            <a:solidFill>
              <a:srgbClr val="0A032B"/>
            </a:solidFill>
            <a:prstDash val="solid"/>
          </a:ln>
        </p:spPr>
      </p:sp>
      <p:pic>
        <p:nvPicPr>
          <p:cNvPr id="27" name="Image 4" descr="preencoded.png">    </p:cNvPr>
          <p:cNvPicPr>
            <a:picLocks noChangeAspect="1"/>
          </p:cNvPicPr>
          <p:nvPr/>
        </p:nvPicPr>
        <p:blipFill>
          <a:blip r:embed="rId5"/>
          <a:stretch>
            <a:fillRect/>
          </a:stretch>
        </p:blipFill>
        <p:spPr>
          <a:xfrm>
            <a:off x="10227678" y="1874520"/>
            <a:ext cx="365760" cy="365760"/>
          </a:xfrm>
          <a:prstGeom prst="rect">
            <a:avLst/>
          </a:prstGeom>
        </p:spPr>
      </p:pic>
      <p:sp>
        <p:nvSpPr>
          <p:cNvPr id="28" name="Text 21"/>
          <p:cNvSpPr txBox="1"/>
          <p:nvPr/>
        </p:nvSpPr>
        <p:spPr>
          <a:xfrm>
            <a:off x="9360941" y="2514600"/>
            <a:ext cx="2099234" cy="411480"/>
          </a:xfrm>
          <a:prstGeom prst="rect">
            <a:avLst/>
          </a:prstGeom>
          <a:noFill/>
          <a:ln/>
        </p:spPr>
        <p:txBody>
          <a:bodyPr wrap="square" lIns="0" tIns="0" rIns="0" bIns="0" rtlCol="0" anchor="ctr"/>
          <a:lstStyle/>
          <a:p>
            <a:pPr algn="ctr" indent="0" marL="0">
              <a:buNone/>
            </a:pPr>
            <a:r>
              <a:rPr lang="en-US" sz="1700" b="1" dirty="0">
                <a:solidFill>
                  <a:srgbClr val="0A032B"/>
                </a:solidFill>
                <a:latin typeface="Montserrat" pitchFamily="34" charset="0"/>
                <a:ea typeface="Montserrat" pitchFamily="34" charset="-122"/>
                <a:cs typeface="Montserrat" pitchFamily="34" charset="-120"/>
              </a:rPr>
              <a:t>Suivre</a:t>
            </a:r>
            <a:endParaRPr lang="en-US" sz="1700" dirty="0"/>
          </a:p>
        </p:txBody>
      </p:sp>
      <p:sp>
        <p:nvSpPr>
          <p:cNvPr id="29" name="Text 22"/>
          <p:cNvSpPr txBox="1"/>
          <p:nvPr/>
        </p:nvSpPr>
        <p:spPr>
          <a:xfrm>
            <a:off x="9360941" y="2926080"/>
            <a:ext cx="2099234" cy="731520"/>
          </a:xfrm>
          <a:prstGeom prst="rect">
            <a:avLst/>
          </a:prstGeom>
          <a:noFill/>
          <a:ln/>
        </p:spPr>
        <p:txBody>
          <a:bodyPr wrap="square" lIns="0" tIns="0" rIns="0" bIns="0" rtlCol="0" anchor="t"/>
          <a:lstStyle/>
          <a:p>
            <a:pPr algn="ctr" indent="0" marL="0">
              <a:buNone/>
            </a:pPr>
            <a:r>
              <a:rPr lang="en-US" sz="1300" dirty="0">
                <a:solidFill>
                  <a:srgbClr val="35305C"/>
                </a:solidFill>
                <a:latin typeface="Arial" pitchFamily="34" charset="0"/>
                <a:ea typeface="Arial" pitchFamily="34" charset="-122"/>
                <a:cs typeface="Arial" pitchFamily="34" charset="-120"/>
              </a:rPr>
              <a:t>mise à jour au moins annuelle et à chaque changement</a:t>
            </a:r>
            <a:endParaRPr lang="en-US" sz="1300" dirty="0"/>
          </a:p>
        </p:txBody>
      </p:sp>
      <p:sp>
        <p:nvSpPr>
          <p:cNvPr id="30" name="Shape 23"/>
          <p:cNvSpPr/>
          <p:nvPr/>
        </p:nvSpPr>
        <p:spPr>
          <a:xfrm>
            <a:off x="548640" y="3977640"/>
            <a:ext cx="5410048" cy="2057400"/>
          </a:xfrm>
          <a:prstGeom prst="roundRect">
            <a:avLst>
              <a:gd name="adj" fmla="val 3556"/>
            </a:avLst>
          </a:prstGeom>
          <a:solidFill>
            <a:srgbClr val="0A032B"/>
          </a:solidFill>
          <a:ln w="12700">
            <a:solidFill>
              <a:srgbClr val="0A032B"/>
            </a:solidFill>
            <a:prstDash val="solid"/>
          </a:ln>
        </p:spPr>
      </p:sp>
      <p:sp>
        <p:nvSpPr>
          <p:cNvPr id="31" name="Text 24"/>
          <p:cNvSpPr txBox="1"/>
          <p:nvPr/>
        </p:nvSpPr>
        <p:spPr>
          <a:xfrm>
            <a:off x="822960" y="4069080"/>
            <a:ext cx="4861408" cy="1874520"/>
          </a:xfrm>
          <a:prstGeom prst="rect">
            <a:avLst/>
          </a:prstGeom>
          <a:noFill/>
          <a:ln/>
        </p:spPr>
        <p:txBody>
          <a:bodyPr wrap="square" lIns="0" tIns="0" rIns="0" bIns="0" rtlCol="0" anchor="ctr"/>
          <a:lstStyle/>
          <a:p>
            <a:pPr indent="0" marL="0">
              <a:spcAft>
                <a:spcPts val="600"/>
              </a:spcAft>
              <a:buNone/>
            </a:pPr>
            <a:r>
              <a:rPr lang="en-US" sz="1600" b="1" dirty="0">
                <a:solidFill>
                  <a:srgbClr val="F0EF96"/>
                </a:solidFill>
                <a:latin typeface="Montserrat" pitchFamily="34" charset="0"/>
                <a:ea typeface="Montserrat" pitchFamily="34" charset="-122"/>
                <a:cs typeface="Montserrat" pitchFamily="34" charset="-120"/>
              </a:rPr>
              <a:t>Le document unique (DUERP)</a:t>
            </a:r>
            <a:endParaRPr lang="en-US" sz="1600" dirty="0"/>
          </a:p>
          <a:p>
            <a:pPr indent="0" marL="0">
              <a:spcAft>
                <a:spcPts val="600"/>
              </a:spcAft>
              <a:buNone/>
            </a:pPr>
            <a:r>
              <a:rPr lang="en-US" sz="1300" dirty="0">
                <a:solidFill>
                  <a:srgbClr val="FFFFFF"/>
                </a:solidFill>
                <a:latin typeface="Arial" pitchFamily="34" charset="0"/>
                <a:ea typeface="Arial" pitchFamily="34" charset="-122"/>
                <a:cs typeface="Arial" pitchFamily="34" charset="-120"/>
              </a:rPr>
              <a:t>Obligatoire dès le premier agent. Il recense les risques de chaque unité de travail : services techniques, écoles, restauration, administration… Les TMS et la manutention y figurent presque toujours.</a:t>
            </a:r>
            <a:endParaRPr lang="en-US" sz="1600" dirty="0"/>
          </a:p>
        </p:txBody>
      </p:sp>
      <p:sp>
        <p:nvSpPr>
          <p:cNvPr id="32" name="Shape 25"/>
          <p:cNvSpPr/>
          <p:nvPr/>
        </p:nvSpPr>
        <p:spPr>
          <a:xfrm>
            <a:off x="6233008" y="3977640"/>
            <a:ext cx="5410048" cy="2057400"/>
          </a:xfrm>
          <a:prstGeom prst="roundRect">
            <a:avLst>
              <a:gd name="adj" fmla="val 3556"/>
            </a:avLst>
          </a:prstGeom>
          <a:solidFill>
            <a:srgbClr val="F0EF96"/>
          </a:solidFill>
          <a:ln w="12700">
            <a:solidFill>
              <a:srgbClr val="F0EF96"/>
            </a:solidFill>
            <a:prstDash val="solid"/>
          </a:ln>
        </p:spPr>
      </p:sp>
      <p:sp>
        <p:nvSpPr>
          <p:cNvPr id="33" name="Text 26"/>
          <p:cNvSpPr txBox="1"/>
          <p:nvPr/>
        </p:nvSpPr>
        <p:spPr>
          <a:xfrm>
            <a:off x="6507328" y="4069080"/>
            <a:ext cx="4861408" cy="1874520"/>
          </a:xfrm>
          <a:prstGeom prst="rect">
            <a:avLst/>
          </a:prstGeom>
          <a:noFill/>
          <a:ln/>
        </p:spPr>
        <p:txBody>
          <a:bodyPr wrap="square" lIns="0" tIns="0" rIns="0" bIns="0" rtlCol="0" anchor="ctr"/>
          <a:lstStyle/>
          <a:p>
            <a:pPr indent="0" marL="0">
              <a:spcAft>
                <a:spcPts val="600"/>
              </a:spcAft>
              <a:buNone/>
            </a:pPr>
            <a:r>
              <a:rPr lang="en-US" sz="1600" b="1" dirty="0">
                <a:solidFill>
                  <a:srgbClr val="0A032B"/>
                </a:solidFill>
                <a:latin typeface="Montserrat" pitchFamily="34" charset="0"/>
                <a:ea typeface="Montserrat" pitchFamily="34" charset="-122"/>
                <a:cs typeface="Montserrat" pitchFamily="34" charset="-120"/>
              </a:rPr>
              <a:t>Le programme annuel de prévention</a:t>
            </a:r>
            <a:endParaRPr lang="en-US" sz="1600" dirty="0"/>
          </a:p>
          <a:p>
            <a:pPr indent="0" marL="0">
              <a:spcAft>
                <a:spcPts val="600"/>
              </a:spcAft>
              <a:buNone/>
            </a:pPr>
            <a:r>
              <a:rPr lang="en-US" sz="1300" dirty="0">
                <a:solidFill>
                  <a:srgbClr val="0A032B"/>
                </a:solidFill>
                <a:latin typeface="Arial" pitchFamily="34" charset="0"/>
                <a:ea typeface="Arial" pitchFamily="34" charset="-122"/>
                <a:cs typeface="Arial" pitchFamily="34" charset="-120"/>
              </a:rPr>
              <a:t>Il traduit l'évaluation en actions concrètes : achat d'aides à la manutention, formations, aménagements de postes. Il est présenté à l'instance de dialogue social.</a:t>
            </a:r>
            <a:endParaRPr lang="en-US" sz="16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Les acteurs de la prévention</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L'élu n'est pas seul : il s'appuie sur un réseau d'acteurs</a:t>
            </a:r>
            <a:endParaRPr lang="en-US" sz="1400" dirty="0"/>
          </a:p>
        </p:txBody>
      </p:sp>
      <p:sp>
        <p:nvSpPr>
          <p:cNvPr id="4" name="Shape 2"/>
          <p:cNvSpPr/>
          <p:nvPr/>
        </p:nvSpPr>
        <p:spPr>
          <a:xfrm>
            <a:off x="10042855" y="530352"/>
            <a:ext cx="1600200" cy="347472"/>
          </a:xfrm>
          <a:prstGeom prst="roundRect">
            <a:avLst>
              <a:gd name="adj" fmla="val 50000"/>
            </a:avLst>
          </a:prstGeom>
          <a:solidFill>
            <a:srgbClr val="0A032B"/>
          </a:solidFill>
          <a:ln w="12700">
            <a:solidFill>
              <a:srgbClr val="0A032B"/>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THÉORIE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flipH="1">
            <a:off x="6099048" y="2057400"/>
            <a:ext cx="0" cy="1783080"/>
          </a:xfrm>
          <a:prstGeom prst="line">
            <a:avLst/>
          </a:prstGeom>
          <a:noFill/>
          <a:ln w="25400">
            <a:solidFill>
              <a:srgbClr val="DCDAEA"/>
            </a:solidFill>
            <a:prstDash val="solid"/>
          </a:ln>
        </p:spPr>
      </p:sp>
      <p:sp>
        <p:nvSpPr>
          <p:cNvPr id="9" name="Shape 6"/>
          <p:cNvSpPr/>
          <p:nvPr/>
        </p:nvSpPr>
        <p:spPr>
          <a:xfrm flipH="1">
            <a:off x="6099048" y="2948940"/>
            <a:ext cx="3011176" cy="891540"/>
          </a:xfrm>
          <a:prstGeom prst="line">
            <a:avLst/>
          </a:prstGeom>
          <a:noFill/>
          <a:ln w="25400">
            <a:solidFill>
              <a:srgbClr val="DCDAEA"/>
            </a:solidFill>
            <a:prstDash val="solid"/>
          </a:ln>
        </p:spPr>
      </p:sp>
      <p:sp>
        <p:nvSpPr>
          <p:cNvPr id="10" name="Shape 7"/>
          <p:cNvSpPr/>
          <p:nvPr/>
        </p:nvSpPr>
        <p:spPr>
          <a:xfrm>
            <a:off x="6099048" y="3840480"/>
            <a:ext cx="3011176" cy="891540"/>
          </a:xfrm>
          <a:prstGeom prst="line">
            <a:avLst/>
          </a:prstGeom>
          <a:noFill/>
          <a:ln w="25400">
            <a:solidFill>
              <a:srgbClr val="DCDAEA"/>
            </a:solidFill>
            <a:prstDash val="solid"/>
          </a:ln>
        </p:spPr>
      </p:sp>
      <p:sp>
        <p:nvSpPr>
          <p:cNvPr id="11" name="Shape 8"/>
          <p:cNvSpPr/>
          <p:nvPr/>
        </p:nvSpPr>
        <p:spPr>
          <a:xfrm>
            <a:off x="6099048" y="3840480"/>
            <a:ext cx="0" cy="1783080"/>
          </a:xfrm>
          <a:prstGeom prst="line">
            <a:avLst/>
          </a:prstGeom>
          <a:noFill/>
          <a:ln w="25400">
            <a:solidFill>
              <a:srgbClr val="DCDAEA"/>
            </a:solidFill>
            <a:prstDash val="solid"/>
          </a:ln>
        </p:spPr>
      </p:sp>
      <p:sp>
        <p:nvSpPr>
          <p:cNvPr id="12" name="Shape 9"/>
          <p:cNvSpPr/>
          <p:nvPr/>
        </p:nvSpPr>
        <p:spPr>
          <a:xfrm flipH="1">
            <a:off x="3087872" y="3840480"/>
            <a:ext cx="3011176" cy="891540"/>
          </a:xfrm>
          <a:prstGeom prst="line">
            <a:avLst/>
          </a:prstGeom>
          <a:noFill/>
          <a:ln w="25400">
            <a:solidFill>
              <a:srgbClr val="DCDAEA"/>
            </a:solidFill>
            <a:prstDash val="solid"/>
          </a:ln>
        </p:spPr>
      </p:sp>
      <p:sp>
        <p:nvSpPr>
          <p:cNvPr id="13" name="Shape 10"/>
          <p:cNvSpPr/>
          <p:nvPr/>
        </p:nvSpPr>
        <p:spPr>
          <a:xfrm>
            <a:off x="3087872" y="2948940"/>
            <a:ext cx="3011176" cy="891540"/>
          </a:xfrm>
          <a:prstGeom prst="line">
            <a:avLst/>
          </a:prstGeom>
          <a:noFill/>
          <a:ln w="25400">
            <a:solidFill>
              <a:srgbClr val="DCDAEA"/>
            </a:solidFill>
            <a:prstDash val="solid"/>
          </a:ln>
        </p:spPr>
      </p:sp>
      <p:sp>
        <p:nvSpPr>
          <p:cNvPr id="14" name="Shape 11"/>
          <p:cNvSpPr/>
          <p:nvPr/>
        </p:nvSpPr>
        <p:spPr>
          <a:xfrm>
            <a:off x="5001768" y="3154680"/>
            <a:ext cx="2194560" cy="1371600"/>
          </a:xfrm>
          <a:prstGeom prst="ellipse">
            <a:avLst/>
          </a:prstGeom>
          <a:solidFill>
            <a:srgbClr val="0A032B"/>
          </a:solidFill>
          <a:ln w="12700">
            <a:solidFill>
              <a:srgbClr val="0A032B"/>
            </a:solidFill>
            <a:prstDash val="solid"/>
          </a:ln>
        </p:spPr>
      </p:sp>
      <p:sp>
        <p:nvSpPr>
          <p:cNvPr id="15" name="Text 12"/>
          <p:cNvSpPr txBox="1"/>
          <p:nvPr/>
        </p:nvSpPr>
        <p:spPr>
          <a:xfrm>
            <a:off x="5093208" y="3200400"/>
            <a:ext cx="2011680" cy="1280160"/>
          </a:xfrm>
          <a:prstGeom prst="rect">
            <a:avLst/>
          </a:prstGeom>
          <a:noFill/>
          <a:ln/>
        </p:spPr>
        <p:txBody>
          <a:bodyPr wrap="square" lIns="0" tIns="0" rIns="0" bIns="0" rtlCol="0" anchor="ctr"/>
          <a:lstStyle/>
          <a:p>
            <a:pPr algn="ctr" indent="0" marL="0">
              <a:buNone/>
            </a:pPr>
            <a:r>
              <a:rPr lang="en-US" sz="1400" b="1" dirty="0">
                <a:solidFill>
                  <a:srgbClr val="F0EF96"/>
                </a:solidFill>
                <a:latin typeface="Montserrat" pitchFamily="34" charset="0"/>
                <a:ea typeface="Montserrat" pitchFamily="34" charset="-122"/>
                <a:cs typeface="Montserrat" pitchFamily="34" charset="-120"/>
              </a:rPr>
              <a:t>Autorité territoriale</a:t>
            </a:r>
            <a:endParaRPr lang="en-US" sz="1400" dirty="0"/>
          </a:p>
          <a:p>
            <a:pPr algn="ctr" indent="0" marL="0">
              <a:buNone/>
            </a:pPr>
            <a:r>
              <a:rPr lang="en-US" sz="1100" dirty="0">
                <a:solidFill>
                  <a:srgbClr val="FFFFFF"/>
                </a:solidFill>
                <a:latin typeface="Arial" pitchFamily="34" charset="0"/>
                <a:ea typeface="Arial" pitchFamily="34" charset="-122"/>
                <a:cs typeface="Arial" pitchFamily="34" charset="-120"/>
              </a:rPr>
              <a:t>Maire, président, élus délégués</a:t>
            </a:r>
            <a:endParaRPr lang="en-US" sz="1400" dirty="0"/>
          </a:p>
        </p:txBody>
      </p:sp>
      <p:sp>
        <p:nvSpPr>
          <p:cNvPr id="16" name="Shape 13"/>
          <p:cNvSpPr/>
          <p:nvPr/>
        </p:nvSpPr>
        <p:spPr>
          <a:xfrm>
            <a:off x="4727448" y="1623060"/>
            <a:ext cx="2743200" cy="868680"/>
          </a:xfrm>
          <a:prstGeom prst="roundRect">
            <a:avLst>
              <a:gd name="adj" fmla="val 8421"/>
            </a:avLst>
          </a:prstGeom>
          <a:solidFill>
            <a:srgbClr val="EEEDF5"/>
          </a:solidFill>
          <a:ln w="12700">
            <a:solidFill>
              <a:srgbClr val="EEEDF5"/>
            </a:solidFill>
            <a:prstDash val="solid"/>
          </a:ln>
        </p:spPr>
      </p:sp>
      <p:sp>
        <p:nvSpPr>
          <p:cNvPr id="17" name="Shape 14"/>
          <p:cNvSpPr/>
          <p:nvPr/>
        </p:nvSpPr>
        <p:spPr>
          <a:xfrm>
            <a:off x="4864608" y="1828800"/>
            <a:ext cx="457200" cy="457200"/>
          </a:xfrm>
          <a:prstGeom prst="ellipse">
            <a:avLst/>
          </a:prstGeom>
          <a:solidFill>
            <a:srgbClr val="0A032B"/>
          </a:solidFill>
          <a:ln w="12700">
            <a:solidFill>
              <a:srgbClr val="0A032B"/>
            </a:solidFill>
            <a:prstDash val="solid"/>
          </a:ln>
        </p:spPr>
      </p:sp>
      <p:pic>
        <p:nvPicPr>
          <p:cNvPr id="18" name="Image 1" descr="preencoded.png">    </p:cNvPr>
          <p:cNvPicPr>
            <a:picLocks noChangeAspect="1"/>
          </p:cNvPicPr>
          <p:nvPr/>
        </p:nvPicPr>
        <p:blipFill>
          <a:blip r:embed="rId2"/>
          <a:stretch>
            <a:fillRect/>
          </a:stretch>
        </p:blipFill>
        <p:spPr>
          <a:xfrm>
            <a:off x="4978908" y="1943100"/>
            <a:ext cx="228600" cy="228600"/>
          </a:xfrm>
          <a:prstGeom prst="rect">
            <a:avLst/>
          </a:prstGeom>
        </p:spPr>
      </p:pic>
      <p:sp>
        <p:nvSpPr>
          <p:cNvPr id="19" name="Text 15"/>
          <p:cNvSpPr txBox="1"/>
          <p:nvPr/>
        </p:nvSpPr>
        <p:spPr>
          <a:xfrm>
            <a:off x="5413248" y="162306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Assistant / conseiller de prévention</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Conseille et assiste l'autorité</a:t>
            </a:r>
            <a:endParaRPr lang="en-US" sz="1150" dirty="0"/>
          </a:p>
        </p:txBody>
      </p:sp>
      <p:sp>
        <p:nvSpPr>
          <p:cNvPr id="20" name="Shape 16"/>
          <p:cNvSpPr/>
          <p:nvPr/>
        </p:nvSpPr>
        <p:spPr>
          <a:xfrm>
            <a:off x="7738624" y="2514600"/>
            <a:ext cx="2743200" cy="868680"/>
          </a:xfrm>
          <a:prstGeom prst="roundRect">
            <a:avLst>
              <a:gd name="adj" fmla="val 8421"/>
            </a:avLst>
          </a:prstGeom>
          <a:solidFill>
            <a:srgbClr val="EEEDF5"/>
          </a:solidFill>
          <a:ln w="12700">
            <a:solidFill>
              <a:srgbClr val="EEEDF5"/>
            </a:solidFill>
            <a:prstDash val="solid"/>
          </a:ln>
        </p:spPr>
      </p:sp>
      <p:sp>
        <p:nvSpPr>
          <p:cNvPr id="21" name="Shape 17"/>
          <p:cNvSpPr/>
          <p:nvPr/>
        </p:nvSpPr>
        <p:spPr>
          <a:xfrm>
            <a:off x="7875784" y="2720340"/>
            <a:ext cx="457200" cy="457200"/>
          </a:xfrm>
          <a:prstGeom prst="ellipse">
            <a:avLst/>
          </a:prstGeom>
          <a:solidFill>
            <a:srgbClr val="0A032B"/>
          </a:solidFill>
          <a:ln w="12700">
            <a:solidFill>
              <a:srgbClr val="0A032B"/>
            </a:solidFill>
            <a:prstDash val="solid"/>
          </a:ln>
        </p:spPr>
      </p:sp>
      <p:pic>
        <p:nvPicPr>
          <p:cNvPr id="22" name="Image 2" descr="preencoded.png">    </p:cNvPr>
          <p:cNvPicPr>
            <a:picLocks noChangeAspect="1"/>
          </p:cNvPicPr>
          <p:nvPr/>
        </p:nvPicPr>
        <p:blipFill>
          <a:blip r:embed="rId3"/>
          <a:stretch>
            <a:fillRect/>
          </a:stretch>
        </p:blipFill>
        <p:spPr>
          <a:xfrm>
            <a:off x="7990084" y="2834640"/>
            <a:ext cx="228600" cy="228600"/>
          </a:xfrm>
          <a:prstGeom prst="rect">
            <a:avLst/>
          </a:prstGeom>
        </p:spPr>
      </p:pic>
      <p:sp>
        <p:nvSpPr>
          <p:cNvPr id="23" name="Text 18"/>
          <p:cNvSpPr txBox="1"/>
          <p:nvPr/>
        </p:nvSpPr>
        <p:spPr>
          <a:xfrm>
            <a:off x="8424424" y="251460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Médecine préventive</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Suivi médical, aménagement de postes</a:t>
            </a:r>
            <a:endParaRPr lang="en-US" sz="1150" dirty="0"/>
          </a:p>
        </p:txBody>
      </p:sp>
      <p:sp>
        <p:nvSpPr>
          <p:cNvPr id="24" name="Shape 19"/>
          <p:cNvSpPr/>
          <p:nvPr/>
        </p:nvSpPr>
        <p:spPr>
          <a:xfrm>
            <a:off x="7738624" y="4297680"/>
            <a:ext cx="2743200" cy="868680"/>
          </a:xfrm>
          <a:prstGeom prst="roundRect">
            <a:avLst>
              <a:gd name="adj" fmla="val 8421"/>
            </a:avLst>
          </a:prstGeom>
          <a:solidFill>
            <a:srgbClr val="EEEDF5"/>
          </a:solidFill>
          <a:ln w="12700">
            <a:solidFill>
              <a:srgbClr val="EEEDF5"/>
            </a:solidFill>
            <a:prstDash val="solid"/>
          </a:ln>
        </p:spPr>
      </p:sp>
      <p:sp>
        <p:nvSpPr>
          <p:cNvPr id="25" name="Shape 20"/>
          <p:cNvSpPr/>
          <p:nvPr/>
        </p:nvSpPr>
        <p:spPr>
          <a:xfrm>
            <a:off x="7875784" y="4503420"/>
            <a:ext cx="457200" cy="457200"/>
          </a:xfrm>
          <a:prstGeom prst="ellipse">
            <a:avLst/>
          </a:prstGeom>
          <a:solidFill>
            <a:srgbClr val="0A032B"/>
          </a:solidFill>
          <a:ln w="12700">
            <a:solidFill>
              <a:srgbClr val="0A032B"/>
            </a:solidFill>
            <a:prstDash val="solid"/>
          </a:ln>
        </p:spPr>
      </p:sp>
      <p:pic>
        <p:nvPicPr>
          <p:cNvPr id="26" name="Image 3" descr="preencoded.png">    </p:cNvPr>
          <p:cNvPicPr>
            <a:picLocks noChangeAspect="1"/>
          </p:cNvPicPr>
          <p:nvPr/>
        </p:nvPicPr>
        <p:blipFill>
          <a:blip r:embed="rId4"/>
          <a:stretch>
            <a:fillRect/>
          </a:stretch>
        </p:blipFill>
        <p:spPr>
          <a:xfrm>
            <a:off x="7990084" y="4617720"/>
            <a:ext cx="228600" cy="228600"/>
          </a:xfrm>
          <a:prstGeom prst="rect">
            <a:avLst/>
          </a:prstGeom>
        </p:spPr>
      </p:pic>
      <p:sp>
        <p:nvSpPr>
          <p:cNvPr id="27" name="Text 21"/>
          <p:cNvSpPr txBox="1"/>
          <p:nvPr/>
        </p:nvSpPr>
        <p:spPr>
          <a:xfrm>
            <a:off x="8424424" y="429768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ACFI</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Contrôle les règles d'hygiène et de sécurité</a:t>
            </a:r>
            <a:endParaRPr lang="en-US" sz="1150" dirty="0"/>
          </a:p>
        </p:txBody>
      </p:sp>
      <p:sp>
        <p:nvSpPr>
          <p:cNvPr id="28" name="Shape 22"/>
          <p:cNvSpPr/>
          <p:nvPr/>
        </p:nvSpPr>
        <p:spPr>
          <a:xfrm>
            <a:off x="4727448" y="5189220"/>
            <a:ext cx="2743200" cy="868680"/>
          </a:xfrm>
          <a:prstGeom prst="roundRect">
            <a:avLst>
              <a:gd name="adj" fmla="val 8421"/>
            </a:avLst>
          </a:prstGeom>
          <a:solidFill>
            <a:srgbClr val="EEEDF5"/>
          </a:solidFill>
          <a:ln w="12700">
            <a:solidFill>
              <a:srgbClr val="EEEDF5"/>
            </a:solidFill>
            <a:prstDash val="solid"/>
          </a:ln>
        </p:spPr>
      </p:sp>
      <p:sp>
        <p:nvSpPr>
          <p:cNvPr id="29" name="Shape 23"/>
          <p:cNvSpPr/>
          <p:nvPr/>
        </p:nvSpPr>
        <p:spPr>
          <a:xfrm>
            <a:off x="4864608" y="5394960"/>
            <a:ext cx="457200" cy="457200"/>
          </a:xfrm>
          <a:prstGeom prst="ellipse">
            <a:avLst/>
          </a:prstGeom>
          <a:solidFill>
            <a:srgbClr val="0A032B"/>
          </a:solidFill>
          <a:ln w="12700">
            <a:solidFill>
              <a:srgbClr val="0A032B"/>
            </a:solidFill>
            <a:prstDash val="solid"/>
          </a:ln>
        </p:spPr>
      </p:sp>
      <p:pic>
        <p:nvPicPr>
          <p:cNvPr id="30" name="Image 4" descr="preencoded.png">    </p:cNvPr>
          <p:cNvPicPr>
            <a:picLocks noChangeAspect="1"/>
          </p:cNvPicPr>
          <p:nvPr/>
        </p:nvPicPr>
        <p:blipFill>
          <a:blip r:embed="rId5"/>
          <a:stretch>
            <a:fillRect/>
          </a:stretch>
        </p:blipFill>
        <p:spPr>
          <a:xfrm>
            <a:off x="4978908" y="5509260"/>
            <a:ext cx="228600" cy="228600"/>
          </a:xfrm>
          <a:prstGeom prst="rect">
            <a:avLst/>
          </a:prstGeom>
        </p:spPr>
      </p:pic>
      <p:sp>
        <p:nvSpPr>
          <p:cNvPr id="31" name="Text 24"/>
          <p:cNvSpPr txBox="1"/>
          <p:nvPr/>
        </p:nvSpPr>
        <p:spPr>
          <a:xfrm>
            <a:off x="5413248" y="518922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F3SCT / CST</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Instance de dialogue social en santé-sécurité</a:t>
            </a:r>
            <a:endParaRPr lang="en-US" sz="1150" dirty="0"/>
          </a:p>
        </p:txBody>
      </p:sp>
      <p:sp>
        <p:nvSpPr>
          <p:cNvPr id="32" name="Shape 25"/>
          <p:cNvSpPr/>
          <p:nvPr/>
        </p:nvSpPr>
        <p:spPr>
          <a:xfrm>
            <a:off x="1716272" y="4297680"/>
            <a:ext cx="2743200" cy="868680"/>
          </a:xfrm>
          <a:prstGeom prst="roundRect">
            <a:avLst>
              <a:gd name="adj" fmla="val 8421"/>
            </a:avLst>
          </a:prstGeom>
          <a:solidFill>
            <a:srgbClr val="EEEDF5"/>
          </a:solidFill>
          <a:ln w="12700">
            <a:solidFill>
              <a:srgbClr val="EEEDF5"/>
            </a:solidFill>
            <a:prstDash val="solid"/>
          </a:ln>
        </p:spPr>
      </p:sp>
      <p:sp>
        <p:nvSpPr>
          <p:cNvPr id="33" name="Shape 26"/>
          <p:cNvSpPr/>
          <p:nvPr/>
        </p:nvSpPr>
        <p:spPr>
          <a:xfrm>
            <a:off x="1853432" y="4503420"/>
            <a:ext cx="457200" cy="457200"/>
          </a:xfrm>
          <a:prstGeom prst="ellipse">
            <a:avLst/>
          </a:prstGeom>
          <a:solidFill>
            <a:srgbClr val="0A032B"/>
          </a:solidFill>
          <a:ln w="12700">
            <a:solidFill>
              <a:srgbClr val="0A032B"/>
            </a:solidFill>
            <a:prstDash val="solid"/>
          </a:ln>
        </p:spPr>
      </p:sp>
      <p:pic>
        <p:nvPicPr>
          <p:cNvPr id="34" name="Image 5" descr="preencoded.png">    </p:cNvPr>
          <p:cNvPicPr>
            <a:picLocks noChangeAspect="1"/>
          </p:cNvPicPr>
          <p:nvPr/>
        </p:nvPicPr>
        <p:blipFill>
          <a:blip r:embed="rId6"/>
          <a:stretch>
            <a:fillRect/>
          </a:stretch>
        </p:blipFill>
        <p:spPr>
          <a:xfrm>
            <a:off x="1967732" y="4617720"/>
            <a:ext cx="228600" cy="228600"/>
          </a:xfrm>
          <a:prstGeom prst="rect">
            <a:avLst/>
          </a:prstGeom>
        </p:spPr>
      </p:pic>
      <p:sp>
        <p:nvSpPr>
          <p:cNvPr id="35" name="Text 27"/>
          <p:cNvSpPr txBox="1"/>
          <p:nvPr/>
        </p:nvSpPr>
        <p:spPr>
          <a:xfrm>
            <a:off x="2402072" y="429768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Centre de gestion</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Appui, expertise, mise à disposition</a:t>
            </a:r>
            <a:endParaRPr lang="en-US" sz="1150" dirty="0"/>
          </a:p>
        </p:txBody>
      </p:sp>
      <p:sp>
        <p:nvSpPr>
          <p:cNvPr id="36" name="Shape 28"/>
          <p:cNvSpPr/>
          <p:nvPr/>
        </p:nvSpPr>
        <p:spPr>
          <a:xfrm>
            <a:off x="1716272" y="2514600"/>
            <a:ext cx="2743200" cy="868680"/>
          </a:xfrm>
          <a:prstGeom prst="roundRect">
            <a:avLst>
              <a:gd name="adj" fmla="val 8421"/>
            </a:avLst>
          </a:prstGeom>
          <a:solidFill>
            <a:srgbClr val="EEEDF5"/>
          </a:solidFill>
          <a:ln w="12700">
            <a:solidFill>
              <a:srgbClr val="EEEDF5"/>
            </a:solidFill>
            <a:prstDash val="solid"/>
          </a:ln>
        </p:spPr>
      </p:sp>
      <p:sp>
        <p:nvSpPr>
          <p:cNvPr id="37" name="Shape 29"/>
          <p:cNvSpPr/>
          <p:nvPr/>
        </p:nvSpPr>
        <p:spPr>
          <a:xfrm>
            <a:off x="1853432" y="2720340"/>
            <a:ext cx="457200" cy="457200"/>
          </a:xfrm>
          <a:prstGeom prst="ellipse">
            <a:avLst/>
          </a:prstGeom>
          <a:solidFill>
            <a:srgbClr val="0A032B"/>
          </a:solidFill>
          <a:ln w="12700">
            <a:solidFill>
              <a:srgbClr val="0A032B"/>
            </a:solidFill>
            <a:prstDash val="solid"/>
          </a:ln>
        </p:spPr>
      </p:sp>
      <p:pic>
        <p:nvPicPr>
          <p:cNvPr id="38" name="Image 6" descr="preencoded.png">    </p:cNvPr>
          <p:cNvPicPr>
            <a:picLocks noChangeAspect="1"/>
          </p:cNvPicPr>
          <p:nvPr/>
        </p:nvPicPr>
        <p:blipFill>
          <a:blip r:embed="rId7"/>
          <a:stretch>
            <a:fillRect/>
          </a:stretch>
        </p:blipFill>
        <p:spPr>
          <a:xfrm>
            <a:off x="1967732" y="2834640"/>
            <a:ext cx="228600" cy="228600"/>
          </a:xfrm>
          <a:prstGeom prst="rect">
            <a:avLst/>
          </a:prstGeom>
        </p:spPr>
      </p:pic>
      <p:sp>
        <p:nvSpPr>
          <p:cNvPr id="39" name="Text 30"/>
          <p:cNvSpPr txBox="1"/>
          <p:nvPr/>
        </p:nvSpPr>
        <p:spPr>
          <a:xfrm>
            <a:off x="2402072" y="2514600"/>
            <a:ext cx="1965960" cy="868680"/>
          </a:xfrm>
          <a:prstGeom prst="rect">
            <a:avLst/>
          </a:prstGeom>
          <a:noFill/>
          <a:ln/>
        </p:spPr>
        <p:txBody>
          <a:bodyPr wrap="square" lIns="0" tIns="0" rIns="0" bIns="0" rtlCol="0" anchor="ctr"/>
          <a:lstStyle/>
          <a:p>
            <a:pPr indent="0" marL="0">
              <a:buNone/>
            </a:pPr>
            <a:r>
              <a:rPr lang="en-US" sz="1150" b="1" dirty="0">
                <a:solidFill>
                  <a:srgbClr val="0A032B"/>
                </a:solidFill>
                <a:latin typeface="Montserrat" pitchFamily="34" charset="0"/>
                <a:ea typeface="Montserrat" pitchFamily="34" charset="-122"/>
                <a:cs typeface="Montserrat" pitchFamily="34" charset="-120"/>
              </a:rPr>
              <a:t>Encadrement et agents</a:t>
            </a:r>
            <a:endParaRPr lang="en-US" sz="1150" dirty="0"/>
          </a:p>
          <a:p>
            <a:pPr indent="0" marL="0">
              <a:buNone/>
            </a:pPr>
            <a:r>
              <a:rPr lang="en-US" sz="1050" dirty="0">
                <a:solidFill>
                  <a:srgbClr val="35305C"/>
                </a:solidFill>
                <a:latin typeface="Arial" pitchFamily="34" charset="0"/>
                <a:ea typeface="Arial" pitchFamily="34" charset="-122"/>
                <a:cs typeface="Arial" pitchFamily="34" charset="-120"/>
              </a:rPr>
              <a:t>Appliquent, signalent, proposent</a:t>
            </a:r>
            <a:endParaRPr lang="en-US" sz="11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Le rôle de l'élu : exemplarité et portage</a:t>
            </a:r>
            <a:endParaRPr lang="en-US" sz="2800" dirty="0"/>
          </a:p>
        </p:txBody>
      </p:sp>
      <p:sp>
        <p:nvSpPr>
          <p:cNvPr id="3" name="Shape 1"/>
          <p:cNvSpPr/>
          <p:nvPr/>
        </p:nvSpPr>
        <p:spPr>
          <a:xfrm>
            <a:off x="10042855" y="530352"/>
            <a:ext cx="1600200" cy="347472"/>
          </a:xfrm>
          <a:prstGeom prst="roundRect">
            <a:avLst>
              <a:gd name="adj" fmla="val 50000"/>
            </a:avLst>
          </a:prstGeom>
          <a:solidFill>
            <a:srgbClr val="DCDAEA"/>
          </a:solidFill>
          <a:ln w="12700">
            <a:solidFill>
              <a:srgbClr val="DCDAEA"/>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325880"/>
            <a:ext cx="3515258" cy="2217420"/>
          </a:xfrm>
          <a:prstGeom prst="roundRect">
            <a:avLst>
              <a:gd name="adj" fmla="val 3299"/>
            </a:avLst>
          </a:prstGeom>
          <a:solidFill>
            <a:srgbClr val="EEEDF5"/>
          </a:solidFill>
          <a:ln w="12700">
            <a:solidFill>
              <a:srgbClr val="EEEDF5"/>
            </a:solidFill>
            <a:prstDash val="solid"/>
          </a:ln>
        </p:spPr>
      </p:sp>
      <p:sp>
        <p:nvSpPr>
          <p:cNvPr id="8" name="Shape 5"/>
          <p:cNvSpPr/>
          <p:nvPr/>
        </p:nvSpPr>
        <p:spPr>
          <a:xfrm>
            <a:off x="777240" y="1554480"/>
            <a:ext cx="548640" cy="54864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0" name="Text 6"/>
          <p:cNvSpPr txBox="1"/>
          <p:nvPr/>
        </p:nvSpPr>
        <p:spPr>
          <a:xfrm>
            <a:off x="1508760" y="15544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Montrer l'exemple</a:t>
            </a:r>
            <a:endParaRPr lang="en-US" sz="1500" dirty="0"/>
          </a:p>
        </p:txBody>
      </p:sp>
      <p:sp>
        <p:nvSpPr>
          <p:cNvPr id="11" name="Text 7"/>
          <p:cNvSpPr txBox="1"/>
          <p:nvPr/>
        </p:nvSpPr>
        <p:spPr>
          <a:xfrm>
            <a:off x="777240" y="224028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Appliquer soi-même les bons gestes lors des événements, porter les EPI sur les chantiers, ne pas « donner un coup de main » dangereux.</a:t>
            </a:r>
            <a:endParaRPr lang="en-US" sz="1250" dirty="0"/>
          </a:p>
        </p:txBody>
      </p:sp>
      <p:sp>
        <p:nvSpPr>
          <p:cNvPr id="12" name="Shape 8"/>
          <p:cNvSpPr/>
          <p:nvPr/>
        </p:nvSpPr>
        <p:spPr>
          <a:xfrm>
            <a:off x="4338218" y="1325880"/>
            <a:ext cx="3515258" cy="2217420"/>
          </a:xfrm>
          <a:prstGeom prst="roundRect">
            <a:avLst>
              <a:gd name="adj" fmla="val 3299"/>
            </a:avLst>
          </a:prstGeom>
          <a:solidFill>
            <a:srgbClr val="EEEDF5"/>
          </a:solidFill>
          <a:ln w="12700">
            <a:solidFill>
              <a:srgbClr val="EEEDF5"/>
            </a:solidFill>
            <a:prstDash val="solid"/>
          </a:ln>
        </p:spPr>
      </p:sp>
      <p:sp>
        <p:nvSpPr>
          <p:cNvPr id="13" name="Shape 9"/>
          <p:cNvSpPr/>
          <p:nvPr/>
        </p:nvSpPr>
        <p:spPr>
          <a:xfrm>
            <a:off x="4566818" y="1554480"/>
            <a:ext cx="548640" cy="54864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4703978" y="1691640"/>
            <a:ext cx="274320" cy="274320"/>
          </a:xfrm>
          <a:prstGeom prst="rect">
            <a:avLst/>
          </a:prstGeom>
        </p:spPr>
      </p:pic>
      <p:sp>
        <p:nvSpPr>
          <p:cNvPr id="15" name="Text 10"/>
          <p:cNvSpPr txBox="1"/>
          <p:nvPr/>
        </p:nvSpPr>
        <p:spPr>
          <a:xfrm>
            <a:off x="5298338" y="15544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Porter la démarche</a:t>
            </a:r>
            <a:endParaRPr lang="en-US" sz="1500" dirty="0"/>
          </a:p>
        </p:txBody>
      </p:sp>
      <p:sp>
        <p:nvSpPr>
          <p:cNvPr id="16" name="Text 11"/>
          <p:cNvSpPr txBox="1"/>
          <p:nvPr/>
        </p:nvSpPr>
        <p:spPr>
          <a:xfrm>
            <a:off x="4566818" y="224028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Afficher la prévention comme une priorité politique, en parler en conseil, en réunion de service.</a:t>
            </a:r>
            <a:endParaRPr lang="en-US" sz="1250" dirty="0"/>
          </a:p>
        </p:txBody>
      </p:sp>
      <p:sp>
        <p:nvSpPr>
          <p:cNvPr id="17" name="Shape 12"/>
          <p:cNvSpPr/>
          <p:nvPr/>
        </p:nvSpPr>
        <p:spPr>
          <a:xfrm>
            <a:off x="8127797" y="1325880"/>
            <a:ext cx="3515258" cy="2217420"/>
          </a:xfrm>
          <a:prstGeom prst="roundRect">
            <a:avLst>
              <a:gd name="adj" fmla="val 3299"/>
            </a:avLst>
          </a:prstGeom>
          <a:solidFill>
            <a:srgbClr val="EEEDF5"/>
          </a:solidFill>
          <a:ln w="12700">
            <a:solidFill>
              <a:srgbClr val="EEEDF5"/>
            </a:solidFill>
            <a:prstDash val="solid"/>
          </a:ln>
        </p:spPr>
      </p:sp>
      <p:sp>
        <p:nvSpPr>
          <p:cNvPr id="18" name="Shape 13"/>
          <p:cNvSpPr/>
          <p:nvPr/>
        </p:nvSpPr>
        <p:spPr>
          <a:xfrm>
            <a:off x="8356397" y="1554480"/>
            <a:ext cx="548640" cy="548640"/>
          </a:xfrm>
          <a:prstGeom prst="ellipse">
            <a:avLst/>
          </a:prstGeom>
          <a:solidFill>
            <a:srgbClr val="0A032B"/>
          </a:solidFill>
          <a:ln w="12700">
            <a:solidFill>
              <a:srgbClr val="0A032B"/>
            </a:solidFill>
            <a:prstDash val="solid"/>
          </a:ln>
        </p:spPr>
      </p:sp>
      <p:pic>
        <p:nvPicPr>
          <p:cNvPr id="19" name="Image 3" descr="preencoded.png">    </p:cNvPr>
          <p:cNvPicPr>
            <a:picLocks noChangeAspect="1"/>
          </p:cNvPicPr>
          <p:nvPr/>
        </p:nvPicPr>
        <p:blipFill>
          <a:blip r:embed="rId4"/>
          <a:stretch>
            <a:fillRect/>
          </a:stretch>
        </p:blipFill>
        <p:spPr>
          <a:xfrm>
            <a:off x="8493557" y="1691640"/>
            <a:ext cx="274320" cy="274320"/>
          </a:xfrm>
          <a:prstGeom prst="rect">
            <a:avLst/>
          </a:prstGeom>
        </p:spPr>
      </p:pic>
      <p:sp>
        <p:nvSpPr>
          <p:cNvPr id="20" name="Text 14"/>
          <p:cNvSpPr txBox="1"/>
          <p:nvPr/>
        </p:nvSpPr>
        <p:spPr>
          <a:xfrm>
            <a:off x="9087917" y="155448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Arbitrer les moyens</a:t>
            </a:r>
            <a:endParaRPr lang="en-US" sz="1500" dirty="0"/>
          </a:p>
        </p:txBody>
      </p:sp>
      <p:sp>
        <p:nvSpPr>
          <p:cNvPr id="21" name="Text 15"/>
          <p:cNvSpPr txBox="1"/>
          <p:nvPr/>
        </p:nvSpPr>
        <p:spPr>
          <a:xfrm>
            <a:off x="8356397" y="224028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Budget pour les aides à la manutention, le mobilier adapté, les formations des agents.</a:t>
            </a:r>
            <a:endParaRPr lang="en-US" sz="1250" dirty="0"/>
          </a:p>
        </p:txBody>
      </p:sp>
      <p:sp>
        <p:nvSpPr>
          <p:cNvPr id="22" name="Shape 16"/>
          <p:cNvSpPr/>
          <p:nvPr/>
        </p:nvSpPr>
        <p:spPr>
          <a:xfrm>
            <a:off x="548640" y="3817620"/>
            <a:ext cx="3515258" cy="2217420"/>
          </a:xfrm>
          <a:prstGeom prst="roundRect">
            <a:avLst>
              <a:gd name="adj" fmla="val 3299"/>
            </a:avLst>
          </a:prstGeom>
          <a:solidFill>
            <a:srgbClr val="EEEDF5"/>
          </a:solidFill>
          <a:ln w="12700">
            <a:solidFill>
              <a:srgbClr val="EEEDF5"/>
            </a:solidFill>
            <a:prstDash val="solid"/>
          </a:ln>
        </p:spPr>
      </p:sp>
      <p:sp>
        <p:nvSpPr>
          <p:cNvPr id="23" name="Shape 17"/>
          <p:cNvSpPr/>
          <p:nvPr/>
        </p:nvSpPr>
        <p:spPr>
          <a:xfrm>
            <a:off x="777240" y="4046220"/>
            <a:ext cx="548640" cy="548640"/>
          </a:xfrm>
          <a:prstGeom prst="ellipse">
            <a:avLst/>
          </a:prstGeom>
          <a:solidFill>
            <a:srgbClr val="0A032B"/>
          </a:solidFill>
          <a:ln w="12700">
            <a:solidFill>
              <a:srgbClr val="0A032B"/>
            </a:solidFill>
            <a:prstDash val="solid"/>
          </a:ln>
        </p:spPr>
      </p:sp>
      <p:pic>
        <p:nvPicPr>
          <p:cNvPr id="24" name="Image 4" descr="preencoded.png">    </p:cNvPr>
          <p:cNvPicPr>
            <a:picLocks noChangeAspect="1"/>
          </p:cNvPicPr>
          <p:nvPr/>
        </p:nvPicPr>
        <p:blipFill>
          <a:blip r:embed="rId5"/>
          <a:stretch>
            <a:fillRect/>
          </a:stretch>
        </p:blipFill>
        <p:spPr>
          <a:xfrm>
            <a:off x="914400" y="4183380"/>
            <a:ext cx="274320" cy="274320"/>
          </a:xfrm>
          <a:prstGeom prst="rect">
            <a:avLst/>
          </a:prstGeom>
        </p:spPr>
      </p:pic>
      <p:sp>
        <p:nvSpPr>
          <p:cNvPr id="25" name="Text 18"/>
          <p:cNvSpPr txBox="1"/>
          <p:nvPr/>
        </p:nvSpPr>
        <p:spPr>
          <a:xfrm>
            <a:off x="1508760" y="40462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Écouter et dialoguer</a:t>
            </a:r>
            <a:endParaRPr lang="en-US" sz="1500" dirty="0"/>
          </a:p>
        </p:txBody>
      </p:sp>
      <p:sp>
        <p:nvSpPr>
          <p:cNvPr id="26" name="Text 19"/>
          <p:cNvSpPr txBox="1"/>
          <p:nvPr/>
        </p:nvSpPr>
        <p:spPr>
          <a:xfrm>
            <a:off x="777240" y="473202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Prendre au sérieux les signalements, participer au dialogue social, consulter les agents.</a:t>
            </a:r>
            <a:endParaRPr lang="en-US" sz="1250" dirty="0"/>
          </a:p>
        </p:txBody>
      </p:sp>
      <p:sp>
        <p:nvSpPr>
          <p:cNvPr id="27" name="Shape 20"/>
          <p:cNvSpPr/>
          <p:nvPr/>
        </p:nvSpPr>
        <p:spPr>
          <a:xfrm>
            <a:off x="4338218" y="3817620"/>
            <a:ext cx="3515258" cy="2217420"/>
          </a:xfrm>
          <a:prstGeom prst="roundRect">
            <a:avLst>
              <a:gd name="adj" fmla="val 3299"/>
            </a:avLst>
          </a:prstGeom>
          <a:solidFill>
            <a:srgbClr val="EEEDF5"/>
          </a:solidFill>
          <a:ln w="12700">
            <a:solidFill>
              <a:srgbClr val="EEEDF5"/>
            </a:solidFill>
            <a:prstDash val="solid"/>
          </a:ln>
        </p:spPr>
      </p:sp>
      <p:sp>
        <p:nvSpPr>
          <p:cNvPr id="28" name="Shape 21"/>
          <p:cNvSpPr/>
          <p:nvPr/>
        </p:nvSpPr>
        <p:spPr>
          <a:xfrm>
            <a:off x="4566818" y="4046220"/>
            <a:ext cx="548640" cy="548640"/>
          </a:xfrm>
          <a:prstGeom prst="ellipse">
            <a:avLst/>
          </a:prstGeom>
          <a:solidFill>
            <a:srgbClr val="0A032B"/>
          </a:solidFill>
          <a:ln w="12700">
            <a:solidFill>
              <a:srgbClr val="0A032B"/>
            </a:solidFill>
            <a:prstDash val="solid"/>
          </a:ln>
        </p:spPr>
      </p:sp>
      <p:pic>
        <p:nvPicPr>
          <p:cNvPr id="29" name="Image 5" descr="preencoded.png">    </p:cNvPr>
          <p:cNvPicPr>
            <a:picLocks noChangeAspect="1"/>
          </p:cNvPicPr>
          <p:nvPr/>
        </p:nvPicPr>
        <p:blipFill>
          <a:blip r:embed="rId6"/>
          <a:stretch>
            <a:fillRect/>
          </a:stretch>
        </p:blipFill>
        <p:spPr>
          <a:xfrm>
            <a:off x="4703978" y="4183380"/>
            <a:ext cx="274320" cy="274320"/>
          </a:xfrm>
          <a:prstGeom prst="rect">
            <a:avLst/>
          </a:prstGeom>
        </p:spPr>
      </p:pic>
      <p:sp>
        <p:nvSpPr>
          <p:cNvPr id="30" name="Text 22"/>
          <p:cNvSpPr txBox="1"/>
          <p:nvPr/>
        </p:nvSpPr>
        <p:spPr>
          <a:xfrm>
            <a:off x="5298338" y="40462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Organiser le travail</a:t>
            </a:r>
            <a:endParaRPr lang="en-US" sz="1500" dirty="0"/>
          </a:p>
        </p:txBody>
      </p:sp>
      <p:sp>
        <p:nvSpPr>
          <p:cNvPr id="31" name="Text 23"/>
          <p:cNvSpPr txBox="1"/>
          <p:nvPr/>
        </p:nvSpPr>
        <p:spPr>
          <a:xfrm>
            <a:off x="4566818" y="473202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Anticiper les événements : temps de préparation, renforts, livraisons au bon endroit.</a:t>
            </a:r>
            <a:endParaRPr lang="en-US" sz="1250" dirty="0"/>
          </a:p>
        </p:txBody>
      </p:sp>
      <p:sp>
        <p:nvSpPr>
          <p:cNvPr id="32" name="Shape 24"/>
          <p:cNvSpPr/>
          <p:nvPr/>
        </p:nvSpPr>
        <p:spPr>
          <a:xfrm>
            <a:off x="8127797" y="3817620"/>
            <a:ext cx="3515258" cy="2217420"/>
          </a:xfrm>
          <a:prstGeom prst="roundRect">
            <a:avLst>
              <a:gd name="adj" fmla="val 3299"/>
            </a:avLst>
          </a:prstGeom>
          <a:solidFill>
            <a:srgbClr val="EEEDF5"/>
          </a:solidFill>
          <a:ln w="12700">
            <a:solidFill>
              <a:srgbClr val="EEEDF5"/>
            </a:solidFill>
            <a:prstDash val="solid"/>
          </a:ln>
        </p:spPr>
      </p:sp>
      <p:sp>
        <p:nvSpPr>
          <p:cNvPr id="33" name="Shape 25"/>
          <p:cNvSpPr/>
          <p:nvPr/>
        </p:nvSpPr>
        <p:spPr>
          <a:xfrm>
            <a:off x="8356397" y="4046220"/>
            <a:ext cx="548640" cy="548640"/>
          </a:xfrm>
          <a:prstGeom prst="ellipse">
            <a:avLst/>
          </a:prstGeom>
          <a:solidFill>
            <a:srgbClr val="0A032B"/>
          </a:solidFill>
          <a:ln w="12700">
            <a:solidFill>
              <a:srgbClr val="0A032B"/>
            </a:solidFill>
            <a:prstDash val="solid"/>
          </a:ln>
        </p:spPr>
      </p:sp>
      <p:pic>
        <p:nvPicPr>
          <p:cNvPr id="34" name="Image 6" descr="preencoded.png">    </p:cNvPr>
          <p:cNvPicPr>
            <a:picLocks noChangeAspect="1"/>
          </p:cNvPicPr>
          <p:nvPr/>
        </p:nvPicPr>
        <p:blipFill>
          <a:blip r:embed="rId7"/>
          <a:stretch>
            <a:fillRect/>
          </a:stretch>
        </p:blipFill>
        <p:spPr>
          <a:xfrm>
            <a:off x="8493557" y="4183380"/>
            <a:ext cx="274320" cy="274320"/>
          </a:xfrm>
          <a:prstGeom prst="rect">
            <a:avLst/>
          </a:prstGeom>
        </p:spPr>
      </p:pic>
      <p:sp>
        <p:nvSpPr>
          <p:cNvPr id="35" name="Text 26"/>
          <p:cNvSpPr txBox="1"/>
          <p:nvPr/>
        </p:nvSpPr>
        <p:spPr>
          <a:xfrm>
            <a:off x="9087917" y="4046220"/>
            <a:ext cx="2326538" cy="548640"/>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Associer les acteurs</a:t>
            </a:r>
            <a:endParaRPr lang="en-US" sz="1500" dirty="0"/>
          </a:p>
        </p:txBody>
      </p:sp>
      <p:sp>
        <p:nvSpPr>
          <p:cNvPr id="36" name="Text 27"/>
          <p:cNvSpPr txBox="1"/>
          <p:nvPr/>
        </p:nvSpPr>
        <p:spPr>
          <a:xfrm>
            <a:off x="8356397" y="4732020"/>
            <a:ext cx="3058058" cy="1165860"/>
          </a:xfrm>
          <a:prstGeom prst="rect">
            <a:avLst/>
          </a:prstGeom>
          <a:noFill/>
          <a:ln/>
        </p:spPr>
        <p:txBody>
          <a:bodyPr wrap="square" lIns="0" tIns="0" rIns="0" bIns="0" rtlCol="0" anchor="t"/>
          <a:lstStyle/>
          <a:p>
            <a:pPr indent="0" marL="0">
              <a:buNone/>
            </a:pPr>
            <a:r>
              <a:rPr lang="en-US" sz="1250" dirty="0">
                <a:solidFill>
                  <a:srgbClr val="35305C"/>
                </a:solidFill>
                <a:latin typeface="Arial" pitchFamily="34" charset="0"/>
                <a:ea typeface="Arial" pitchFamily="34" charset="-122"/>
                <a:cs typeface="Arial" pitchFamily="34" charset="-120"/>
              </a:rPr>
              <a:t>S'appuyer sur l'assistant de prévention, la médecine préventive et le centre de gestion.</a:t>
            </a:r>
            <a:endParaRPr lang="en-US" sz="12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ÉTUDE DE CAS</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Étude de cas 1 : la fête communale</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20 minutes (12 min + 8 min de restitution)</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Sous-groupes de 3 à 4 élus</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Fiche cas, fiches acteurs, paperboard</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La situation</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Samedi matin, 3 agents techniques et 2 élus installent 40 tables, 300 chaises et un podium. Pas de chariot disponible, l'installation doit être finie à 11 h. Un agent se bloque le dos en déchargeant le camion.</a:t>
            </a:r>
            <a:endParaRPr lang="en-US" sz="1500" dirty="0"/>
          </a:p>
        </p:txBody>
      </p:sp>
      <p:sp>
        <p:nvSpPr>
          <p:cNvPr id="20" name="Shape 15"/>
          <p:cNvSpPr/>
          <p:nvPr/>
        </p:nvSpPr>
        <p:spPr>
          <a:xfrm>
            <a:off x="4663440" y="240715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40715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388870"/>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Analysez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Quels facteurs de risque ? Quelles erreurs d'organisation ?</a:t>
            </a:r>
            <a:endParaRPr lang="en-US" sz="1500" dirty="0"/>
          </a:p>
        </p:txBody>
      </p:sp>
      <p:sp>
        <p:nvSpPr>
          <p:cNvPr id="23" name="Shape 18"/>
          <p:cNvSpPr/>
          <p:nvPr/>
        </p:nvSpPr>
        <p:spPr>
          <a:xfrm>
            <a:off x="4663440" y="357987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5798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561588"/>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Proposez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Quelles mesures pour la prochaine édition (techniques, organisationnelles, humaines) ?</a:t>
            </a:r>
            <a:endParaRPr lang="en-US" sz="1500" dirty="0"/>
          </a:p>
        </p:txBody>
      </p:sp>
      <p:sp>
        <p:nvSpPr>
          <p:cNvPr id="26" name="Shape 21"/>
          <p:cNvSpPr/>
          <p:nvPr/>
        </p:nvSpPr>
        <p:spPr>
          <a:xfrm>
            <a:off x="4663440" y="475259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475259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4734306"/>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Mobilisez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Quels acteurs associer, et quel est le rôle des élus présents ?</a:t>
            </a:r>
            <a:endParaRPr lang="en-US" sz="1500" dirty="0"/>
          </a:p>
        </p:txBody>
      </p:sp>
      <p:sp>
        <p:nvSpPr>
          <p:cNvPr id="29" name="Text 24"/>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4</a:t>
            </a:r>
            <a:endParaRPr lang="en-US" sz="900" dirty="0"/>
          </a:p>
        </p:txBody>
      </p:sp>
      <p:pic>
        <p:nvPicPr>
          <p:cNvPr id="30" name="Image 3" descr="logo_light.png">    </p:cNvPr>
          <p:cNvPicPr>
            <a:picLocks noChangeAspect="1"/>
          </p:cNvPicPr>
          <p:nvPr/>
        </p:nvPicPr>
        <p:blipFill>
          <a:blip r:embed="rId4"/>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ÉTUDE DE CAS</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Étude de cas 2 : le restaurant scolaire</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15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Mêmes sous-groupes</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Fiche cas, fiches acteurs</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La situation</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Au restaurant scolaire, deux agentes se plaignent de douleurs aux épaules et aux poignets : bacs lourds, plonge, tables à nettoyer, chaises à retourner. L'une a été arrêtée 3 semaines.</a:t>
            </a:r>
            <a:endParaRPr lang="en-US" sz="1500" dirty="0"/>
          </a:p>
        </p:txBody>
      </p:sp>
      <p:sp>
        <p:nvSpPr>
          <p:cNvPr id="20" name="Shape 15"/>
          <p:cNvSpPr/>
          <p:nvPr/>
        </p:nvSpPr>
        <p:spPr>
          <a:xfrm>
            <a:off x="4663440" y="240715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40715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388870"/>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Analysez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À quel stade de TMS en sont-elles ? Quels facteurs de risque ?</a:t>
            </a:r>
            <a:endParaRPr lang="en-US" sz="1500" dirty="0"/>
          </a:p>
        </p:txBody>
      </p:sp>
      <p:sp>
        <p:nvSpPr>
          <p:cNvPr id="23" name="Shape 18"/>
          <p:cNvSpPr/>
          <p:nvPr/>
        </p:nvSpPr>
        <p:spPr>
          <a:xfrm>
            <a:off x="4663440" y="357987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57987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561588"/>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Vérifiez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Ce risque figure-t-il au document unique ? Que faut-il y inscrire ?</a:t>
            </a:r>
            <a:endParaRPr lang="en-US" sz="1500" dirty="0"/>
          </a:p>
        </p:txBody>
      </p:sp>
      <p:sp>
        <p:nvSpPr>
          <p:cNvPr id="26" name="Shape 21"/>
          <p:cNvSpPr/>
          <p:nvPr/>
        </p:nvSpPr>
        <p:spPr>
          <a:xfrm>
            <a:off x="4663440" y="475259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475259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4734306"/>
            <a:ext cx="6293815" cy="100812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Agissez</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Quelles actions, avec quels acteurs, et quel suivi par l'élu ?</a:t>
            </a:r>
            <a:endParaRPr lang="en-US" sz="1500" dirty="0"/>
          </a:p>
        </p:txBody>
      </p:sp>
      <p:sp>
        <p:nvSpPr>
          <p:cNvPr id="29" name="Text 24"/>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4</a:t>
            </a:r>
            <a:endParaRPr lang="en-US" sz="900" dirty="0"/>
          </a:p>
        </p:txBody>
      </p:sp>
      <p:pic>
        <p:nvPicPr>
          <p:cNvPr id="30" name="Image 3" descr="logo_light.png">    </p:cNvPr>
          <p:cNvPicPr>
            <a:picLocks noChangeAspect="1"/>
          </p:cNvPicPr>
          <p:nvPr/>
        </p:nvPicPr>
        <p:blipFill>
          <a:blip r:embed="rId4"/>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Grille d'orientation : qui solliciter ?</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En binôme, complétez la colonne de droite à l'aide des fiches acteurs (10 minutes)</a:t>
            </a:r>
            <a:endParaRPr lang="en-US" sz="1400" dirty="0"/>
          </a:p>
        </p:txBody>
      </p:sp>
      <p:sp>
        <p:nvSpPr>
          <p:cNvPr id="4" name="Shape 2"/>
          <p:cNvSpPr/>
          <p:nvPr/>
        </p:nvSpPr>
        <p:spPr>
          <a:xfrm>
            <a:off x="10042855" y="530352"/>
            <a:ext cx="1600200" cy="347472"/>
          </a:xfrm>
          <a:prstGeom prst="roundRect">
            <a:avLst>
              <a:gd name="adj" fmla="val 50000"/>
            </a:avLst>
          </a:prstGeom>
          <a:solidFill>
            <a:srgbClr val="F0EF96"/>
          </a:solidFill>
          <a:ln w="12700">
            <a:solidFill>
              <a:srgbClr val="F0EF96"/>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7132320"/>
                <a:gridCol w="3962095"/>
              </a:tblGrid>
              <a:tr h="603504">
                <a:tc>
                  <a:txBody>
                    <a:bodyPr/>
                    <a:lstStyle/>
                    <a:p>
                      <a:pPr indent="0" marL="0">
                        <a:buNone/>
                      </a:pPr>
                      <a:r>
                        <a:rPr lang="en-US" sz="1300" b="1" dirty="0">
                          <a:solidFill>
                            <a:srgbClr val="FFFFFF"/>
                          </a:solidFill>
                          <a:latin typeface="Montserrat" pitchFamily="34" charset="0"/>
                          <a:ea typeface="Montserrat" pitchFamily="34" charset="-122"/>
                          <a:cs typeface="Montserrat" pitchFamily="34" charset="-120"/>
                        </a:rPr>
                        <a:t>Situation rencontrée</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c>
                  <a:txBody>
                    <a:bodyPr/>
                    <a:lstStyle/>
                    <a:p>
                      <a:pPr indent="0" marL="0">
                        <a:buNone/>
                      </a:pPr>
                      <a:r>
                        <a:rPr lang="en-US" sz="1300" b="1" dirty="0">
                          <a:solidFill>
                            <a:srgbClr val="FFFFFF"/>
                          </a:solidFill>
                          <a:latin typeface="Montserrat" pitchFamily="34" charset="0"/>
                          <a:ea typeface="Montserrat" pitchFamily="34" charset="-122"/>
                          <a:cs typeface="Montserrat" pitchFamily="34" charset="-120"/>
                        </a:rPr>
                        <a:t>Qui solliciter ?</a:t>
                      </a:r>
                      <a:endParaRPr lang="en-US" sz="1300" dirty="0">
                        <a:latin typeface="Montserrat" charset="0"/>
                        <a:ea typeface="Montserrat" charset="0"/>
                        <a:cs typeface="Montserrat"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0A032B"/>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Un agent signale des douleurs récurrentes au dos.</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Vous souhaitez mettre à jour l'évaluation des risques des services techniques.</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Un projet de réorganisation modifie les conditions de travail des agents.</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Vous voulez faire contrôler l'application des règles d'hygiène et de sécurité.</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Vous avez besoin d'un appui technique pour structurer votre démarche.</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EEEDF5"/>
                    </a:solidFill>
                  </a:tcPr>
                </a:tc>
              </a:tr>
              <a:tr h="603504">
                <a:tc>
                  <a:txBody>
                    <a:bodyPr/>
                    <a:lstStyle/>
                    <a:p>
                      <a:pPr indent="0" marL="0">
                        <a:buNone/>
                      </a:pPr>
                      <a:r>
                        <a:rPr lang="en-US" sz="1400" dirty="0">
                          <a:solidFill>
                            <a:srgbClr val="0A032B"/>
                          </a:solidFill>
                          <a:latin typeface="Arial" pitchFamily="34" charset="0"/>
                          <a:ea typeface="Arial" pitchFamily="34" charset="-122"/>
                          <a:cs typeface="Arial" pitchFamily="34" charset="-120"/>
                        </a:rPr>
                        <a:t>Un agent vous alerte sur un danger grave et imminent.</a:t>
                      </a: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91440" marR="91440" marT="45720" marB="45720" anchor="ctr">
                    <a:lnL w="9525" cap="flat" cmpd="sng" algn="ctr">
                      <a:solidFill>
                        <a:srgbClr val="DCDAEA"/>
                      </a:solidFill>
                      <a:prstDash val="solid"/>
                      <a:round/>
                      <a:headEnd type="none" w="med" len="med"/>
                      <a:tailEnd type="none" w="med" len="med"/>
                    </a:lnL>
                    <a:lnR w="9525" cap="flat" cmpd="sng" algn="ctr">
                      <a:solidFill>
                        <a:srgbClr val="DCDAEA"/>
                      </a:solidFill>
                      <a:prstDash val="solid"/>
                      <a:round/>
                      <a:headEnd type="none" w="med" len="med"/>
                      <a:tailEnd type="none" w="med" len="med"/>
                    </a:lnR>
                    <a:lnT w="9525" cap="flat" cmpd="sng" algn="ctr">
                      <a:solidFill>
                        <a:srgbClr val="DCDAEA"/>
                      </a:solidFill>
                      <a:prstDash val="solid"/>
                      <a:round/>
                      <a:headEnd type="none" w="med" len="med"/>
                      <a:tailEnd type="none" w="med" len="med"/>
                    </a:lnT>
                    <a:lnB w="9525" cap="flat" cmpd="sng" algn="ctr">
                      <a:solidFill>
                        <a:srgbClr val="DCDA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EEEDF5"/>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À retenir</a:t>
            </a:r>
            <a:endParaRPr lang="en-US" sz="2800" dirty="0"/>
          </a:p>
        </p:txBody>
      </p:sp>
      <p:sp>
        <p:nvSpPr>
          <p:cNvPr id="3" name="Text 1"/>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4</a:t>
            </a:r>
            <a:endParaRPr lang="en-US" sz="900" dirty="0"/>
          </a:p>
        </p:txBody>
      </p:sp>
      <p:pic>
        <p:nvPicPr>
          <p:cNvPr id="4"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5" name="Shape 2"/>
          <p:cNvSpPr/>
          <p:nvPr/>
        </p:nvSpPr>
        <p:spPr>
          <a:xfrm>
            <a:off x="548640"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6" name="Shape 3"/>
          <p:cNvSpPr/>
          <p:nvPr/>
        </p:nvSpPr>
        <p:spPr>
          <a:xfrm>
            <a:off x="777240" y="1859280"/>
            <a:ext cx="457200" cy="457200"/>
          </a:xfrm>
          <a:prstGeom prst="ellipse">
            <a:avLst/>
          </a:prstGeom>
          <a:solidFill>
            <a:srgbClr val="F0EF96"/>
          </a:solidFill>
          <a:ln w="12700">
            <a:solidFill>
              <a:srgbClr val="F0EF96"/>
            </a:solidFill>
            <a:prstDash val="solid"/>
          </a:ln>
        </p:spPr>
      </p:sp>
      <p:pic>
        <p:nvPicPr>
          <p:cNvPr id="7" name="Image 1" descr="preencoded.png">    </p:cNvPr>
          <p:cNvPicPr>
            <a:picLocks noChangeAspect="1"/>
          </p:cNvPicPr>
          <p:nvPr/>
        </p:nvPicPr>
        <p:blipFill>
          <a:blip r:embed="rId2"/>
          <a:stretch>
            <a:fillRect/>
          </a:stretch>
        </p:blipFill>
        <p:spPr>
          <a:xfrm>
            <a:off x="891540" y="1973580"/>
            <a:ext cx="228600" cy="228600"/>
          </a:xfrm>
          <a:prstGeom prst="rect">
            <a:avLst/>
          </a:prstGeom>
        </p:spPr>
      </p:pic>
      <p:sp>
        <p:nvSpPr>
          <p:cNvPr id="8" name="Text 4"/>
          <p:cNvSpPr txBox="1"/>
          <p:nvPr/>
        </p:nvSpPr>
        <p:spPr>
          <a:xfrm>
            <a:off x="1417320"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L'autorité territoriale est responsable de la santé et de la sécurité des agents.</a:t>
            </a:r>
            <a:endParaRPr lang="en-US" sz="1400" dirty="0"/>
          </a:p>
        </p:txBody>
      </p:sp>
      <p:sp>
        <p:nvSpPr>
          <p:cNvPr id="9" name="Shape 5"/>
          <p:cNvSpPr/>
          <p:nvPr/>
        </p:nvSpPr>
        <p:spPr>
          <a:xfrm>
            <a:off x="6233008" y="141732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0" name="Shape 6"/>
          <p:cNvSpPr/>
          <p:nvPr/>
        </p:nvSpPr>
        <p:spPr>
          <a:xfrm>
            <a:off x="6461608" y="1859280"/>
            <a:ext cx="457200" cy="457200"/>
          </a:xfrm>
          <a:prstGeom prst="ellipse">
            <a:avLst/>
          </a:prstGeom>
          <a:solidFill>
            <a:srgbClr val="F0EF96"/>
          </a:solidFill>
          <a:ln w="12700">
            <a:solidFill>
              <a:srgbClr val="F0EF96"/>
            </a:solidFill>
            <a:prstDash val="solid"/>
          </a:ln>
        </p:spPr>
      </p:sp>
      <p:pic>
        <p:nvPicPr>
          <p:cNvPr id="11" name="Image 2" descr="preencoded.png">    </p:cNvPr>
          <p:cNvPicPr>
            <a:picLocks noChangeAspect="1"/>
          </p:cNvPicPr>
          <p:nvPr/>
        </p:nvPicPr>
        <p:blipFill>
          <a:blip r:embed="rId3"/>
          <a:stretch>
            <a:fillRect/>
          </a:stretch>
        </p:blipFill>
        <p:spPr>
          <a:xfrm>
            <a:off x="6575908" y="1973580"/>
            <a:ext cx="228600" cy="228600"/>
          </a:xfrm>
          <a:prstGeom prst="rect">
            <a:avLst/>
          </a:prstGeom>
        </p:spPr>
      </p:pic>
      <p:sp>
        <p:nvSpPr>
          <p:cNvPr id="12" name="Text 7"/>
          <p:cNvSpPr txBox="1"/>
          <p:nvPr/>
        </p:nvSpPr>
        <p:spPr>
          <a:xfrm>
            <a:off x="7101688" y="150876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Le document unique recense les risques, le programme de prévention les traite.</a:t>
            </a:r>
            <a:endParaRPr lang="en-US" sz="1400" dirty="0"/>
          </a:p>
        </p:txBody>
      </p:sp>
      <p:sp>
        <p:nvSpPr>
          <p:cNvPr id="13" name="Shape 8"/>
          <p:cNvSpPr/>
          <p:nvPr/>
        </p:nvSpPr>
        <p:spPr>
          <a:xfrm>
            <a:off x="548640"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4" name="Shape 9"/>
          <p:cNvSpPr/>
          <p:nvPr/>
        </p:nvSpPr>
        <p:spPr>
          <a:xfrm>
            <a:off x="777240" y="3474720"/>
            <a:ext cx="457200" cy="457200"/>
          </a:xfrm>
          <a:prstGeom prst="ellipse">
            <a:avLst/>
          </a:prstGeom>
          <a:solidFill>
            <a:srgbClr val="F0EF96"/>
          </a:solidFill>
          <a:ln w="12700">
            <a:solidFill>
              <a:srgbClr val="F0EF96"/>
            </a:solidFill>
            <a:prstDash val="solid"/>
          </a:ln>
        </p:spPr>
      </p:sp>
      <p:pic>
        <p:nvPicPr>
          <p:cNvPr id="15" name="Image 3" descr="preencoded.png">    </p:cNvPr>
          <p:cNvPicPr>
            <a:picLocks noChangeAspect="1"/>
          </p:cNvPicPr>
          <p:nvPr/>
        </p:nvPicPr>
        <p:blipFill>
          <a:blip r:embed="rId4"/>
          <a:stretch>
            <a:fillRect/>
          </a:stretch>
        </p:blipFill>
        <p:spPr>
          <a:xfrm>
            <a:off x="891540" y="3589020"/>
            <a:ext cx="228600" cy="228600"/>
          </a:xfrm>
          <a:prstGeom prst="rect">
            <a:avLst/>
          </a:prstGeom>
        </p:spPr>
      </p:pic>
      <p:sp>
        <p:nvSpPr>
          <p:cNvPr id="16" name="Text 10"/>
          <p:cNvSpPr txBox="1"/>
          <p:nvPr/>
        </p:nvSpPr>
        <p:spPr>
          <a:xfrm>
            <a:off x="1417320"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Assistant de prévention, médecine préventive, ACFI, F3SCT, centre de gestion : des appuis.</a:t>
            </a:r>
            <a:endParaRPr lang="en-US" sz="1400" dirty="0"/>
          </a:p>
        </p:txBody>
      </p:sp>
      <p:sp>
        <p:nvSpPr>
          <p:cNvPr id="17" name="Shape 11"/>
          <p:cNvSpPr/>
          <p:nvPr/>
        </p:nvSpPr>
        <p:spPr>
          <a:xfrm>
            <a:off x="6233008" y="303276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18" name="Shape 12"/>
          <p:cNvSpPr/>
          <p:nvPr/>
        </p:nvSpPr>
        <p:spPr>
          <a:xfrm>
            <a:off x="6461608" y="3474720"/>
            <a:ext cx="457200" cy="457200"/>
          </a:xfrm>
          <a:prstGeom prst="ellipse">
            <a:avLst/>
          </a:prstGeom>
          <a:solidFill>
            <a:srgbClr val="F0EF96"/>
          </a:solidFill>
          <a:ln w="12700">
            <a:solidFill>
              <a:srgbClr val="F0EF96"/>
            </a:solidFill>
            <a:prstDash val="solid"/>
          </a:ln>
        </p:spPr>
      </p:sp>
      <p:pic>
        <p:nvPicPr>
          <p:cNvPr id="19" name="Image 4" descr="preencoded.png">    </p:cNvPr>
          <p:cNvPicPr>
            <a:picLocks noChangeAspect="1"/>
          </p:cNvPicPr>
          <p:nvPr/>
        </p:nvPicPr>
        <p:blipFill>
          <a:blip r:embed="rId5"/>
          <a:stretch>
            <a:fillRect/>
          </a:stretch>
        </p:blipFill>
        <p:spPr>
          <a:xfrm>
            <a:off x="6575908" y="3589020"/>
            <a:ext cx="228600" cy="228600"/>
          </a:xfrm>
          <a:prstGeom prst="rect">
            <a:avLst/>
          </a:prstGeom>
        </p:spPr>
      </p:pic>
      <p:sp>
        <p:nvSpPr>
          <p:cNvPr id="20" name="Text 13"/>
          <p:cNvSpPr txBox="1"/>
          <p:nvPr/>
        </p:nvSpPr>
        <p:spPr>
          <a:xfrm>
            <a:off x="7101688" y="312420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Un signalement de douleur doit être pris au sérieux et orienté.</a:t>
            </a:r>
            <a:endParaRPr lang="en-US" sz="1400" dirty="0"/>
          </a:p>
        </p:txBody>
      </p:sp>
      <p:sp>
        <p:nvSpPr>
          <p:cNvPr id="21" name="Shape 14"/>
          <p:cNvSpPr/>
          <p:nvPr/>
        </p:nvSpPr>
        <p:spPr>
          <a:xfrm>
            <a:off x="548640"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2" name="Shape 15"/>
          <p:cNvSpPr/>
          <p:nvPr/>
        </p:nvSpPr>
        <p:spPr>
          <a:xfrm>
            <a:off x="777240" y="5090160"/>
            <a:ext cx="457200" cy="457200"/>
          </a:xfrm>
          <a:prstGeom prst="ellipse">
            <a:avLst/>
          </a:prstGeom>
          <a:solidFill>
            <a:srgbClr val="F0EF96"/>
          </a:solidFill>
          <a:ln w="12700">
            <a:solidFill>
              <a:srgbClr val="F0EF96"/>
            </a:solidFill>
            <a:prstDash val="solid"/>
          </a:ln>
        </p:spPr>
      </p:sp>
      <p:pic>
        <p:nvPicPr>
          <p:cNvPr id="23" name="Image 5" descr="preencoded.png">    </p:cNvPr>
          <p:cNvPicPr>
            <a:picLocks noChangeAspect="1"/>
          </p:cNvPicPr>
          <p:nvPr/>
        </p:nvPicPr>
        <p:blipFill>
          <a:blip r:embed="rId6"/>
          <a:stretch>
            <a:fillRect/>
          </a:stretch>
        </p:blipFill>
        <p:spPr>
          <a:xfrm>
            <a:off x="891540" y="5204460"/>
            <a:ext cx="228600" cy="228600"/>
          </a:xfrm>
          <a:prstGeom prst="rect">
            <a:avLst/>
          </a:prstGeom>
        </p:spPr>
      </p:pic>
      <p:sp>
        <p:nvSpPr>
          <p:cNvPr id="24" name="Text 16"/>
          <p:cNvSpPr txBox="1"/>
          <p:nvPr/>
        </p:nvSpPr>
        <p:spPr>
          <a:xfrm>
            <a:off x="1417320"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L'élu agit par l'exemple, l'arbitrage des moyens et le dialogue.</a:t>
            </a:r>
            <a:endParaRPr lang="en-US" sz="1400" dirty="0"/>
          </a:p>
        </p:txBody>
      </p:sp>
      <p:sp>
        <p:nvSpPr>
          <p:cNvPr id="25" name="Shape 17"/>
          <p:cNvSpPr/>
          <p:nvPr/>
        </p:nvSpPr>
        <p:spPr>
          <a:xfrm>
            <a:off x="6233008" y="4648200"/>
            <a:ext cx="5410048" cy="134112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8000"/>
              </a:srgbClr>
            </a:outerShdw>
          </a:effectLst>
        </p:spPr>
      </p:sp>
      <p:sp>
        <p:nvSpPr>
          <p:cNvPr id="26" name="Shape 18"/>
          <p:cNvSpPr/>
          <p:nvPr/>
        </p:nvSpPr>
        <p:spPr>
          <a:xfrm>
            <a:off x="6461608" y="5090160"/>
            <a:ext cx="457200" cy="457200"/>
          </a:xfrm>
          <a:prstGeom prst="ellipse">
            <a:avLst/>
          </a:prstGeom>
          <a:solidFill>
            <a:srgbClr val="F0EF96"/>
          </a:solidFill>
          <a:ln w="12700">
            <a:solidFill>
              <a:srgbClr val="F0EF96"/>
            </a:solidFill>
            <a:prstDash val="solid"/>
          </a:ln>
        </p:spPr>
      </p:sp>
      <p:pic>
        <p:nvPicPr>
          <p:cNvPr id="27" name="Image 6" descr="preencoded.png">    </p:cNvPr>
          <p:cNvPicPr>
            <a:picLocks noChangeAspect="1"/>
          </p:cNvPicPr>
          <p:nvPr/>
        </p:nvPicPr>
        <p:blipFill>
          <a:blip r:embed="rId7"/>
          <a:stretch>
            <a:fillRect/>
          </a:stretch>
        </p:blipFill>
        <p:spPr>
          <a:xfrm>
            <a:off x="6575908" y="5204460"/>
            <a:ext cx="228600" cy="228600"/>
          </a:xfrm>
          <a:prstGeom prst="rect">
            <a:avLst/>
          </a:prstGeom>
        </p:spPr>
      </p:pic>
      <p:sp>
        <p:nvSpPr>
          <p:cNvPr id="28" name="Text 19"/>
          <p:cNvSpPr txBox="1"/>
          <p:nvPr/>
        </p:nvSpPr>
        <p:spPr>
          <a:xfrm>
            <a:off x="7101688" y="4739640"/>
            <a:ext cx="4358488" cy="1158240"/>
          </a:xfrm>
          <a:prstGeom prst="rect">
            <a:avLst/>
          </a:prstGeom>
          <a:noFill/>
          <a:ln/>
        </p:spPr>
        <p:txBody>
          <a:bodyPr wrap="square" lIns="0" tIns="0" rIns="0" bIns="0" rtlCol="0" anchor="ctr"/>
          <a:lstStyle/>
          <a:p>
            <a:pPr indent="0" marL="0">
              <a:buNone/>
            </a:pPr>
            <a:r>
              <a:rPr lang="en-US" sz="1400" dirty="0">
                <a:solidFill>
                  <a:srgbClr val="0A032B"/>
                </a:solidFill>
                <a:latin typeface="Arial" pitchFamily="34" charset="0"/>
                <a:ea typeface="Arial" pitchFamily="34" charset="-122"/>
                <a:cs typeface="Arial" pitchFamily="34" charset="-120"/>
              </a:rPr>
              <a:t>Anticiper les événements, c'est prévenir les accidents.</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0EF96"/>
        </a:solidFill>
      </p:bgPr>
    </p:bg>
    <p:spTree>
      <p:nvGrpSpPr>
        <p:cNvPr id="1" name=""/>
        <p:cNvGrpSpPr/>
        <p:nvPr/>
      </p:nvGrpSpPr>
      <p:grpSpPr>
        <a:xfrm>
          <a:off x="0" y="0"/>
          <a:ext cx="0" cy="0"/>
          <a:chOff x="0" y="0"/>
          <a:chExt cx="0" cy="0"/>
        </a:xfrm>
      </p:grpSpPr>
      <p:sp>
        <p:nvSpPr>
          <p:cNvPr id="2" name="Shape 0"/>
          <p:cNvSpPr/>
          <p:nvPr/>
        </p:nvSpPr>
        <p:spPr>
          <a:xfrm>
            <a:off x="5272888" y="1463040"/>
            <a:ext cx="1645920" cy="1645920"/>
          </a:xfrm>
          <a:prstGeom prst="ellipse">
            <a:avLst/>
          </a:prstGeom>
          <a:solidFill>
            <a:srgbClr val="0A032B"/>
          </a:solidFill>
          <a:ln w="12700">
            <a:solidFill>
              <a:srgbClr val="0A032B"/>
            </a:solidFill>
            <a:prstDash val="solid"/>
          </a:ln>
        </p:spPr>
      </p:sp>
      <p:pic>
        <p:nvPicPr>
          <p:cNvPr id="3" name="Image 0" descr="preencoded.png">    </p:cNvPr>
          <p:cNvPicPr>
            <a:picLocks noChangeAspect="1"/>
          </p:cNvPicPr>
          <p:nvPr/>
        </p:nvPicPr>
        <p:blipFill>
          <a:blip r:embed="rId1"/>
          <a:stretch>
            <a:fillRect/>
          </a:stretch>
        </p:blipFill>
        <p:spPr>
          <a:xfrm>
            <a:off x="5684368" y="1874520"/>
            <a:ext cx="822960" cy="822960"/>
          </a:xfrm>
          <a:prstGeom prst="rect">
            <a:avLst/>
          </a:prstGeom>
        </p:spPr>
      </p:pic>
      <p:sp>
        <p:nvSpPr>
          <p:cNvPr id="4" name="Text 1"/>
          <p:cNvSpPr txBox="1"/>
          <p:nvPr/>
        </p:nvSpPr>
        <p:spPr>
          <a:xfrm>
            <a:off x="548640" y="3383280"/>
            <a:ext cx="11094415" cy="822960"/>
          </a:xfrm>
          <a:prstGeom prst="rect">
            <a:avLst/>
          </a:prstGeom>
          <a:noFill/>
          <a:ln/>
        </p:spPr>
        <p:txBody>
          <a:bodyPr wrap="square" lIns="0" tIns="0" rIns="0" bIns="0" rtlCol="0" anchor="ctr"/>
          <a:lstStyle/>
          <a:p>
            <a:pPr algn="ctr" indent="0" marL="0">
              <a:buNone/>
            </a:pPr>
            <a:r>
              <a:rPr lang="en-US" sz="4400" b="1" dirty="0">
                <a:solidFill>
                  <a:srgbClr val="0A032B"/>
                </a:solidFill>
                <a:latin typeface="Montserrat" pitchFamily="34" charset="0"/>
                <a:ea typeface="Montserrat" pitchFamily="34" charset="-122"/>
                <a:cs typeface="Montserrat" pitchFamily="34" charset="-120"/>
              </a:rPr>
              <a:t>Pause</a:t>
            </a:r>
            <a:endParaRPr lang="en-US" sz="4400" dirty="0"/>
          </a:p>
        </p:txBody>
      </p:sp>
      <p:sp>
        <p:nvSpPr>
          <p:cNvPr id="5" name="Text 2"/>
          <p:cNvSpPr txBox="1"/>
          <p:nvPr/>
        </p:nvSpPr>
        <p:spPr>
          <a:xfrm>
            <a:off x="548640" y="4206240"/>
            <a:ext cx="11094415" cy="548640"/>
          </a:xfrm>
          <a:prstGeom prst="rect">
            <a:avLst/>
          </a:prstGeom>
          <a:noFill/>
          <a:ln/>
        </p:spPr>
        <p:txBody>
          <a:bodyPr wrap="square" lIns="0" tIns="0" rIns="0" bIns="0" rtlCol="0" anchor="ctr"/>
          <a:lstStyle/>
          <a:p>
            <a:pPr algn="ctr" indent="0" marL="0">
              <a:buNone/>
            </a:pPr>
            <a:r>
              <a:rPr lang="en-US" sz="2000" dirty="0">
                <a:solidFill>
                  <a:srgbClr val="35305C"/>
                </a:solidFill>
                <a:latin typeface="Arial" pitchFamily="34" charset="0"/>
                <a:ea typeface="Arial" pitchFamily="34" charset="-122"/>
                <a:cs typeface="Arial" pitchFamily="34" charset="-120"/>
              </a:rPr>
              <a:t>10 minutes</a:t>
            </a:r>
            <a:endParaRPr lang="en-US" sz="2000" dirty="0"/>
          </a:p>
        </p:txBody>
      </p:sp>
      <p:pic>
        <p:nvPicPr>
          <p:cNvPr id="6" name="Image 1" descr="logo_light.png">    </p:cNvPr>
          <p:cNvPicPr>
            <a:picLocks noChangeAspect="1"/>
          </p:cNvPicPr>
          <p:nvPr/>
        </p:nvPicPr>
        <p:blipFill>
          <a:blip r:embed="rId2"/>
          <a:stretch>
            <a:fillRect/>
          </a:stretch>
        </p:blipFill>
        <p:spPr>
          <a:xfrm>
            <a:off x="10682935" y="6236208"/>
            <a:ext cx="960120" cy="398441"/>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05</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SÉQUENCE 5</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Les bons gestes en situation réelle</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Consolider les acquis par des ateliers issus du quotidien de la collectivité.</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70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Trois ateliers issus du quotidien de la collectivité</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Rotation : 3 ateliers de 15 minutes, puis 20 minutes de débriefing</a:t>
            </a:r>
            <a:endParaRPr lang="en-US" sz="1400" dirty="0"/>
          </a:p>
        </p:txBody>
      </p:sp>
      <p:sp>
        <p:nvSpPr>
          <p:cNvPr id="4" name="Shape 2"/>
          <p:cNvSpPr/>
          <p:nvPr/>
        </p:nvSpPr>
        <p:spPr>
          <a:xfrm>
            <a:off x="10042855" y="530352"/>
            <a:ext cx="1600200" cy="347472"/>
          </a:xfrm>
          <a:prstGeom prst="roundRect">
            <a:avLst>
              <a:gd name="adj" fmla="val 50000"/>
            </a:avLst>
          </a:prstGeom>
          <a:solidFill>
            <a:srgbClr val="F0EF96"/>
          </a:solidFill>
          <a:ln w="12700">
            <a:solidFill>
              <a:srgbClr val="F0EF96"/>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5</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3515258" cy="4434840"/>
          </a:xfrm>
          <a:prstGeom prst="roundRect">
            <a:avLst>
              <a:gd name="adj" fmla="val 2081"/>
            </a:avLst>
          </a:prstGeom>
          <a:solidFill>
            <a:srgbClr val="EEEDF5"/>
          </a:solidFill>
          <a:ln w="12700">
            <a:solidFill>
              <a:srgbClr val="EEEDF5"/>
            </a:solidFill>
            <a:prstDash val="solid"/>
          </a:ln>
        </p:spPr>
      </p:sp>
      <p:sp>
        <p:nvSpPr>
          <p:cNvPr id="9" name="Shape 6"/>
          <p:cNvSpPr/>
          <p:nvPr/>
        </p:nvSpPr>
        <p:spPr>
          <a:xfrm>
            <a:off x="822960" y="1874520"/>
            <a:ext cx="822960" cy="822960"/>
          </a:xfrm>
          <a:prstGeom prst="roundRect">
            <a:avLst>
              <a:gd name="adj" fmla="val 11111"/>
            </a:avLst>
          </a:prstGeom>
          <a:solidFill>
            <a:srgbClr val="F0EF96"/>
          </a:solidFill>
          <a:ln w="12700">
            <a:solidFill>
              <a:srgbClr val="F0EF96"/>
            </a:solidFill>
            <a:prstDash val="solid"/>
          </a:ln>
        </p:spPr>
      </p:sp>
      <p:sp>
        <p:nvSpPr>
          <p:cNvPr id="10" name="Text 7"/>
          <p:cNvSpPr txBox="1"/>
          <p:nvPr/>
        </p:nvSpPr>
        <p:spPr>
          <a:xfrm>
            <a:off x="822960" y="1874520"/>
            <a:ext cx="822960" cy="822960"/>
          </a:xfrm>
          <a:prstGeom prst="rect">
            <a:avLst/>
          </a:prstGeom>
          <a:noFill/>
          <a:ln/>
        </p:spPr>
        <p:txBody>
          <a:bodyPr wrap="square" lIns="0" tIns="0" rIns="0" bIns="0" rtlCol="0" anchor="ctr"/>
          <a:lstStyle/>
          <a:p>
            <a:pPr algn="ctr" indent="0" marL="0">
              <a:buNone/>
            </a:pPr>
            <a:r>
              <a:rPr lang="en-US" sz="3200" b="1" dirty="0">
                <a:solidFill>
                  <a:srgbClr val="0A032B"/>
                </a:solidFill>
                <a:latin typeface="Montserrat" pitchFamily="34" charset="0"/>
                <a:ea typeface="Montserrat" pitchFamily="34" charset="-122"/>
                <a:cs typeface="Montserrat" pitchFamily="34" charset="-120"/>
              </a:rPr>
              <a:t>A</a:t>
            </a:r>
            <a:endParaRPr lang="en-US" sz="3200" dirty="0"/>
          </a:p>
        </p:txBody>
      </p:sp>
      <p:sp>
        <p:nvSpPr>
          <p:cNvPr id="11" name="Shape 8"/>
          <p:cNvSpPr/>
          <p:nvPr/>
        </p:nvSpPr>
        <p:spPr>
          <a:xfrm>
            <a:off x="2966618" y="1874520"/>
            <a:ext cx="822960" cy="822960"/>
          </a:xfrm>
          <a:prstGeom prst="ellipse">
            <a:avLst/>
          </a:prstGeom>
          <a:solidFill>
            <a:srgbClr val="0A032B"/>
          </a:solidFill>
          <a:ln w="12700">
            <a:solidFill>
              <a:srgbClr val="0A032B"/>
            </a:solidFill>
            <a:prstDash val="solid"/>
          </a:ln>
        </p:spPr>
      </p:sp>
      <p:pic>
        <p:nvPicPr>
          <p:cNvPr id="12" name="Image 1" descr="preencoded.png">    </p:cNvPr>
          <p:cNvPicPr>
            <a:picLocks noChangeAspect="1"/>
          </p:cNvPicPr>
          <p:nvPr/>
        </p:nvPicPr>
        <p:blipFill>
          <a:blip r:embed="rId2"/>
          <a:stretch>
            <a:fillRect/>
          </a:stretch>
        </p:blipFill>
        <p:spPr>
          <a:xfrm>
            <a:off x="3172358" y="2080260"/>
            <a:ext cx="411480" cy="411480"/>
          </a:xfrm>
          <a:prstGeom prst="rect">
            <a:avLst/>
          </a:prstGeom>
        </p:spPr>
      </p:pic>
      <p:sp>
        <p:nvSpPr>
          <p:cNvPr id="13" name="Text 9"/>
          <p:cNvSpPr txBox="1"/>
          <p:nvPr/>
        </p:nvSpPr>
        <p:spPr>
          <a:xfrm>
            <a:off x="822960" y="2926080"/>
            <a:ext cx="2966618" cy="45720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Atelier A · Mobilier</a:t>
            </a:r>
            <a:endParaRPr lang="en-US" sz="1600" dirty="0"/>
          </a:p>
        </p:txBody>
      </p:sp>
      <p:sp>
        <p:nvSpPr>
          <p:cNvPr id="14" name="Text 10"/>
          <p:cNvSpPr txBox="1"/>
          <p:nvPr/>
        </p:nvSpPr>
        <p:spPr>
          <a:xfrm>
            <a:off x="822960" y="3520440"/>
            <a:ext cx="2966618" cy="22860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Déplier, déplacer et ranger des tables</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Empiler et transporter des chaises</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Installer une salle de conseil ou un bureau de vote</a:t>
            </a:r>
            <a:endParaRPr lang="en-US" sz="1350" dirty="0"/>
          </a:p>
        </p:txBody>
      </p:sp>
      <p:sp>
        <p:nvSpPr>
          <p:cNvPr id="15" name="Shape 11"/>
          <p:cNvSpPr/>
          <p:nvPr/>
        </p:nvSpPr>
        <p:spPr>
          <a:xfrm>
            <a:off x="4338218" y="1600200"/>
            <a:ext cx="3515258" cy="4434840"/>
          </a:xfrm>
          <a:prstGeom prst="roundRect">
            <a:avLst>
              <a:gd name="adj" fmla="val 2081"/>
            </a:avLst>
          </a:prstGeom>
          <a:solidFill>
            <a:srgbClr val="EEEDF5"/>
          </a:solidFill>
          <a:ln w="12700">
            <a:solidFill>
              <a:srgbClr val="EEEDF5"/>
            </a:solidFill>
            <a:prstDash val="solid"/>
          </a:ln>
        </p:spPr>
      </p:sp>
      <p:sp>
        <p:nvSpPr>
          <p:cNvPr id="16" name="Shape 12"/>
          <p:cNvSpPr/>
          <p:nvPr/>
        </p:nvSpPr>
        <p:spPr>
          <a:xfrm>
            <a:off x="4612538" y="1874520"/>
            <a:ext cx="822960" cy="822960"/>
          </a:xfrm>
          <a:prstGeom prst="roundRect">
            <a:avLst>
              <a:gd name="adj" fmla="val 11111"/>
            </a:avLst>
          </a:prstGeom>
          <a:solidFill>
            <a:srgbClr val="F0EF96"/>
          </a:solidFill>
          <a:ln w="12700">
            <a:solidFill>
              <a:srgbClr val="F0EF96"/>
            </a:solidFill>
            <a:prstDash val="solid"/>
          </a:ln>
        </p:spPr>
      </p:sp>
      <p:sp>
        <p:nvSpPr>
          <p:cNvPr id="17" name="Text 13"/>
          <p:cNvSpPr txBox="1"/>
          <p:nvPr/>
        </p:nvSpPr>
        <p:spPr>
          <a:xfrm>
            <a:off x="4612538" y="1874520"/>
            <a:ext cx="822960" cy="822960"/>
          </a:xfrm>
          <a:prstGeom prst="rect">
            <a:avLst/>
          </a:prstGeom>
          <a:noFill/>
          <a:ln/>
        </p:spPr>
        <p:txBody>
          <a:bodyPr wrap="square" lIns="0" tIns="0" rIns="0" bIns="0" rtlCol="0" anchor="ctr"/>
          <a:lstStyle/>
          <a:p>
            <a:pPr algn="ctr" indent="0" marL="0">
              <a:buNone/>
            </a:pPr>
            <a:r>
              <a:rPr lang="en-US" sz="3200" b="1" dirty="0">
                <a:solidFill>
                  <a:srgbClr val="0A032B"/>
                </a:solidFill>
                <a:latin typeface="Montserrat" pitchFamily="34" charset="0"/>
                <a:ea typeface="Montserrat" pitchFamily="34" charset="-122"/>
                <a:cs typeface="Montserrat" pitchFamily="34" charset="-120"/>
              </a:rPr>
              <a:t>B</a:t>
            </a:r>
            <a:endParaRPr lang="en-US" sz="3200" dirty="0"/>
          </a:p>
        </p:txBody>
      </p:sp>
      <p:sp>
        <p:nvSpPr>
          <p:cNvPr id="18" name="Shape 14"/>
          <p:cNvSpPr/>
          <p:nvPr/>
        </p:nvSpPr>
        <p:spPr>
          <a:xfrm>
            <a:off x="6756197" y="1874520"/>
            <a:ext cx="822960" cy="822960"/>
          </a:xfrm>
          <a:prstGeom prst="ellipse">
            <a:avLst/>
          </a:prstGeom>
          <a:solidFill>
            <a:srgbClr val="0A032B"/>
          </a:solidFill>
          <a:ln w="12700">
            <a:solidFill>
              <a:srgbClr val="0A032B"/>
            </a:solidFill>
            <a:prstDash val="solid"/>
          </a:ln>
        </p:spPr>
      </p:sp>
      <p:pic>
        <p:nvPicPr>
          <p:cNvPr id="19" name="Image 2" descr="preencoded.png">    </p:cNvPr>
          <p:cNvPicPr>
            <a:picLocks noChangeAspect="1"/>
          </p:cNvPicPr>
          <p:nvPr/>
        </p:nvPicPr>
        <p:blipFill>
          <a:blip r:embed="rId3"/>
          <a:stretch>
            <a:fillRect/>
          </a:stretch>
        </p:blipFill>
        <p:spPr>
          <a:xfrm>
            <a:off x="6961937" y="2080260"/>
            <a:ext cx="411480" cy="411480"/>
          </a:xfrm>
          <a:prstGeom prst="rect">
            <a:avLst/>
          </a:prstGeom>
        </p:spPr>
      </p:pic>
      <p:sp>
        <p:nvSpPr>
          <p:cNvPr id="20" name="Text 15"/>
          <p:cNvSpPr txBox="1"/>
          <p:nvPr/>
        </p:nvSpPr>
        <p:spPr>
          <a:xfrm>
            <a:off x="4612538" y="2926080"/>
            <a:ext cx="2966618" cy="45720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Atelier B · Matériel de réunion</a:t>
            </a:r>
            <a:endParaRPr lang="en-US" sz="1600" dirty="0"/>
          </a:p>
        </p:txBody>
      </p:sp>
      <p:sp>
        <p:nvSpPr>
          <p:cNvPr id="21" name="Text 16"/>
          <p:cNvSpPr txBox="1"/>
          <p:nvPr/>
        </p:nvSpPr>
        <p:spPr>
          <a:xfrm>
            <a:off x="4612538" y="3520440"/>
            <a:ext cx="2966618" cy="22860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Cartons d'archives et de documents</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Urnes, isoloirs, pupitre, vidéoprojecteur</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Charger et décharger un coffre de voiture</a:t>
            </a:r>
            <a:endParaRPr lang="en-US" sz="1350" dirty="0"/>
          </a:p>
        </p:txBody>
      </p:sp>
      <p:sp>
        <p:nvSpPr>
          <p:cNvPr id="22" name="Shape 17"/>
          <p:cNvSpPr/>
          <p:nvPr/>
        </p:nvSpPr>
        <p:spPr>
          <a:xfrm>
            <a:off x="8127797" y="1600200"/>
            <a:ext cx="3515258" cy="4434840"/>
          </a:xfrm>
          <a:prstGeom prst="roundRect">
            <a:avLst>
              <a:gd name="adj" fmla="val 2081"/>
            </a:avLst>
          </a:prstGeom>
          <a:solidFill>
            <a:srgbClr val="EEEDF5"/>
          </a:solidFill>
          <a:ln w="12700">
            <a:solidFill>
              <a:srgbClr val="EEEDF5"/>
            </a:solidFill>
            <a:prstDash val="solid"/>
          </a:ln>
        </p:spPr>
      </p:sp>
      <p:sp>
        <p:nvSpPr>
          <p:cNvPr id="23" name="Shape 18"/>
          <p:cNvSpPr/>
          <p:nvPr/>
        </p:nvSpPr>
        <p:spPr>
          <a:xfrm>
            <a:off x="8402117" y="1874520"/>
            <a:ext cx="822960" cy="822960"/>
          </a:xfrm>
          <a:prstGeom prst="roundRect">
            <a:avLst>
              <a:gd name="adj" fmla="val 11111"/>
            </a:avLst>
          </a:prstGeom>
          <a:solidFill>
            <a:srgbClr val="F0EF96"/>
          </a:solidFill>
          <a:ln w="12700">
            <a:solidFill>
              <a:srgbClr val="F0EF96"/>
            </a:solidFill>
            <a:prstDash val="solid"/>
          </a:ln>
        </p:spPr>
      </p:sp>
      <p:sp>
        <p:nvSpPr>
          <p:cNvPr id="24" name="Text 19"/>
          <p:cNvSpPr txBox="1"/>
          <p:nvPr/>
        </p:nvSpPr>
        <p:spPr>
          <a:xfrm>
            <a:off x="8402117" y="1874520"/>
            <a:ext cx="822960" cy="822960"/>
          </a:xfrm>
          <a:prstGeom prst="rect">
            <a:avLst/>
          </a:prstGeom>
          <a:noFill/>
          <a:ln/>
        </p:spPr>
        <p:txBody>
          <a:bodyPr wrap="square" lIns="0" tIns="0" rIns="0" bIns="0" rtlCol="0" anchor="ctr"/>
          <a:lstStyle/>
          <a:p>
            <a:pPr algn="ctr" indent="0" marL="0">
              <a:buNone/>
            </a:pPr>
            <a:r>
              <a:rPr lang="en-US" sz="3200" b="1" dirty="0">
                <a:solidFill>
                  <a:srgbClr val="0A032B"/>
                </a:solidFill>
                <a:latin typeface="Montserrat" pitchFamily="34" charset="0"/>
                <a:ea typeface="Montserrat" pitchFamily="34" charset="-122"/>
                <a:cs typeface="Montserrat" pitchFamily="34" charset="-120"/>
              </a:rPr>
              <a:t>C</a:t>
            </a:r>
            <a:endParaRPr lang="en-US" sz="3200" dirty="0"/>
          </a:p>
        </p:txBody>
      </p:sp>
      <p:sp>
        <p:nvSpPr>
          <p:cNvPr id="25" name="Shape 20"/>
          <p:cNvSpPr/>
          <p:nvPr/>
        </p:nvSpPr>
        <p:spPr>
          <a:xfrm>
            <a:off x="10545775" y="1874520"/>
            <a:ext cx="822960" cy="822960"/>
          </a:xfrm>
          <a:prstGeom prst="ellipse">
            <a:avLst/>
          </a:prstGeom>
          <a:solidFill>
            <a:srgbClr val="0A032B"/>
          </a:solidFill>
          <a:ln w="12700">
            <a:solidFill>
              <a:srgbClr val="0A032B"/>
            </a:solidFill>
            <a:prstDash val="solid"/>
          </a:ln>
        </p:spPr>
      </p:sp>
      <p:pic>
        <p:nvPicPr>
          <p:cNvPr id="26" name="Image 3" descr="preencoded.png">    </p:cNvPr>
          <p:cNvPicPr>
            <a:picLocks noChangeAspect="1"/>
          </p:cNvPicPr>
          <p:nvPr/>
        </p:nvPicPr>
        <p:blipFill>
          <a:blip r:embed="rId4"/>
          <a:stretch>
            <a:fillRect/>
          </a:stretch>
        </p:blipFill>
        <p:spPr>
          <a:xfrm>
            <a:off x="10751515" y="2080260"/>
            <a:ext cx="411480" cy="411480"/>
          </a:xfrm>
          <a:prstGeom prst="rect">
            <a:avLst/>
          </a:prstGeom>
        </p:spPr>
      </p:pic>
      <p:sp>
        <p:nvSpPr>
          <p:cNvPr id="27" name="Text 21"/>
          <p:cNvSpPr txBox="1"/>
          <p:nvPr/>
        </p:nvSpPr>
        <p:spPr>
          <a:xfrm>
            <a:off x="8402117" y="2926080"/>
            <a:ext cx="2966618" cy="45720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Atelier C · Charges encombrantes</a:t>
            </a:r>
            <a:endParaRPr lang="en-US" sz="1600" dirty="0"/>
          </a:p>
        </p:txBody>
      </p:sp>
      <p:sp>
        <p:nvSpPr>
          <p:cNvPr id="28" name="Text 22"/>
          <p:cNvSpPr txBox="1"/>
          <p:nvPr/>
        </p:nvSpPr>
        <p:spPr>
          <a:xfrm>
            <a:off x="8402117" y="3520440"/>
            <a:ext cx="2966618" cy="22860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Barrières, grilles d'exposition, panneaux</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Barnum ou tente de réception</a:t>
            </a:r>
            <a:endParaRPr lang="en-US" sz="1350" dirty="0"/>
          </a:p>
          <a:p>
            <a:pPr marL="177800" indent="-177800">
              <a:spcAft>
                <a:spcPts val="800"/>
              </a:spcAft>
              <a:buSzPct val="100000"/>
              <a:buChar char="•"/>
            </a:pPr>
            <a:r>
              <a:rPr lang="en-US" sz="1350" dirty="0">
                <a:solidFill>
                  <a:srgbClr val="35305C"/>
                </a:solidFill>
                <a:latin typeface="Arial" pitchFamily="34" charset="0"/>
                <a:ea typeface="Arial" pitchFamily="34" charset="-122"/>
                <a:cs typeface="Arial" pitchFamily="34" charset="-120"/>
              </a:rPr>
              <a:t>Plantes et jardinières pour une cérémonie</a:t>
            </a:r>
            <a:endParaRPr lang="en-US" sz="135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F0EF96"/>
          </a:solidFill>
          <a:ln w="12700">
            <a:solidFill>
              <a:srgbClr val="F0EF96"/>
            </a:solidFill>
            <a:prstDash val="solid"/>
          </a:ln>
        </p:spPr>
      </p:sp>
      <p:sp>
        <p:nvSpPr>
          <p:cNvPr id="3" name="Shape 1"/>
          <p:cNvSpPr/>
          <p:nvPr/>
        </p:nvSpPr>
        <p:spPr>
          <a:xfrm>
            <a:off x="548640" y="502920"/>
            <a:ext cx="1600200" cy="347472"/>
          </a:xfrm>
          <a:prstGeom prst="roundRect">
            <a:avLst>
              <a:gd name="adj" fmla="val 50000"/>
            </a:avLst>
          </a:prstGeom>
          <a:solidFill>
            <a:srgbClr val="F0EF96"/>
          </a:solidFill>
          <a:ln w="12700">
            <a:solidFill>
              <a:srgbClr val="F0EF96"/>
            </a:solidFill>
            <a:prstDash val="solid"/>
          </a:ln>
        </p:spPr>
      </p:sp>
      <p:sp>
        <p:nvSpPr>
          <p:cNvPr id="4" name="Text 2"/>
          <p:cNvSpPr txBox="1"/>
          <p:nvPr/>
        </p:nvSpPr>
        <p:spPr>
          <a:xfrm>
            <a:off x="548640" y="502920"/>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PRATIQUE</a:t>
            </a:r>
            <a:endParaRPr lang="en-US" sz="1100" dirty="0"/>
          </a:p>
        </p:txBody>
      </p:sp>
      <p:sp>
        <p:nvSpPr>
          <p:cNvPr id="5" name="Text 3"/>
          <p:cNvSpPr txBox="1"/>
          <p:nvPr/>
        </p:nvSpPr>
        <p:spPr>
          <a:xfrm>
            <a:off x="548640" y="1005840"/>
            <a:ext cx="3108960" cy="365760"/>
          </a:xfrm>
          <a:prstGeom prst="rect">
            <a:avLst/>
          </a:prstGeom>
          <a:noFill/>
          <a:ln/>
        </p:spPr>
        <p:txBody>
          <a:bodyPr wrap="square" lIns="0" tIns="0" rIns="0" bIns="0" rtlCol="0" anchor="ctr"/>
          <a:lstStyle/>
          <a:p>
            <a:pPr indent="0" marL="0">
              <a:buNone/>
            </a:pPr>
            <a:r>
              <a:rPr lang="en-US" sz="1300" b="1" spc="100" kern="0" dirty="0">
                <a:solidFill>
                  <a:srgbClr val="35305C"/>
                </a:solidFill>
                <a:latin typeface="Montserrat" pitchFamily="34" charset="0"/>
                <a:ea typeface="Montserrat" pitchFamily="34" charset="-122"/>
                <a:cs typeface="Montserrat" pitchFamily="34" charset="-120"/>
              </a:rPr>
              <a:t>ATELIERS ENCADRÉS</a:t>
            </a:r>
            <a:endParaRPr lang="en-US" sz="1300" dirty="0"/>
          </a:p>
        </p:txBody>
      </p:sp>
      <p:sp>
        <p:nvSpPr>
          <p:cNvPr id="6" name="Text 4"/>
          <p:cNvSpPr txBox="1"/>
          <p:nvPr/>
        </p:nvSpPr>
        <p:spPr>
          <a:xfrm>
            <a:off x="548640" y="1371600"/>
            <a:ext cx="3200400" cy="1371600"/>
          </a:xfrm>
          <a:prstGeom prst="rect">
            <a:avLst/>
          </a:prstGeom>
          <a:noFill/>
          <a:ln/>
        </p:spPr>
        <p:txBody>
          <a:bodyPr wrap="square" lIns="0" tIns="0" rIns="0" bIns="0" rtlCol="0" anchor="t"/>
          <a:lstStyle/>
          <a:p>
            <a:pPr indent="0" marL="0">
              <a:buNone/>
            </a:pPr>
            <a:r>
              <a:rPr lang="en-US" sz="2400" b="1" dirty="0">
                <a:solidFill>
                  <a:srgbClr val="0A032B"/>
                </a:solidFill>
                <a:latin typeface="Montserrat" pitchFamily="34" charset="0"/>
                <a:ea typeface="Montserrat" pitchFamily="34" charset="-122"/>
                <a:cs typeface="Montserrat" pitchFamily="34" charset="-120"/>
              </a:rPr>
              <a:t>Consignes communes aux ateliers</a:t>
            </a:r>
            <a:endParaRPr lang="en-US" sz="2400" dirty="0"/>
          </a:p>
        </p:txBody>
      </p:sp>
      <p:sp>
        <p:nvSpPr>
          <p:cNvPr id="7" name="Shape 5"/>
          <p:cNvSpPr/>
          <p:nvPr/>
        </p:nvSpPr>
        <p:spPr>
          <a:xfrm>
            <a:off x="548640" y="2971800"/>
            <a:ext cx="457200" cy="457200"/>
          </a:xfrm>
          <a:prstGeom prst="ellipse">
            <a:avLst/>
          </a:prstGeom>
          <a:solidFill>
            <a:srgbClr val="0A032B"/>
          </a:solidFill>
          <a:ln w="12700">
            <a:solidFill>
              <a:srgbClr val="0A032B"/>
            </a:solidFill>
            <a:prstDash val="solid"/>
          </a:ln>
        </p:spPr>
      </p:sp>
      <p:pic>
        <p:nvPicPr>
          <p:cNvPr id="8" name="Image 0" descr="preencoded.png">    </p:cNvPr>
          <p:cNvPicPr>
            <a:picLocks noChangeAspect="1"/>
          </p:cNvPicPr>
          <p:nvPr/>
        </p:nvPicPr>
        <p:blipFill>
          <a:blip r:embed="rId1"/>
          <a:stretch>
            <a:fillRect/>
          </a:stretch>
        </p:blipFill>
        <p:spPr>
          <a:xfrm>
            <a:off x="662940" y="3086100"/>
            <a:ext cx="228600" cy="228600"/>
          </a:xfrm>
          <a:prstGeom prst="rect">
            <a:avLst/>
          </a:prstGeom>
        </p:spPr>
      </p:pic>
      <p:sp>
        <p:nvSpPr>
          <p:cNvPr id="9" name="Text 6"/>
          <p:cNvSpPr txBox="1"/>
          <p:nvPr/>
        </p:nvSpPr>
        <p:spPr>
          <a:xfrm>
            <a:off x="1188720" y="292608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DURÉE</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3 × 15 minutes</a:t>
            </a:r>
            <a:endParaRPr lang="en-US" sz="1000" dirty="0"/>
          </a:p>
        </p:txBody>
      </p:sp>
      <p:sp>
        <p:nvSpPr>
          <p:cNvPr id="10" name="Shape 7"/>
          <p:cNvSpPr/>
          <p:nvPr/>
        </p:nvSpPr>
        <p:spPr>
          <a:xfrm>
            <a:off x="548640" y="3931920"/>
            <a:ext cx="457200" cy="457200"/>
          </a:xfrm>
          <a:prstGeom prst="ellipse">
            <a:avLst/>
          </a:prstGeom>
          <a:solidFill>
            <a:srgbClr val="0A032B"/>
          </a:solidFill>
          <a:ln w="12700">
            <a:solidFill>
              <a:srgbClr val="0A032B"/>
            </a:solidFill>
            <a:prstDash val="solid"/>
          </a:ln>
        </p:spPr>
      </p:sp>
      <p:pic>
        <p:nvPicPr>
          <p:cNvPr id="11" name="Image 1" descr="preencoded.png">    </p:cNvPr>
          <p:cNvPicPr>
            <a:picLocks noChangeAspect="1"/>
          </p:cNvPicPr>
          <p:nvPr/>
        </p:nvPicPr>
        <p:blipFill>
          <a:blip r:embed="rId2"/>
          <a:stretch>
            <a:fillRect/>
          </a:stretch>
        </p:blipFill>
        <p:spPr>
          <a:xfrm>
            <a:off x="662940" y="4046220"/>
            <a:ext cx="228600" cy="228600"/>
          </a:xfrm>
          <a:prstGeom prst="rect">
            <a:avLst/>
          </a:prstGeom>
        </p:spPr>
      </p:pic>
      <p:sp>
        <p:nvSpPr>
          <p:cNvPr id="12" name="Text 8"/>
          <p:cNvSpPr txBox="1"/>
          <p:nvPr/>
        </p:nvSpPr>
        <p:spPr>
          <a:xfrm>
            <a:off x="1188720" y="388620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FORMAT</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3 groupes en rotation, observateur tournant</a:t>
            </a:r>
            <a:endParaRPr lang="en-US" sz="1000" dirty="0"/>
          </a:p>
        </p:txBody>
      </p:sp>
      <p:sp>
        <p:nvSpPr>
          <p:cNvPr id="13" name="Shape 9"/>
          <p:cNvSpPr/>
          <p:nvPr/>
        </p:nvSpPr>
        <p:spPr>
          <a:xfrm>
            <a:off x="548640" y="4892040"/>
            <a:ext cx="457200" cy="4572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62940" y="5006340"/>
            <a:ext cx="228600" cy="228600"/>
          </a:xfrm>
          <a:prstGeom prst="rect">
            <a:avLst/>
          </a:prstGeom>
        </p:spPr>
      </p:pic>
      <p:sp>
        <p:nvSpPr>
          <p:cNvPr id="15" name="Text 10"/>
          <p:cNvSpPr txBox="1"/>
          <p:nvPr/>
        </p:nvSpPr>
        <p:spPr>
          <a:xfrm>
            <a:off x="1188720" y="4846320"/>
            <a:ext cx="2468880" cy="868680"/>
          </a:xfrm>
          <a:prstGeom prst="rect">
            <a:avLst/>
          </a:prstGeom>
          <a:noFill/>
          <a:ln/>
        </p:spPr>
        <p:txBody>
          <a:bodyPr wrap="square" lIns="0" tIns="0" rIns="0" bIns="0" rtlCol="0" anchor="t"/>
          <a:lstStyle/>
          <a:p>
            <a:pPr indent="0" marL="0">
              <a:buNone/>
            </a:pPr>
            <a:r>
              <a:rPr lang="en-US" sz="1000" b="1" spc="100" kern="0" dirty="0">
                <a:solidFill>
                  <a:srgbClr val="35305C"/>
                </a:solidFill>
                <a:latin typeface="Montserrat" pitchFamily="34" charset="0"/>
                <a:ea typeface="Montserrat" pitchFamily="34" charset="-122"/>
                <a:cs typeface="Montserrat" pitchFamily="34" charset="-120"/>
              </a:rPr>
              <a:t>MATÉRIEL</a:t>
            </a:r>
            <a:endParaRPr lang="en-US" sz="1000" dirty="0"/>
          </a:p>
          <a:p>
            <a:pPr indent="0" marL="0">
              <a:buNone/>
            </a:pPr>
            <a:r>
              <a:rPr lang="en-US" sz="1250" dirty="0">
                <a:solidFill>
                  <a:srgbClr val="0A032B"/>
                </a:solidFill>
                <a:latin typeface="Arial" pitchFamily="34" charset="0"/>
                <a:ea typeface="Arial" pitchFamily="34" charset="-122"/>
                <a:cs typeface="Arial" pitchFamily="34" charset="-120"/>
              </a:rPr>
              <a:t>Mobilier, charges, aides à la manutention, grille d'évaluation pratique</a:t>
            </a:r>
            <a:endParaRPr lang="en-US" sz="1000" dirty="0"/>
          </a:p>
        </p:txBody>
      </p:sp>
      <p:sp>
        <p:nvSpPr>
          <p:cNvPr id="16" name="Text 11"/>
          <p:cNvSpPr txBox="1"/>
          <p:nvPr/>
        </p:nvSpPr>
        <p:spPr>
          <a:xfrm>
            <a:off x="4663440" y="457200"/>
            <a:ext cx="6979615" cy="502920"/>
          </a:xfrm>
          <a:prstGeom prst="rect">
            <a:avLst/>
          </a:prstGeom>
          <a:noFill/>
          <a:ln/>
        </p:spPr>
        <p:txBody>
          <a:bodyPr wrap="square" lIns="0" tIns="0" rIns="0" bIns="0" rtlCol="0" anchor="ctr"/>
          <a:lstStyle/>
          <a:p>
            <a:pPr indent="0" marL="0">
              <a:buNone/>
            </a:pPr>
            <a:r>
              <a:rPr lang="en-US" sz="2200" b="1" dirty="0">
                <a:solidFill>
                  <a:srgbClr val="0A032B"/>
                </a:solidFill>
                <a:latin typeface="Montserrat" pitchFamily="34" charset="0"/>
                <a:ea typeface="Montserrat" pitchFamily="34" charset="-122"/>
                <a:cs typeface="Montserrat" pitchFamily="34" charset="-120"/>
              </a:rPr>
              <a:t>Consignes</a:t>
            </a:r>
            <a:endParaRPr lang="en-US" sz="2200" dirty="0"/>
          </a:p>
        </p:txBody>
      </p:sp>
      <p:sp>
        <p:nvSpPr>
          <p:cNvPr id="17" name="Shape 12"/>
          <p:cNvSpPr/>
          <p:nvPr/>
        </p:nvSpPr>
        <p:spPr>
          <a:xfrm>
            <a:off x="4663440" y="1234440"/>
            <a:ext cx="457200" cy="457200"/>
          </a:xfrm>
          <a:prstGeom prst="ellipse">
            <a:avLst/>
          </a:prstGeom>
          <a:solidFill>
            <a:srgbClr val="0A032B"/>
          </a:solidFill>
          <a:ln w="12700">
            <a:solidFill>
              <a:srgbClr val="0A032B"/>
            </a:solidFill>
            <a:prstDash val="solid"/>
          </a:ln>
        </p:spPr>
      </p:sp>
      <p:sp>
        <p:nvSpPr>
          <p:cNvPr id="18" name="Text 13"/>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1</a:t>
            </a:r>
            <a:endParaRPr lang="en-US" sz="1300" dirty="0"/>
          </a:p>
        </p:txBody>
      </p:sp>
      <p:sp>
        <p:nvSpPr>
          <p:cNvPr id="19" name="Text 14"/>
          <p:cNvSpPr txBox="1"/>
          <p:nvPr/>
        </p:nvSpPr>
        <p:spPr>
          <a:xfrm>
            <a:off x="5349240" y="1216152"/>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Analyser avant d'agir</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Le groupe observe la tâche, choisit l'aide technique et organise le travail (qui fait quoi, quel trajet, qui mène).</a:t>
            </a:r>
            <a:endParaRPr lang="en-US" sz="1500" dirty="0"/>
          </a:p>
        </p:txBody>
      </p:sp>
      <p:sp>
        <p:nvSpPr>
          <p:cNvPr id="20" name="Shape 15"/>
          <p:cNvSpPr/>
          <p:nvPr/>
        </p:nvSpPr>
        <p:spPr>
          <a:xfrm>
            <a:off x="4663440" y="2144268"/>
            <a:ext cx="457200" cy="457200"/>
          </a:xfrm>
          <a:prstGeom prst="ellipse">
            <a:avLst/>
          </a:prstGeom>
          <a:solidFill>
            <a:srgbClr val="0A032B"/>
          </a:solidFill>
          <a:ln w="12700">
            <a:solidFill>
              <a:srgbClr val="0A032B"/>
            </a:solidFill>
            <a:prstDash val="solid"/>
          </a:ln>
        </p:spPr>
      </p:sp>
      <p:sp>
        <p:nvSpPr>
          <p:cNvPr id="21" name="Text 16"/>
          <p:cNvSpPr txBox="1"/>
          <p:nvPr/>
        </p:nvSpPr>
        <p:spPr>
          <a:xfrm>
            <a:off x="4663440" y="214426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2</a:t>
            </a:r>
            <a:endParaRPr lang="en-US" sz="1300" dirty="0"/>
          </a:p>
        </p:txBody>
      </p:sp>
      <p:sp>
        <p:nvSpPr>
          <p:cNvPr id="22" name="Text 17"/>
          <p:cNvSpPr txBox="1"/>
          <p:nvPr/>
        </p:nvSpPr>
        <p:spPr>
          <a:xfrm>
            <a:off x="5349240" y="2125980"/>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Réaliser la tâche</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En appliquant les principes de sécurité physique et d'économie d'effort, seul ou à deux.</a:t>
            </a:r>
            <a:endParaRPr lang="en-US" sz="1500" dirty="0"/>
          </a:p>
        </p:txBody>
      </p:sp>
      <p:sp>
        <p:nvSpPr>
          <p:cNvPr id="23" name="Shape 18"/>
          <p:cNvSpPr/>
          <p:nvPr/>
        </p:nvSpPr>
        <p:spPr>
          <a:xfrm>
            <a:off x="4663440" y="3054096"/>
            <a:ext cx="457200" cy="457200"/>
          </a:xfrm>
          <a:prstGeom prst="ellipse">
            <a:avLst/>
          </a:prstGeom>
          <a:solidFill>
            <a:srgbClr val="0A032B"/>
          </a:solidFill>
          <a:ln w="12700">
            <a:solidFill>
              <a:srgbClr val="0A032B"/>
            </a:solidFill>
            <a:prstDash val="solid"/>
          </a:ln>
        </p:spPr>
      </p:sp>
      <p:sp>
        <p:nvSpPr>
          <p:cNvPr id="24" name="Text 19"/>
          <p:cNvSpPr txBox="1"/>
          <p:nvPr/>
        </p:nvSpPr>
        <p:spPr>
          <a:xfrm>
            <a:off x="4663440" y="305409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3</a:t>
            </a:r>
            <a:endParaRPr lang="en-US" sz="1300" dirty="0"/>
          </a:p>
        </p:txBody>
      </p:sp>
      <p:sp>
        <p:nvSpPr>
          <p:cNvPr id="25" name="Text 20"/>
          <p:cNvSpPr txBox="1"/>
          <p:nvPr/>
        </p:nvSpPr>
        <p:spPr>
          <a:xfrm>
            <a:off x="5349240" y="3035808"/>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Observer et évaluer</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L'observateur remplit la grille d'évaluation pratique pour un stagiaire, puis les rôles tournent.</a:t>
            </a:r>
            <a:endParaRPr lang="en-US" sz="1500" dirty="0"/>
          </a:p>
        </p:txBody>
      </p:sp>
      <p:sp>
        <p:nvSpPr>
          <p:cNvPr id="26" name="Shape 21"/>
          <p:cNvSpPr/>
          <p:nvPr/>
        </p:nvSpPr>
        <p:spPr>
          <a:xfrm>
            <a:off x="4663440" y="3963924"/>
            <a:ext cx="457200" cy="457200"/>
          </a:xfrm>
          <a:prstGeom prst="ellipse">
            <a:avLst/>
          </a:prstGeom>
          <a:solidFill>
            <a:srgbClr val="0A032B"/>
          </a:solidFill>
          <a:ln w="12700">
            <a:solidFill>
              <a:srgbClr val="0A032B"/>
            </a:solidFill>
            <a:prstDash val="solid"/>
          </a:ln>
        </p:spPr>
      </p:sp>
      <p:sp>
        <p:nvSpPr>
          <p:cNvPr id="27" name="Text 22"/>
          <p:cNvSpPr txBox="1"/>
          <p:nvPr/>
        </p:nvSpPr>
        <p:spPr>
          <a:xfrm>
            <a:off x="4663440" y="39639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Montserrat" pitchFamily="34" charset="0"/>
                <a:ea typeface="Montserrat" pitchFamily="34" charset="-122"/>
                <a:cs typeface="Montserrat" pitchFamily="34" charset="-120"/>
              </a:rPr>
              <a:t>4</a:t>
            </a:r>
            <a:endParaRPr lang="en-US" sz="1300" dirty="0"/>
          </a:p>
        </p:txBody>
      </p:sp>
      <p:sp>
        <p:nvSpPr>
          <p:cNvPr id="28" name="Text 23"/>
          <p:cNvSpPr txBox="1"/>
          <p:nvPr/>
        </p:nvSpPr>
        <p:spPr>
          <a:xfrm>
            <a:off x="5349240" y="3945636"/>
            <a:ext cx="6293815" cy="745236"/>
          </a:xfrm>
          <a:prstGeom prst="rect">
            <a:avLst/>
          </a:prstGeom>
          <a:noFill/>
          <a:ln/>
        </p:spPr>
        <p:txBody>
          <a:bodyPr wrap="square" lIns="0" tIns="0" rIns="0" bIns="0" rtlCol="0" anchor="t"/>
          <a:lstStyle/>
          <a:p>
            <a:pPr indent="0" marL="0">
              <a:spcAft>
                <a:spcPts val="300"/>
              </a:spcAft>
              <a:buNone/>
            </a:pPr>
            <a:r>
              <a:rPr lang="en-US" sz="1500" b="1" dirty="0">
                <a:solidFill>
                  <a:srgbClr val="0A032B"/>
                </a:solidFill>
                <a:latin typeface="Montserrat" pitchFamily="34" charset="0"/>
                <a:ea typeface="Montserrat" pitchFamily="34" charset="-122"/>
                <a:cs typeface="Montserrat" pitchFamily="34" charset="-120"/>
              </a:rPr>
              <a:t>Noter une amélioration</a:t>
            </a:r>
            <a:endParaRPr lang="en-US" sz="1500" dirty="0"/>
          </a:p>
          <a:p>
            <a:pPr indent="0" marL="0">
              <a:spcAft>
                <a:spcPts val="300"/>
              </a:spcAft>
              <a:buNone/>
            </a:pPr>
            <a:r>
              <a:rPr lang="en-US" sz="1300" dirty="0">
                <a:solidFill>
                  <a:srgbClr val="35305C"/>
                </a:solidFill>
                <a:latin typeface="Arial" pitchFamily="34" charset="0"/>
                <a:ea typeface="Arial" pitchFamily="34" charset="-122"/>
                <a:cs typeface="Arial" pitchFamily="34" charset="-120"/>
              </a:rPr>
              <a:t>Chaque groupe note une piste d'amélioration pour sa collectivité avant de changer d'atelier.</a:t>
            </a:r>
            <a:endParaRPr lang="en-US" sz="1500" dirty="0"/>
          </a:p>
        </p:txBody>
      </p:sp>
      <p:sp>
        <p:nvSpPr>
          <p:cNvPr id="29" name="Shape 24"/>
          <p:cNvSpPr/>
          <p:nvPr/>
        </p:nvSpPr>
        <p:spPr>
          <a:xfrm>
            <a:off x="4663440" y="4983480"/>
            <a:ext cx="6979615" cy="1051560"/>
          </a:xfrm>
          <a:prstGeom prst="roundRect">
            <a:avLst>
              <a:gd name="adj" fmla="val 6957"/>
            </a:avLst>
          </a:prstGeom>
          <a:solidFill>
            <a:srgbClr val="EEEDF5"/>
          </a:solidFill>
          <a:ln w="12700">
            <a:solidFill>
              <a:srgbClr val="EEEDF5"/>
            </a:solidFill>
            <a:prstDash val="solid"/>
          </a:ln>
        </p:spPr>
      </p:sp>
      <p:sp>
        <p:nvSpPr>
          <p:cNvPr id="30" name="Shape 25"/>
          <p:cNvSpPr/>
          <p:nvPr/>
        </p:nvSpPr>
        <p:spPr>
          <a:xfrm>
            <a:off x="4846320" y="5230368"/>
            <a:ext cx="548640" cy="548640"/>
          </a:xfrm>
          <a:prstGeom prst="ellipse">
            <a:avLst/>
          </a:prstGeom>
          <a:solidFill>
            <a:srgbClr val="0A032B"/>
          </a:solidFill>
          <a:ln w="12700">
            <a:solidFill>
              <a:srgbClr val="0A032B"/>
            </a:solidFill>
            <a:prstDash val="solid"/>
          </a:ln>
        </p:spPr>
      </p:sp>
      <p:pic>
        <p:nvPicPr>
          <p:cNvPr id="31" name="Image 3" descr="preencoded.png">    </p:cNvPr>
          <p:cNvPicPr>
            <a:picLocks noChangeAspect="1"/>
          </p:cNvPicPr>
          <p:nvPr/>
        </p:nvPicPr>
        <p:blipFill>
          <a:blip r:embed="rId4"/>
          <a:stretch>
            <a:fillRect/>
          </a:stretch>
        </p:blipFill>
        <p:spPr>
          <a:xfrm>
            <a:off x="4983480" y="5367528"/>
            <a:ext cx="274320" cy="274320"/>
          </a:xfrm>
          <a:prstGeom prst="rect">
            <a:avLst/>
          </a:prstGeom>
        </p:spPr>
      </p:pic>
      <p:sp>
        <p:nvSpPr>
          <p:cNvPr id="32" name="Text 26"/>
          <p:cNvSpPr txBox="1"/>
          <p:nvPr/>
        </p:nvSpPr>
        <p:spPr>
          <a:xfrm>
            <a:off x="5577840" y="5029200"/>
            <a:ext cx="5882335" cy="960120"/>
          </a:xfrm>
          <a:prstGeom prst="rect">
            <a:avLst/>
          </a:prstGeom>
          <a:noFill/>
          <a:ln/>
        </p:spPr>
        <p:txBody>
          <a:bodyPr wrap="square" lIns="0" tIns="0" rIns="0" bIns="0" rtlCol="0" anchor="ctr"/>
          <a:lstStyle/>
          <a:p>
            <a:pPr indent="0" marL="0">
              <a:buNone/>
            </a:pPr>
            <a:r>
              <a:rPr lang="en-US" sz="1200" b="1" dirty="0">
                <a:solidFill>
                  <a:srgbClr val="0A032B"/>
                </a:solidFill>
                <a:latin typeface="Montserrat" pitchFamily="34" charset="0"/>
                <a:ea typeface="Montserrat" pitchFamily="34" charset="-122"/>
                <a:cs typeface="Montserrat" pitchFamily="34" charset="-120"/>
              </a:rPr>
              <a:t>Point de vigilance  </a:t>
            </a:r>
            <a:endParaRPr lang="en-US" sz="1200" dirty="0"/>
          </a:p>
          <a:p>
            <a:pPr indent="0" marL="0">
              <a:buNone/>
            </a:pPr>
            <a:r>
              <a:rPr lang="en-US" sz="1200" dirty="0">
                <a:solidFill>
                  <a:srgbClr val="35305C"/>
                </a:solidFill>
                <a:latin typeface="Arial" pitchFamily="34" charset="0"/>
                <a:ea typeface="Arial" pitchFamily="34" charset="-122"/>
                <a:cs typeface="Arial" pitchFamily="34" charset="-120"/>
              </a:rPr>
              <a:t>Priorité à la qualité du geste et à l'organisation, pas à la vitesse. Aucune charge au-delà de ses capacités.</a:t>
            </a:r>
            <a:endParaRPr lang="en-US" sz="1200" dirty="0"/>
          </a:p>
        </p:txBody>
      </p:sp>
      <p:sp>
        <p:nvSpPr>
          <p:cNvPr id="33" name="Text 27"/>
          <p:cNvSpPr txBox="1"/>
          <p:nvPr/>
        </p:nvSpPr>
        <p:spPr>
          <a:xfrm>
            <a:off x="548640" y="6355080"/>
            <a:ext cx="3291840" cy="274320"/>
          </a:xfrm>
          <a:prstGeom prst="rect">
            <a:avLst/>
          </a:prstGeom>
          <a:noFill/>
          <a:ln/>
        </p:spPr>
        <p:txBody>
          <a:bodyPr wrap="square" lIns="0" tIns="0" rIns="0" bIns="0" rtlCol="0" anchor="ctr"/>
          <a:lstStyle/>
          <a:p>
            <a:pPr indent="0" marL="0">
              <a:buNone/>
            </a:pPr>
            <a:r>
              <a:rPr lang="en-US" sz="900" dirty="0">
                <a:solidFill>
                  <a:srgbClr val="35305C"/>
                </a:solidFill>
                <a:latin typeface="Arial" pitchFamily="34" charset="0"/>
                <a:ea typeface="Arial" pitchFamily="34" charset="-122"/>
                <a:cs typeface="Arial" pitchFamily="34" charset="-120"/>
              </a:rPr>
              <a:t>Gestes et postures de l'élu  ·  Séquence 5</a:t>
            </a:r>
            <a:endParaRPr lang="en-US" sz="900" dirty="0"/>
          </a:p>
        </p:txBody>
      </p:sp>
      <p:pic>
        <p:nvPicPr>
          <p:cNvPr id="34" name="Image 4" descr="logo_light.png">    </p:cNvPr>
          <p:cNvPicPr>
            <a:picLocks noChangeAspect="1"/>
          </p:cNvPicPr>
          <p:nvPr/>
        </p:nvPicPr>
        <p:blipFill>
          <a:blip r:embed="rId5"/>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Débriefing des ateliers</a:t>
            </a:r>
            <a:endParaRPr lang="en-US" sz="2800" dirty="0"/>
          </a:p>
        </p:txBody>
      </p:sp>
      <p:sp>
        <p:nvSpPr>
          <p:cNvPr id="3" name="Text 1"/>
          <p:cNvSpPr txBox="1"/>
          <p:nvPr/>
        </p:nvSpPr>
        <p:spPr>
          <a:xfrm>
            <a:off x="548640" y="1024128"/>
            <a:ext cx="9235440" cy="365760"/>
          </a:xfrm>
          <a:prstGeom prst="rect">
            <a:avLst/>
          </a:prstGeom>
          <a:noFill/>
          <a:ln/>
        </p:spPr>
        <p:txBody>
          <a:bodyPr wrap="square" lIns="0" tIns="0" rIns="0" bIns="0" rtlCol="0" anchor="ctr"/>
          <a:lstStyle/>
          <a:p>
            <a:pPr indent="0" marL="0">
              <a:buNone/>
            </a:pPr>
            <a:r>
              <a:rPr lang="en-US" sz="1400" i="1" dirty="0">
                <a:solidFill>
                  <a:srgbClr val="5E5A78"/>
                </a:solidFill>
                <a:latin typeface="Arial" pitchFamily="34" charset="0"/>
                <a:ea typeface="Arial" pitchFamily="34" charset="-122"/>
                <a:cs typeface="Arial" pitchFamily="34" charset="-120"/>
              </a:rPr>
              <a:t>20 minutes en grand groupe</a:t>
            </a:r>
            <a:endParaRPr lang="en-US" sz="1400" dirty="0"/>
          </a:p>
        </p:txBody>
      </p:sp>
      <p:sp>
        <p:nvSpPr>
          <p:cNvPr id="4" name="Shape 2"/>
          <p:cNvSpPr/>
          <p:nvPr/>
        </p:nvSpPr>
        <p:spPr>
          <a:xfrm>
            <a:off x="10042855" y="530352"/>
            <a:ext cx="1600200" cy="347472"/>
          </a:xfrm>
          <a:prstGeom prst="roundRect">
            <a:avLst>
              <a:gd name="adj" fmla="val 50000"/>
            </a:avLst>
          </a:prstGeom>
          <a:solidFill>
            <a:srgbClr val="DCDAEA"/>
          </a:solidFill>
          <a:ln w="12700">
            <a:solidFill>
              <a:srgbClr val="DCDAEA"/>
            </a:solidFill>
            <a:prstDash val="solid"/>
          </a:ln>
        </p:spPr>
      </p:sp>
      <p:sp>
        <p:nvSpPr>
          <p:cNvPr id="5" name="Text 3"/>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6" name="Text 4"/>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Séquence 5</a:t>
            </a:r>
            <a:endParaRPr lang="en-US" sz="900" dirty="0"/>
          </a:p>
        </p:txBody>
      </p:sp>
      <p:pic>
        <p:nvPicPr>
          <p:cNvPr id="7"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8" name="Shape 5"/>
          <p:cNvSpPr/>
          <p:nvPr/>
        </p:nvSpPr>
        <p:spPr>
          <a:xfrm>
            <a:off x="548640" y="1600200"/>
            <a:ext cx="6035040" cy="1298448"/>
          </a:xfrm>
          <a:prstGeom prst="roundRect">
            <a:avLst>
              <a:gd name="adj" fmla="val 5634"/>
            </a:avLst>
          </a:prstGeom>
          <a:solidFill>
            <a:srgbClr val="EEEDF5"/>
          </a:solidFill>
          <a:ln w="12700">
            <a:solidFill>
              <a:srgbClr val="EEEDF5"/>
            </a:solidFill>
            <a:prstDash val="solid"/>
          </a:ln>
        </p:spPr>
      </p:sp>
      <p:sp>
        <p:nvSpPr>
          <p:cNvPr id="9" name="Shape 6"/>
          <p:cNvSpPr/>
          <p:nvPr/>
        </p:nvSpPr>
        <p:spPr>
          <a:xfrm>
            <a:off x="777240" y="1901952"/>
            <a:ext cx="685800" cy="685800"/>
          </a:xfrm>
          <a:prstGeom prst="ellipse">
            <a:avLst/>
          </a:prstGeom>
          <a:solidFill>
            <a:srgbClr val="0A032B"/>
          </a:solidFill>
          <a:ln w="12700">
            <a:solidFill>
              <a:srgbClr val="0A032B"/>
            </a:solidFill>
            <a:prstDash val="solid"/>
          </a:ln>
        </p:spPr>
      </p:sp>
      <p:pic>
        <p:nvPicPr>
          <p:cNvPr id="10" name="Image 1" descr="preencoded.png">    </p:cNvPr>
          <p:cNvPicPr>
            <a:picLocks noChangeAspect="1"/>
          </p:cNvPicPr>
          <p:nvPr/>
        </p:nvPicPr>
        <p:blipFill>
          <a:blip r:embed="rId2"/>
          <a:stretch>
            <a:fillRect/>
          </a:stretch>
        </p:blipFill>
        <p:spPr>
          <a:xfrm>
            <a:off x="948690" y="2073402"/>
            <a:ext cx="342900" cy="342900"/>
          </a:xfrm>
          <a:prstGeom prst="rect">
            <a:avLst/>
          </a:prstGeom>
        </p:spPr>
      </p:pic>
      <p:sp>
        <p:nvSpPr>
          <p:cNvPr id="11" name="Text 7"/>
          <p:cNvSpPr txBox="1"/>
          <p:nvPr/>
        </p:nvSpPr>
        <p:spPr>
          <a:xfrm>
            <a:off x="1691640" y="1600200"/>
            <a:ext cx="4754880" cy="1298448"/>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Ce qui a bien fonctionné</a:t>
            </a:r>
            <a:endParaRPr lang="en-US" sz="1500" dirty="0"/>
          </a:p>
          <a:p>
            <a:pPr indent="0" marL="0">
              <a:buNone/>
            </a:pPr>
            <a:r>
              <a:rPr lang="en-US" sz="1300" dirty="0">
                <a:solidFill>
                  <a:srgbClr val="35305C"/>
                </a:solidFill>
                <a:latin typeface="Arial" pitchFamily="34" charset="0"/>
                <a:ea typeface="Arial" pitchFamily="34" charset="-122"/>
                <a:cs typeface="Arial" pitchFamily="34" charset="-120"/>
              </a:rPr>
              <a:t>Quels gestes et quelles organisations avez-vous réussis ?</a:t>
            </a:r>
            <a:endParaRPr lang="en-US" sz="1500" dirty="0"/>
          </a:p>
        </p:txBody>
      </p:sp>
      <p:sp>
        <p:nvSpPr>
          <p:cNvPr id="12" name="Shape 8"/>
          <p:cNvSpPr/>
          <p:nvPr/>
        </p:nvSpPr>
        <p:spPr>
          <a:xfrm>
            <a:off x="548640" y="3081528"/>
            <a:ext cx="6035040" cy="1298448"/>
          </a:xfrm>
          <a:prstGeom prst="roundRect">
            <a:avLst>
              <a:gd name="adj" fmla="val 5634"/>
            </a:avLst>
          </a:prstGeom>
          <a:solidFill>
            <a:srgbClr val="EEEDF5"/>
          </a:solidFill>
          <a:ln w="12700">
            <a:solidFill>
              <a:srgbClr val="EEEDF5"/>
            </a:solidFill>
            <a:prstDash val="solid"/>
          </a:ln>
        </p:spPr>
      </p:sp>
      <p:sp>
        <p:nvSpPr>
          <p:cNvPr id="13" name="Shape 9"/>
          <p:cNvSpPr/>
          <p:nvPr/>
        </p:nvSpPr>
        <p:spPr>
          <a:xfrm>
            <a:off x="777240" y="3383280"/>
            <a:ext cx="685800" cy="68580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948690" y="3554730"/>
            <a:ext cx="342900" cy="342900"/>
          </a:xfrm>
          <a:prstGeom prst="rect">
            <a:avLst/>
          </a:prstGeom>
        </p:spPr>
      </p:pic>
      <p:sp>
        <p:nvSpPr>
          <p:cNvPr id="15" name="Text 10"/>
          <p:cNvSpPr txBox="1"/>
          <p:nvPr/>
        </p:nvSpPr>
        <p:spPr>
          <a:xfrm>
            <a:off x="1691640" y="3081528"/>
            <a:ext cx="4754880" cy="1298448"/>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Ce qui a été difficile</a:t>
            </a:r>
            <a:endParaRPr lang="en-US" sz="1500" dirty="0"/>
          </a:p>
          <a:p>
            <a:pPr indent="0" marL="0">
              <a:buNone/>
            </a:pPr>
            <a:r>
              <a:rPr lang="en-US" sz="1300" dirty="0">
                <a:solidFill>
                  <a:srgbClr val="35305C"/>
                </a:solidFill>
                <a:latin typeface="Arial" pitchFamily="34" charset="0"/>
                <a:ea typeface="Arial" pitchFamily="34" charset="-122"/>
                <a:cs typeface="Arial" pitchFamily="34" charset="-120"/>
              </a:rPr>
              <a:t>Quelles situations restent délicates ? Pourquoi ?</a:t>
            </a:r>
            <a:endParaRPr lang="en-US" sz="1500" dirty="0"/>
          </a:p>
        </p:txBody>
      </p:sp>
      <p:sp>
        <p:nvSpPr>
          <p:cNvPr id="16" name="Shape 11"/>
          <p:cNvSpPr/>
          <p:nvPr/>
        </p:nvSpPr>
        <p:spPr>
          <a:xfrm>
            <a:off x="548640" y="4562856"/>
            <a:ext cx="6035040" cy="1298448"/>
          </a:xfrm>
          <a:prstGeom prst="roundRect">
            <a:avLst>
              <a:gd name="adj" fmla="val 5634"/>
            </a:avLst>
          </a:prstGeom>
          <a:solidFill>
            <a:srgbClr val="EEEDF5"/>
          </a:solidFill>
          <a:ln w="12700">
            <a:solidFill>
              <a:srgbClr val="EEEDF5"/>
            </a:solidFill>
            <a:prstDash val="solid"/>
          </a:ln>
        </p:spPr>
      </p:sp>
      <p:sp>
        <p:nvSpPr>
          <p:cNvPr id="17" name="Shape 12"/>
          <p:cNvSpPr/>
          <p:nvPr/>
        </p:nvSpPr>
        <p:spPr>
          <a:xfrm>
            <a:off x="777240" y="4864608"/>
            <a:ext cx="685800" cy="685800"/>
          </a:xfrm>
          <a:prstGeom prst="ellipse">
            <a:avLst/>
          </a:prstGeom>
          <a:solidFill>
            <a:srgbClr val="0A032B"/>
          </a:solidFill>
          <a:ln w="12700">
            <a:solidFill>
              <a:srgbClr val="0A032B"/>
            </a:solidFill>
            <a:prstDash val="solid"/>
          </a:ln>
        </p:spPr>
      </p:sp>
      <p:pic>
        <p:nvPicPr>
          <p:cNvPr id="18" name="Image 3" descr="preencoded.png">    </p:cNvPr>
          <p:cNvPicPr>
            <a:picLocks noChangeAspect="1"/>
          </p:cNvPicPr>
          <p:nvPr/>
        </p:nvPicPr>
        <p:blipFill>
          <a:blip r:embed="rId4"/>
          <a:stretch>
            <a:fillRect/>
          </a:stretch>
        </p:blipFill>
        <p:spPr>
          <a:xfrm>
            <a:off x="948690" y="5036058"/>
            <a:ext cx="342900" cy="342900"/>
          </a:xfrm>
          <a:prstGeom prst="rect">
            <a:avLst/>
          </a:prstGeom>
        </p:spPr>
      </p:pic>
      <p:sp>
        <p:nvSpPr>
          <p:cNvPr id="19" name="Text 13"/>
          <p:cNvSpPr txBox="1"/>
          <p:nvPr/>
        </p:nvSpPr>
        <p:spPr>
          <a:xfrm>
            <a:off x="1691640" y="4562856"/>
            <a:ext cx="4754880" cy="1298448"/>
          </a:xfrm>
          <a:prstGeom prst="rect">
            <a:avLst/>
          </a:prstGeom>
          <a:noFill/>
          <a:ln/>
        </p:spPr>
        <p:txBody>
          <a:bodyPr wrap="square" lIns="0" tIns="0" rIns="0" bIns="0" rtlCol="0" anchor="ctr"/>
          <a:lstStyle/>
          <a:p>
            <a:pPr indent="0" marL="0">
              <a:buNone/>
            </a:pPr>
            <a:r>
              <a:rPr lang="en-US" sz="1500" b="1" dirty="0">
                <a:solidFill>
                  <a:srgbClr val="0A032B"/>
                </a:solidFill>
                <a:latin typeface="Montserrat" pitchFamily="34" charset="0"/>
                <a:ea typeface="Montserrat" pitchFamily="34" charset="-122"/>
                <a:cs typeface="Montserrat" pitchFamily="34" charset="-120"/>
              </a:rPr>
              <a:t>Pistes pour la collectivité</a:t>
            </a:r>
            <a:endParaRPr lang="en-US" sz="1500" dirty="0"/>
          </a:p>
          <a:p>
            <a:pPr indent="0" marL="0">
              <a:buNone/>
            </a:pPr>
            <a:r>
              <a:rPr lang="en-US" sz="1300" dirty="0">
                <a:solidFill>
                  <a:srgbClr val="35305C"/>
                </a:solidFill>
                <a:latin typeface="Arial" pitchFamily="34" charset="0"/>
                <a:ea typeface="Arial" pitchFamily="34" charset="-122"/>
                <a:cs typeface="Arial" pitchFamily="34" charset="-120"/>
              </a:rPr>
              <a:t>Matériel, organisation des événements, formation des agents, budget.</a:t>
            </a:r>
            <a:endParaRPr lang="en-US" sz="1500" dirty="0"/>
          </a:p>
        </p:txBody>
      </p:sp>
      <p:sp>
        <p:nvSpPr>
          <p:cNvPr id="20" name="Shape 14"/>
          <p:cNvSpPr/>
          <p:nvPr/>
        </p:nvSpPr>
        <p:spPr>
          <a:xfrm>
            <a:off x="6858000" y="1600200"/>
            <a:ext cx="4785055" cy="4261104"/>
          </a:xfrm>
          <a:prstGeom prst="roundRect">
            <a:avLst>
              <a:gd name="adj" fmla="val 1717"/>
            </a:avLst>
          </a:prstGeom>
          <a:solidFill>
            <a:srgbClr val="F0EF96"/>
          </a:solidFill>
          <a:ln w="12700">
            <a:solidFill>
              <a:srgbClr val="F0EF96"/>
            </a:solidFill>
            <a:prstDash val="solid"/>
          </a:ln>
        </p:spPr>
      </p:sp>
      <p:sp>
        <p:nvSpPr>
          <p:cNvPr id="21" name="Text 15"/>
          <p:cNvSpPr txBox="1"/>
          <p:nvPr/>
        </p:nvSpPr>
        <p:spPr>
          <a:xfrm>
            <a:off x="7132320" y="1783080"/>
            <a:ext cx="4236415" cy="457200"/>
          </a:xfrm>
          <a:prstGeom prst="rect">
            <a:avLst/>
          </a:prstGeom>
          <a:noFill/>
          <a:ln/>
        </p:spPr>
        <p:txBody>
          <a:bodyPr wrap="square" lIns="0" tIns="0" rIns="0" bIns="0" rtlCol="0" anchor="ctr"/>
          <a:lstStyle/>
          <a:p>
            <a:pPr indent="0" marL="0">
              <a:buNone/>
            </a:pPr>
            <a:r>
              <a:rPr lang="en-US" sz="1900" b="1" dirty="0">
                <a:solidFill>
                  <a:srgbClr val="0A032B"/>
                </a:solidFill>
                <a:latin typeface="Montserrat" pitchFamily="34" charset="0"/>
                <a:ea typeface="Montserrat" pitchFamily="34" charset="-122"/>
                <a:cs typeface="Montserrat" pitchFamily="34" charset="-120"/>
              </a:rPr>
              <a:t>Mes 3 engagements</a:t>
            </a:r>
            <a:endParaRPr lang="en-US" sz="1900" dirty="0"/>
          </a:p>
        </p:txBody>
      </p:sp>
      <p:sp>
        <p:nvSpPr>
          <p:cNvPr id="22" name="Shape 16"/>
          <p:cNvSpPr/>
          <p:nvPr/>
        </p:nvSpPr>
        <p:spPr>
          <a:xfrm>
            <a:off x="7132320" y="2468880"/>
            <a:ext cx="502920" cy="502920"/>
          </a:xfrm>
          <a:prstGeom prst="ellipse">
            <a:avLst/>
          </a:prstGeom>
          <a:solidFill>
            <a:srgbClr val="0A032B"/>
          </a:solidFill>
          <a:ln w="12700">
            <a:solidFill>
              <a:srgbClr val="0A032B"/>
            </a:solidFill>
            <a:prstDash val="solid"/>
          </a:ln>
        </p:spPr>
      </p:sp>
      <p:sp>
        <p:nvSpPr>
          <p:cNvPr id="23" name="Text 17"/>
          <p:cNvSpPr txBox="1"/>
          <p:nvPr/>
        </p:nvSpPr>
        <p:spPr>
          <a:xfrm>
            <a:off x="7132320" y="2468880"/>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1</a:t>
            </a:r>
            <a:endParaRPr lang="en-US" sz="1800" dirty="0"/>
          </a:p>
        </p:txBody>
      </p:sp>
      <p:sp>
        <p:nvSpPr>
          <p:cNvPr id="24" name="Text 18"/>
          <p:cNvSpPr txBox="1"/>
          <p:nvPr/>
        </p:nvSpPr>
        <p:spPr>
          <a:xfrm>
            <a:off x="7818120" y="2395728"/>
            <a:ext cx="3596335" cy="868680"/>
          </a:xfrm>
          <a:prstGeom prst="rect">
            <a:avLst/>
          </a:prstGeom>
          <a:noFill/>
          <a:ln/>
        </p:spPr>
        <p:txBody>
          <a:bodyPr wrap="square" lIns="0" tIns="0" rIns="0" bIns="0" rtlCol="0" anchor="t"/>
          <a:lstStyle/>
          <a:p>
            <a:pPr indent="0" marL="0">
              <a:buNone/>
            </a:pPr>
            <a:r>
              <a:rPr lang="en-US" sz="1400" b="1" dirty="0">
                <a:solidFill>
                  <a:srgbClr val="0A032B"/>
                </a:solidFill>
                <a:latin typeface="Montserrat" pitchFamily="34" charset="0"/>
                <a:ea typeface="Montserrat" pitchFamily="34" charset="-122"/>
                <a:cs typeface="Montserrat" pitchFamily="34" charset="-120"/>
              </a:rPr>
              <a:t>Pour ma santé</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un geste ou une habitude que je change dès demain</a:t>
            </a:r>
            <a:endParaRPr lang="en-US" sz="1400" dirty="0"/>
          </a:p>
        </p:txBody>
      </p:sp>
      <p:sp>
        <p:nvSpPr>
          <p:cNvPr id="25" name="Shape 19"/>
          <p:cNvSpPr/>
          <p:nvPr/>
        </p:nvSpPr>
        <p:spPr>
          <a:xfrm>
            <a:off x="7132320" y="3547872"/>
            <a:ext cx="502920" cy="502920"/>
          </a:xfrm>
          <a:prstGeom prst="ellipse">
            <a:avLst/>
          </a:prstGeom>
          <a:solidFill>
            <a:srgbClr val="0A032B"/>
          </a:solidFill>
          <a:ln w="12700">
            <a:solidFill>
              <a:srgbClr val="0A032B"/>
            </a:solidFill>
            <a:prstDash val="solid"/>
          </a:ln>
        </p:spPr>
      </p:sp>
      <p:sp>
        <p:nvSpPr>
          <p:cNvPr id="26" name="Text 20"/>
          <p:cNvSpPr txBox="1"/>
          <p:nvPr/>
        </p:nvSpPr>
        <p:spPr>
          <a:xfrm>
            <a:off x="7132320" y="3547872"/>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2</a:t>
            </a:r>
            <a:endParaRPr lang="en-US" sz="1800" dirty="0"/>
          </a:p>
        </p:txBody>
      </p:sp>
      <p:sp>
        <p:nvSpPr>
          <p:cNvPr id="27" name="Text 21"/>
          <p:cNvSpPr txBox="1"/>
          <p:nvPr/>
        </p:nvSpPr>
        <p:spPr>
          <a:xfrm>
            <a:off x="7818120" y="3474720"/>
            <a:ext cx="3596335" cy="868680"/>
          </a:xfrm>
          <a:prstGeom prst="rect">
            <a:avLst/>
          </a:prstGeom>
          <a:noFill/>
          <a:ln/>
        </p:spPr>
        <p:txBody>
          <a:bodyPr wrap="square" lIns="0" tIns="0" rIns="0" bIns="0" rtlCol="0" anchor="t"/>
          <a:lstStyle/>
          <a:p>
            <a:pPr indent="0" marL="0">
              <a:buNone/>
            </a:pPr>
            <a:r>
              <a:rPr lang="en-US" sz="1400" b="1" dirty="0">
                <a:solidFill>
                  <a:srgbClr val="0A032B"/>
                </a:solidFill>
                <a:latin typeface="Montserrat" pitchFamily="34" charset="0"/>
                <a:ea typeface="Montserrat" pitchFamily="34" charset="-122"/>
                <a:cs typeface="Montserrat" pitchFamily="34" charset="-120"/>
              </a:rPr>
              <a:t>Dans mon mandat</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une situation que j'organise autrement</a:t>
            </a:r>
            <a:endParaRPr lang="en-US" sz="1400" dirty="0"/>
          </a:p>
        </p:txBody>
      </p:sp>
      <p:sp>
        <p:nvSpPr>
          <p:cNvPr id="28" name="Shape 22"/>
          <p:cNvSpPr/>
          <p:nvPr/>
        </p:nvSpPr>
        <p:spPr>
          <a:xfrm>
            <a:off x="7132320" y="4626864"/>
            <a:ext cx="502920" cy="502920"/>
          </a:xfrm>
          <a:prstGeom prst="ellipse">
            <a:avLst/>
          </a:prstGeom>
          <a:solidFill>
            <a:srgbClr val="0A032B"/>
          </a:solidFill>
          <a:ln w="12700">
            <a:solidFill>
              <a:srgbClr val="0A032B"/>
            </a:solidFill>
            <a:prstDash val="solid"/>
          </a:ln>
        </p:spPr>
      </p:sp>
      <p:sp>
        <p:nvSpPr>
          <p:cNvPr id="29" name="Text 23"/>
          <p:cNvSpPr txBox="1"/>
          <p:nvPr/>
        </p:nvSpPr>
        <p:spPr>
          <a:xfrm>
            <a:off x="7132320" y="4626864"/>
            <a:ext cx="502920" cy="502920"/>
          </a:xfrm>
          <a:prstGeom prst="rect">
            <a:avLst/>
          </a:prstGeom>
          <a:noFill/>
          <a:ln/>
        </p:spPr>
        <p:txBody>
          <a:bodyPr wrap="square" lIns="0" tIns="0" rIns="0" bIns="0" rtlCol="0" anchor="ctr"/>
          <a:lstStyle/>
          <a:p>
            <a:pPr algn="ctr" indent="0" marL="0">
              <a:buNone/>
            </a:pPr>
            <a:r>
              <a:rPr lang="en-US" sz="1800" b="1" dirty="0">
                <a:solidFill>
                  <a:srgbClr val="F0EF96"/>
                </a:solidFill>
                <a:latin typeface="Montserrat" pitchFamily="34" charset="0"/>
                <a:ea typeface="Montserrat" pitchFamily="34" charset="-122"/>
                <a:cs typeface="Montserrat" pitchFamily="34" charset="-120"/>
              </a:rPr>
              <a:t>3</a:t>
            </a:r>
            <a:endParaRPr lang="en-US" sz="1800" dirty="0"/>
          </a:p>
        </p:txBody>
      </p:sp>
      <p:sp>
        <p:nvSpPr>
          <p:cNvPr id="30" name="Text 24"/>
          <p:cNvSpPr txBox="1"/>
          <p:nvPr/>
        </p:nvSpPr>
        <p:spPr>
          <a:xfrm>
            <a:off x="7818120" y="4553712"/>
            <a:ext cx="3596335" cy="868680"/>
          </a:xfrm>
          <a:prstGeom prst="rect">
            <a:avLst/>
          </a:prstGeom>
          <a:noFill/>
          <a:ln/>
        </p:spPr>
        <p:txBody>
          <a:bodyPr wrap="square" lIns="0" tIns="0" rIns="0" bIns="0" rtlCol="0" anchor="t"/>
          <a:lstStyle/>
          <a:p>
            <a:pPr indent="0" marL="0">
              <a:buNone/>
            </a:pPr>
            <a:r>
              <a:rPr lang="en-US" sz="1400" b="1" dirty="0">
                <a:solidFill>
                  <a:srgbClr val="0A032B"/>
                </a:solidFill>
                <a:latin typeface="Montserrat" pitchFamily="34" charset="0"/>
                <a:ea typeface="Montserrat" pitchFamily="34" charset="-122"/>
                <a:cs typeface="Montserrat" pitchFamily="34" charset="-120"/>
              </a:rPr>
              <a:t>Pour les agents</a:t>
            </a:r>
            <a:endParaRPr lang="en-US" sz="1400" dirty="0"/>
          </a:p>
          <a:p>
            <a:pPr indent="0" marL="0">
              <a:buNone/>
            </a:pPr>
            <a:r>
              <a:rPr lang="en-US" sz="1250" dirty="0">
                <a:solidFill>
                  <a:srgbClr val="35305C"/>
                </a:solidFill>
                <a:latin typeface="Arial" pitchFamily="34" charset="0"/>
                <a:ea typeface="Arial" pitchFamily="34" charset="-122"/>
                <a:cs typeface="Arial" pitchFamily="34" charset="-120"/>
              </a:rPr>
              <a:t>une action que je porte dans ma collectivité</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Évaluation des acquis : QCM</a:t>
            </a:r>
            <a:endParaRPr lang="en-US" sz="2800" dirty="0"/>
          </a:p>
        </p:txBody>
      </p:sp>
      <p:sp>
        <p:nvSpPr>
          <p:cNvPr id="3" name="Shape 1"/>
          <p:cNvSpPr/>
          <p:nvPr/>
        </p:nvSpPr>
        <p:spPr>
          <a:xfrm>
            <a:off x="10042855" y="530352"/>
            <a:ext cx="1600200" cy="347472"/>
          </a:xfrm>
          <a:prstGeom prst="roundRect">
            <a:avLst>
              <a:gd name="adj" fmla="val 50000"/>
            </a:avLst>
          </a:prstGeom>
          <a:solidFill>
            <a:srgbClr val="35305C"/>
          </a:solidFill>
          <a:ln w="12700">
            <a:solidFill>
              <a:srgbClr val="35305C"/>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Évaluation</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463040"/>
            <a:ext cx="3515258" cy="2194560"/>
          </a:xfrm>
          <a:prstGeom prst="roundRect">
            <a:avLst>
              <a:gd name="adj" fmla="val 3333"/>
            </a:avLst>
          </a:prstGeom>
          <a:solidFill>
            <a:srgbClr val="0A032B"/>
          </a:solidFill>
          <a:ln w="12700">
            <a:solidFill>
              <a:srgbClr val="0A032B"/>
            </a:solidFill>
            <a:prstDash val="solid"/>
          </a:ln>
        </p:spPr>
      </p:sp>
      <p:sp>
        <p:nvSpPr>
          <p:cNvPr id="8" name="Text 5"/>
          <p:cNvSpPr txBox="1"/>
          <p:nvPr/>
        </p:nvSpPr>
        <p:spPr>
          <a:xfrm>
            <a:off x="822960" y="1600200"/>
            <a:ext cx="2966618" cy="1188720"/>
          </a:xfrm>
          <a:prstGeom prst="rect">
            <a:avLst/>
          </a:prstGeom>
          <a:noFill/>
          <a:ln/>
        </p:spPr>
        <p:txBody>
          <a:bodyPr wrap="square" lIns="0" tIns="0" rIns="0" bIns="0" rtlCol="0" anchor="ctr"/>
          <a:lstStyle/>
          <a:p>
            <a:pPr indent="0" marL="0">
              <a:buNone/>
            </a:pPr>
            <a:r>
              <a:rPr lang="en-US" sz="6400" b="1" dirty="0">
                <a:solidFill>
                  <a:srgbClr val="F0EF96"/>
                </a:solidFill>
                <a:latin typeface="Montserrat" pitchFamily="34" charset="0"/>
                <a:ea typeface="Montserrat" pitchFamily="34" charset="-122"/>
                <a:cs typeface="Montserrat" pitchFamily="34" charset="-120"/>
              </a:rPr>
              <a:t>15</a:t>
            </a:r>
            <a:endParaRPr lang="en-US" sz="6400" dirty="0"/>
          </a:p>
        </p:txBody>
      </p:sp>
      <p:sp>
        <p:nvSpPr>
          <p:cNvPr id="9" name="Text 6"/>
          <p:cNvSpPr txBox="1"/>
          <p:nvPr/>
        </p:nvSpPr>
        <p:spPr>
          <a:xfrm>
            <a:off x="822960" y="2788920"/>
            <a:ext cx="2966618" cy="64008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questions à choix multiple</a:t>
            </a:r>
            <a:endParaRPr lang="en-US" sz="1600" dirty="0"/>
          </a:p>
        </p:txBody>
      </p:sp>
      <p:sp>
        <p:nvSpPr>
          <p:cNvPr id="10" name="Shape 7"/>
          <p:cNvSpPr/>
          <p:nvPr/>
        </p:nvSpPr>
        <p:spPr>
          <a:xfrm>
            <a:off x="4338218" y="1463040"/>
            <a:ext cx="3515258" cy="2194560"/>
          </a:xfrm>
          <a:prstGeom prst="roundRect">
            <a:avLst>
              <a:gd name="adj" fmla="val 3333"/>
            </a:avLst>
          </a:prstGeom>
          <a:solidFill>
            <a:srgbClr val="EEEDF5"/>
          </a:solidFill>
          <a:ln w="12700">
            <a:solidFill>
              <a:srgbClr val="EEEDF5"/>
            </a:solidFill>
            <a:prstDash val="solid"/>
          </a:ln>
        </p:spPr>
      </p:sp>
      <p:sp>
        <p:nvSpPr>
          <p:cNvPr id="11" name="Text 8"/>
          <p:cNvSpPr txBox="1"/>
          <p:nvPr/>
        </p:nvSpPr>
        <p:spPr>
          <a:xfrm>
            <a:off x="4612538" y="1600200"/>
            <a:ext cx="2966618" cy="1188720"/>
          </a:xfrm>
          <a:prstGeom prst="rect">
            <a:avLst/>
          </a:prstGeom>
          <a:noFill/>
          <a:ln/>
        </p:spPr>
        <p:txBody>
          <a:bodyPr wrap="square" lIns="0" tIns="0" rIns="0" bIns="0" rtlCol="0" anchor="ctr"/>
          <a:lstStyle/>
          <a:p>
            <a:pPr indent="0" marL="0">
              <a:buNone/>
            </a:pPr>
            <a:r>
              <a:rPr lang="en-US" sz="6400" b="1" dirty="0">
                <a:solidFill>
                  <a:srgbClr val="0A032B"/>
                </a:solidFill>
                <a:latin typeface="Montserrat" pitchFamily="34" charset="0"/>
                <a:ea typeface="Montserrat" pitchFamily="34" charset="-122"/>
                <a:cs typeface="Montserrat" pitchFamily="34" charset="-120"/>
              </a:rPr>
              <a:t>20</a:t>
            </a:r>
            <a:endParaRPr lang="en-US" sz="6400" dirty="0"/>
          </a:p>
        </p:txBody>
      </p:sp>
      <p:sp>
        <p:nvSpPr>
          <p:cNvPr id="12" name="Text 9"/>
          <p:cNvSpPr txBox="1"/>
          <p:nvPr/>
        </p:nvSpPr>
        <p:spPr>
          <a:xfrm>
            <a:off x="4612538" y="2788920"/>
            <a:ext cx="2966618" cy="640080"/>
          </a:xfrm>
          <a:prstGeom prst="rect">
            <a:avLst/>
          </a:prstGeom>
          <a:noFill/>
          <a:ln/>
        </p:spPr>
        <p:txBody>
          <a:bodyPr wrap="square" lIns="0" tIns="0" rIns="0" bIns="0" rtlCol="0" anchor="ctr"/>
          <a:lstStyle/>
          <a:p>
            <a:pPr indent="0" marL="0">
              <a:buNone/>
            </a:pPr>
            <a:r>
              <a:rPr lang="en-US" sz="1600" dirty="0">
                <a:solidFill>
                  <a:srgbClr val="35305C"/>
                </a:solidFill>
                <a:latin typeface="Arial" pitchFamily="34" charset="0"/>
                <a:ea typeface="Arial" pitchFamily="34" charset="-122"/>
                <a:cs typeface="Arial" pitchFamily="34" charset="-120"/>
              </a:rPr>
              <a:t>minutes</a:t>
            </a:r>
            <a:endParaRPr lang="en-US" sz="1600" dirty="0"/>
          </a:p>
        </p:txBody>
      </p:sp>
      <p:sp>
        <p:nvSpPr>
          <p:cNvPr id="13" name="Shape 10"/>
          <p:cNvSpPr/>
          <p:nvPr/>
        </p:nvSpPr>
        <p:spPr>
          <a:xfrm>
            <a:off x="8127797" y="1463040"/>
            <a:ext cx="3515258" cy="2194560"/>
          </a:xfrm>
          <a:prstGeom prst="roundRect">
            <a:avLst>
              <a:gd name="adj" fmla="val 3333"/>
            </a:avLst>
          </a:prstGeom>
          <a:solidFill>
            <a:srgbClr val="EEEDF5"/>
          </a:solidFill>
          <a:ln w="12700">
            <a:solidFill>
              <a:srgbClr val="EEEDF5"/>
            </a:solidFill>
            <a:prstDash val="solid"/>
          </a:ln>
        </p:spPr>
      </p:sp>
      <p:sp>
        <p:nvSpPr>
          <p:cNvPr id="14" name="Text 11"/>
          <p:cNvSpPr txBox="1"/>
          <p:nvPr/>
        </p:nvSpPr>
        <p:spPr>
          <a:xfrm>
            <a:off x="8402117" y="1600200"/>
            <a:ext cx="2966618" cy="1188720"/>
          </a:xfrm>
          <a:prstGeom prst="rect">
            <a:avLst/>
          </a:prstGeom>
          <a:noFill/>
          <a:ln/>
        </p:spPr>
        <p:txBody>
          <a:bodyPr wrap="square" lIns="0" tIns="0" rIns="0" bIns="0" rtlCol="0" anchor="ctr"/>
          <a:lstStyle/>
          <a:p>
            <a:pPr indent="0" marL="0">
              <a:buNone/>
            </a:pPr>
            <a:r>
              <a:rPr lang="en-US" sz="6400" b="1" dirty="0">
                <a:solidFill>
                  <a:srgbClr val="0A032B"/>
                </a:solidFill>
                <a:latin typeface="Montserrat" pitchFamily="34" charset="0"/>
                <a:ea typeface="Montserrat" pitchFamily="34" charset="-122"/>
                <a:cs typeface="Montserrat" pitchFamily="34" charset="-120"/>
              </a:rPr>
              <a:t>4</a:t>
            </a:r>
            <a:endParaRPr lang="en-US" sz="6400" dirty="0"/>
          </a:p>
        </p:txBody>
      </p:sp>
      <p:sp>
        <p:nvSpPr>
          <p:cNvPr id="15" name="Text 12"/>
          <p:cNvSpPr txBox="1"/>
          <p:nvPr/>
        </p:nvSpPr>
        <p:spPr>
          <a:xfrm>
            <a:off x="8402117" y="2788920"/>
            <a:ext cx="2966618" cy="640080"/>
          </a:xfrm>
          <a:prstGeom prst="rect">
            <a:avLst/>
          </a:prstGeom>
          <a:noFill/>
          <a:ln/>
        </p:spPr>
        <p:txBody>
          <a:bodyPr wrap="square" lIns="0" tIns="0" rIns="0" bIns="0" rtlCol="0" anchor="ctr"/>
          <a:lstStyle/>
          <a:p>
            <a:pPr indent="0" marL="0">
              <a:buNone/>
            </a:pPr>
            <a:r>
              <a:rPr lang="en-US" sz="1600" dirty="0">
                <a:solidFill>
                  <a:srgbClr val="35305C"/>
                </a:solidFill>
                <a:latin typeface="Arial" pitchFamily="34" charset="0"/>
                <a:ea typeface="Arial" pitchFamily="34" charset="-122"/>
                <a:cs typeface="Arial" pitchFamily="34" charset="-120"/>
              </a:rPr>
              <a:t>compétences évaluées</a:t>
            </a:r>
            <a:endParaRPr lang="en-US" sz="1600" dirty="0"/>
          </a:p>
        </p:txBody>
      </p:sp>
      <p:sp>
        <p:nvSpPr>
          <p:cNvPr id="16" name="Shape 13"/>
          <p:cNvSpPr/>
          <p:nvPr/>
        </p:nvSpPr>
        <p:spPr>
          <a:xfrm>
            <a:off x="548640" y="4069080"/>
            <a:ext cx="548640" cy="548640"/>
          </a:xfrm>
          <a:prstGeom prst="ellipse">
            <a:avLst/>
          </a:prstGeom>
          <a:solidFill>
            <a:srgbClr val="F0EF96"/>
          </a:solidFill>
          <a:ln w="12700">
            <a:solidFill>
              <a:srgbClr val="F0EF96"/>
            </a:solidFill>
            <a:prstDash val="solid"/>
          </a:ln>
        </p:spPr>
      </p:sp>
      <p:pic>
        <p:nvPicPr>
          <p:cNvPr id="17" name="Image 1" descr="preencoded.png">    </p:cNvPr>
          <p:cNvPicPr>
            <a:picLocks noChangeAspect="1"/>
          </p:cNvPicPr>
          <p:nvPr/>
        </p:nvPicPr>
        <p:blipFill>
          <a:blip r:embed="rId2"/>
          <a:stretch>
            <a:fillRect/>
          </a:stretch>
        </p:blipFill>
        <p:spPr>
          <a:xfrm>
            <a:off x="685800" y="4206240"/>
            <a:ext cx="274320" cy="274320"/>
          </a:xfrm>
          <a:prstGeom prst="rect">
            <a:avLst/>
          </a:prstGeom>
        </p:spPr>
      </p:pic>
      <p:sp>
        <p:nvSpPr>
          <p:cNvPr id="18" name="Text 14"/>
          <p:cNvSpPr txBox="1"/>
          <p:nvPr/>
        </p:nvSpPr>
        <p:spPr>
          <a:xfrm>
            <a:off x="1280160" y="4023360"/>
            <a:ext cx="10362895" cy="1005840"/>
          </a:xfrm>
          <a:prstGeom prst="rect">
            <a:avLst/>
          </a:prstGeom>
          <a:noFill/>
          <a:ln/>
        </p:spPr>
        <p:txBody>
          <a:bodyPr wrap="square" lIns="0" tIns="0" rIns="0" bIns="0" rtlCol="0" anchor="t"/>
          <a:lstStyle/>
          <a:p>
            <a:pPr indent="0" marL="0">
              <a:buNone/>
            </a:pPr>
            <a:r>
              <a:rPr lang="en-US" sz="1600" b="1" dirty="0">
                <a:solidFill>
                  <a:srgbClr val="0A032B"/>
                </a:solidFill>
                <a:latin typeface="Montserrat" pitchFamily="34" charset="0"/>
                <a:ea typeface="Montserrat" pitchFamily="34" charset="-122"/>
                <a:cs typeface="Montserrat" pitchFamily="34" charset="-120"/>
              </a:rPr>
              <a:t>Consignes</a:t>
            </a:r>
            <a:endParaRPr lang="en-US" sz="1600" dirty="0"/>
          </a:p>
          <a:p>
            <a:pPr indent="0" marL="0">
              <a:buNone/>
            </a:pPr>
            <a:r>
              <a:rPr lang="en-US" sz="1400" dirty="0">
                <a:solidFill>
                  <a:srgbClr val="35305C"/>
                </a:solidFill>
                <a:latin typeface="Arial" pitchFamily="34" charset="0"/>
                <a:ea typeface="Arial" pitchFamily="34" charset="-122"/>
                <a:cs typeface="Arial" pitchFamily="34" charset="-120"/>
              </a:rPr>
              <a:t>Une seule bonne réponse par question. Travail individuel, sans le livret. Le questionnaire est corrigé collectivement ensuite.</a:t>
            </a:r>
            <a:endParaRPr lang="en-US" sz="1600" dirty="0"/>
          </a:p>
        </p:txBody>
      </p:sp>
      <p:sp>
        <p:nvSpPr>
          <p:cNvPr id="19" name="Shape 15"/>
          <p:cNvSpPr/>
          <p:nvPr/>
        </p:nvSpPr>
        <p:spPr>
          <a:xfrm>
            <a:off x="548640" y="5212080"/>
            <a:ext cx="548640" cy="548640"/>
          </a:xfrm>
          <a:prstGeom prst="ellipse">
            <a:avLst/>
          </a:prstGeom>
          <a:solidFill>
            <a:srgbClr val="F0EF96"/>
          </a:solidFill>
          <a:ln w="12700">
            <a:solidFill>
              <a:srgbClr val="F0EF96"/>
            </a:solidFill>
            <a:prstDash val="solid"/>
          </a:ln>
        </p:spPr>
      </p:sp>
      <p:pic>
        <p:nvPicPr>
          <p:cNvPr id="20" name="Image 2" descr="preencoded.png">    </p:cNvPr>
          <p:cNvPicPr>
            <a:picLocks noChangeAspect="1"/>
          </p:cNvPicPr>
          <p:nvPr/>
        </p:nvPicPr>
        <p:blipFill>
          <a:blip r:embed="rId3"/>
          <a:stretch>
            <a:fillRect/>
          </a:stretch>
        </p:blipFill>
        <p:spPr>
          <a:xfrm>
            <a:off x="685800" y="5349240"/>
            <a:ext cx="274320" cy="274320"/>
          </a:xfrm>
          <a:prstGeom prst="rect">
            <a:avLst/>
          </a:prstGeom>
        </p:spPr>
      </p:pic>
      <p:sp>
        <p:nvSpPr>
          <p:cNvPr id="21" name="Text 16"/>
          <p:cNvSpPr txBox="1"/>
          <p:nvPr/>
        </p:nvSpPr>
        <p:spPr>
          <a:xfrm>
            <a:off x="1280160" y="5166360"/>
            <a:ext cx="10362895" cy="914400"/>
          </a:xfrm>
          <a:prstGeom prst="rect">
            <a:avLst/>
          </a:prstGeom>
          <a:noFill/>
          <a:ln/>
        </p:spPr>
        <p:txBody>
          <a:bodyPr wrap="square" lIns="0" tIns="0" rIns="0" bIns="0" rtlCol="0" anchor="t"/>
          <a:lstStyle/>
          <a:p>
            <a:pPr indent="0" marL="0">
              <a:buNone/>
            </a:pPr>
            <a:r>
              <a:rPr lang="en-US" sz="1600" b="1" dirty="0">
                <a:solidFill>
                  <a:srgbClr val="0A032B"/>
                </a:solidFill>
                <a:latin typeface="Montserrat" pitchFamily="34" charset="0"/>
                <a:ea typeface="Montserrat" pitchFamily="34" charset="-122"/>
                <a:cs typeface="Montserrat" pitchFamily="34" charset="-120"/>
              </a:rPr>
              <a:t>Évaluation pratique</a:t>
            </a:r>
            <a:endParaRPr lang="en-US" sz="1600" dirty="0"/>
          </a:p>
          <a:p>
            <a:pPr indent="0" marL="0">
              <a:buNone/>
            </a:pPr>
            <a:r>
              <a:rPr lang="en-US" sz="1400" dirty="0">
                <a:solidFill>
                  <a:srgbClr val="35305C"/>
                </a:solidFill>
                <a:latin typeface="Arial" pitchFamily="34" charset="0"/>
                <a:ea typeface="Arial" pitchFamily="34" charset="-122"/>
                <a:cs typeface="Arial" pitchFamily="34" charset="-120"/>
              </a:rPr>
              <a:t>Elle a été réalisée pendant les ateliers de la séquence 5, à l'aide de la grille d'évaluation pratique.</a:t>
            </a:r>
            <a:endParaRPr lang="en-US" sz="16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Correction collective du QCM (1/3)</a:t>
            </a:r>
            <a:endParaRPr lang="en-US" sz="2800" dirty="0"/>
          </a:p>
        </p:txBody>
      </p:sp>
      <p:sp>
        <p:nvSpPr>
          <p:cNvPr id="3" name="Shape 1"/>
          <p:cNvSpPr/>
          <p:nvPr/>
        </p:nvSpPr>
        <p:spPr>
          <a:xfrm>
            <a:off x="10042855" y="530352"/>
            <a:ext cx="1600200" cy="347472"/>
          </a:xfrm>
          <a:prstGeom prst="roundRect">
            <a:avLst>
              <a:gd name="adj" fmla="val 50000"/>
            </a:avLst>
          </a:prstGeom>
          <a:solidFill>
            <a:srgbClr val="35305C"/>
          </a:solidFill>
          <a:ln w="12700">
            <a:solidFill>
              <a:srgbClr val="35305C"/>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Évaluation</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371600"/>
            <a:ext cx="11094415" cy="822960"/>
          </a:xfrm>
          <a:prstGeom prst="roundRect">
            <a:avLst>
              <a:gd name="adj" fmla="val 8889"/>
            </a:avLst>
          </a:prstGeom>
          <a:solidFill>
            <a:srgbClr val="EEEDF5"/>
          </a:solidFill>
          <a:ln w="12700">
            <a:solidFill>
              <a:srgbClr val="EEEDF5"/>
            </a:solidFill>
            <a:prstDash val="solid"/>
          </a:ln>
        </p:spPr>
      </p:sp>
      <p:sp>
        <p:nvSpPr>
          <p:cNvPr id="8" name="Shape 5"/>
          <p:cNvSpPr/>
          <p:nvPr/>
        </p:nvSpPr>
        <p:spPr>
          <a:xfrm>
            <a:off x="731520" y="1545336"/>
            <a:ext cx="475488" cy="475488"/>
          </a:xfrm>
          <a:prstGeom prst="ellipse">
            <a:avLst/>
          </a:prstGeom>
          <a:solidFill>
            <a:srgbClr val="0A032B"/>
          </a:solidFill>
          <a:ln w="12700">
            <a:solidFill>
              <a:srgbClr val="0A032B"/>
            </a:solidFill>
            <a:prstDash val="solid"/>
          </a:ln>
        </p:spPr>
      </p:sp>
      <p:sp>
        <p:nvSpPr>
          <p:cNvPr id="9" name="Text 6"/>
          <p:cNvSpPr txBox="1"/>
          <p:nvPr/>
        </p:nvSpPr>
        <p:spPr>
          <a:xfrm>
            <a:off x="731520" y="154533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a:t>
            </a:r>
            <a:endParaRPr lang="en-US" sz="1800" dirty="0"/>
          </a:p>
        </p:txBody>
      </p:sp>
      <p:sp>
        <p:nvSpPr>
          <p:cNvPr id="10" name="Text 7"/>
          <p:cNvSpPr txBox="1"/>
          <p:nvPr/>
        </p:nvSpPr>
        <p:spPr>
          <a:xfrm>
            <a:off x="1371600" y="1371600"/>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Combien avons-nous de vertèbres lombaires ?</a:t>
            </a:r>
            <a:endParaRPr lang="en-US" sz="1350" dirty="0"/>
          </a:p>
        </p:txBody>
      </p:sp>
      <p:sp>
        <p:nvSpPr>
          <p:cNvPr id="11" name="Shape 8"/>
          <p:cNvSpPr/>
          <p:nvPr/>
        </p:nvSpPr>
        <p:spPr>
          <a:xfrm>
            <a:off x="6309360" y="1481328"/>
            <a:ext cx="1610258" cy="603504"/>
          </a:xfrm>
          <a:prstGeom prst="roundRect">
            <a:avLst>
              <a:gd name="adj" fmla="val 12121"/>
            </a:avLst>
          </a:prstGeom>
          <a:solidFill>
            <a:srgbClr val="F0EF96"/>
          </a:solidFill>
          <a:ln w="12700">
            <a:solidFill>
              <a:srgbClr val="D9D65A"/>
            </a:solidFill>
            <a:prstDash val="solid"/>
          </a:ln>
        </p:spPr>
      </p:sp>
      <p:sp>
        <p:nvSpPr>
          <p:cNvPr id="12" name="Text 9"/>
          <p:cNvSpPr txBox="1"/>
          <p:nvPr/>
        </p:nvSpPr>
        <p:spPr>
          <a:xfrm>
            <a:off x="6382512" y="1481328"/>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5</a:t>
            </a:r>
            <a:endParaRPr lang="en-US" sz="1100" dirty="0"/>
          </a:p>
        </p:txBody>
      </p:sp>
      <p:sp>
        <p:nvSpPr>
          <p:cNvPr id="13" name="Shape 10"/>
          <p:cNvSpPr/>
          <p:nvPr/>
        </p:nvSpPr>
        <p:spPr>
          <a:xfrm>
            <a:off x="8102498" y="1481328"/>
            <a:ext cx="1610258" cy="603504"/>
          </a:xfrm>
          <a:prstGeom prst="roundRect">
            <a:avLst>
              <a:gd name="adj" fmla="val 12121"/>
            </a:avLst>
          </a:prstGeom>
          <a:solidFill>
            <a:srgbClr val="FFFFFF"/>
          </a:solidFill>
          <a:ln w="12700">
            <a:solidFill>
              <a:srgbClr val="DCDAEA"/>
            </a:solidFill>
            <a:prstDash val="solid"/>
          </a:ln>
        </p:spPr>
      </p:sp>
      <p:sp>
        <p:nvSpPr>
          <p:cNvPr id="14" name="Text 11"/>
          <p:cNvSpPr txBox="1"/>
          <p:nvPr/>
        </p:nvSpPr>
        <p:spPr>
          <a:xfrm>
            <a:off x="8175650"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7</a:t>
            </a:r>
            <a:endParaRPr lang="en-US" sz="1100" dirty="0"/>
          </a:p>
        </p:txBody>
      </p:sp>
      <p:sp>
        <p:nvSpPr>
          <p:cNvPr id="15" name="Shape 12"/>
          <p:cNvSpPr/>
          <p:nvPr/>
        </p:nvSpPr>
        <p:spPr>
          <a:xfrm>
            <a:off x="9895637" y="1481328"/>
            <a:ext cx="1610258" cy="603504"/>
          </a:xfrm>
          <a:prstGeom prst="roundRect">
            <a:avLst>
              <a:gd name="adj" fmla="val 12121"/>
            </a:avLst>
          </a:prstGeom>
          <a:solidFill>
            <a:srgbClr val="FFFFFF"/>
          </a:solidFill>
          <a:ln w="12700">
            <a:solidFill>
              <a:srgbClr val="DCDAEA"/>
            </a:solidFill>
            <a:prstDash val="solid"/>
          </a:ln>
        </p:spPr>
      </p:sp>
      <p:sp>
        <p:nvSpPr>
          <p:cNvPr id="16" name="Text 13"/>
          <p:cNvSpPr txBox="1"/>
          <p:nvPr/>
        </p:nvSpPr>
        <p:spPr>
          <a:xfrm>
            <a:off x="9968789"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12</a:t>
            </a:r>
            <a:endParaRPr lang="en-US" sz="1100" dirty="0"/>
          </a:p>
        </p:txBody>
      </p:sp>
      <p:sp>
        <p:nvSpPr>
          <p:cNvPr id="17" name="Shape 14"/>
          <p:cNvSpPr/>
          <p:nvPr/>
        </p:nvSpPr>
        <p:spPr>
          <a:xfrm>
            <a:off x="548640" y="2313432"/>
            <a:ext cx="11094415" cy="822960"/>
          </a:xfrm>
          <a:prstGeom prst="roundRect">
            <a:avLst>
              <a:gd name="adj" fmla="val 8889"/>
            </a:avLst>
          </a:prstGeom>
          <a:solidFill>
            <a:srgbClr val="EEEDF5"/>
          </a:solidFill>
          <a:ln w="12700">
            <a:solidFill>
              <a:srgbClr val="EEEDF5"/>
            </a:solidFill>
            <a:prstDash val="solid"/>
          </a:ln>
        </p:spPr>
      </p:sp>
      <p:sp>
        <p:nvSpPr>
          <p:cNvPr id="18" name="Shape 15"/>
          <p:cNvSpPr/>
          <p:nvPr/>
        </p:nvSpPr>
        <p:spPr>
          <a:xfrm>
            <a:off x="731520" y="2487168"/>
            <a:ext cx="475488" cy="475488"/>
          </a:xfrm>
          <a:prstGeom prst="ellipse">
            <a:avLst/>
          </a:prstGeom>
          <a:solidFill>
            <a:srgbClr val="0A032B"/>
          </a:solidFill>
          <a:ln w="12700">
            <a:solidFill>
              <a:srgbClr val="0A032B"/>
            </a:solidFill>
            <a:prstDash val="solid"/>
          </a:ln>
        </p:spPr>
      </p:sp>
      <p:sp>
        <p:nvSpPr>
          <p:cNvPr id="19" name="Text 16"/>
          <p:cNvSpPr txBox="1"/>
          <p:nvPr/>
        </p:nvSpPr>
        <p:spPr>
          <a:xfrm>
            <a:off x="731520" y="248716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2</a:t>
            </a:r>
            <a:endParaRPr lang="en-US" sz="1800" dirty="0"/>
          </a:p>
        </p:txBody>
      </p:sp>
      <p:sp>
        <p:nvSpPr>
          <p:cNvPr id="20" name="Text 17"/>
          <p:cNvSpPr txBox="1"/>
          <p:nvPr/>
        </p:nvSpPr>
        <p:spPr>
          <a:xfrm>
            <a:off x="1371600" y="2313432"/>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Le disque intervertébral joue le rôle…</a:t>
            </a:r>
            <a:endParaRPr lang="en-US" sz="1350" dirty="0"/>
          </a:p>
        </p:txBody>
      </p:sp>
      <p:sp>
        <p:nvSpPr>
          <p:cNvPr id="21" name="Shape 18"/>
          <p:cNvSpPr/>
          <p:nvPr/>
        </p:nvSpPr>
        <p:spPr>
          <a:xfrm>
            <a:off x="6309360" y="2423160"/>
            <a:ext cx="1610258" cy="603504"/>
          </a:xfrm>
          <a:prstGeom prst="roundRect">
            <a:avLst>
              <a:gd name="adj" fmla="val 12121"/>
            </a:avLst>
          </a:prstGeom>
          <a:solidFill>
            <a:srgbClr val="FFFFFF"/>
          </a:solidFill>
          <a:ln w="12700">
            <a:solidFill>
              <a:srgbClr val="DCDAEA"/>
            </a:solidFill>
            <a:prstDash val="solid"/>
          </a:ln>
        </p:spPr>
      </p:sp>
      <p:sp>
        <p:nvSpPr>
          <p:cNvPr id="22" name="Text 19"/>
          <p:cNvSpPr txBox="1"/>
          <p:nvPr/>
        </p:nvSpPr>
        <p:spPr>
          <a:xfrm>
            <a:off x="6382512"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de muscle</a:t>
            </a:r>
            <a:endParaRPr lang="en-US" sz="1100" dirty="0"/>
          </a:p>
        </p:txBody>
      </p:sp>
      <p:sp>
        <p:nvSpPr>
          <p:cNvPr id="23" name="Shape 20"/>
          <p:cNvSpPr/>
          <p:nvPr/>
        </p:nvSpPr>
        <p:spPr>
          <a:xfrm>
            <a:off x="8102498" y="2423160"/>
            <a:ext cx="1610258" cy="603504"/>
          </a:xfrm>
          <a:prstGeom prst="roundRect">
            <a:avLst>
              <a:gd name="adj" fmla="val 12121"/>
            </a:avLst>
          </a:prstGeom>
          <a:solidFill>
            <a:srgbClr val="F0EF96"/>
          </a:solidFill>
          <a:ln w="12700">
            <a:solidFill>
              <a:srgbClr val="D9D65A"/>
            </a:solidFill>
            <a:prstDash val="solid"/>
          </a:ln>
        </p:spPr>
      </p:sp>
      <p:sp>
        <p:nvSpPr>
          <p:cNvPr id="24" name="Text 21"/>
          <p:cNvSpPr txBox="1"/>
          <p:nvPr/>
        </p:nvSpPr>
        <p:spPr>
          <a:xfrm>
            <a:off x="8175650" y="2423160"/>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d'amortisseur</a:t>
            </a:r>
            <a:endParaRPr lang="en-US" sz="1100" dirty="0"/>
          </a:p>
        </p:txBody>
      </p:sp>
      <p:sp>
        <p:nvSpPr>
          <p:cNvPr id="25" name="Shape 22"/>
          <p:cNvSpPr/>
          <p:nvPr/>
        </p:nvSpPr>
        <p:spPr>
          <a:xfrm>
            <a:off x="9895637" y="2423160"/>
            <a:ext cx="1610258" cy="603504"/>
          </a:xfrm>
          <a:prstGeom prst="roundRect">
            <a:avLst>
              <a:gd name="adj" fmla="val 12121"/>
            </a:avLst>
          </a:prstGeom>
          <a:solidFill>
            <a:srgbClr val="FFFFFF"/>
          </a:solidFill>
          <a:ln w="12700">
            <a:solidFill>
              <a:srgbClr val="DCDAEA"/>
            </a:solidFill>
            <a:prstDash val="solid"/>
          </a:ln>
        </p:spPr>
      </p:sp>
      <p:sp>
        <p:nvSpPr>
          <p:cNvPr id="26" name="Text 23"/>
          <p:cNvSpPr txBox="1"/>
          <p:nvPr/>
        </p:nvSpPr>
        <p:spPr>
          <a:xfrm>
            <a:off x="9968789"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de ligament</a:t>
            </a:r>
            <a:endParaRPr lang="en-US" sz="1100" dirty="0"/>
          </a:p>
        </p:txBody>
      </p:sp>
      <p:sp>
        <p:nvSpPr>
          <p:cNvPr id="27" name="Shape 24"/>
          <p:cNvSpPr/>
          <p:nvPr/>
        </p:nvSpPr>
        <p:spPr>
          <a:xfrm>
            <a:off x="548640" y="3255264"/>
            <a:ext cx="11094415" cy="822960"/>
          </a:xfrm>
          <a:prstGeom prst="roundRect">
            <a:avLst>
              <a:gd name="adj" fmla="val 8889"/>
            </a:avLst>
          </a:prstGeom>
          <a:solidFill>
            <a:srgbClr val="EEEDF5"/>
          </a:solidFill>
          <a:ln w="12700">
            <a:solidFill>
              <a:srgbClr val="EEEDF5"/>
            </a:solidFill>
            <a:prstDash val="solid"/>
          </a:ln>
        </p:spPr>
      </p:sp>
      <p:sp>
        <p:nvSpPr>
          <p:cNvPr id="28" name="Shape 25"/>
          <p:cNvSpPr/>
          <p:nvPr/>
        </p:nvSpPr>
        <p:spPr>
          <a:xfrm>
            <a:off x="731520" y="3429000"/>
            <a:ext cx="475488" cy="475488"/>
          </a:xfrm>
          <a:prstGeom prst="ellipse">
            <a:avLst/>
          </a:prstGeom>
          <a:solidFill>
            <a:srgbClr val="0A032B"/>
          </a:solidFill>
          <a:ln w="12700">
            <a:solidFill>
              <a:srgbClr val="0A032B"/>
            </a:solidFill>
            <a:prstDash val="solid"/>
          </a:ln>
        </p:spPr>
      </p:sp>
      <p:sp>
        <p:nvSpPr>
          <p:cNvPr id="29" name="Text 26"/>
          <p:cNvSpPr txBox="1"/>
          <p:nvPr/>
        </p:nvSpPr>
        <p:spPr>
          <a:xfrm>
            <a:off x="731520" y="342900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3</a:t>
            </a:r>
            <a:endParaRPr lang="en-US" sz="1800" dirty="0"/>
          </a:p>
        </p:txBody>
      </p:sp>
      <p:sp>
        <p:nvSpPr>
          <p:cNvPr id="30" name="Text 27"/>
          <p:cNvSpPr txBox="1"/>
          <p:nvPr/>
        </p:nvSpPr>
        <p:spPr>
          <a:xfrm>
            <a:off x="1371600" y="3255264"/>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Dans quelle position la pression sur les disques est-elle la plus forte ?</a:t>
            </a:r>
            <a:endParaRPr lang="en-US" sz="1350" dirty="0"/>
          </a:p>
        </p:txBody>
      </p:sp>
      <p:sp>
        <p:nvSpPr>
          <p:cNvPr id="31" name="Shape 28"/>
          <p:cNvSpPr/>
          <p:nvPr/>
        </p:nvSpPr>
        <p:spPr>
          <a:xfrm>
            <a:off x="6309360" y="3364992"/>
            <a:ext cx="1610258" cy="603504"/>
          </a:xfrm>
          <a:prstGeom prst="roundRect">
            <a:avLst>
              <a:gd name="adj" fmla="val 12121"/>
            </a:avLst>
          </a:prstGeom>
          <a:solidFill>
            <a:srgbClr val="FFFFFF"/>
          </a:solidFill>
          <a:ln w="12700">
            <a:solidFill>
              <a:srgbClr val="DCDAEA"/>
            </a:solidFill>
            <a:prstDash val="solid"/>
          </a:ln>
        </p:spPr>
      </p:sp>
      <p:sp>
        <p:nvSpPr>
          <p:cNvPr id="32" name="Text 29"/>
          <p:cNvSpPr txBox="1"/>
          <p:nvPr/>
        </p:nvSpPr>
        <p:spPr>
          <a:xfrm>
            <a:off x="6382512"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Debout</a:t>
            </a:r>
            <a:endParaRPr lang="en-US" sz="1100" dirty="0"/>
          </a:p>
        </p:txBody>
      </p:sp>
      <p:sp>
        <p:nvSpPr>
          <p:cNvPr id="33" name="Shape 30"/>
          <p:cNvSpPr/>
          <p:nvPr/>
        </p:nvSpPr>
        <p:spPr>
          <a:xfrm>
            <a:off x="8102498" y="3364992"/>
            <a:ext cx="1610258" cy="603504"/>
          </a:xfrm>
          <a:prstGeom prst="roundRect">
            <a:avLst>
              <a:gd name="adj" fmla="val 12121"/>
            </a:avLst>
          </a:prstGeom>
          <a:solidFill>
            <a:srgbClr val="FFFFFF"/>
          </a:solidFill>
          <a:ln w="12700">
            <a:solidFill>
              <a:srgbClr val="DCDAEA"/>
            </a:solidFill>
            <a:prstDash val="solid"/>
          </a:ln>
        </p:spPr>
      </p:sp>
      <p:sp>
        <p:nvSpPr>
          <p:cNvPr id="34" name="Text 31"/>
          <p:cNvSpPr txBox="1"/>
          <p:nvPr/>
        </p:nvSpPr>
        <p:spPr>
          <a:xfrm>
            <a:off x="8175650"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Allongé</a:t>
            </a:r>
            <a:endParaRPr lang="en-US" sz="1100" dirty="0"/>
          </a:p>
        </p:txBody>
      </p:sp>
      <p:sp>
        <p:nvSpPr>
          <p:cNvPr id="35" name="Shape 32"/>
          <p:cNvSpPr/>
          <p:nvPr/>
        </p:nvSpPr>
        <p:spPr>
          <a:xfrm>
            <a:off x="9895637" y="3364992"/>
            <a:ext cx="1610258" cy="603504"/>
          </a:xfrm>
          <a:prstGeom prst="roundRect">
            <a:avLst>
              <a:gd name="adj" fmla="val 12121"/>
            </a:avLst>
          </a:prstGeom>
          <a:solidFill>
            <a:srgbClr val="F0EF96"/>
          </a:solidFill>
          <a:ln w="12700">
            <a:solidFill>
              <a:srgbClr val="D9D65A"/>
            </a:solidFill>
            <a:prstDash val="solid"/>
          </a:ln>
        </p:spPr>
      </p:sp>
      <p:sp>
        <p:nvSpPr>
          <p:cNvPr id="36" name="Text 33"/>
          <p:cNvSpPr txBox="1"/>
          <p:nvPr/>
        </p:nvSpPr>
        <p:spPr>
          <a:xfrm>
            <a:off x="9968789" y="3364992"/>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Assis penché en avant avec une charge</a:t>
            </a:r>
            <a:endParaRPr lang="en-US" sz="1100" dirty="0"/>
          </a:p>
        </p:txBody>
      </p:sp>
      <p:sp>
        <p:nvSpPr>
          <p:cNvPr id="37" name="Shape 34"/>
          <p:cNvSpPr/>
          <p:nvPr/>
        </p:nvSpPr>
        <p:spPr>
          <a:xfrm>
            <a:off x="548640" y="4197096"/>
            <a:ext cx="11094415" cy="822960"/>
          </a:xfrm>
          <a:prstGeom prst="roundRect">
            <a:avLst>
              <a:gd name="adj" fmla="val 8889"/>
            </a:avLst>
          </a:prstGeom>
          <a:solidFill>
            <a:srgbClr val="EEEDF5"/>
          </a:solidFill>
          <a:ln w="12700">
            <a:solidFill>
              <a:srgbClr val="EEEDF5"/>
            </a:solidFill>
            <a:prstDash val="solid"/>
          </a:ln>
        </p:spPr>
      </p:sp>
      <p:sp>
        <p:nvSpPr>
          <p:cNvPr id="38" name="Shape 35"/>
          <p:cNvSpPr/>
          <p:nvPr/>
        </p:nvSpPr>
        <p:spPr>
          <a:xfrm>
            <a:off x="731520" y="4370832"/>
            <a:ext cx="475488" cy="475488"/>
          </a:xfrm>
          <a:prstGeom prst="ellipse">
            <a:avLst/>
          </a:prstGeom>
          <a:solidFill>
            <a:srgbClr val="0A032B"/>
          </a:solidFill>
          <a:ln w="12700">
            <a:solidFill>
              <a:srgbClr val="0A032B"/>
            </a:solidFill>
            <a:prstDash val="solid"/>
          </a:ln>
        </p:spPr>
      </p:sp>
      <p:sp>
        <p:nvSpPr>
          <p:cNvPr id="39" name="Text 36"/>
          <p:cNvSpPr txBox="1"/>
          <p:nvPr/>
        </p:nvSpPr>
        <p:spPr>
          <a:xfrm>
            <a:off x="731520" y="437083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4</a:t>
            </a:r>
            <a:endParaRPr lang="en-US" sz="1800" dirty="0"/>
          </a:p>
        </p:txBody>
      </p:sp>
      <p:sp>
        <p:nvSpPr>
          <p:cNvPr id="40" name="Text 37"/>
          <p:cNvSpPr txBox="1"/>
          <p:nvPr/>
        </p:nvSpPr>
        <p:spPr>
          <a:xfrm>
            <a:off x="1371600" y="4197096"/>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Au premier stade d'un TMS, la douleur…</a:t>
            </a:r>
            <a:endParaRPr lang="en-US" sz="1350" dirty="0"/>
          </a:p>
        </p:txBody>
      </p:sp>
      <p:sp>
        <p:nvSpPr>
          <p:cNvPr id="41" name="Shape 38"/>
          <p:cNvSpPr/>
          <p:nvPr/>
        </p:nvSpPr>
        <p:spPr>
          <a:xfrm>
            <a:off x="6309360" y="4306824"/>
            <a:ext cx="1610258" cy="603504"/>
          </a:xfrm>
          <a:prstGeom prst="roundRect">
            <a:avLst>
              <a:gd name="adj" fmla="val 12121"/>
            </a:avLst>
          </a:prstGeom>
          <a:solidFill>
            <a:srgbClr val="F0EF96"/>
          </a:solidFill>
          <a:ln w="12700">
            <a:solidFill>
              <a:srgbClr val="D9D65A"/>
            </a:solidFill>
            <a:prstDash val="solid"/>
          </a:ln>
        </p:spPr>
      </p:sp>
      <p:sp>
        <p:nvSpPr>
          <p:cNvPr id="42" name="Text 39"/>
          <p:cNvSpPr txBox="1"/>
          <p:nvPr/>
        </p:nvSpPr>
        <p:spPr>
          <a:xfrm>
            <a:off x="6382512" y="4306824"/>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disparaît au repos</a:t>
            </a:r>
            <a:endParaRPr lang="en-US" sz="1100" dirty="0"/>
          </a:p>
        </p:txBody>
      </p:sp>
      <p:sp>
        <p:nvSpPr>
          <p:cNvPr id="43" name="Shape 40"/>
          <p:cNvSpPr/>
          <p:nvPr/>
        </p:nvSpPr>
        <p:spPr>
          <a:xfrm>
            <a:off x="8102498" y="4306824"/>
            <a:ext cx="1610258" cy="603504"/>
          </a:xfrm>
          <a:prstGeom prst="roundRect">
            <a:avLst>
              <a:gd name="adj" fmla="val 12121"/>
            </a:avLst>
          </a:prstGeom>
          <a:solidFill>
            <a:srgbClr val="FFFFFF"/>
          </a:solidFill>
          <a:ln w="12700">
            <a:solidFill>
              <a:srgbClr val="DCDAEA"/>
            </a:solidFill>
            <a:prstDash val="solid"/>
          </a:ln>
        </p:spPr>
      </p:sp>
      <p:sp>
        <p:nvSpPr>
          <p:cNvPr id="44" name="Text 41"/>
          <p:cNvSpPr txBox="1"/>
          <p:nvPr/>
        </p:nvSpPr>
        <p:spPr>
          <a:xfrm>
            <a:off x="8175650"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est permanente</a:t>
            </a:r>
            <a:endParaRPr lang="en-US" sz="1100" dirty="0"/>
          </a:p>
        </p:txBody>
      </p:sp>
      <p:sp>
        <p:nvSpPr>
          <p:cNvPr id="45" name="Shape 42"/>
          <p:cNvSpPr/>
          <p:nvPr/>
        </p:nvSpPr>
        <p:spPr>
          <a:xfrm>
            <a:off x="9895637" y="4306824"/>
            <a:ext cx="1610258" cy="603504"/>
          </a:xfrm>
          <a:prstGeom prst="roundRect">
            <a:avLst>
              <a:gd name="adj" fmla="val 12121"/>
            </a:avLst>
          </a:prstGeom>
          <a:solidFill>
            <a:srgbClr val="FFFFFF"/>
          </a:solidFill>
          <a:ln w="12700">
            <a:solidFill>
              <a:srgbClr val="DCDAEA"/>
            </a:solidFill>
            <a:prstDash val="solid"/>
          </a:ln>
        </p:spPr>
      </p:sp>
      <p:sp>
        <p:nvSpPr>
          <p:cNvPr id="46" name="Text 43"/>
          <p:cNvSpPr txBox="1"/>
          <p:nvPr/>
        </p:nvSpPr>
        <p:spPr>
          <a:xfrm>
            <a:off x="9968789"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empêche tout mouvement</a:t>
            </a:r>
            <a:endParaRPr lang="en-US" sz="1100" dirty="0"/>
          </a:p>
        </p:txBody>
      </p:sp>
      <p:sp>
        <p:nvSpPr>
          <p:cNvPr id="47" name="Shape 44"/>
          <p:cNvSpPr/>
          <p:nvPr/>
        </p:nvSpPr>
        <p:spPr>
          <a:xfrm>
            <a:off x="548640" y="5138928"/>
            <a:ext cx="11094415" cy="822960"/>
          </a:xfrm>
          <a:prstGeom prst="roundRect">
            <a:avLst>
              <a:gd name="adj" fmla="val 8889"/>
            </a:avLst>
          </a:prstGeom>
          <a:solidFill>
            <a:srgbClr val="EEEDF5"/>
          </a:solidFill>
          <a:ln w="12700">
            <a:solidFill>
              <a:srgbClr val="EEEDF5"/>
            </a:solidFill>
            <a:prstDash val="solid"/>
          </a:ln>
        </p:spPr>
      </p:sp>
      <p:sp>
        <p:nvSpPr>
          <p:cNvPr id="48" name="Shape 45"/>
          <p:cNvSpPr/>
          <p:nvPr/>
        </p:nvSpPr>
        <p:spPr>
          <a:xfrm>
            <a:off x="731520" y="5312664"/>
            <a:ext cx="475488" cy="475488"/>
          </a:xfrm>
          <a:prstGeom prst="ellipse">
            <a:avLst/>
          </a:prstGeom>
          <a:solidFill>
            <a:srgbClr val="0A032B"/>
          </a:solidFill>
          <a:ln w="12700">
            <a:solidFill>
              <a:srgbClr val="0A032B"/>
            </a:solidFill>
            <a:prstDash val="solid"/>
          </a:ln>
        </p:spPr>
      </p:sp>
      <p:sp>
        <p:nvSpPr>
          <p:cNvPr id="49" name="Text 46"/>
          <p:cNvSpPr txBox="1"/>
          <p:nvPr/>
        </p:nvSpPr>
        <p:spPr>
          <a:xfrm>
            <a:off x="731520" y="531266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5</a:t>
            </a:r>
            <a:endParaRPr lang="en-US" sz="1800" dirty="0"/>
          </a:p>
        </p:txBody>
      </p:sp>
      <p:sp>
        <p:nvSpPr>
          <p:cNvPr id="50" name="Text 47"/>
          <p:cNvSpPr txBox="1"/>
          <p:nvPr/>
        </p:nvSpPr>
        <p:spPr>
          <a:xfrm>
            <a:off x="1371600" y="5138928"/>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Lequel est un facteur psychosocial de TMS ?</a:t>
            </a:r>
            <a:endParaRPr lang="en-US" sz="1350" dirty="0"/>
          </a:p>
        </p:txBody>
      </p:sp>
      <p:sp>
        <p:nvSpPr>
          <p:cNvPr id="51" name="Shape 48"/>
          <p:cNvSpPr/>
          <p:nvPr/>
        </p:nvSpPr>
        <p:spPr>
          <a:xfrm>
            <a:off x="6309360" y="5248656"/>
            <a:ext cx="1610258" cy="603504"/>
          </a:xfrm>
          <a:prstGeom prst="roundRect">
            <a:avLst>
              <a:gd name="adj" fmla="val 12121"/>
            </a:avLst>
          </a:prstGeom>
          <a:solidFill>
            <a:srgbClr val="FFFFFF"/>
          </a:solidFill>
          <a:ln w="12700">
            <a:solidFill>
              <a:srgbClr val="DCDAEA"/>
            </a:solidFill>
            <a:prstDash val="solid"/>
          </a:ln>
        </p:spPr>
      </p:sp>
      <p:sp>
        <p:nvSpPr>
          <p:cNvPr id="52" name="Text 49"/>
          <p:cNvSpPr txBox="1"/>
          <p:nvPr/>
        </p:nvSpPr>
        <p:spPr>
          <a:xfrm>
            <a:off x="6382512"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port de charges</a:t>
            </a:r>
            <a:endParaRPr lang="en-US" sz="1100" dirty="0"/>
          </a:p>
        </p:txBody>
      </p:sp>
      <p:sp>
        <p:nvSpPr>
          <p:cNvPr id="53" name="Shape 50"/>
          <p:cNvSpPr/>
          <p:nvPr/>
        </p:nvSpPr>
        <p:spPr>
          <a:xfrm>
            <a:off x="8102498" y="5248656"/>
            <a:ext cx="1610258" cy="603504"/>
          </a:xfrm>
          <a:prstGeom prst="roundRect">
            <a:avLst>
              <a:gd name="adj" fmla="val 12121"/>
            </a:avLst>
          </a:prstGeom>
          <a:solidFill>
            <a:srgbClr val="F0EF96"/>
          </a:solidFill>
          <a:ln w="12700">
            <a:solidFill>
              <a:srgbClr val="D9D65A"/>
            </a:solidFill>
            <a:prstDash val="solid"/>
          </a:ln>
        </p:spPr>
      </p:sp>
      <p:sp>
        <p:nvSpPr>
          <p:cNvPr id="54" name="Text 51"/>
          <p:cNvSpPr txBox="1"/>
          <p:nvPr/>
        </p:nvSpPr>
        <p:spPr>
          <a:xfrm>
            <a:off x="8175650" y="5248656"/>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Le stress</a:t>
            </a:r>
            <a:endParaRPr lang="en-US" sz="1100" dirty="0"/>
          </a:p>
        </p:txBody>
      </p:sp>
      <p:sp>
        <p:nvSpPr>
          <p:cNvPr id="55" name="Shape 52"/>
          <p:cNvSpPr/>
          <p:nvPr/>
        </p:nvSpPr>
        <p:spPr>
          <a:xfrm>
            <a:off x="9895637" y="5248656"/>
            <a:ext cx="1610258" cy="603504"/>
          </a:xfrm>
          <a:prstGeom prst="roundRect">
            <a:avLst>
              <a:gd name="adj" fmla="val 12121"/>
            </a:avLst>
          </a:prstGeom>
          <a:solidFill>
            <a:srgbClr val="FFFFFF"/>
          </a:solidFill>
          <a:ln w="12700">
            <a:solidFill>
              <a:srgbClr val="DCDAEA"/>
            </a:solidFill>
            <a:prstDash val="solid"/>
          </a:ln>
        </p:spPr>
      </p:sp>
      <p:sp>
        <p:nvSpPr>
          <p:cNvPr id="56" name="Text 53"/>
          <p:cNvSpPr txBox="1"/>
          <p:nvPr/>
        </p:nvSpPr>
        <p:spPr>
          <a:xfrm>
            <a:off x="9968789"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froid</a:t>
            </a:r>
            <a:endParaRPr lang="en-US" sz="11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Correction collective du QCM (2/3)</a:t>
            </a:r>
            <a:endParaRPr lang="en-US" sz="2800" dirty="0"/>
          </a:p>
        </p:txBody>
      </p:sp>
      <p:sp>
        <p:nvSpPr>
          <p:cNvPr id="3" name="Shape 1"/>
          <p:cNvSpPr/>
          <p:nvPr/>
        </p:nvSpPr>
        <p:spPr>
          <a:xfrm>
            <a:off x="10042855" y="530352"/>
            <a:ext cx="1600200" cy="347472"/>
          </a:xfrm>
          <a:prstGeom prst="roundRect">
            <a:avLst>
              <a:gd name="adj" fmla="val 50000"/>
            </a:avLst>
          </a:prstGeom>
          <a:solidFill>
            <a:srgbClr val="35305C"/>
          </a:solidFill>
          <a:ln w="12700">
            <a:solidFill>
              <a:srgbClr val="35305C"/>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Évaluation</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371600"/>
            <a:ext cx="11094415" cy="822960"/>
          </a:xfrm>
          <a:prstGeom prst="roundRect">
            <a:avLst>
              <a:gd name="adj" fmla="val 8889"/>
            </a:avLst>
          </a:prstGeom>
          <a:solidFill>
            <a:srgbClr val="EEEDF5"/>
          </a:solidFill>
          <a:ln w="12700">
            <a:solidFill>
              <a:srgbClr val="EEEDF5"/>
            </a:solidFill>
            <a:prstDash val="solid"/>
          </a:ln>
        </p:spPr>
      </p:sp>
      <p:sp>
        <p:nvSpPr>
          <p:cNvPr id="8" name="Shape 5"/>
          <p:cNvSpPr/>
          <p:nvPr/>
        </p:nvSpPr>
        <p:spPr>
          <a:xfrm>
            <a:off x="731520" y="1545336"/>
            <a:ext cx="475488" cy="475488"/>
          </a:xfrm>
          <a:prstGeom prst="ellipse">
            <a:avLst/>
          </a:prstGeom>
          <a:solidFill>
            <a:srgbClr val="0A032B"/>
          </a:solidFill>
          <a:ln w="12700">
            <a:solidFill>
              <a:srgbClr val="0A032B"/>
            </a:solidFill>
            <a:prstDash val="solid"/>
          </a:ln>
        </p:spPr>
      </p:sp>
      <p:sp>
        <p:nvSpPr>
          <p:cNvPr id="9" name="Text 6"/>
          <p:cNvSpPr txBox="1"/>
          <p:nvPr/>
        </p:nvSpPr>
        <p:spPr>
          <a:xfrm>
            <a:off x="731520" y="154533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6</a:t>
            </a:r>
            <a:endParaRPr lang="en-US" sz="1800" dirty="0"/>
          </a:p>
        </p:txBody>
      </p:sp>
      <p:sp>
        <p:nvSpPr>
          <p:cNvPr id="10" name="Text 7"/>
          <p:cNvSpPr txBox="1"/>
          <p:nvPr/>
        </p:nvSpPr>
        <p:spPr>
          <a:xfrm>
            <a:off x="1371600" y="1371600"/>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Pour soulever une charge au sol, on…</a:t>
            </a:r>
            <a:endParaRPr lang="en-US" sz="1350" dirty="0"/>
          </a:p>
        </p:txBody>
      </p:sp>
      <p:sp>
        <p:nvSpPr>
          <p:cNvPr id="11" name="Shape 8"/>
          <p:cNvSpPr/>
          <p:nvPr/>
        </p:nvSpPr>
        <p:spPr>
          <a:xfrm>
            <a:off x="6309360" y="1481328"/>
            <a:ext cx="1610258" cy="603504"/>
          </a:xfrm>
          <a:prstGeom prst="roundRect">
            <a:avLst>
              <a:gd name="adj" fmla="val 12121"/>
            </a:avLst>
          </a:prstGeom>
          <a:solidFill>
            <a:srgbClr val="FFFFFF"/>
          </a:solidFill>
          <a:ln w="12700">
            <a:solidFill>
              <a:srgbClr val="DCDAEA"/>
            </a:solidFill>
            <a:prstDash val="solid"/>
          </a:ln>
        </p:spPr>
      </p:sp>
      <p:sp>
        <p:nvSpPr>
          <p:cNvPr id="12" name="Text 9"/>
          <p:cNvSpPr txBox="1"/>
          <p:nvPr/>
        </p:nvSpPr>
        <p:spPr>
          <a:xfrm>
            <a:off x="6382512"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fléchit le dos</a:t>
            </a:r>
            <a:endParaRPr lang="en-US" sz="1100" dirty="0"/>
          </a:p>
        </p:txBody>
      </p:sp>
      <p:sp>
        <p:nvSpPr>
          <p:cNvPr id="13" name="Shape 10"/>
          <p:cNvSpPr/>
          <p:nvPr/>
        </p:nvSpPr>
        <p:spPr>
          <a:xfrm>
            <a:off x="8102498" y="1481328"/>
            <a:ext cx="1610258" cy="603504"/>
          </a:xfrm>
          <a:prstGeom prst="roundRect">
            <a:avLst>
              <a:gd name="adj" fmla="val 12121"/>
            </a:avLst>
          </a:prstGeom>
          <a:solidFill>
            <a:srgbClr val="F0EF96"/>
          </a:solidFill>
          <a:ln w="12700">
            <a:solidFill>
              <a:srgbClr val="D9D65A"/>
            </a:solidFill>
            <a:prstDash val="solid"/>
          </a:ln>
        </p:spPr>
      </p:sp>
      <p:sp>
        <p:nvSpPr>
          <p:cNvPr id="14" name="Text 11"/>
          <p:cNvSpPr txBox="1"/>
          <p:nvPr/>
        </p:nvSpPr>
        <p:spPr>
          <a:xfrm>
            <a:off x="8175650" y="1481328"/>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fléchit les jambes en gardant le dos droit</a:t>
            </a:r>
            <a:endParaRPr lang="en-US" sz="1100" dirty="0"/>
          </a:p>
        </p:txBody>
      </p:sp>
      <p:sp>
        <p:nvSpPr>
          <p:cNvPr id="15" name="Shape 12"/>
          <p:cNvSpPr/>
          <p:nvPr/>
        </p:nvSpPr>
        <p:spPr>
          <a:xfrm>
            <a:off x="9895637" y="1481328"/>
            <a:ext cx="1610258" cy="603504"/>
          </a:xfrm>
          <a:prstGeom prst="roundRect">
            <a:avLst>
              <a:gd name="adj" fmla="val 12121"/>
            </a:avLst>
          </a:prstGeom>
          <a:solidFill>
            <a:srgbClr val="FFFFFF"/>
          </a:solidFill>
          <a:ln w="12700">
            <a:solidFill>
              <a:srgbClr val="DCDAEA"/>
            </a:solidFill>
            <a:prstDash val="solid"/>
          </a:ln>
        </p:spPr>
      </p:sp>
      <p:sp>
        <p:nvSpPr>
          <p:cNvPr id="16" name="Text 13"/>
          <p:cNvSpPr txBox="1"/>
          <p:nvPr/>
        </p:nvSpPr>
        <p:spPr>
          <a:xfrm>
            <a:off x="9968789"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garde les jambes tendues</a:t>
            </a:r>
            <a:endParaRPr lang="en-US" sz="1100" dirty="0"/>
          </a:p>
        </p:txBody>
      </p:sp>
      <p:sp>
        <p:nvSpPr>
          <p:cNvPr id="17" name="Shape 14"/>
          <p:cNvSpPr/>
          <p:nvPr/>
        </p:nvSpPr>
        <p:spPr>
          <a:xfrm>
            <a:off x="548640" y="2313432"/>
            <a:ext cx="11094415" cy="822960"/>
          </a:xfrm>
          <a:prstGeom prst="roundRect">
            <a:avLst>
              <a:gd name="adj" fmla="val 8889"/>
            </a:avLst>
          </a:prstGeom>
          <a:solidFill>
            <a:srgbClr val="EEEDF5"/>
          </a:solidFill>
          <a:ln w="12700">
            <a:solidFill>
              <a:srgbClr val="EEEDF5"/>
            </a:solidFill>
            <a:prstDash val="solid"/>
          </a:ln>
        </p:spPr>
      </p:sp>
      <p:sp>
        <p:nvSpPr>
          <p:cNvPr id="18" name="Shape 15"/>
          <p:cNvSpPr/>
          <p:nvPr/>
        </p:nvSpPr>
        <p:spPr>
          <a:xfrm>
            <a:off x="731520" y="2487168"/>
            <a:ext cx="475488" cy="475488"/>
          </a:xfrm>
          <a:prstGeom prst="ellipse">
            <a:avLst/>
          </a:prstGeom>
          <a:solidFill>
            <a:srgbClr val="0A032B"/>
          </a:solidFill>
          <a:ln w="12700">
            <a:solidFill>
              <a:srgbClr val="0A032B"/>
            </a:solidFill>
            <a:prstDash val="solid"/>
          </a:ln>
        </p:spPr>
      </p:sp>
      <p:sp>
        <p:nvSpPr>
          <p:cNvPr id="19" name="Text 16"/>
          <p:cNvSpPr txBox="1"/>
          <p:nvPr/>
        </p:nvSpPr>
        <p:spPr>
          <a:xfrm>
            <a:off x="731520" y="248716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7</a:t>
            </a:r>
            <a:endParaRPr lang="en-US" sz="1800" dirty="0"/>
          </a:p>
        </p:txBody>
      </p:sp>
      <p:sp>
        <p:nvSpPr>
          <p:cNvPr id="20" name="Text 17"/>
          <p:cNvSpPr txBox="1"/>
          <p:nvPr/>
        </p:nvSpPr>
        <p:spPr>
          <a:xfrm>
            <a:off x="1371600" y="2313432"/>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Les pieds doivent être…</a:t>
            </a:r>
            <a:endParaRPr lang="en-US" sz="1350" dirty="0"/>
          </a:p>
        </p:txBody>
      </p:sp>
      <p:sp>
        <p:nvSpPr>
          <p:cNvPr id="21" name="Shape 18"/>
          <p:cNvSpPr/>
          <p:nvPr/>
        </p:nvSpPr>
        <p:spPr>
          <a:xfrm>
            <a:off x="6309360" y="2423160"/>
            <a:ext cx="1610258" cy="603504"/>
          </a:xfrm>
          <a:prstGeom prst="roundRect">
            <a:avLst>
              <a:gd name="adj" fmla="val 12121"/>
            </a:avLst>
          </a:prstGeom>
          <a:solidFill>
            <a:srgbClr val="FFFFFF"/>
          </a:solidFill>
          <a:ln w="12700">
            <a:solidFill>
              <a:srgbClr val="DCDAEA"/>
            </a:solidFill>
            <a:prstDash val="solid"/>
          </a:ln>
        </p:spPr>
      </p:sp>
      <p:sp>
        <p:nvSpPr>
          <p:cNvPr id="22" name="Text 19"/>
          <p:cNvSpPr txBox="1"/>
          <p:nvPr/>
        </p:nvSpPr>
        <p:spPr>
          <a:xfrm>
            <a:off x="6382512"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joints</a:t>
            </a:r>
            <a:endParaRPr lang="en-US" sz="1100" dirty="0"/>
          </a:p>
        </p:txBody>
      </p:sp>
      <p:sp>
        <p:nvSpPr>
          <p:cNvPr id="23" name="Shape 20"/>
          <p:cNvSpPr/>
          <p:nvPr/>
        </p:nvSpPr>
        <p:spPr>
          <a:xfrm>
            <a:off x="8102498" y="2423160"/>
            <a:ext cx="1610258" cy="603504"/>
          </a:xfrm>
          <a:prstGeom prst="roundRect">
            <a:avLst>
              <a:gd name="adj" fmla="val 12121"/>
            </a:avLst>
          </a:prstGeom>
          <a:solidFill>
            <a:srgbClr val="F0EF96"/>
          </a:solidFill>
          <a:ln w="12700">
            <a:solidFill>
              <a:srgbClr val="D9D65A"/>
            </a:solidFill>
            <a:prstDash val="solid"/>
          </a:ln>
        </p:spPr>
      </p:sp>
      <p:sp>
        <p:nvSpPr>
          <p:cNvPr id="24" name="Text 21"/>
          <p:cNvSpPr txBox="1"/>
          <p:nvPr/>
        </p:nvSpPr>
        <p:spPr>
          <a:xfrm>
            <a:off x="8175650" y="2423160"/>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écartés, un pied en avant dans le sens du déplacement</a:t>
            </a:r>
            <a:endParaRPr lang="en-US" sz="1100" dirty="0"/>
          </a:p>
        </p:txBody>
      </p:sp>
      <p:sp>
        <p:nvSpPr>
          <p:cNvPr id="25" name="Shape 22"/>
          <p:cNvSpPr/>
          <p:nvPr/>
        </p:nvSpPr>
        <p:spPr>
          <a:xfrm>
            <a:off x="9895637" y="2423160"/>
            <a:ext cx="1610258" cy="603504"/>
          </a:xfrm>
          <a:prstGeom prst="roundRect">
            <a:avLst>
              <a:gd name="adj" fmla="val 12121"/>
            </a:avLst>
          </a:prstGeom>
          <a:solidFill>
            <a:srgbClr val="FFFFFF"/>
          </a:solidFill>
          <a:ln w="12700">
            <a:solidFill>
              <a:srgbClr val="DCDAEA"/>
            </a:solidFill>
            <a:prstDash val="solid"/>
          </a:ln>
        </p:spPr>
      </p:sp>
      <p:sp>
        <p:nvSpPr>
          <p:cNvPr id="26" name="Text 23"/>
          <p:cNvSpPr txBox="1"/>
          <p:nvPr/>
        </p:nvSpPr>
        <p:spPr>
          <a:xfrm>
            <a:off x="9968789"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croisés</a:t>
            </a:r>
            <a:endParaRPr lang="en-US" sz="1100" dirty="0"/>
          </a:p>
        </p:txBody>
      </p:sp>
      <p:sp>
        <p:nvSpPr>
          <p:cNvPr id="27" name="Shape 24"/>
          <p:cNvSpPr/>
          <p:nvPr/>
        </p:nvSpPr>
        <p:spPr>
          <a:xfrm>
            <a:off x="548640" y="3255264"/>
            <a:ext cx="11094415" cy="822960"/>
          </a:xfrm>
          <a:prstGeom prst="roundRect">
            <a:avLst>
              <a:gd name="adj" fmla="val 8889"/>
            </a:avLst>
          </a:prstGeom>
          <a:solidFill>
            <a:srgbClr val="EEEDF5"/>
          </a:solidFill>
          <a:ln w="12700">
            <a:solidFill>
              <a:srgbClr val="EEEDF5"/>
            </a:solidFill>
            <a:prstDash val="solid"/>
          </a:ln>
        </p:spPr>
      </p:sp>
      <p:sp>
        <p:nvSpPr>
          <p:cNvPr id="28" name="Shape 25"/>
          <p:cNvSpPr/>
          <p:nvPr/>
        </p:nvSpPr>
        <p:spPr>
          <a:xfrm>
            <a:off x="731520" y="3429000"/>
            <a:ext cx="475488" cy="475488"/>
          </a:xfrm>
          <a:prstGeom prst="ellipse">
            <a:avLst/>
          </a:prstGeom>
          <a:solidFill>
            <a:srgbClr val="0A032B"/>
          </a:solidFill>
          <a:ln w="12700">
            <a:solidFill>
              <a:srgbClr val="0A032B"/>
            </a:solidFill>
            <a:prstDash val="solid"/>
          </a:ln>
        </p:spPr>
      </p:sp>
      <p:sp>
        <p:nvSpPr>
          <p:cNvPr id="29" name="Text 26"/>
          <p:cNvSpPr txBox="1"/>
          <p:nvPr/>
        </p:nvSpPr>
        <p:spPr>
          <a:xfrm>
            <a:off x="731520" y="342900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8</a:t>
            </a:r>
            <a:endParaRPr lang="en-US" sz="1800" dirty="0"/>
          </a:p>
        </p:txBody>
      </p:sp>
      <p:sp>
        <p:nvSpPr>
          <p:cNvPr id="30" name="Text 27"/>
          <p:cNvSpPr txBox="1"/>
          <p:nvPr/>
        </p:nvSpPr>
        <p:spPr>
          <a:xfrm>
            <a:off x="1371600" y="3255264"/>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Pour changer de direction avec une charge, on…</a:t>
            </a:r>
            <a:endParaRPr lang="en-US" sz="1350" dirty="0"/>
          </a:p>
        </p:txBody>
      </p:sp>
      <p:sp>
        <p:nvSpPr>
          <p:cNvPr id="31" name="Shape 28"/>
          <p:cNvSpPr/>
          <p:nvPr/>
        </p:nvSpPr>
        <p:spPr>
          <a:xfrm>
            <a:off x="6309360" y="3364992"/>
            <a:ext cx="1610258" cy="603504"/>
          </a:xfrm>
          <a:prstGeom prst="roundRect">
            <a:avLst>
              <a:gd name="adj" fmla="val 12121"/>
            </a:avLst>
          </a:prstGeom>
          <a:solidFill>
            <a:srgbClr val="FFFFFF"/>
          </a:solidFill>
          <a:ln w="12700">
            <a:solidFill>
              <a:srgbClr val="DCDAEA"/>
            </a:solidFill>
            <a:prstDash val="solid"/>
          </a:ln>
        </p:spPr>
      </p:sp>
      <p:sp>
        <p:nvSpPr>
          <p:cNvPr id="32" name="Text 29"/>
          <p:cNvSpPr txBox="1"/>
          <p:nvPr/>
        </p:nvSpPr>
        <p:spPr>
          <a:xfrm>
            <a:off x="6382512"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tourne le buste</a:t>
            </a:r>
            <a:endParaRPr lang="en-US" sz="1100" dirty="0"/>
          </a:p>
        </p:txBody>
      </p:sp>
      <p:sp>
        <p:nvSpPr>
          <p:cNvPr id="33" name="Shape 30"/>
          <p:cNvSpPr/>
          <p:nvPr/>
        </p:nvSpPr>
        <p:spPr>
          <a:xfrm>
            <a:off x="8102498" y="3364992"/>
            <a:ext cx="1610258" cy="603504"/>
          </a:xfrm>
          <a:prstGeom prst="roundRect">
            <a:avLst>
              <a:gd name="adj" fmla="val 12121"/>
            </a:avLst>
          </a:prstGeom>
          <a:solidFill>
            <a:srgbClr val="F0EF96"/>
          </a:solidFill>
          <a:ln w="12700">
            <a:solidFill>
              <a:srgbClr val="D9D65A"/>
            </a:solidFill>
            <a:prstDash val="solid"/>
          </a:ln>
        </p:spPr>
      </p:sp>
      <p:sp>
        <p:nvSpPr>
          <p:cNvPr id="34" name="Text 31"/>
          <p:cNvSpPr txBox="1"/>
          <p:nvPr/>
        </p:nvSpPr>
        <p:spPr>
          <a:xfrm>
            <a:off x="8175650" y="3364992"/>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pivote avec les pieds</a:t>
            </a:r>
            <a:endParaRPr lang="en-US" sz="1100" dirty="0"/>
          </a:p>
        </p:txBody>
      </p:sp>
      <p:sp>
        <p:nvSpPr>
          <p:cNvPr id="35" name="Shape 32"/>
          <p:cNvSpPr/>
          <p:nvPr/>
        </p:nvSpPr>
        <p:spPr>
          <a:xfrm>
            <a:off x="9895637" y="3364992"/>
            <a:ext cx="1610258" cy="603504"/>
          </a:xfrm>
          <a:prstGeom prst="roundRect">
            <a:avLst>
              <a:gd name="adj" fmla="val 12121"/>
            </a:avLst>
          </a:prstGeom>
          <a:solidFill>
            <a:srgbClr val="FFFFFF"/>
          </a:solidFill>
          <a:ln w="12700">
            <a:solidFill>
              <a:srgbClr val="DCDAEA"/>
            </a:solidFill>
            <a:prstDash val="solid"/>
          </a:ln>
        </p:spPr>
      </p:sp>
      <p:sp>
        <p:nvSpPr>
          <p:cNvPr id="36" name="Text 33"/>
          <p:cNvSpPr txBox="1"/>
          <p:nvPr/>
        </p:nvSpPr>
        <p:spPr>
          <a:xfrm>
            <a:off x="9968789"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lance la charge</a:t>
            </a:r>
            <a:endParaRPr lang="en-US" sz="1100" dirty="0"/>
          </a:p>
        </p:txBody>
      </p:sp>
      <p:sp>
        <p:nvSpPr>
          <p:cNvPr id="37" name="Shape 34"/>
          <p:cNvSpPr/>
          <p:nvPr/>
        </p:nvSpPr>
        <p:spPr>
          <a:xfrm>
            <a:off x="548640" y="4197096"/>
            <a:ext cx="11094415" cy="822960"/>
          </a:xfrm>
          <a:prstGeom prst="roundRect">
            <a:avLst>
              <a:gd name="adj" fmla="val 8889"/>
            </a:avLst>
          </a:prstGeom>
          <a:solidFill>
            <a:srgbClr val="EEEDF5"/>
          </a:solidFill>
          <a:ln w="12700">
            <a:solidFill>
              <a:srgbClr val="EEEDF5"/>
            </a:solidFill>
            <a:prstDash val="solid"/>
          </a:ln>
        </p:spPr>
      </p:sp>
      <p:sp>
        <p:nvSpPr>
          <p:cNvPr id="38" name="Shape 35"/>
          <p:cNvSpPr/>
          <p:nvPr/>
        </p:nvSpPr>
        <p:spPr>
          <a:xfrm>
            <a:off x="731520" y="4370832"/>
            <a:ext cx="475488" cy="475488"/>
          </a:xfrm>
          <a:prstGeom prst="ellipse">
            <a:avLst/>
          </a:prstGeom>
          <a:solidFill>
            <a:srgbClr val="0A032B"/>
          </a:solidFill>
          <a:ln w="12700">
            <a:solidFill>
              <a:srgbClr val="0A032B"/>
            </a:solidFill>
            <a:prstDash val="solid"/>
          </a:ln>
        </p:spPr>
      </p:sp>
      <p:sp>
        <p:nvSpPr>
          <p:cNvPr id="39" name="Text 36"/>
          <p:cNvSpPr txBox="1"/>
          <p:nvPr/>
        </p:nvSpPr>
        <p:spPr>
          <a:xfrm>
            <a:off x="731520" y="437083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9</a:t>
            </a:r>
            <a:endParaRPr lang="en-US" sz="1800" dirty="0"/>
          </a:p>
        </p:txBody>
      </p:sp>
      <p:sp>
        <p:nvSpPr>
          <p:cNvPr id="40" name="Text 37"/>
          <p:cNvSpPr txBox="1"/>
          <p:nvPr/>
        </p:nvSpPr>
        <p:spPr>
          <a:xfrm>
            <a:off x="1371600" y="4197096"/>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La charge doit être tenue…</a:t>
            </a:r>
            <a:endParaRPr lang="en-US" sz="1350" dirty="0"/>
          </a:p>
        </p:txBody>
      </p:sp>
      <p:sp>
        <p:nvSpPr>
          <p:cNvPr id="41" name="Shape 38"/>
          <p:cNvSpPr/>
          <p:nvPr/>
        </p:nvSpPr>
        <p:spPr>
          <a:xfrm>
            <a:off x="6309360" y="4306824"/>
            <a:ext cx="1610258" cy="603504"/>
          </a:xfrm>
          <a:prstGeom prst="roundRect">
            <a:avLst>
              <a:gd name="adj" fmla="val 12121"/>
            </a:avLst>
          </a:prstGeom>
          <a:solidFill>
            <a:srgbClr val="FFFFFF"/>
          </a:solidFill>
          <a:ln w="12700">
            <a:solidFill>
              <a:srgbClr val="DCDAEA"/>
            </a:solidFill>
            <a:prstDash val="solid"/>
          </a:ln>
        </p:spPr>
      </p:sp>
      <p:sp>
        <p:nvSpPr>
          <p:cNvPr id="42" name="Text 39"/>
          <p:cNvSpPr txBox="1"/>
          <p:nvPr/>
        </p:nvSpPr>
        <p:spPr>
          <a:xfrm>
            <a:off x="6382512"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bras tendus devant soi</a:t>
            </a:r>
            <a:endParaRPr lang="en-US" sz="1100" dirty="0"/>
          </a:p>
        </p:txBody>
      </p:sp>
      <p:sp>
        <p:nvSpPr>
          <p:cNvPr id="43" name="Shape 40"/>
          <p:cNvSpPr/>
          <p:nvPr/>
        </p:nvSpPr>
        <p:spPr>
          <a:xfrm>
            <a:off x="8102498" y="4306824"/>
            <a:ext cx="1610258" cy="603504"/>
          </a:xfrm>
          <a:prstGeom prst="roundRect">
            <a:avLst>
              <a:gd name="adj" fmla="val 12121"/>
            </a:avLst>
          </a:prstGeom>
          <a:solidFill>
            <a:srgbClr val="FFFFFF"/>
          </a:solidFill>
          <a:ln w="12700">
            <a:solidFill>
              <a:srgbClr val="DCDAEA"/>
            </a:solidFill>
            <a:prstDash val="solid"/>
          </a:ln>
        </p:spPr>
      </p:sp>
      <p:sp>
        <p:nvSpPr>
          <p:cNvPr id="44" name="Text 41"/>
          <p:cNvSpPr txBox="1"/>
          <p:nvPr/>
        </p:nvSpPr>
        <p:spPr>
          <a:xfrm>
            <a:off x="8175650"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au-dessus des épaules</a:t>
            </a:r>
            <a:endParaRPr lang="en-US" sz="1100" dirty="0"/>
          </a:p>
        </p:txBody>
      </p:sp>
      <p:sp>
        <p:nvSpPr>
          <p:cNvPr id="45" name="Shape 42"/>
          <p:cNvSpPr/>
          <p:nvPr/>
        </p:nvSpPr>
        <p:spPr>
          <a:xfrm>
            <a:off x="9895637" y="4306824"/>
            <a:ext cx="1610258" cy="603504"/>
          </a:xfrm>
          <a:prstGeom prst="roundRect">
            <a:avLst>
              <a:gd name="adj" fmla="val 12121"/>
            </a:avLst>
          </a:prstGeom>
          <a:solidFill>
            <a:srgbClr val="F0EF96"/>
          </a:solidFill>
          <a:ln w="12700">
            <a:solidFill>
              <a:srgbClr val="D9D65A"/>
            </a:solidFill>
            <a:prstDash val="solid"/>
          </a:ln>
        </p:spPr>
      </p:sp>
      <p:sp>
        <p:nvSpPr>
          <p:cNvPr id="46" name="Text 43"/>
          <p:cNvSpPr txBox="1"/>
          <p:nvPr/>
        </p:nvSpPr>
        <p:spPr>
          <a:xfrm>
            <a:off x="9968789" y="4306824"/>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au plus près du corps</a:t>
            </a:r>
            <a:endParaRPr lang="en-US" sz="1100" dirty="0"/>
          </a:p>
        </p:txBody>
      </p:sp>
      <p:sp>
        <p:nvSpPr>
          <p:cNvPr id="47" name="Shape 44"/>
          <p:cNvSpPr/>
          <p:nvPr/>
        </p:nvSpPr>
        <p:spPr>
          <a:xfrm>
            <a:off x="548640" y="5138928"/>
            <a:ext cx="11094415" cy="822960"/>
          </a:xfrm>
          <a:prstGeom prst="roundRect">
            <a:avLst>
              <a:gd name="adj" fmla="val 8889"/>
            </a:avLst>
          </a:prstGeom>
          <a:solidFill>
            <a:srgbClr val="EEEDF5"/>
          </a:solidFill>
          <a:ln w="12700">
            <a:solidFill>
              <a:srgbClr val="EEEDF5"/>
            </a:solidFill>
            <a:prstDash val="solid"/>
          </a:ln>
        </p:spPr>
      </p:sp>
      <p:sp>
        <p:nvSpPr>
          <p:cNvPr id="48" name="Shape 45"/>
          <p:cNvSpPr/>
          <p:nvPr/>
        </p:nvSpPr>
        <p:spPr>
          <a:xfrm>
            <a:off x="731520" y="5312664"/>
            <a:ext cx="475488" cy="475488"/>
          </a:xfrm>
          <a:prstGeom prst="ellipse">
            <a:avLst/>
          </a:prstGeom>
          <a:solidFill>
            <a:srgbClr val="0A032B"/>
          </a:solidFill>
          <a:ln w="12700">
            <a:solidFill>
              <a:srgbClr val="0A032B"/>
            </a:solidFill>
            <a:prstDash val="solid"/>
          </a:ln>
        </p:spPr>
      </p:sp>
      <p:sp>
        <p:nvSpPr>
          <p:cNvPr id="49" name="Text 46"/>
          <p:cNvSpPr txBox="1"/>
          <p:nvPr/>
        </p:nvSpPr>
        <p:spPr>
          <a:xfrm>
            <a:off x="731520" y="531266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10</a:t>
            </a:r>
            <a:endParaRPr lang="en-US" sz="1800" dirty="0"/>
          </a:p>
        </p:txBody>
      </p:sp>
      <p:sp>
        <p:nvSpPr>
          <p:cNvPr id="50" name="Text 47"/>
          <p:cNvSpPr txBox="1"/>
          <p:nvPr/>
        </p:nvSpPr>
        <p:spPr>
          <a:xfrm>
            <a:off x="1371600" y="5138928"/>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Lors d'une manutention à deux…</a:t>
            </a:r>
            <a:endParaRPr lang="en-US" sz="1350" dirty="0"/>
          </a:p>
        </p:txBody>
      </p:sp>
      <p:sp>
        <p:nvSpPr>
          <p:cNvPr id="51" name="Shape 48"/>
          <p:cNvSpPr/>
          <p:nvPr/>
        </p:nvSpPr>
        <p:spPr>
          <a:xfrm>
            <a:off x="6309360" y="5248656"/>
            <a:ext cx="1610258" cy="603504"/>
          </a:xfrm>
          <a:prstGeom prst="roundRect">
            <a:avLst>
              <a:gd name="adj" fmla="val 12121"/>
            </a:avLst>
          </a:prstGeom>
          <a:solidFill>
            <a:srgbClr val="F0EF96"/>
          </a:solidFill>
          <a:ln w="12700">
            <a:solidFill>
              <a:srgbClr val="D9D65A"/>
            </a:solidFill>
            <a:prstDash val="solid"/>
          </a:ln>
        </p:spPr>
      </p:sp>
      <p:sp>
        <p:nvSpPr>
          <p:cNvPr id="52" name="Text 49"/>
          <p:cNvSpPr txBox="1"/>
          <p:nvPr/>
        </p:nvSpPr>
        <p:spPr>
          <a:xfrm>
            <a:off x="6382512" y="5248656"/>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un meneur donne les consignes</a:t>
            </a:r>
            <a:endParaRPr lang="en-US" sz="1100" dirty="0"/>
          </a:p>
        </p:txBody>
      </p:sp>
      <p:sp>
        <p:nvSpPr>
          <p:cNvPr id="53" name="Shape 50"/>
          <p:cNvSpPr/>
          <p:nvPr/>
        </p:nvSpPr>
        <p:spPr>
          <a:xfrm>
            <a:off x="8102498" y="5248656"/>
            <a:ext cx="1610258" cy="603504"/>
          </a:xfrm>
          <a:prstGeom prst="roundRect">
            <a:avLst>
              <a:gd name="adj" fmla="val 12121"/>
            </a:avLst>
          </a:prstGeom>
          <a:solidFill>
            <a:srgbClr val="FFFFFF"/>
          </a:solidFill>
          <a:ln w="12700">
            <a:solidFill>
              <a:srgbClr val="DCDAEA"/>
            </a:solidFill>
            <a:prstDash val="solid"/>
          </a:ln>
        </p:spPr>
      </p:sp>
      <p:sp>
        <p:nvSpPr>
          <p:cNvPr id="54" name="Text 51"/>
          <p:cNvSpPr txBox="1"/>
          <p:nvPr/>
        </p:nvSpPr>
        <p:spPr>
          <a:xfrm>
            <a:off x="8175650"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chacun décide de son côté</a:t>
            </a:r>
            <a:endParaRPr lang="en-US" sz="1100" dirty="0"/>
          </a:p>
        </p:txBody>
      </p:sp>
      <p:sp>
        <p:nvSpPr>
          <p:cNvPr id="55" name="Shape 52"/>
          <p:cNvSpPr/>
          <p:nvPr/>
        </p:nvSpPr>
        <p:spPr>
          <a:xfrm>
            <a:off x="9895637" y="5248656"/>
            <a:ext cx="1610258" cy="603504"/>
          </a:xfrm>
          <a:prstGeom prst="roundRect">
            <a:avLst>
              <a:gd name="adj" fmla="val 12121"/>
            </a:avLst>
          </a:prstGeom>
          <a:solidFill>
            <a:srgbClr val="FFFFFF"/>
          </a:solidFill>
          <a:ln w="12700">
            <a:solidFill>
              <a:srgbClr val="DCDAEA"/>
            </a:solidFill>
            <a:prstDash val="solid"/>
          </a:ln>
        </p:spPr>
      </p:sp>
      <p:sp>
        <p:nvSpPr>
          <p:cNvPr id="56" name="Text 53"/>
          <p:cNvSpPr txBox="1"/>
          <p:nvPr/>
        </p:nvSpPr>
        <p:spPr>
          <a:xfrm>
            <a:off x="9968789"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plus rapide mène</a:t>
            </a:r>
            <a:endParaRPr lang="en-US" sz="11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Correction collective du QCM (3/3)</a:t>
            </a:r>
            <a:endParaRPr lang="en-US" sz="2800" dirty="0"/>
          </a:p>
        </p:txBody>
      </p:sp>
      <p:sp>
        <p:nvSpPr>
          <p:cNvPr id="3" name="Shape 1"/>
          <p:cNvSpPr/>
          <p:nvPr/>
        </p:nvSpPr>
        <p:spPr>
          <a:xfrm>
            <a:off x="10042855" y="530352"/>
            <a:ext cx="1600200" cy="347472"/>
          </a:xfrm>
          <a:prstGeom prst="roundRect">
            <a:avLst>
              <a:gd name="adj" fmla="val 50000"/>
            </a:avLst>
          </a:prstGeom>
          <a:solidFill>
            <a:srgbClr val="35305C"/>
          </a:solidFill>
          <a:ln w="12700">
            <a:solidFill>
              <a:srgbClr val="35305C"/>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Montserrat" pitchFamily="34" charset="0"/>
                <a:ea typeface="Montserrat" pitchFamily="34" charset="-122"/>
                <a:cs typeface="Montserrat" pitchFamily="34" charset="-120"/>
              </a:rPr>
              <a:t>ÉVALUATION</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Évaluation</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371600"/>
            <a:ext cx="11094415" cy="822960"/>
          </a:xfrm>
          <a:prstGeom prst="roundRect">
            <a:avLst>
              <a:gd name="adj" fmla="val 8889"/>
            </a:avLst>
          </a:prstGeom>
          <a:solidFill>
            <a:srgbClr val="EEEDF5"/>
          </a:solidFill>
          <a:ln w="12700">
            <a:solidFill>
              <a:srgbClr val="EEEDF5"/>
            </a:solidFill>
            <a:prstDash val="solid"/>
          </a:ln>
        </p:spPr>
      </p:sp>
      <p:sp>
        <p:nvSpPr>
          <p:cNvPr id="8" name="Shape 5"/>
          <p:cNvSpPr/>
          <p:nvPr/>
        </p:nvSpPr>
        <p:spPr>
          <a:xfrm>
            <a:off x="731520" y="1545336"/>
            <a:ext cx="475488" cy="475488"/>
          </a:xfrm>
          <a:prstGeom prst="ellipse">
            <a:avLst/>
          </a:prstGeom>
          <a:solidFill>
            <a:srgbClr val="0A032B"/>
          </a:solidFill>
          <a:ln w="12700">
            <a:solidFill>
              <a:srgbClr val="0A032B"/>
            </a:solidFill>
            <a:prstDash val="solid"/>
          </a:ln>
        </p:spPr>
      </p:sp>
      <p:sp>
        <p:nvSpPr>
          <p:cNvPr id="9" name="Text 6"/>
          <p:cNvSpPr txBox="1"/>
          <p:nvPr/>
        </p:nvSpPr>
        <p:spPr>
          <a:xfrm>
            <a:off x="731520" y="154533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11</a:t>
            </a:r>
            <a:endParaRPr lang="en-US" sz="1800" dirty="0"/>
          </a:p>
        </p:txBody>
      </p:sp>
      <p:sp>
        <p:nvSpPr>
          <p:cNvPr id="10" name="Text 7"/>
          <p:cNvSpPr txBox="1"/>
          <p:nvPr/>
        </p:nvSpPr>
        <p:spPr>
          <a:xfrm>
            <a:off x="1371600" y="1371600"/>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Avec un chariot, il est préférable de…</a:t>
            </a:r>
            <a:endParaRPr lang="en-US" sz="1350" dirty="0"/>
          </a:p>
        </p:txBody>
      </p:sp>
      <p:sp>
        <p:nvSpPr>
          <p:cNvPr id="11" name="Shape 8"/>
          <p:cNvSpPr/>
          <p:nvPr/>
        </p:nvSpPr>
        <p:spPr>
          <a:xfrm>
            <a:off x="6309360" y="1481328"/>
            <a:ext cx="1610258" cy="603504"/>
          </a:xfrm>
          <a:prstGeom prst="roundRect">
            <a:avLst>
              <a:gd name="adj" fmla="val 12121"/>
            </a:avLst>
          </a:prstGeom>
          <a:solidFill>
            <a:srgbClr val="FFFFFF"/>
          </a:solidFill>
          <a:ln w="12700">
            <a:solidFill>
              <a:srgbClr val="DCDAEA"/>
            </a:solidFill>
            <a:prstDash val="solid"/>
          </a:ln>
        </p:spPr>
      </p:sp>
      <p:sp>
        <p:nvSpPr>
          <p:cNvPr id="12" name="Text 9"/>
          <p:cNvSpPr txBox="1"/>
          <p:nvPr/>
        </p:nvSpPr>
        <p:spPr>
          <a:xfrm>
            <a:off x="6382512"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tirer</a:t>
            </a:r>
            <a:endParaRPr lang="en-US" sz="1100" dirty="0"/>
          </a:p>
        </p:txBody>
      </p:sp>
      <p:sp>
        <p:nvSpPr>
          <p:cNvPr id="13" name="Shape 10"/>
          <p:cNvSpPr/>
          <p:nvPr/>
        </p:nvSpPr>
        <p:spPr>
          <a:xfrm>
            <a:off x="8102498" y="1481328"/>
            <a:ext cx="1610258" cy="603504"/>
          </a:xfrm>
          <a:prstGeom prst="roundRect">
            <a:avLst>
              <a:gd name="adj" fmla="val 12121"/>
            </a:avLst>
          </a:prstGeom>
          <a:solidFill>
            <a:srgbClr val="F0EF96"/>
          </a:solidFill>
          <a:ln w="12700">
            <a:solidFill>
              <a:srgbClr val="D9D65A"/>
            </a:solidFill>
            <a:prstDash val="solid"/>
          </a:ln>
        </p:spPr>
      </p:sp>
      <p:sp>
        <p:nvSpPr>
          <p:cNvPr id="14" name="Text 11"/>
          <p:cNvSpPr txBox="1"/>
          <p:nvPr/>
        </p:nvSpPr>
        <p:spPr>
          <a:xfrm>
            <a:off x="8175650" y="1481328"/>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pousser</a:t>
            </a:r>
            <a:endParaRPr lang="en-US" sz="1100" dirty="0"/>
          </a:p>
        </p:txBody>
      </p:sp>
      <p:sp>
        <p:nvSpPr>
          <p:cNvPr id="15" name="Shape 12"/>
          <p:cNvSpPr/>
          <p:nvPr/>
        </p:nvSpPr>
        <p:spPr>
          <a:xfrm>
            <a:off x="9895637" y="1481328"/>
            <a:ext cx="1610258" cy="603504"/>
          </a:xfrm>
          <a:prstGeom prst="roundRect">
            <a:avLst>
              <a:gd name="adj" fmla="val 12121"/>
            </a:avLst>
          </a:prstGeom>
          <a:solidFill>
            <a:srgbClr val="FFFFFF"/>
          </a:solidFill>
          <a:ln w="12700">
            <a:solidFill>
              <a:srgbClr val="DCDAEA"/>
            </a:solidFill>
            <a:prstDash val="solid"/>
          </a:ln>
        </p:spPr>
      </p:sp>
      <p:sp>
        <p:nvSpPr>
          <p:cNvPr id="16" name="Text 13"/>
          <p:cNvSpPr txBox="1"/>
          <p:nvPr/>
        </p:nvSpPr>
        <p:spPr>
          <a:xfrm>
            <a:off x="9968789" y="1481328"/>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porter</a:t>
            </a:r>
            <a:endParaRPr lang="en-US" sz="1100" dirty="0"/>
          </a:p>
        </p:txBody>
      </p:sp>
      <p:sp>
        <p:nvSpPr>
          <p:cNvPr id="17" name="Shape 14"/>
          <p:cNvSpPr/>
          <p:nvPr/>
        </p:nvSpPr>
        <p:spPr>
          <a:xfrm>
            <a:off x="548640" y="2313432"/>
            <a:ext cx="11094415" cy="822960"/>
          </a:xfrm>
          <a:prstGeom prst="roundRect">
            <a:avLst>
              <a:gd name="adj" fmla="val 8889"/>
            </a:avLst>
          </a:prstGeom>
          <a:solidFill>
            <a:srgbClr val="EEEDF5"/>
          </a:solidFill>
          <a:ln w="12700">
            <a:solidFill>
              <a:srgbClr val="EEEDF5"/>
            </a:solidFill>
            <a:prstDash val="solid"/>
          </a:ln>
        </p:spPr>
      </p:sp>
      <p:sp>
        <p:nvSpPr>
          <p:cNvPr id="18" name="Shape 15"/>
          <p:cNvSpPr/>
          <p:nvPr/>
        </p:nvSpPr>
        <p:spPr>
          <a:xfrm>
            <a:off x="731520" y="2487168"/>
            <a:ext cx="475488" cy="475488"/>
          </a:xfrm>
          <a:prstGeom prst="ellipse">
            <a:avLst/>
          </a:prstGeom>
          <a:solidFill>
            <a:srgbClr val="0A032B"/>
          </a:solidFill>
          <a:ln w="12700">
            <a:solidFill>
              <a:srgbClr val="0A032B"/>
            </a:solidFill>
            <a:prstDash val="solid"/>
          </a:ln>
        </p:spPr>
      </p:sp>
      <p:sp>
        <p:nvSpPr>
          <p:cNvPr id="19" name="Text 16"/>
          <p:cNvSpPr txBox="1"/>
          <p:nvPr/>
        </p:nvSpPr>
        <p:spPr>
          <a:xfrm>
            <a:off x="731520" y="248716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12</a:t>
            </a:r>
            <a:endParaRPr lang="en-US" sz="1800" dirty="0"/>
          </a:p>
        </p:txBody>
      </p:sp>
      <p:sp>
        <p:nvSpPr>
          <p:cNvPr id="20" name="Text 17"/>
          <p:cNvSpPr txBox="1"/>
          <p:nvPr/>
        </p:nvSpPr>
        <p:spPr>
          <a:xfrm>
            <a:off x="1371600" y="2313432"/>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Le haut de l'écran doit se situer…</a:t>
            </a:r>
            <a:endParaRPr lang="en-US" sz="1350" dirty="0"/>
          </a:p>
        </p:txBody>
      </p:sp>
      <p:sp>
        <p:nvSpPr>
          <p:cNvPr id="21" name="Shape 18"/>
          <p:cNvSpPr/>
          <p:nvPr/>
        </p:nvSpPr>
        <p:spPr>
          <a:xfrm>
            <a:off x="6309360" y="2423160"/>
            <a:ext cx="1610258" cy="603504"/>
          </a:xfrm>
          <a:prstGeom prst="roundRect">
            <a:avLst>
              <a:gd name="adj" fmla="val 12121"/>
            </a:avLst>
          </a:prstGeom>
          <a:solidFill>
            <a:srgbClr val="F0EF96"/>
          </a:solidFill>
          <a:ln w="12700">
            <a:solidFill>
              <a:srgbClr val="D9D65A"/>
            </a:solidFill>
            <a:prstDash val="solid"/>
          </a:ln>
        </p:spPr>
      </p:sp>
      <p:sp>
        <p:nvSpPr>
          <p:cNvPr id="22" name="Text 19"/>
          <p:cNvSpPr txBox="1"/>
          <p:nvPr/>
        </p:nvSpPr>
        <p:spPr>
          <a:xfrm>
            <a:off x="6382512" y="2423160"/>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à hauteur des yeux</a:t>
            </a:r>
            <a:endParaRPr lang="en-US" sz="1100" dirty="0"/>
          </a:p>
        </p:txBody>
      </p:sp>
      <p:sp>
        <p:nvSpPr>
          <p:cNvPr id="23" name="Shape 20"/>
          <p:cNvSpPr/>
          <p:nvPr/>
        </p:nvSpPr>
        <p:spPr>
          <a:xfrm>
            <a:off x="8102498" y="2423160"/>
            <a:ext cx="1610258" cy="603504"/>
          </a:xfrm>
          <a:prstGeom prst="roundRect">
            <a:avLst>
              <a:gd name="adj" fmla="val 12121"/>
            </a:avLst>
          </a:prstGeom>
          <a:solidFill>
            <a:srgbClr val="FFFFFF"/>
          </a:solidFill>
          <a:ln w="12700">
            <a:solidFill>
              <a:srgbClr val="DCDAEA"/>
            </a:solidFill>
            <a:prstDash val="solid"/>
          </a:ln>
        </p:spPr>
      </p:sp>
      <p:sp>
        <p:nvSpPr>
          <p:cNvPr id="24" name="Text 21"/>
          <p:cNvSpPr txBox="1"/>
          <p:nvPr/>
        </p:nvSpPr>
        <p:spPr>
          <a:xfrm>
            <a:off x="8175650"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au-dessus de la tête</a:t>
            </a:r>
            <a:endParaRPr lang="en-US" sz="1100" dirty="0"/>
          </a:p>
        </p:txBody>
      </p:sp>
      <p:sp>
        <p:nvSpPr>
          <p:cNvPr id="25" name="Shape 22"/>
          <p:cNvSpPr/>
          <p:nvPr/>
        </p:nvSpPr>
        <p:spPr>
          <a:xfrm>
            <a:off x="9895637" y="2423160"/>
            <a:ext cx="1610258" cy="603504"/>
          </a:xfrm>
          <a:prstGeom prst="roundRect">
            <a:avLst>
              <a:gd name="adj" fmla="val 12121"/>
            </a:avLst>
          </a:prstGeom>
          <a:solidFill>
            <a:srgbClr val="FFFFFF"/>
          </a:solidFill>
          <a:ln w="12700">
            <a:solidFill>
              <a:srgbClr val="DCDAEA"/>
            </a:solidFill>
            <a:prstDash val="solid"/>
          </a:ln>
        </p:spPr>
      </p:sp>
      <p:sp>
        <p:nvSpPr>
          <p:cNvPr id="26" name="Text 23"/>
          <p:cNvSpPr txBox="1"/>
          <p:nvPr/>
        </p:nvSpPr>
        <p:spPr>
          <a:xfrm>
            <a:off x="9968789" y="2423160"/>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au niveau du menton</a:t>
            </a:r>
            <a:endParaRPr lang="en-US" sz="1100" dirty="0"/>
          </a:p>
        </p:txBody>
      </p:sp>
      <p:sp>
        <p:nvSpPr>
          <p:cNvPr id="27" name="Shape 24"/>
          <p:cNvSpPr/>
          <p:nvPr/>
        </p:nvSpPr>
        <p:spPr>
          <a:xfrm>
            <a:off x="548640" y="3255264"/>
            <a:ext cx="11094415" cy="822960"/>
          </a:xfrm>
          <a:prstGeom prst="roundRect">
            <a:avLst>
              <a:gd name="adj" fmla="val 8889"/>
            </a:avLst>
          </a:prstGeom>
          <a:solidFill>
            <a:srgbClr val="EEEDF5"/>
          </a:solidFill>
          <a:ln w="12700">
            <a:solidFill>
              <a:srgbClr val="EEEDF5"/>
            </a:solidFill>
            <a:prstDash val="solid"/>
          </a:ln>
        </p:spPr>
      </p:sp>
      <p:sp>
        <p:nvSpPr>
          <p:cNvPr id="28" name="Shape 25"/>
          <p:cNvSpPr/>
          <p:nvPr/>
        </p:nvSpPr>
        <p:spPr>
          <a:xfrm>
            <a:off x="731520" y="3429000"/>
            <a:ext cx="475488" cy="475488"/>
          </a:xfrm>
          <a:prstGeom prst="ellipse">
            <a:avLst/>
          </a:prstGeom>
          <a:solidFill>
            <a:srgbClr val="0A032B"/>
          </a:solidFill>
          <a:ln w="12700">
            <a:solidFill>
              <a:srgbClr val="0A032B"/>
            </a:solidFill>
            <a:prstDash val="solid"/>
          </a:ln>
        </p:spPr>
      </p:sp>
      <p:sp>
        <p:nvSpPr>
          <p:cNvPr id="29" name="Text 26"/>
          <p:cNvSpPr txBox="1"/>
          <p:nvPr/>
        </p:nvSpPr>
        <p:spPr>
          <a:xfrm>
            <a:off x="731520" y="342900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13</a:t>
            </a:r>
            <a:endParaRPr lang="en-US" sz="1800" dirty="0"/>
          </a:p>
        </p:txBody>
      </p:sp>
      <p:sp>
        <p:nvSpPr>
          <p:cNvPr id="30" name="Text 27"/>
          <p:cNvSpPr txBox="1"/>
          <p:nvPr/>
        </p:nvSpPr>
        <p:spPr>
          <a:xfrm>
            <a:off x="1371600" y="3255264"/>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En position assise prolongée, il faut…</a:t>
            </a:r>
            <a:endParaRPr lang="en-US" sz="1350" dirty="0"/>
          </a:p>
        </p:txBody>
      </p:sp>
      <p:sp>
        <p:nvSpPr>
          <p:cNvPr id="31" name="Shape 28"/>
          <p:cNvSpPr/>
          <p:nvPr/>
        </p:nvSpPr>
        <p:spPr>
          <a:xfrm>
            <a:off x="6309360" y="3364992"/>
            <a:ext cx="1610258" cy="603504"/>
          </a:xfrm>
          <a:prstGeom prst="roundRect">
            <a:avLst>
              <a:gd name="adj" fmla="val 12121"/>
            </a:avLst>
          </a:prstGeom>
          <a:solidFill>
            <a:srgbClr val="FFFFFF"/>
          </a:solidFill>
          <a:ln w="12700">
            <a:solidFill>
              <a:srgbClr val="DCDAEA"/>
            </a:solidFill>
            <a:prstDash val="solid"/>
          </a:ln>
        </p:spPr>
      </p:sp>
      <p:sp>
        <p:nvSpPr>
          <p:cNvPr id="32" name="Text 29"/>
          <p:cNvSpPr txBox="1"/>
          <p:nvPr/>
        </p:nvSpPr>
        <p:spPr>
          <a:xfrm>
            <a:off x="6382512"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ne pas bouger pour rester concentré</a:t>
            </a:r>
            <a:endParaRPr lang="en-US" sz="1100" dirty="0"/>
          </a:p>
        </p:txBody>
      </p:sp>
      <p:sp>
        <p:nvSpPr>
          <p:cNvPr id="33" name="Shape 30"/>
          <p:cNvSpPr/>
          <p:nvPr/>
        </p:nvSpPr>
        <p:spPr>
          <a:xfrm>
            <a:off x="8102498" y="3364992"/>
            <a:ext cx="1610258" cy="603504"/>
          </a:xfrm>
          <a:prstGeom prst="roundRect">
            <a:avLst>
              <a:gd name="adj" fmla="val 12121"/>
            </a:avLst>
          </a:prstGeom>
          <a:solidFill>
            <a:srgbClr val="F0EF96"/>
          </a:solidFill>
          <a:ln w="12700">
            <a:solidFill>
              <a:srgbClr val="D9D65A"/>
            </a:solidFill>
            <a:prstDash val="solid"/>
          </a:ln>
        </p:spPr>
      </p:sp>
      <p:sp>
        <p:nvSpPr>
          <p:cNvPr id="34" name="Text 31"/>
          <p:cNvSpPr txBox="1"/>
          <p:nvPr/>
        </p:nvSpPr>
        <p:spPr>
          <a:xfrm>
            <a:off x="8175650" y="3364992"/>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changer régulièrement de position</a:t>
            </a:r>
            <a:endParaRPr lang="en-US" sz="1100" dirty="0"/>
          </a:p>
        </p:txBody>
      </p:sp>
      <p:sp>
        <p:nvSpPr>
          <p:cNvPr id="35" name="Shape 32"/>
          <p:cNvSpPr/>
          <p:nvPr/>
        </p:nvSpPr>
        <p:spPr>
          <a:xfrm>
            <a:off x="9895637" y="3364992"/>
            <a:ext cx="1610258" cy="603504"/>
          </a:xfrm>
          <a:prstGeom prst="roundRect">
            <a:avLst>
              <a:gd name="adj" fmla="val 12121"/>
            </a:avLst>
          </a:prstGeom>
          <a:solidFill>
            <a:srgbClr val="FFFFFF"/>
          </a:solidFill>
          <a:ln w="12700">
            <a:solidFill>
              <a:srgbClr val="DCDAEA"/>
            </a:solidFill>
            <a:prstDash val="solid"/>
          </a:ln>
        </p:spPr>
      </p:sp>
      <p:sp>
        <p:nvSpPr>
          <p:cNvPr id="36" name="Text 33"/>
          <p:cNvSpPr txBox="1"/>
          <p:nvPr/>
        </p:nvSpPr>
        <p:spPr>
          <a:xfrm>
            <a:off x="9968789" y="3364992"/>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croiser les jambes</a:t>
            </a:r>
            <a:endParaRPr lang="en-US" sz="1100" dirty="0"/>
          </a:p>
        </p:txBody>
      </p:sp>
      <p:sp>
        <p:nvSpPr>
          <p:cNvPr id="37" name="Shape 34"/>
          <p:cNvSpPr/>
          <p:nvPr/>
        </p:nvSpPr>
        <p:spPr>
          <a:xfrm>
            <a:off x="548640" y="4197096"/>
            <a:ext cx="11094415" cy="822960"/>
          </a:xfrm>
          <a:prstGeom prst="roundRect">
            <a:avLst>
              <a:gd name="adj" fmla="val 8889"/>
            </a:avLst>
          </a:prstGeom>
          <a:solidFill>
            <a:srgbClr val="EEEDF5"/>
          </a:solidFill>
          <a:ln w="12700">
            <a:solidFill>
              <a:srgbClr val="EEEDF5"/>
            </a:solidFill>
            <a:prstDash val="solid"/>
          </a:ln>
        </p:spPr>
      </p:sp>
      <p:sp>
        <p:nvSpPr>
          <p:cNvPr id="38" name="Shape 35"/>
          <p:cNvSpPr/>
          <p:nvPr/>
        </p:nvSpPr>
        <p:spPr>
          <a:xfrm>
            <a:off x="731520" y="4370832"/>
            <a:ext cx="475488" cy="475488"/>
          </a:xfrm>
          <a:prstGeom prst="ellipse">
            <a:avLst/>
          </a:prstGeom>
          <a:solidFill>
            <a:srgbClr val="0A032B"/>
          </a:solidFill>
          <a:ln w="12700">
            <a:solidFill>
              <a:srgbClr val="0A032B"/>
            </a:solidFill>
            <a:prstDash val="solid"/>
          </a:ln>
        </p:spPr>
      </p:sp>
      <p:sp>
        <p:nvSpPr>
          <p:cNvPr id="39" name="Text 36"/>
          <p:cNvSpPr txBox="1"/>
          <p:nvPr/>
        </p:nvSpPr>
        <p:spPr>
          <a:xfrm>
            <a:off x="731520" y="437083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14</a:t>
            </a:r>
            <a:endParaRPr lang="en-US" sz="1800" dirty="0"/>
          </a:p>
        </p:txBody>
      </p:sp>
      <p:sp>
        <p:nvSpPr>
          <p:cNvPr id="40" name="Text 37"/>
          <p:cNvSpPr txBox="1"/>
          <p:nvPr/>
        </p:nvSpPr>
        <p:spPr>
          <a:xfrm>
            <a:off x="1371600" y="4197096"/>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Le document qui recense l'évaluation des risques s'appelle…</a:t>
            </a:r>
            <a:endParaRPr lang="en-US" sz="1350" dirty="0"/>
          </a:p>
        </p:txBody>
      </p:sp>
      <p:sp>
        <p:nvSpPr>
          <p:cNvPr id="41" name="Shape 38"/>
          <p:cNvSpPr/>
          <p:nvPr/>
        </p:nvSpPr>
        <p:spPr>
          <a:xfrm>
            <a:off x="6309360" y="4306824"/>
            <a:ext cx="1610258" cy="603504"/>
          </a:xfrm>
          <a:prstGeom prst="roundRect">
            <a:avLst>
              <a:gd name="adj" fmla="val 12121"/>
            </a:avLst>
          </a:prstGeom>
          <a:solidFill>
            <a:srgbClr val="FFFFFF"/>
          </a:solidFill>
          <a:ln w="12700">
            <a:solidFill>
              <a:srgbClr val="DCDAEA"/>
            </a:solidFill>
            <a:prstDash val="solid"/>
          </a:ln>
        </p:spPr>
      </p:sp>
      <p:sp>
        <p:nvSpPr>
          <p:cNvPr id="42" name="Text 39"/>
          <p:cNvSpPr txBox="1"/>
          <p:nvPr/>
        </p:nvSpPr>
        <p:spPr>
          <a:xfrm>
            <a:off x="6382512"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règlement intérieur</a:t>
            </a:r>
            <a:endParaRPr lang="en-US" sz="1100" dirty="0"/>
          </a:p>
        </p:txBody>
      </p:sp>
      <p:sp>
        <p:nvSpPr>
          <p:cNvPr id="43" name="Shape 40"/>
          <p:cNvSpPr/>
          <p:nvPr/>
        </p:nvSpPr>
        <p:spPr>
          <a:xfrm>
            <a:off x="8102498" y="4306824"/>
            <a:ext cx="1610258" cy="603504"/>
          </a:xfrm>
          <a:prstGeom prst="roundRect">
            <a:avLst>
              <a:gd name="adj" fmla="val 12121"/>
            </a:avLst>
          </a:prstGeom>
          <a:solidFill>
            <a:srgbClr val="F0EF96"/>
          </a:solidFill>
          <a:ln w="12700">
            <a:solidFill>
              <a:srgbClr val="D9D65A"/>
            </a:solidFill>
            <a:prstDash val="solid"/>
          </a:ln>
        </p:spPr>
      </p:sp>
      <p:sp>
        <p:nvSpPr>
          <p:cNvPr id="44" name="Text 41"/>
          <p:cNvSpPr txBox="1"/>
          <p:nvPr/>
        </p:nvSpPr>
        <p:spPr>
          <a:xfrm>
            <a:off x="8175650" y="4306824"/>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le document unique</a:t>
            </a:r>
            <a:endParaRPr lang="en-US" sz="1100" dirty="0"/>
          </a:p>
        </p:txBody>
      </p:sp>
      <p:sp>
        <p:nvSpPr>
          <p:cNvPr id="45" name="Shape 42"/>
          <p:cNvSpPr/>
          <p:nvPr/>
        </p:nvSpPr>
        <p:spPr>
          <a:xfrm>
            <a:off x="9895637" y="4306824"/>
            <a:ext cx="1610258" cy="603504"/>
          </a:xfrm>
          <a:prstGeom prst="roundRect">
            <a:avLst>
              <a:gd name="adj" fmla="val 12121"/>
            </a:avLst>
          </a:prstGeom>
          <a:solidFill>
            <a:srgbClr val="FFFFFF"/>
          </a:solidFill>
          <a:ln w="12700">
            <a:solidFill>
              <a:srgbClr val="DCDAEA"/>
            </a:solidFill>
            <a:prstDash val="solid"/>
          </a:ln>
        </p:spPr>
      </p:sp>
      <p:sp>
        <p:nvSpPr>
          <p:cNvPr id="46" name="Text 43"/>
          <p:cNvSpPr txBox="1"/>
          <p:nvPr/>
        </p:nvSpPr>
        <p:spPr>
          <a:xfrm>
            <a:off x="9968789" y="4306824"/>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registre des délibérations</a:t>
            </a:r>
            <a:endParaRPr lang="en-US" sz="1100" dirty="0"/>
          </a:p>
        </p:txBody>
      </p:sp>
      <p:sp>
        <p:nvSpPr>
          <p:cNvPr id="47" name="Shape 44"/>
          <p:cNvSpPr/>
          <p:nvPr/>
        </p:nvSpPr>
        <p:spPr>
          <a:xfrm>
            <a:off x="548640" y="5138928"/>
            <a:ext cx="11094415" cy="822960"/>
          </a:xfrm>
          <a:prstGeom prst="roundRect">
            <a:avLst>
              <a:gd name="adj" fmla="val 8889"/>
            </a:avLst>
          </a:prstGeom>
          <a:solidFill>
            <a:srgbClr val="EEEDF5"/>
          </a:solidFill>
          <a:ln w="12700">
            <a:solidFill>
              <a:srgbClr val="EEEDF5"/>
            </a:solidFill>
            <a:prstDash val="solid"/>
          </a:ln>
        </p:spPr>
      </p:sp>
      <p:sp>
        <p:nvSpPr>
          <p:cNvPr id="48" name="Shape 45"/>
          <p:cNvSpPr/>
          <p:nvPr/>
        </p:nvSpPr>
        <p:spPr>
          <a:xfrm>
            <a:off x="731520" y="5312664"/>
            <a:ext cx="475488" cy="475488"/>
          </a:xfrm>
          <a:prstGeom prst="ellipse">
            <a:avLst/>
          </a:prstGeom>
          <a:solidFill>
            <a:srgbClr val="0A032B"/>
          </a:solidFill>
          <a:ln w="12700">
            <a:solidFill>
              <a:srgbClr val="0A032B"/>
            </a:solidFill>
            <a:prstDash val="solid"/>
          </a:ln>
        </p:spPr>
      </p:sp>
      <p:sp>
        <p:nvSpPr>
          <p:cNvPr id="49" name="Text 46"/>
          <p:cNvSpPr txBox="1"/>
          <p:nvPr/>
        </p:nvSpPr>
        <p:spPr>
          <a:xfrm>
            <a:off x="731520" y="531266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Montserrat" pitchFamily="34" charset="0"/>
                <a:ea typeface="Montserrat" pitchFamily="34" charset="-122"/>
                <a:cs typeface="Montserrat" pitchFamily="34" charset="-120"/>
              </a:rPr>
              <a:t>15</a:t>
            </a:r>
            <a:endParaRPr lang="en-US" sz="1800" dirty="0"/>
          </a:p>
        </p:txBody>
      </p:sp>
      <p:sp>
        <p:nvSpPr>
          <p:cNvPr id="50" name="Text 47"/>
          <p:cNvSpPr txBox="1"/>
          <p:nvPr/>
        </p:nvSpPr>
        <p:spPr>
          <a:xfrm>
            <a:off x="1371600" y="5138928"/>
            <a:ext cx="4754880" cy="822960"/>
          </a:xfrm>
          <a:prstGeom prst="rect">
            <a:avLst/>
          </a:prstGeom>
          <a:noFill/>
          <a:ln/>
        </p:spPr>
        <p:txBody>
          <a:bodyPr wrap="square" lIns="0" tIns="0" rIns="0" bIns="0" rtlCol="0" anchor="ctr"/>
          <a:lstStyle/>
          <a:p>
            <a:pPr indent="0" marL="0">
              <a:buNone/>
            </a:pPr>
            <a:r>
              <a:rPr lang="en-US" sz="1350" b="1" dirty="0">
                <a:solidFill>
                  <a:srgbClr val="0A032B"/>
                </a:solidFill>
                <a:latin typeface="Arial" pitchFamily="34" charset="0"/>
                <a:ea typeface="Arial" pitchFamily="34" charset="-122"/>
                <a:cs typeface="Arial" pitchFamily="34" charset="-120"/>
              </a:rPr>
              <a:t>Qui est responsable de la santé et de la sécurité des agents ?</a:t>
            </a:r>
            <a:endParaRPr lang="en-US" sz="1350" dirty="0"/>
          </a:p>
        </p:txBody>
      </p:sp>
      <p:sp>
        <p:nvSpPr>
          <p:cNvPr id="51" name="Shape 48"/>
          <p:cNvSpPr/>
          <p:nvPr/>
        </p:nvSpPr>
        <p:spPr>
          <a:xfrm>
            <a:off x="6309360" y="5248656"/>
            <a:ext cx="1610258" cy="603504"/>
          </a:xfrm>
          <a:prstGeom prst="roundRect">
            <a:avLst>
              <a:gd name="adj" fmla="val 12121"/>
            </a:avLst>
          </a:prstGeom>
          <a:solidFill>
            <a:srgbClr val="F0EF96"/>
          </a:solidFill>
          <a:ln w="12700">
            <a:solidFill>
              <a:srgbClr val="D9D65A"/>
            </a:solidFill>
            <a:prstDash val="solid"/>
          </a:ln>
        </p:spPr>
      </p:sp>
      <p:sp>
        <p:nvSpPr>
          <p:cNvPr id="52" name="Text 49"/>
          <p:cNvSpPr txBox="1"/>
          <p:nvPr/>
        </p:nvSpPr>
        <p:spPr>
          <a:xfrm>
            <a:off x="6382512" y="5248656"/>
            <a:ext cx="1463954" cy="603504"/>
          </a:xfrm>
          <a:prstGeom prst="rect">
            <a:avLst/>
          </a:prstGeom>
          <a:noFill/>
          <a:ln/>
        </p:spPr>
        <p:txBody>
          <a:bodyPr wrap="square" lIns="0" tIns="0" rIns="0" bIns="0" rtlCol="0" anchor="ctr"/>
          <a:lstStyle/>
          <a:p>
            <a:pPr algn="ctr" indent="0" marL="0">
              <a:buNone/>
            </a:pPr>
            <a:r>
              <a:rPr lang="en-US" sz="1100" b="1" dirty="0">
                <a:solidFill>
                  <a:srgbClr val="0A032B"/>
                </a:solidFill>
                <a:latin typeface="Arial" pitchFamily="34" charset="0"/>
                <a:ea typeface="Arial" pitchFamily="34" charset="-122"/>
                <a:cs typeface="Arial" pitchFamily="34" charset="-120"/>
              </a:rPr>
              <a:t>L'autorité territoriale</a:t>
            </a:r>
            <a:endParaRPr lang="en-US" sz="1100" dirty="0"/>
          </a:p>
        </p:txBody>
      </p:sp>
      <p:sp>
        <p:nvSpPr>
          <p:cNvPr id="53" name="Shape 50"/>
          <p:cNvSpPr/>
          <p:nvPr/>
        </p:nvSpPr>
        <p:spPr>
          <a:xfrm>
            <a:off x="8102498" y="5248656"/>
            <a:ext cx="1610258" cy="603504"/>
          </a:xfrm>
          <a:prstGeom prst="roundRect">
            <a:avLst>
              <a:gd name="adj" fmla="val 12121"/>
            </a:avLst>
          </a:prstGeom>
          <a:solidFill>
            <a:srgbClr val="FFFFFF"/>
          </a:solidFill>
          <a:ln w="12700">
            <a:solidFill>
              <a:srgbClr val="DCDAEA"/>
            </a:solidFill>
            <a:prstDash val="solid"/>
          </a:ln>
        </p:spPr>
      </p:sp>
      <p:sp>
        <p:nvSpPr>
          <p:cNvPr id="54" name="Text 51"/>
          <p:cNvSpPr txBox="1"/>
          <p:nvPr/>
        </p:nvSpPr>
        <p:spPr>
          <a:xfrm>
            <a:off x="8175650"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Le médecin</a:t>
            </a:r>
            <a:endParaRPr lang="en-US" sz="1100" dirty="0"/>
          </a:p>
        </p:txBody>
      </p:sp>
      <p:sp>
        <p:nvSpPr>
          <p:cNvPr id="55" name="Shape 52"/>
          <p:cNvSpPr/>
          <p:nvPr/>
        </p:nvSpPr>
        <p:spPr>
          <a:xfrm>
            <a:off x="9895637" y="5248656"/>
            <a:ext cx="1610258" cy="603504"/>
          </a:xfrm>
          <a:prstGeom prst="roundRect">
            <a:avLst>
              <a:gd name="adj" fmla="val 12121"/>
            </a:avLst>
          </a:prstGeom>
          <a:solidFill>
            <a:srgbClr val="FFFFFF"/>
          </a:solidFill>
          <a:ln w="12700">
            <a:solidFill>
              <a:srgbClr val="DCDAEA"/>
            </a:solidFill>
            <a:prstDash val="solid"/>
          </a:ln>
        </p:spPr>
      </p:sp>
      <p:sp>
        <p:nvSpPr>
          <p:cNvPr id="56" name="Text 53"/>
          <p:cNvSpPr txBox="1"/>
          <p:nvPr/>
        </p:nvSpPr>
        <p:spPr>
          <a:xfrm>
            <a:off x="9968789" y="5248656"/>
            <a:ext cx="1463954" cy="603504"/>
          </a:xfrm>
          <a:prstGeom prst="rect">
            <a:avLst/>
          </a:prstGeom>
          <a:noFill/>
          <a:ln/>
        </p:spPr>
        <p:txBody>
          <a:bodyPr wrap="square" lIns="0" tIns="0" rIns="0" bIns="0" rtlCol="0" anchor="ctr"/>
          <a:lstStyle/>
          <a:p>
            <a:pPr algn="ctr" indent="0" marL="0">
              <a:buNone/>
            </a:pPr>
            <a:r>
              <a:rPr lang="en-US" sz="1100" dirty="0">
                <a:solidFill>
                  <a:srgbClr val="5E5A78"/>
                </a:solidFill>
                <a:latin typeface="Arial" pitchFamily="34" charset="0"/>
                <a:ea typeface="Arial" pitchFamily="34" charset="-122"/>
                <a:cs typeface="Arial" pitchFamily="34" charset="-120"/>
              </a:rPr>
              <a:t>Chaque agent seul</a:t>
            </a:r>
            <a:endParaRPr lang="en-US" sz="11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A032B"/>
        </a:solidFill>
      </p:bgPr>
    </p:bg>
    <p:spTree>
      <p:nvGrpSpPr>
        <p:cNvPr id="1" name=""/>
        <p:cNvGrpSpPr/>
        <p:nvPr/>
      </p:nvGrpSpPr>
      <p:grpSpPr>
        <a:xfrm>
          <a:off x="0" y="0"/>
          <a:ext cx="0" cy="0"/>
          <a:chOff x="0" y="0"/>
          <a:chExt cx="0" cy="0"/>
        </a:xfrm>
      </p:grpSpPr>
      <p:sp>
        <p:nvSpPr>
          <p:cNvPr id="2" name="Text 0"/>
          <p:cNvSpPr txBox="1"/>
          <p:nvPr/>
        </p:nvSpPr>
        <p:spPr>
          <a:xfrm>
            <a:off x="548640" y="1371600"/>
            <a:ext cx="3657600" cy="2926080"/>
          </a:xfrm>
          <a:prstGeom prst="rect">
            <a:avLst/>
          </a:prstGeom>
          <a:noFill/>
          <a:ln/>
        </p:spPr>
        <p:txBody>
          <a:bodyPr wrap="square" lIns="0" tIns="0" rIns="0" bIns="0" rtlCol="0" anchor="ctr"/>
          <a:lstStyle/>
          <a:p>
            <a:pPr indent="0" marL="0">
              <a:buNone/>
            </a:pPr>
            <a:r>
              <a:rPr lang="en-US" sz="18000" b="1" dirty="0">
                <a:solidFill>
                  <a:srgbClr val="F0EF96"/>
                </a:solidFill>
                <a:latin typeface="Montserrat" pitchFamily="34" charset="0"/>
                <a:ea typeface="Montserrat" pitchFamily="34" charset="-122"/>
                <a:cs typeface="Montserrat" pitchFamily="34" charset="-120"/>
              </a:rPr>
              <a:t>06</a:t>
            </a:r>
            <a:endParaRPr lang="en-US" sz="18000" dirty="0"/>
          </a:p>
        </p:txBody>
      </p:sp>
      <p:sp>
        <p:nvSpPr>
          <p:cNvPr id="3" name="Text 1"/>
          <p:cNvSpPr txBox="1"/>
          <p:nvPr/>
        </p:nvSpPr>
        <p:spPr>
          <a:xfrm>
            <a:off x="4572000" y="1463040"/>
            <a:ext cx="7040880" cy="411480"/>
          </a:xfrm>
          <a:prstGeom prst="rect">
            <a:avLst/>
          </a:prstGeom>
          <a:noFill/>
          <a:ln/>
        </p:spPr>
        <p:txBody>
          <a:bodyPr wrap="square" lIns="0" tIns="0" rIns="0" bIns="0" rtlCol="0" anchor="ctr"/>
          <a:lstStyle/>
          <a:p>
            <a:pPr indent="0" marL="0">
              <a:buNone/>
            </a:pPr>
            <a:r>
              <a:rPr lang="en-US" sz="1600" b="1" spc="300" kern="0" dirty="0">
                <a:solidFill>
                  <a:srgbClr val="F0EF96"/>
                </a:solidFill>
                <a:latin typeface="Montserrat" pitchFamily="34" charset="0"/>
                <a:ea typeface="Montserrat" pitchFamily="34" charset="-122"/>
                <a:cs typeface="Montserrat" pitchFamily="34" charset="-120"/>
              </a:rPr>
              <a:t>CLÔTURE</a:t>
            </a:r>
            <a:endParaRPr lang="en-US" sz="1600" dirty="0"/>
          </a:p>
        </p:txBody>
      </p:sp>
      <p:sp>
        <p:nvSpPr>
          <p:cNvPr id="4" name="Text 2"/>
          <p:cNvSpPr txBox="1"/>
          <p:nvPr/>
        </p:nvSpPr>
        <p:spPr>
          <a:xfrm>
            <a:off x="4572000" y="1920240"/>
            <a:ext cx="7040880" cy="1645920"/>
          </a:xfrm>
          <a:prstGeom prst="rect">
            <a:avLst/>
          </a:prstGeom>
          <a:noFill/>
          <a:ln/>
        </p:spPr>
        <p:txBody>
          <a:bodyPr wrap="square" lIns="0" tIns="0" rIns="0" bIns="0" rtlCol="0" anchor="t"/>
          <a:lstStyle/>
          <a:p>
            <a:pPr indent="0" marL="0">
              <a:buNone/>
            </a:pPr>
            <a:r>
              <a:rPr lang="en-US" sz="3400" b="1" dirty="0">
                <a:solidFill>
                  <a:srgbClr val="FFFFFF"/>
                </a:solidFill>
                <a:latin typeface="Montserrat" pitchFamily="34" charset="0"/>
                <a:ea typeface="Montserrat" pitchFamily="34" charset="-122"/>
                <a:cs typeface="Montserrat" pitchFamily="34" charset="-120"/>
              </a:rPr>
              <a:t>Bilan et débriefing final</a:t>
            </a:r>
            <a:endParaRPr lang="en-US" sz="3400" dirty="0"/>
          </a:p>
        </p:txBody>
      </p:sp>
      <p:sp>
        <p:nvSpPr>
          <p:cNvPr id="5" name="Text 3"/>
          <p:cNvSpPr txBox="1"/>
          <p:nvPr/>
        </p:nvSpPr>
        <p:spPr>
          <a:xfrm>
            <a:off x="4572000" y="3657600"/>
            <a:ext cx="7040880" cy="914400"/>
          </a:xfrm>
          <a:prstGeom prst="rect">
            <a:avLst/>
          </a:prstGeom>
          <a:noFill/>
          <a:ln/>
        </p:spPr>
        <p:txBody>
          <a:bodyPr wrap="square" lIns="0" tIns="0" rIns="0" bIns="0" rtlCol="0" anchor="t"/>
          <a:lstStyle/>
          <a:p>
            <a:pPr indent="0" marL="0">
              <a:buNone/>
            </a:pPr>
            <a:r>
              <a:rPr lang="en-US" sz="1500" b="1" dirty="0">
                <a:solidFill>
                  <a:srgbClr val="F0EF96"/>
                </a:solidFill>
                <a:latin typeface="Arial" pitchFamily="34" charset="0"/>
                <a:ea typeface="Arial" pitchFamily="34" charset="-122"/>
                <a:cs typeface="Arial" pitchFamily="34" charset="-120"/>
              </a:rPr>
              <a:t>Objectif  </a:t>
            </a:r>
            <a:pPr indent="0" marL="0">
              <a:buNone/>
            </a:pPr>
            <a:r>
              <a:rPr lang="en-US" sz="1500" dirty="0">
                <a:solidFill>
                  <a:srgbClr val="FFFFFF"/>
                </a:solidFill>
                <a:latin typeface="Arial" pitchFamily="34" charset="0"/>
                <a:ea typeface="Arial" pitchFamily="34" charset="-122"/>
                <a:cs typeface="Arial" pitchFamily="34" charset="-120"/>
              </a:rPr>
              <a:t>Évaluer les compétences acquises et les conditions de la formation, et préparer l'après-formation.</a:t>
            </a:r>
            <a:endParaRPr lang="en-US" sz="1500" dirty="0"/>
          </a:p>
        </p:txBody>
      </p:sp>
      <p:sp>
        <p:nvSpPr>
          <p:cNvPr id="6" name="Shape 4"/>
          <p:cNvSpPr/>
          <p:nvPr/>
        </p:nvSpPr>
        <p:spPr>
          <a:xfrm>
            <a:off x="4572000" y="4754880"/>
            <a:ext cx="1463040" cy="411480"/>
          </a:xfrm>
          <a:prstGeom prst="roundRect">
            <a:avLst>
              <a:gd name="adj" fmla="val 48889"/>
            </a:avLst>
          </a:prstGeom>
          <a:solidFill>
            <a:srgbClr val="F0EF96"/>
          </a:solidFill>
          <a:ln w="12700">
            <a:solidFill>
              <a:srgbClr val="F0EF96"/>
            </a:solidFill>
            <a:prstDash val="solid"/>
          </a:ln>
        </p:spPr>
      </p:sp>
      <p:sp>
        <p:nvSpPr>
          <p:cNvPr id="7" name="Text 5"/>
          <p:cNvSpPr txBox="1"/>
          <p:nvPr/>
        </p:nvSpPr>
        <p:spPr>
          <a:xfrm>
            <a:off x="4572000" y="4754880"/>
            <a:ext cx="1463040" cy="411480"/>
          </a:xfrm>
          <a:prstGeom prst="rect">
            <a:avLst/>
          </a:prstGeom>
          <a:noFill/>
          <a:ln/>
        </p:spPr>
        <p:txBody>
          <a:bodyPr wrap="square" lIns="0" tIns="0" rIns="0" bIns="0" rtlCol="0" anchor="ctr"/>
          <a:lstStyle/>
          <a:p>
            <a:pPr algn="ctr" indent="0" marL="0">
              <a:buNone/>
            </a:pPr>
            <a:r>
              <a:rPr lang="en-US" sz="1400" b="1" dirty="0">
                <a:solidFill>
                  <a:srgbClr val="0A032B"/>
                </a:solidFill>
                <a:latin typeface="Montserrat" pitchFamily="34" charset="0"/>
                <a:ea typeface="Montserrat" pitchFamily="34" charset="-122"/>
                <a:cs typeface="Montserrat" pitchFamily="34" charset="-120"/>
              </a:rPr>
              <a:t>20 min</a:t>
            </a:r>
            <a:endParaRPr lang="en-US" sz="1400" dirty="0"/>
          </a:p>
        </p:txBody>
      </p:sp>
      <p:sp>
        <p:nvSpPr>
          <p:cNvPr id="8" name="Text 6"/>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DCDAEA"/>
                </a:solidFill>
                <a:latin typeface="Arial" pitchFamily="34" charset="0"/>
                <a:ea typeface="Arial" pitchFamily="34" charset="-122"/>
                <a:cs typeface="Arial" pitchFamily="34" charset="-120"/>
              </a:rPr>
              <a:t>Gestes et postures de l'élu</a:t>
            </a:r>
            <a:endParaRPr lang="en-US" sz="900" dirty="0"/>
          </a:p>
        </p:txBody>
      </p:sp>
      <p:pic>
        <p:nvPicPr>
          <p:cNvPr id="9" name="Image 0" descr="logo_dark.png">    </p:cNvPr>
          <p:cNvPicPr>
            <a:picLocks noChangeAspect="1"/>
          </p:cNvPicPr>
          <p:nvPr/>
        </p:nvPicPr>
        <p:blipFill>
          <a:blip r:embed="rId1"/>
          <a:stretch>
            <a:fillRect/>
          </a:stretch>
        </p:blipFill>
        <p:spPr>
          <a:xfrm>
            <a:off x="10682935" y="6236208"/>
            <a:ext cx="960120" cy="398441"/>
          </a:xfrm>
          <a:prstGeom prst="rect">
            <a:avLst/>
          </a:prstGeom>
        </p:spPr>
      </p:pic>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DCDAEA"/>
                </a:solidFill>
                <a:latin typeface="Arial"/>
                <a:ea typeface="Arial"/>
                <a:cs typeface="Aria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235440" cy="685800"/>
          </a:xfrm>
          <a:prstGeom prst="rect">
            <a:avLst/>
          </a:prstGeom>
          <a:noFill/>
          <a:ln/>
        </p:spPr>
        <p:txBody>
          <a:bodyPr wrap="square" lIns="0" tIns="0" rIns="0" bIns="0" rtlCol="0" anchor="ctr"/>
          <a:lstStyle/>
          <a:p>
            <a:pPr indent="0" marL="0">
              <a:buNone/>
            </a:pPr>
            <a:r>
              <a:rPr lang="en-US" sz="2800" b="1" dirty="0">
                <a:solidFill>
                  <a:srgbClr val="0A032B"/>
                </a:solidFill>
                <a:latin typeface="Montserrat" pitchFamily="34" charset="0"/>
                <a:ea typeface="Montserrat" pitchFamily="34" charset="-122"/>
                <a:cs typeface="Montserrat" pitchFamily="34" charset="-120"/>
              </a:rPr>
              <a:t>Bilan de la journée</a:t>
            </a:r>
            <a:endParaRPr lang="en-US" sz="2800" dirty="0"/>
          </a:p>
        </p:txBody>
      </p:sp>
      <p:sp>
        <p:nvSpPr>
          <p:cNvPr id="3" name="Shape 1"/>
          <p:cNvSpPr/>
          <p:nvPr/>
        </p:nvSpPr>
        <p:spPr>
          <a:xfrm>
            <a:off x="10042855" y="530352"/>
            <a:ext cx="1600200" cy="347472"/>
          </a:xfrm>
          <a:prstGeom prst="roundRect">
            <a:avLst>
              <a:gd name="adj" fmla="val 50000"/>
            </a:avLst>
          </a:prstGeom>
          <a:solidFill>
            <a:srgbClr val="DCDAEA"/>
          </a:solidFill>
          <a:ln w="12700">
            <a:solidFill>
              <a:srgbClr val="DCDAEA"/>
            </a:solidFill>
            <a:prstDash val="solid"/>
          </a:ln>
        </p:spPr>
      </p:sp>
      <p:sp>
        <p:nvSpPr>
          <p:cNvPr id="4" name="Text 2"/>
          <p:cNvSpPr txBox="1"/>
          <p:nvPr/>
        </p:nvSpPr>
        <p:spPr>
          <a:xfrm>
            <a:off x="10042855" y="530352"/>
            <a:ext cx="1600200" cy="347472"/>
          </a:xfrm>
          <a:prstGeom prst="rect">
            <a:avLst/>
          </a:prstGeom>
          <a:noFill/>
          <a:ln/>
        </p:spPr>
        <p:txBody>
          <a:bodyPr wrap="square" lIns="0" tIns="0" rIns="0" bIns="0" rtlCol="0" anchor="ctr"/>
          <a:lstStyle/>
          <a:p>
            <a:pPr algn="ctr" indent="0" marL="0">
              <a:buNone/>
            </a:pPr>
            <a:r>
              <a:rPr lang="en-US" sz="1100" b="1" spc="200" kern="0" dirty="0">
                <a:solidFill>
                  <a:srgbClr val="0A032B"/>
                </a:solidFill>
                <a:latin typeface="Montserrat" pitchFamily="34" charset="0"/>
                <a:ea typeface="Montserrat" pitchFamily="34" charset="-122"/>
                <a:cs typeface="Montserrat" pitchFamily="34" charset="-120"/>
              </a:rPr>
              <a:t>ÉCHANGES</a:t>
            </a:r>
            <a:endParaRPr lang="en-US" sz="1100" dirty="0"/>
          </a:p>
        </p:txBody>
      </p:sp>
      <p:sp>
        <p:nvSpPr>
          <p:cNvPr id="5" name="Text 3"/>
          <p:cNvSpPr txBox="1"/>
          <p:nvPr/>
        </p:nvSpPr>
        <p:spPr>
          <a:xfrm>
            <a:off x="548640" y="6355080"/>
            <a:ext cx="6400800" cy="274320"/>
          </a:xfrm>
          <a:prstGeom prst="rect">
            <a:avLst/>
          </a:prstGeom>
          <a:noFill/>
          <a:ln/>
        </p:spPr>
        <p:txBody>
          <a:bodyPr wrap="square" lIns="0" tIns="0" rIns="0" bIns="0" rtlCol="0" anchor="ctr"/>
          <a:lstStyle/>
          <a:p>
            <a:pPr indent="0" marL="0">
              <a:buNone/>
            </a:pPr>
            <a:r>
              <a:rPr lang="en-US" sz="900" dirty="0">
                <a:solidFill>
                  <a:srgbClr val="5E5A78"/>
                </a:solidFill>
                <a:latin typeface="Arial" pitchFamily="34" charset="0"/>
                <a:ea typeface="Arial" pitchFamily="34" charset="-122"/>
                <a:cs typeface="Arial" pitchFamily="34" charset="-120"/>
              </a:rPr>
              <a:t>Gestes et postures de l'élu  ·  Bilan</a:t>
            </a:r>
            <a:endParaRPr lang="en-US" sz="900" dirty="0"/>
          </a:p>
        </p:txBody>
      </p:sp>
      <p:pic>
        <p:nvPicPr>
          <p:cNvPr id="6" name="Image 0" descr="logo_light.png">    </p:cNvPr>
          <p:cNvPicPr>
            <a:picLocks noChangeAspect="1"/>
          </p:cNvPicPr>
          <p:nvPr/>
        </p:nvPicPr>
        <p:blipFill>
          <a:blip r:embed="rId1"/>
          <a:stretch>
            <a:fillRect/>
          </a:stretch>
        </p:blipFill>
        <p:spPr>
          <a:xfrm>
            <a:off x="10682935" y="6236208"/>
            <a:ext cx="960120" cy="398441"/>
          </a:xfrm>
          <a:prstGeom prst="rect">
            <a:avLst/>
          </a:prstGeom>
        </p:spPr>
      </p:pic>
      <p:sp>
        <p:nvSpPr>
          <p:cNvPr id="7" name="Shape 4"/>
          <p:cNvSpPr/>
          <p:nvPr/>
        </p:nvSpPr>
        <p:spPr>
          <a:xfrm>
            <a:off x="548640" y="1371600"/>
            <a:ext cx="5410048" cy="2194560"/>
          </a:xfrm>
          <a:prstGeom prst="roundRect">
            <a:avLst>
              <a:gd name="adj" fmla="val 3333"/>
            </a:avLst>
          </a:prstGeom>
          <a:solidFill>
            <a:srgbClr val="EEEDF5"/>
          </a:solidFill>
          <a:ln w="12700">
            <a:solidFill>
              <a:srgbClr val="EEEDF5"/>
            </a:solidFill>
            <a:prstDash val="solid"/>
          </a:ln>
        </p:spPr>
      </p:sp>
      <p:sp>
        <p:nvSpPr>
          <p:cNvPr id="8" name="Shape 5"/>
          <p:cNvSpPr/>
          <p:nvPr/>
        </p:nvSpPr>
        <p:spPr>
          <a:xfrm>
            <a:off x="777240" y="1600200"/>
            <a:ext cx="548640" cy="548640"/>
          </a:xfrm>
          <a:prstGeom prst="ellipse">
            <a:avLst/>
          </a:prstGeom>
          <a:solidFill>
            <a:srgbClr val="0A032B"/>
          </a:solidFill>
          <a:ln w="12700">
            <a:solidFill>
              <a:srgbClr val="0A032B"/>
            </a:solidFill>
            <a:prstDash val="solid"/>
          </a:ln>
        </p:spPr>
      </p:sp>
      <p:pic>
        <p:nvPicPr>
          <p:cNvPr id="9" name="Image 1" descr="preencoded.png">    </p:cNvPr>
          <p:cNvPicPr>
            <a:picLocks noChangeAspect="1"/>
          </p:cNvPicPr>
          <p:nvPr/>
        </p:nvPicPr>
        <p:blipFill>
          <a:blip r:embed="rId2"/>
          <a:stretch>
            <a:fillRect/>
          </a:stretch>
        </p:blipFill>
        <p:spPr>
          <a:xfrm>
            <a:off x="914400" y="1737360"/>
            <a:ext cx="274320" cy="274320"/>
          </a:xfrm>
          <a:prstGeom prst="rect">
            <a:avLst/>
          </a:prstGeom>
        </p:spPr>
      </p:pic>
      <p:sp>
        <p:nvSpPr>
          <p:cNvPr id="10" name="Text 6"/>
          <p:cNvSpPr txBox="1"/>
          <p:nvPr/>
        </p:nvSpPr>
        <p:spPr>
          <a:xfrm>
            <a:off x="1508760" y="1600200"/>
            <a:ext cx="4221328" cy="54864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Retour aux attentes</a:t>
            </a:r>
            <a:endParaRPr lang="en-US" sz="1600" dirty="0"/>
          </a:p>
        </p:txBody>
      </p:sp>
      <p:sp>
        <p:nvSpPr>
          <p:cNvPr id="11" name="Text 7"/>
          <p:cNvSpPr txBox="1"/>
          <p:nvPr/>
        </p:nvSpPr>
        <p:spPr>
          <a:xfrm>
            <a:off x="777240" y="2286000"/>
            <a:ext cx="4952848" cy="1143000"/>
          </a:xfrm>
          <a:prstGeom prst="rect">
            <a:avLst/>
          </a:prstGeom>
          <a:noFill/>
          <a:ln/>
        </p:spPr>
        <p:txBody>
          <a:bodyPr wrap="square" lIns="0" tIns="0" rIns="0" bIns="0" rtlCol="0" anchor="t"/>
          <a:lstStyle/>
          <a:p>
            <a:pPr indent="0" marL="0">
              <a:buNone/>
            </a:pPr>
            <a:r>
              <a:rPr lang="en-US" sz="1400" dirty="0">
                <a:solidFill>
                  <a:srgbClr val="35305C"/>
                </a:solidFill>
                <a:latin typeface="Arial" pitchFamily="34" charset="0"/>
                <a:ea typeface="Arial" pitchFamily="34" charset="-122"/>
                <a:cs typeface="Arial" pitchFamily="34" charset="-120"/>
              </a:rPr>
              <a:t>Relecture des post-it du matin : vos attentes ont-elles trouvé une réponse ?</a:t>
            </a:r>
            <a:endParaRPr lang="en-US" sz="1400" dirty="0"/>
          </a:p>
        </p:txBody>
      </p:sp>
      <p:sp>
        <p:nvSpPr>
          <p:cNvPr id="12" name="Shape 8"/>
          <p:cNvSpPr/>
          <p:nvPr/>
        </p:nvSpPr>
        <p:spPr>
          <a:xfrm>
            <a:off x="6233008" y="1371600"/>
            <a:ext cx="5410048" cy="2194560"/>
          </a:xfrm>
          <a:prstGeom prst="roundRect">
            <a:avLst>
              <a:gd name="adj" fmla="val 3333"/>
            </a:avLst>
          </a:prstGeom>
          <a:solidFill>
            <a:srgbClr val="EEEDF5"/>
          </a:solidFill>
          <a:ln w="12700">
            <a:solidFill>
              <a:srgbClr val="EEEDF5"/>
            </a:solidFill>
            <a:prstDash val="solid"/>
          </a:ln>
        </p:spPr>
      </p:sp>
      <p:sp>
        <p:nvSpPr>
          <p:cNvPr id="13" name="Shape 9"/>
          <p:cNvSpPr/>
          <p:nvPr/>
        </p:nvSpPr>
        <p:spPr>
          <a:xfrm>
            <a:off x="6461608" y="1600200"/>
            <a:ext cx="548640" cy="548640"/>
          </a:xfrm>
          <a:prstGeom prst="ellipse">
            <a:avLst/>
          </a:prstGeom>
          <a:solidFill>
            <a:srgbClr val="0A032B"/>
          </a:solidFill>
          <a:ln w="12700">
            <a:solidFill>
              <a:srgbClr val="0A032B"/>
            </a:solidFill>
            <a:prstDash val="solid"/>
          </a:ln>
        </p:spPr>
      </p:sp>
      <p:pic>
        <p:nvPicPr>
          <p:cNvPr id="14" name="Image 2" descr="preencoded.png">    </p:cNvPr>
          <p:cNvPicPr>
            <a:picLocks noChangeAspect="1"/>
          </p:cNvPicPr>
          <p:nvPr/>
        </p:nvPicPr>
        <p:blipFill>
          <a:blip r:embed="rId3"/>
          <a:stretch>
            <a:fillRect/>
          </a:stretch>
        </p:blipFill>
        <p:spPr>
          <a:xfrm>
            <a:off x="6598768" y="1737360"/>
            <a:ext cx="274320" cy="274320"/>
          </a:xfrm>
          <a:prstGeom prst="rect">
            <a:avLst/>
          </a:prstGeom>
        </p:spPr>
      </p:pic>
      <p:sp>
        <p:nvSpPr>
          <p:cNvPr id="15" name="Text 10"/>
          <p:cNvSpPr txBox="1"/>
          <p:nvPr/>
        </p:nvSpPr>
        <p:spPr>
          <a:xfrm>
            <a:off x="7193128" y="1600200"/>
            <a:ext cx="4221328" cy="54864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Tour de table</a:t>
            </a:r>
            <a:endParaRPr lang="en-US" sz="1600" dirty="0"/>
          </a:p>
        </p:txBody>
      </p:sp>
      <p:sp>
        <p:nvSpPr>
          <p:cNvPr id="16" name="Text 11"/>
          <p:cNvSpPr txBox="1"/>
          <p:nvPr/>
        </p:nvSpPr>
        <p:spPr>
          <a:xfrm>
            <a:off x="6461608" y="2286000"/>
            <a:ext cx="4952848" cy="1143000"/>
          </a:xfrm>
          <a:prstGeom prst="rect">
            <a:avLst/>
          </a:prstGeom>
          <a:noFill/>
          <a:ln/>
        </p:spPr>
        <p:txBody>
          <a:bodyPr wrap="square" lIns="0" tIns="0" rIns="0" bIns="0" rtlCol="0" anchor="t"/>
          <a:lstStyle/>
          <a:p>
            <a:pPr indent="0" marL="0">
              <a:buNone/>
            </a:pPr>
            <a:r>
              <a:rPr lang="en-US" sz="1400" dirty="0">
                <a:solidFill>
                  <a:srgbClr val="35305C"/>
                </a:solidFill>
                <a:latin typeface="Arial" pitchFamily="34" charset="0"/>
                <a:ea typeface="Arial" pitchFamily="34" charset="-122"/>
                <a:cs typeface="Arial" pitchFamily="34" charset="-120"/>
              </a:rPr>
              <a:t>Ce que je retiens, ce que je vais appliquer, ce que je vais porter dans ma collectivité.</a:t>
            </a:r>
            <a:endParaRPr lang="en-US" sz="1400" dirty="0"/>
          </a:p>
        </p:txBody>
      </p:sp>
      <p:sp>
        <p:nvSpPr>
          <p:cNvPr id="17" name="Shape 12"/>
          <p:cNvSpPr/>
          <p:nvPr/>
        </p:nvSpPr>
        <p:spPr>
          <a:xfrm>
            <a:off x="548640" y="3840480"/>
            <a:ext cx="5410048" cy="2194560"/>
          </a:xfrm>
          <a:prstGeom prst="roundRect">
            <a:avLst>
              <a:gd name="adj" fmla="val 3333"/>
            </a:avLst>
          </a:prstGeom>
          <a:solidFill>
            <a:srgbClr val="EEEDF5"/>
          </a:solidFill>
          <a:ln w="12700">
            <a:solidFill>
              <a:srgbClr val="EEEDF5"/>
            </a:solidFill>
            <a:prstDash val="solid"/>
          </a:ln>
        </p:spPr>
      </p:sp>
      <p:sp>
        <p:nvSpPr>
          <p:cNvPr id="18" name="Shape 13"/>
          <p:cNvSpPr/>
          <p:nvPr/>
        </p:nvSpPr>
        <p:spPr>
          <a:xfrm>
            <a:off x="777240" y="4069080"/>
            <a:ext cx="548640" cy="548640"/>
          </a:xfrm>
          <a:prstGeom prst="ellipse">
            <a:avLst/>
          </a:prstGeom>
          <a:solidFill>
            <a:srgbClr val="0A032B"/>
          </a:solidFill>
          <a:ln w="12700">
            <a:solidFill>
              <a:srgbClr val="0A032B"/>
            </a:solidFill>
            <a:prstDash val="solid"/>
          </a:ln>
        </p:spPr>
      </p:sp>
      <p:pic>
        <p:nvPicPr>
          <p:cNvPr id="19" name="Image 3" descr="preencoded.png">    </p:cNvPr>
          <p:cNvPicPr>
            <a:picLocks noChangeAspect="1"/>
          </p:cNvPicPr>
          <p:nvPr/>
        </p:nvPicPr>
        <p:blipFill>
          <a:blip r:embed="rId4"/>
          <a:stretch>
            <a:fillRect/>
          </a:stretch>
        </p:blipFill>
        <p:spPr>
          <a:xfrm>
            <a:off x="914400" y="4206240"/>
            <a:ext cx="274320" cy="274320"/>
          </a:xfrm>
          <a:prstGeom prst="rect">
            <a:avLst/>
          </a:prstGeom>
        </p:spPr>
      </p:pic>
      <p:sp>
        <p:nvSpPr>
          <p:cNvPr id="20" name="Text 14"/>
          <p:cNvSpPr txBox="1"/>
          <p:nvPr/>
        </p:nvSpPr>
        <p:spPr>
          <a:xfrm>
            <a:off x="1508760" y="4069080"/>
            <a:ext cx="4221328" cy="54864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Évaluation de la formation</a:t>
            </a:r>
            <a:endParaRPr lang="en-US" sz="1600" dirty="0"/>
          </a:p>
        </p:txBody>
      </p:sp>
      <p:sp>
        <p:nvSpPr>
          <p:cNvPr id="21" name="Text 15"/>
          <p:cNvSpPr txBox="1"/>
          <p:nvPr/>
        </p:nvSpPr>
        <p:spPr>
          <a:xfrm>
            <a:off x="777240" y="4754880"/>
            <a:ext cx="4952848" cy="1143000"/>
          </a:xfrm>
          <a:prstGeom prst="rect">
            <a:avLst/>
          </a:prstGeom>
          <a:noFill/>
          <a:ln/>
        </p:spPr>
        <p:txBody>
          <a:bodyPr wrap="square" lIns="0" tIns="0" rIns="0" bIns="0" rtlCol="0" anchor="t"/>
          <a:lstStyle/>
          <a:p>
            <a:pPr indent="0" marL="0">
              <a:buNone/>
            </a:pPr>
            <a:r>
              <a:rPr lang="en-US" sz="1400" dirty="0">
                <a:solidFill>
                  <a:srgbClr val="35305C"/>
                </a:solidFill>
                <a:latin typeface="Arial" pitchFamily="34" charset="0"/>
                <a:ea typeface="Arial" pitchFamily="34" charset="-122"/>
                <a:cs typeface="Arial" pitchFamily="34" charset="-120"/>
              </a:rPr>
              <a:t>Questionnaire de satisfaction de l'organisme : contenus, méthodes, conditions.</a:t>
            </a:r>
            <a:endParaRPr lang="en-US" sz="1400" dirty="0"/>
          </a:p>
        </p:txBody>
      </p:sp>
      <p:sp>
        <p:nvSpPr>
          <p:cNvPr id="22" name="Shape 16"/>
          <p:cNvSpPr/>
          <p:nvPr/>
        </p:nvSpPr>
        <p:spPr>
          <a:xfrm>
            <a:off x="6233008" y="3840480"/>
            <a:ext cx="5410048" cy="2194560"/>
          </a:xfrm>
          <a:prstGeom prst="roundRect">
            <a:avLst>
              <a:gd name="adj" fmla="val 3333"/>
            </a:avLst>
          </a:prstGeom>
          <a:solidFill>
            <a:srgbClr val="EEEDF5"/>
          </a:solidFill>
          <a:ln w="12700">
            <a:solidFill>
              <a:srgbClr val="EEEDF5"/>
            </a:solidFill>
            <a:prstDash val="solid"/>
          </a:ln>
        </p:spPr>
      </p:sp>
      <p:sp>
        <p:nvSpPr>
          <p:cNvPr id="23" name="Shape 17"/>
          <p:cNvSpPr/>
          <p:nvPr/>
        </p:nvSpPr>
        <p:spPr>
          <a:xfrm>
            <a:off x="6461608" y="4069080"/>
            <a:ext cx="548640" cy="548640"/>
          </a:xfrm>
          <a:prstGeom prst="ellipse">
            <a:avLst/>
          </a:prstGeom>
          <a:solidFill>
            <a:srgbClr val="0A032B"/>
          </a:solidFill>
          <a:ln w="12700">
            <a:solidFill>
              <a:srgbClr val="0A032B"/>
            </a:solidFill>
            <a:prstDash val="solid"/>
          </a:ln>
        </p:spPr>
      </p:sp>
      <p:pic>
        <p:nvPicPr>
          <p:cNvPr id="24" name="Image 4" descr="preencoded.png">    </p:cNvPr>
          <p:cNvPicPr>
            <a:picLocks noChangeAspect="1"/>
          </p:cNvPicPr>
          <p:nvPr/>
        </p:nvPicPr>
        <p:blipFill>
          <a:blip r:embed="rId5"/>
          <a:stretch>
            <a:fillRect/>
          </a:stretch>
        </p:blipFill>
        <p:spPr>
          <a:xfrm>
            <a:off x="6598768" y="4206240"/>
            <a:ext cx="274320" cy="274320"/>
          </a:xfrm>
          <a:prstGeom prst="rect">
            <a:avLst/>
          </a:prstGeom>
        </p:spPr>
      </p:pic>
      <p:sp>
        <p:nvSpPr>
          <p:cNvPr id="25" name="Text 18"/>
          <p:cNvSpPr txBox="1"/>
          <p:nvPr/>
        </p:nvSpPr>
        <p:spPr>
          <a:xfrm>
            <a:off x="7193128" y="4069080"/>
            <a:ext cx="4221328" cy="548640"/>
          </a:xfrm>
          <a:prstGeom prst="rect">
            <a:avLst/>
          </a:prstGeom>
          <a:noFill/>
          <a:ln/>
        </p:spPr>
        <p:txBody>
          <a:bodyPr wrap="square" lIns="0" tIns="0" rIns="0" bIns="0" rtlCol="0" anchor="ctr"/>
          <a:lstStyle/>
          <a:p>
            <a:pPr indent="0" marL="0">
              <a:buNone/>
            </a:pPr>
            <a:r>
              <a:rPr lang="en-US" sz="1600" b="1" dirty="0">
                <a:solidFill>
                  <a:srgbClr val="0A032B"/>
                </a:solidFill>
                <a:latin typeface="Montserrat" pitchFamily="34" charset="0"/>
                <a:ea typeface="Montserrat" pitchFamily="34" charset="-122"/>
                <a:cs typeface="Montserrat" pitchFamily="34" charset="-120"/>
              </a:rPr>
              <a:t>Attestation</a:t>
            </a:r>
            <a:endParaRPr lang="en-US" sz="1600" dirty="0"/>
          </a:p>
        </p:txBody>
      </p:sp>
      <p:sp>
        <p:nvSpPr>
          <p:cNvPr id="26" name="Text 19"/>
          <p:cNvSpPr txBox="1"/>
          <p:nvPr/>
        </p:nvSpPr>
        <p:spPr>
          <a:xfrm>
            <a:off x="6461608" y="4754880"/>
            <a:ext cx="4952848" cy="1143000"/>
          </a:xfrm>
          <a:prstGeom prst="rect">
            <a:avLst/>
          </a:prstGeom>
          <a:noFill/>
          <a:ln/>
        </p:spPr>
        <p:txBody>
          <a:bodyPr wrap="square" lIns="0" tIns="0" rIns="0" bIns="0" rtlCol="0" anchor="t"/>
          <a:lstStyle/>
          <a:p>
            <a:pPr indent="0" marL="0">
              <a:buNone/>
            </a:pPr>
            <a:r>
              <a:rPr lang="en-US" sz="1400" dirty="0">
                <a:solidFill>
                  <a:srgbClr val="35305C"/>
                </a:solidFill>
                <a:latin typeface="Arial" pitchFamily="34" charset="0"/>
                <a:ea typeface="Arial" pitchFamily="34" charset="-122"/>
                <a:cs typeface="Arial" pitchFamily="34" charset="-120"/>
              </a:rPr>
              <a:t>Remise des attestations de formation et du livret stagiaire complété.</a:t>
            </a:r>
            <a:endParaRPr lang="en-US" sz="1400" dirty="0"/>
          </a:p>
        </p:txBody>
      </p:sp>
      <p:sp>
        <p:nvSpPr>
          <p:cNvPr id="25" name="Slide Number Placeholder 0"/>
          <p:cNvSpPr>
            <a:spLocks noGrp="1"/>
          </p:cNvSpPr>
          <p:nvPr>
            <p:ph type="sldNum" sz="quarter" idx="4294967295"/>
          </p:nvPr>
        </p:nvSpPr>
        <p:spPr>
          <a:xfrm>
            <a:off x="10042855" y="633679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E5A78"/>
                </a:solidFill>
                <a:latin typeface="Arial"/>
                <a:ea typeface="Arial"/>
                <a:cs typeface="Aria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A032B"/>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4175608" y="914400"/>
            <a:ext cx="3840480" cy="1593764"/>
          </a:xfrm>
          <a:prstGeom prst="rect">
            <a:avLst/>
          </a:prstGeom>
        </p:spPr>
      </p:pic>
      <p:sp>
        <p:nvSpPr>
          <p:cNvPr id="3" name="Text 0"/>
          <p:cNvSpPr txBox="1"/>
          <p:nvPr/>
        </p:nvSpPr>
        <p:spPr>
          <a:xfrm>
            <a:off x="548640" y="2926080"/>
            <a:ext cx="11094415"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Montserrat" pitchFamily="34" charset="0"/>
                <a:ea typeface="Montserrat" pitchFamily="34" charset="-122"/>
                <a:cs typeface="Montserrat" pitchFamily="34" charset="-120"/>
              </a:rPr>
              <a:t>Merci de votre participation</a:t>
            </a:r>
            <a:endParaRPr lang="en-US" sz="3800" dirty="0"/>
          </a:p>
        </p:txBody>
      </p:sp>
      <p:sp>
        <p:nvSpPr>
          <p:cNvPr id="4" name="Text 1"/>
          <p:cNvSpPr txBox="1"/>
          <p:nvPr/>
        </p:nvSpPr>
        <p:spPr>
          <a:xfrm>
            <a:off x="548640" y="3749040"/>
            <a:ext cx="11094415" cy="548640"/>
          </a:xfrm>
          <a:prstGeom prst="rect">
            <a:avLst/>
          </a:prstGeom>
          <a:noFill/>
          <a:ln/>
        </p:spPr>
        <p:txBody>
          <a:bodyPr wrap="square" lIns="0" tIns="0" rIns="0" bIns="0" rtlCol="0" anchor="ctr"/>
          <a:lstStyle/>
          <a:p>
            <a:pPr algn="ctr" indent="0" marL="0">
              <a:buNone/>
            </a:pPr>
            <a:r>
              <a:rPr lang="en-US" sz="1800" i="1" dirty="0">
                <a:solidFill>
                  <a:srgbClr val="F0EF96"/>
                </a:solidFill>
                <a:latin typeface="Arial" pitchFamily="34" charset="0"/>
                <a:ea typeface="Arial" pitchFamily="34" charset="-122"/>
                <a:cs typeface="Arial" pitchFamily="34" charset="-120"/>
              </a:rPr>
              <a:t>Prendre soin de son dos, c'est aussi montrer l'exemple.</a:t>
            </a:r>
            <a:endParaRPr lang="en-US" sz="1800" dirty="0"/>
          </a:p>
        </p:txBody>
      </p:sp>
      <p:sp>
        <p:nvSpPr>
          <p:cNvPr id="5" name="Text 2"/>
          <p:cNvSpPr txBox="1"/>
          <p:nvPr/>
        </p:nvSpPr>
        <p:spPr>
          <a:xfrm>
            <a:off x="1097280" y="4937760"/>
            <a:ext cx="9997135" cy="548640"/>
          </a:xfrm>
          <a:prstGeom prst="rect">
            <a:avLst/>
          </a:prstGeom>
          <a:noFill/>
          <a:ln/>
        </p:spPr>
        <p:txBody>
          <a:bodyPr wrap="square" lIns="0" tIns="0" rIns="0" bIns="0" rtlCol="0" anchor="ctr"/>
          <a:lstStyle/>
          <a:p>
            <a:pPr algn="ctr" indent="0" marL="0">
              <a:buNone/>
            </a:pPr>
            <a:r>
              <a:rPr lang="en-US" sz="1300" dirty="0">
                <a:solidFill>
                  <a:srgbClr val="DCDAEA"/>
                </a:solidFill>
                <a:latin typeface="Arial" pitchFamily="34" charset="0"/>
                <a:ea typeface="Arial" pitchFamily="34" charset="-122"/>
                <a:cs typeface="Arial" pitchFamily="34" charset="-120"/>
              </a:rPr>
              <a:t>Pour aller plus loin : inrs.fr (dossier TMS, travail sur écran) · votre centre de gestion · votre assistant de prévention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ENMA 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Gestes et postures de l'élu</dc:title>
  <dc:subject>PptxGenJS Presentation</dc:subject>
  <dc:creator>ENMA Formation</dc:creator>
  <cp:lastModifiedBy>ENMA Formation</cp:lastModifiedBy>
  <cp:revision>1</cp:revision>
  <dcterms:created xsi:type="dcterms:W3CDTF">2026-09-23T09:58:10Z</dcterms:created>
  <dcterms:modified xsi:type="dcterms:W3CDTF">2026-09-23T09:58:10Z</dcterms:modified>
</cp:coreProperties>
</file>